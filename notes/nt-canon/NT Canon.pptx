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307" r:id="rId2"/>
    <p:sldId id="257" r:id="rId3"/>
    <p:sldId id="258" r:id="rId4"/>
    <p:sldId id="272" r:id="rId5"/>
    <p:sldId id="273" r:id="rId6"/>
    <p:sldId id="274" r:id="rId7"/>
    <p:sldId id="275" r:id="rId8"/>
    <p:sldId id="276" r:id="rId9"/>
    <p:sldId id="277" r:id="rId10"/>
    <p:sldId id="278" r:id="rId11"/>
    <p:sldId id="279" r:id="rId12"/>
    <p:sldId id="280" r:id="rId13"/>
    <p:sldId id="281" r:id="rId14"/>
    <p:sldId id="282" r:id="rId15"/>
    <p:sldId id="308" r:id="rId16"/>
    <p:sldId id="259" r:id="rId17"/>
    <p:sldId id="283" r:id="rId18"/>
    <p:sldId id="284" r:id="rId19"/>
    <p:sldId id="285" r:id="rId20"/>
    <p:sldId id="286" r:id="rId21"/>
    <p:sldId id="287" r:id="rId22"/>
    <p:sldId id="288" r:id="rId23"/>
    <p:sldId id="290" r:id="rId24"/>
    <p:sldId id="289" r:id="rId25"/>
    <p:sldId id="291" r:id="rId26"/>
    <p:sldId id="292" r:id="rId27"/>
    <p:sldId id="294" r:id="rId28"/>
    <p:sldId id="295" r:id="rId29"/>
    <p:sldId id="296" r:id="rId30"/>
    <p:sldId id="297" r:id="rId31"/>
    <p:sldId id="298" r:id="rId32"/>
    <p:sldId id="300" r:id="rId33"/>
    <p:sldId id="301" r:id="rId34"/>
    <p:sldId id="302" r:id="rId35"/>
    <p:sldId id="303" r:id="rId36"/>
    <p:sldId id="304" r:id="rId37"/>
    <p:sldId id="305" r:id="rId38"/>
    <p:sldId id="306" r:id="rId39"/>
    <p:sldId id="310" r:id="rId40"/>
    <p:sldId id="311" r:id="rId41"/>
    <p:sldId id="312"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22"/>
    <p:restoredTop sz="94676"/>
  </p:normalViewPr>
  <p:slideViewPr>
    <p:cSldViewPr snapToGrid="0" showGuides="1">
      <p:cViewPr varScale="1">
        <p:scale>
          <a:sx n="110" d="100"/>
          <a:sy n="110" d="100"/>
        </p:scale>
        <p:origin x="464" y="168"/>
      </p:cViewPr>
      <p:guideLst>
        <p:guide orient="horz" pos="2184"/>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3B0B8-2163-C748-A57A-9B2531B34292}" type="datetimeFigureOut">
              <a:rPr lang="en-US" smtClean="0"/>
              <a:t>10/3/26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3446E-04A9-A74E-980F-977D282969DA}" type="slidenum">
              <a:rPr lang="en-US" smtClean="0"/>
              <a:t>‹#›</a:t>
            </a:fld>
            <a:endParaRPr lang="en-US"/>
          </a:p>
        </p:txBody>
      </p:sp>
    </p:spTree>
    <p:extLst>
      <p:ext uri="{BB962C8B-B14F-4D97-AF65-F5344CB8AC3E}">
        <p14:creationId xmlns:p14="http://schemas.microsoft.com/office/powerpoint/2010/main" val="3760626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6EA6-45D9-A729-1CB1-C3DAC873E8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566666-A37B-0FDC-356A-D7B2DC0F85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3EA8E9-7E52-DFCC-7714-4656D97B07CE}"/>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43FDA276-41FC-D4CF-A020-08BA79DF8D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6313A-2D4E-5F89-5DE1-DAAAAF52FAA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963346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CCBE6-EBFD-56AD-EEAA-46352B3AB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639E3-DF20-DEC4-6923-7FD40FA68C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B6D6A-F8FE-3552-11F1-1A70AA4DAE3E}"/>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508FF11F-624F-96D4-5817-224290FDEF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FB5601-A730-B63C-7CB2-EC5DEAB8DDB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77229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FDF76-FC51-711D-B881-F6E99E465A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46B274-1934-64E3-CFE5-0A2924531D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C2134A-7F1C-B287-4C96-28907CA28585}"/>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4F12A1FB-A459-2BBD-1B6B-247CBE0FFB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47503D-F692-4F1D-135C-8F38F8F78ACF}"/>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169887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A9D9A-C5B4-76BC-6A2F-20C5F76C3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4A2AEA-F4F7-10E5-586B-0A2B1433E2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D638C8A-108F-E51E-DD4E-3C5A95E3A8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73DFE8-9D78-1F21-7520-FAD5CA2EF496}"/>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6" name="Footer Placeholder 5">
            <a:extLst>
              <a:ext uri="{FF2B5EF4-FFF2-40B4-BE49-F238E27FC236}">
                <a16:creationId xmlns:a16="http://schemas.microsoft.com/office/drawing/2014/main" id="{8808B878-5AAB-784B-F3DD-D294345FC9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E96A0A-3B43-4323-8C02-0CD828942309}"/>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1293192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D8F-D7EB-73B8-390F-2980C38786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400FD3-7CBE-0BF4-1ED7-AD08118332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C15CB-12D3-2283-691B-C78D8B0C38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68EA59-0E22-90E1-F1E0-E4A3FDE19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C26CF3-B913-DBA7-E6A6-8F4A134CC80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204332-247A-EF9B-67DB-78FA559F330B}"/>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8" name="Footer Placeholder 7">
            <a:extLst>
              <a:ext uri="{FF2B5EF4-FFF2-40B4-BE49-F238E27FC236}">
                <a16:creationId xmlns:a16="http://schemas.microsoft.com/office/drawing/2014/main" id="{13866BE6-0B66-E23E-6042-7826A7ABF9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D3D48E-5F74-02E0-3B66-950DEA6D2DE7}"/>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3878439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5503B-D8AD-0AF5-4130-C915643D94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F205E97-939B-5335-8C12-B84842F4ACDF}"/>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4" name="Footer Placeholder 3">
            <a:extLst>
              <a:ext uri="{FF2B5EF4-FFF2-40B4-BE49-F238E27FC236}">
                <a16:creationId xmlns:a16="http://schemas.microsoft.com/office/drawing/2014/main" id="{F87F3EE2-1E6C-D8BE-6FEC-DE02148F07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B1149B-1DC4-7CAC-A2EC-37B862A12111}"/>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416190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C2A8BA-ADBD-AB32-C4CD-845E1D80AF88}"/>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3" name="Footer Placeholder 2">
            <a:extLst>
              <a:ext uri="{FF2B5EF4-FFF2-40B4-BE49-F238E27FC236}">
                <a16:creationId xmlns:a16="http://schemas.microsoft.com/office/drawing/2014/main" id="{F2C3492C-D150-EA8D-5DA9-48A629DB9D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37EE3-CC40-2AAD-C84A-CE4C7138D1A4}"/>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463881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07AF7-6D7F-8415-077D-DECDB9C7AA1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5EA9C5C-192A-C945-A33D-AE8422805C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64808-CC7A-DB0F-B7EC-F128BFB38B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E39916-5999-C752-AA14-EEF4AEE918FC}"/>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6" name="Footer Placeholder 5">
            <a:extLst>
              <a:ext uri="{FF2B5EF4-FFF2-40B4-BE49-F238E27FC236}">
                <a16:creationId xmlns:a16="http://schemas.microsoft.com/office/drawing/2014/main" id="{FDD0D815-89A4-6F73-0D0F-C4F5CD387D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D2BB1-411D-A1B0-E4A8-33152677C968}"/>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42194752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8A432-CB42-5882-EB4A-761454E214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8E89769-4443-AE3A-5916-41E9E9E4D72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524A6F-FD40-69AB-76B6-0C0940DECA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918FC8-CAAB-C7C9-F5CB-62F977B663E3}"/>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6" name="Footer Placeholder 5">
            <a:extLst>
              <a:ext uri="{FF2B5EF4-FFF2-40B4-BE49-F238E27FC236}">
                <a16:creationId xmlns:a16="http://schemas.microsoft.com/office/drawing/2014/main" id="{E7424A12-9A29-89AF-AA54-CAA083351B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F66B31-0370-DECE-3E30-2DC78BD6234E}"/>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1274642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B044D-BC30-07BA-9ADB-2DA39B2241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D7592F-E149-9932-B142-2F74C2EBAA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7996E3-3AED-9036-31C1-AC43949DF6CB}"/>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6FA7BEAC-3C62-0374-69FA-F8AEFB173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E3BAE2-D4ED-ED6F-63A4-652C9E7F1792}"/>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223690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FCA466-F394-F557-2BB0-9E7AD5D8000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35D4817-F455-227A-538C-52538440CF5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42FF5F-60F9-3210-539A-94DFCFF57E7F}"/>
              </a:ext>
            </a:extLst>
          </p:cNvPr>
          <p:cNvSpPr>
            <a:spLocks noGrp="1"/>
          </p:cNvSpPr>
          <p:nvPr>
            <p:ph type="dt" sz="half" idx="10"/>
          </p:nvPr>
        </p:nvSpPr>
        <p:spPr/>
        <p:txBody>
          <a:body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435D8299-C4E1-4D44-F5CF-DC99CC4552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C015B4-CAB2-AB9E-FE84-41B2418ED393}"/>
              </a:ext>
            </a:extLst>
          </p:cNvPr>
          <p:cNvSpPr>
            <a:spLocks noGrp="1"/>
          </p:cNvSpPr>
          <p:nvPr>
            <p:ph type="sldNum" sz="quarter" idx="12"/>
          </p:nvPr>
        </p:nvSpPr>
        <p:spPr/>
        <p:txBody>
          <a:bodyPr/>
          <a:lstStyle/>
          <a:p>
            <a:fld id="{8D3333C5-B118-AF41-B00E-BA2813DFDF79}" type="slidenum">
              <a:rPr lang="en-US" smtClean="0"/>
              <a:t>‹#›</a:t>
            </a:fld>
            <a:endParaRPr lang="en-US"/>
          </a:p>
        </p:txBody>
      </p:sp>
    </p:spTree>
    <p:extLst>
      <p:ext uri="{BB962C8B-B14F-4D97-AF65-F5344CB8AC3E}">
        <p14:creationId xmlns:p14="http://schemas.microsoft.com/office/powerpoint/2010/main" val="3743437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A0B277-B6F0-BF4E-74A6-3559F2C887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870C74E-2E85-BDC8-860A-C9CC202768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ED1397-FC2D-A56C-A320-65A94D5F82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218986-71C6-F44F-84D6-5BF352D2A615}" type="datetimeFigureOut">
              <a:rPr lang="en-US" smtClean="0"/>
              <a:t>10/3/26</a:t>
            </a:fld>
            <a:endParaRPr lang="en-US"/>
          </a:p>
        </p:txBody>
      </p:sp>
      <p:sp>
        <p:nvSpPr>
          <p:cNvPr id="5" name="Footer Placeholder 4">
            <a:extLst>
              <a:ext uri="{FF2B5EF4-FFF2-40B4-BE49-F238E27FC236}">
                <a16:creationId xmlns:a16="http://schemas.microsoft.com/office/drawing/2014/main" id="{98938E00-871F-51F3-43AB-31B04E2004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86A9A96-8EAE-C962-D071-8F4F86FDB5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3333C5-B118-AF41-B00E-BA2813DFDF79}" type="slidenum">
              <a:rPr lang="en-US" smtClean="0"/>
              <a:t>‹#›</a:t>
            </a:fld>
            <a:endParaRPr lang="en-US"/>
          </a:p>
        </p:txBody>
      </p:sp>
    </p:spTree>
    <p:extLst>
      <p:ext uri="{BB962C8B-B14F-4D97-AF65-F5344CB8AC3E}">
        <p14:creationId xmlns:p14="http://schemas.microsoft.com/office/powerpoint/2010/main" val="397668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bible-researcher.com/athanasius.html#note1" TargetMode="External"/><Relationship Id="rId2" Type="http://schemas.openxmlformats.org/officeDocument/2006/relationships/hyperlink" Target="https://ref.ly/logosres/npnf18?ref=Athanasius.Ep.+fest.+39.1&amp;off=0&amp;ctx=pted+by+the+Church.%0a~%E2%80%A6+1.+They+have%EF%BB%BF4+fab"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A6B18-54BF-D02B-40FE-29F4BD9D3632}"/>
              </a:ext>
            </a:extLst>
          </p:cNvPr>
          <p:cNvSpPr>
            <a:spLocks noGrp="1"/>
          </p:cNvSpPr>
          <p:nvPr>
            <p:ph type="ctrTitle"/>
          </p:nvPr>
        </p:nvSpPr>
        <p:spPr>
          <a:xfrm>
            <a:off x="0" y="1435100"/>
            <a:ext cx="12192000" cy="2387600"/>
          </a:xfrm>
        </p:spPr>
        <p:txBody>
          <a:bodyPr>
            <a:normAutofit/>
          </a:bodyPr>
          <a:lstStyle/>
          <a:p>
            <a:pPr algn="ctr"/>
            <a:r>
              <a:rPr lang="en-US" b="1" dirty="0"/>
              <a:t>Class 1:</a:t>
            </a:r>
            <a:br>
              <a:rPr lang="en-US" b="1" dirty="0"/>
            </a:br>
            <a:r>
              <a:rPr lang="en-US" dirty="0"/>
              <a:t>Introduction to the Canon of the NT</a:t>
            </a:r>
          </a:p>
        </p:txBody>
      </p:sp>
      <p:sp>
        <p:nvSpPr>
          <p:cNvPr id="3" name="Subtitle 2">
            <a:extLst>
              <a:ext uri="{FF2B5EF4-FFF2-40B4-BE49-F238E27FC236}">
                <a16:creationId xmlns:a16="http://schemas.microsoft.com/office/drawing/2014/main" id="{D9D9313E-C278-4E6E-FC8F-D8AC43E96277}"/>
              </a:ext>
            </a:extLst>
          </p:cNvPr>
          <p:cNvSpPr>
            <a:spLocks noGrp="1"/>
          </p:cNvSpPr>
          <p:nvPr>
            <p:ph type="subTitle" idx="1"/>
          </p:nvPr>
        </p:nvSpPr>
        <p:spPr>
          <a:xfrm>
            <a:off x="1524000" y="3924300"/>
            <a:ext cx="9144000" cy="1655762"/>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3881084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BB19B-C0C2-A7C7-CCA5-95D80839905B}"/>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7D840FBF-D71F-6F56-E5F6-09561BC43DCA}"/>
              </a:ext>
            </a:extLst>
          </p:cNvPr>
          <p:cNvSpPr>
            <a:spLocks noGrp="1"/>
          </p:cNvSpPr>
          <p:nvPr>
            <p:ph idx="1"/>
          </p:nvPr>
        </p:nvSpPr>
        <p:spPr>
          <a:xfrm>
            <a:off x="838200" y="1825625"/>
            <a:ext cx="6808049" cy="4351338"/>
          </a:xfrm>
        </p:spPr>
        <p:txBody>
          <a:bodyPr>
            <a:normAutofit/>
          </a:bodyPr>
          <a:lstStyle/>
          <a:p>
            <a:r>
              <a:rPr lang="en-US" dirty="0"/>
              <a:t>Primarily: Bruce Metzger, </a:t>
            </a:r>
            <a:r>
              <a:rPr lang="en-US" i="1" dirty="0"/>
              <a:t>The Canon of the New Testament: Its Origin, Development, and Significance</a:t>
            </a:r>
            <a:r>
              <a:rPr lang="en-US" dirty="0"/>
              <a:t> (Oxford: 1987)</a:t>
            </a:r>
          </a:p>
          <a:p>
            <a:r>
              <a:rPr lang="en-US" dirty="0"/>
              <a:t>This book is considered the standard work on the NT canon</a:t>
            </a:r>
          </a:p>
          <a:p>
            <a:r>
              <a:rPr lang="en-US" dirty="0"/>
              <a:t>Other sources used as well (such as my work on 1 and 2 Peter)</a:t>
            </a:r>
          </a:p>
          <a:p>
            <a:pPr lvl="1"/>
            <a:r>
              <a:rPr lang="en-US" sz="2800" dirty="0"/>
              <a:t>Unless otherwise stated, assume all material is from Metzger</a:t>
            </a:r>
          </a:p>
        </p:txBody>
      </p:sp>
      <p:pic>
        <p:nvPicPr>
          <p:cNvPr id="6" name="Picture 5">
            <a:extLst>
              <a:ext uri="{FF2B5EF4-FFF2-40B4-BE49-F238E27FC236}">
                <a16:creationId xmlns:a16="http://schemas.microsoft.com/office/drawing/2014/main" id="{F941B59B-DE66-368D-2E59-340A568A82C4}"/>
              </a:ext>
            </a:extLst>
          </p:cNvPr>
          <p:cNvPicPr>
            <a:picLocks noChangeAspect="1"/>
          </p:cNvPicPr>
          <p:nvPr/>
        </p:nvPicPr>
        <p:blipFill>
          <a:blip r:embed="rId2"/>
          <a:stretch>
            <a:fillRect/>
          </a:stretch>
        </p:blipFill>
        <p:spPr>
          <a:xfrm>
            <a:off x="7646249" y="1027906"/>
            <a:ext cx="3707551" cy="5745172"/>
          </a:xfrm>
          <a:prstGeom prst="rect">
            <a:avLst/>
          </a:prstGeom>
        </p:spPr>
      </p:pic>
    </p:spTree>
    <p:extLst>
      <p:ext uri="{BB962C8B-B14F-4D97-AF65-F5344CB8AC3E}">
        <p14:creationId xmlns:p14="http://schemas.microsoft.com/office/powerpoint/2010/main" val="1273825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4820-7FF7-7975-824D-29561ABA1150}"/>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93CC7EA0-4CAC-B457-FEDE-C1D924A3FA45}"/>
              </a:ext>
            </a:extLst>
          </p:cNvPr>
          <p:cNvSpPr>
            <a:spLocks noGrp="1"/>
          </p:cNvSpPr>
          <p:nvPr>
            <p:ph idx="1"/>
          </p:nvPr>
        </p:nvSpPr>
        <p:spPr>
          <a:xfrm>
            <a:off x="540026" y="2141537"/>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9105C9A-B0A6-D696-DC58-5E5AC44BAF01}"/>
              </a:ext>
            </a:extLst>
          </p:cNvPr>
          <p:cNvSpPr txBox="1"/>
          <p:nvPr/>
        </p:nvSpPr>
        <p:spPr>
          <a:xfrm>
            <a:off x="540026" y="3429000"/>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1CAB52F-7C93-A660-5D14-CC9C66EEA029}"/>
              </a:ext>
            </a:extLst>
          </p:cNvPr>
          <p:cNvSpPr txBox="1"/>
          <p:nvPr/>
        </p:nvSpPr>
        <p:spPr>
          <a:xfrm>
            <a:off x="540026" y="5675769"/>
            <a:ext cx="11651974" cy="954107"/>
          </a:xfrm>
          <a:prstGeom prst="rect">
            <a:avLst/>
          </a:prstGeom>
          <a:noFill/>
        </p:spPr>
        <p:txBody>
          <a:bodyPr wrap="square">
            <a:spAutoFit/>
          </a:bodyPr>
          <a:lstStyle/>
          <a:p>
            <a:r>
              <a:rPr lang="en-US" sz="2800" b="1" dirty="0"/>
              <a:t>                                                       the canon is “a closed list of authoritative, sacred texts”</a:t>
            </a:r>
          </a:p>
        </p:txBody>
      </p:sp>
      <p:sp>
        <p:nvSpPr>
          <p:cNvPr id="8" name="TextBox 7">
            <a:extLst>
              <a:ext uri="{FF2B5EF4-FFF2-40B4-BE49-F238E27FC236}">
                <a16:creationId xmlns:a16="http://schemas.microsoft.com/office/drawing/2014/main" id="{720B2E8E-39DC-358B-8930-1CF337EC89FB}"/>
              </a:ext>
            </a:extLst>
          </p:cNvPr>
          <p:cNvSpPr txBox="1"/>
          <p:nvPr/>
        </p:nvSpPr>
        <p:spPr>
          <a:xfrm>
            <a:off x="540026" y="5675769"/>
            <a:ext cx="10515600"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0" name="TextBox 9">
            <a:extLst>
              <a:ext uri="{FF2B5EF4-FFF2-40B4-BE49-F238E27FC236}">
                <a16:creationId xmlns:a16="http://schemas.microsoft.com/office/drawing/2014/main" id="{1B08AC56-B22B-9C93-9263-57483F2FB7AA}"/>
              </a:ext>
            </a:extLst>
          </p:cNvPr>
          <p:cNvSpPr txBox="1"/>
          <p:nvPr/>
        </p:nvSpPr>
        <p:spPr>
          <a:xfrm>
            <a:off x="2745344" y="6097066"/>
            <a:ext cx="6104964" cy="523220"/>
          </a:xfrm>
          <a:prstGeom prst="rect">
            <a:avLst/>
          </a:prstGeom>
          <a:noFill/>
        </p:spPr>
        <p:txBody>
          <a:bodyPr wrap="square">
            <a:spAutoFit/>
          </a:bodyPr>
          <a:lstStyle/>
          <a:p>
            <a:r>
              <a:rPr lang="en-US" sz="2800" dirty="0"/>
              <a:t>(undergraduate professor, 2026)</a:t>
            </a:r>
            <a:endParaRPr lang="en-US" dirty="0"/>
          </a:p>
        </p:txBody>
      </p:sp>
    </p:spTree>
    <p:extLst>
      <p:ext uri="{BB962C8B-B14F-4D97-AF65-F5344CB8AC3E}">
        <p14:creationId xmlns:p14="http://schemas.microsoft.com/office/powerpoint/2010/main" val="5937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80E44-C2D7-4313-DF08-365ED5487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E75E6-443C-42B9-9438-5E609994D38C}"/>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8066AA13-6DFE-CE01-C494-C1AE87E969D8}"/>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AB41AE2-B835-74A0-656B-B51877D31A87}"/>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64BB058D-B9E7-9BC0-8AFF-8A1A350FCE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869116F9-0142-5296-5026-CE0C1D91EAD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CDE62061-6837-5022-DA90-134D9C9E96C2}"/>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9D05D49-9262-D954-FE16-DDF4863FD127}"/>
              </a:ext>
            </a:extLst>
          </p:cNvPr>
          <p:cNvSpPr txBox="1"/>
          <p:nvPr/>
        </p:nvSpPr>
        <p:spPr>
          <a:xfrm>
            <a:off x="1059979" y="4246106"/>
            <a:ext cx="10293821" cy="2246769"/>
          </a:xfrm>
          <a:prstGeom prst="rect">
            <a:avLst/>
          </a:prstGeom>
          <a:noFill/>
        </p:spPr>
        <p:txBody>
          <a:bodyPr wrap="square" rtlCol="0">
            <a:spAutoFit/>
          </a:bodyPr>
          <a:lstStyle/>
          <a:p>
            <a:pPr marL="238125" indent="-238125">
              <a:buFont typeface="Arial" panose="020B0604020202020204" pitchFamily="34" charset="0"/>
              <a:buChar char="•"/>
            </a:pPr>
            <a:r>
              <a:rPr lang="en-US" sz="2800" dirty="0"/>
              <a:t>The term “canon” comes from the Greek word meaning, “rule” or “standard” (3x in 2 Cor 10:13-16; 1x in Gal 6:16)</a:t>
            </a:r>
          </a:p>
          <a:p>
            <a:pPr marL="238125" indent="-238125">
              <a:buFont typeface="Arial" panose="020B0604020202020204" pitchFamily="34" charset="0"/>
              <a:buChar char="•"/>
            </a:pPr>
            <a:r>
              <a:rPr lang="en-US" sz="2800" dirty="0"/>
              <a:t>It is believed by some that Athanasius (4</a:t>
            </a:r>
            <a:r>
              <a:rPr lang="en-US" sz="2800" baseline="30000" dirty="0"/>
              <a:t>th</a:t>
            </a:r>
            <a:r>
              <a:rPr lang="en-US" sz="2800" dirty="0"/>
              <a:t> century) was the first person to use the term in reference to a “canon of sacred Scripture” (matches our OT and NT)</a:t>
            </a:r>
          </a:p>
        </p:txBody>
      </p:sp>
      <p:sp>
        <p:nvSpPr>
          <p:cNvPr id="12" name="TextBox 11">
            <a:extLst>
              <a:ext uri="{FF2B5EF4-FFF2-40B4-BE49-F238E27FC236}">
                <a16:creationId xmlns:a16="http://schemas.microsoft.com/office/drawing/2014/main" id="{C480E7D9-5D9F-549C-6988-A0507EAC479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#1: “Canon”</a:t>
            </a:r>
          </a:p>
        </p:txBody>
      </p:sp>
    </p:spTree>
    <p:extLst>
      <p:ext uri="{BB962C8B-B14F-4D97-AF65-F5344CB8AC3E}">
        <p14:creationId xmlns:p14="http://schemas.microsoft.com/office/powerpoint/2010/main" val="2496930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3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A48D3-149E-075A-0D16-A5EA83812B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6772E-B3CE-3046-8B4E-000443BBD3A5}"/>
              </a:ext>
            </a:extLst>
          </p:cNvPr>
          <p:cNvSpPr>
            <a:spLocks noGrp="1"/>
          </p:cNvSpPr>
          <p:nvPr>
            <p:ph type="title"/>
          </p:nvPr>
        </p:nvSpPr>
        <p:spPr/>
        <p:txBody>
          <a:bodyPr/>
          <a:lstStyle/>
          <a:p>
            <a:r>
              <a:rPr lang="en-US" dirty="0"/>
              <a:t>Athanasius (367 AD)</a:t>
            </a:r>
          </a:p>
        </p:txBody>
      </p:sp>
      <p:sp>
        <p:nvSpPr>
          <p:cNvPr id="3" name="Content Placeholder 2">
            <a:extLst>
              <a:ext uri="{FF2B5EF4-FFF2-40B4-BE49-F238E27FC236}">
                <a16:creationId xmlns:a16="http://schemas.microsoft.com/office/drawing/2014/main" id="{8A313EB7-DDA4-7996-90AC-6CF69B1B508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E23ABC05-5F2D-FB5F-0842-384D6638B682}"/>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76582D3F-5ED1-C8F4-A210-A4F3999E0C7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5"/>
          <p:cNvSpPr txBox="1"/>
          <p:nvPr/>
        </p:nvSpPr>
        <p:spPr>
          <a:xfrm>
            <a:off x="0" y="1641187"/>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91383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03D3B-ACE5-9F8C-F442-4CE223A8B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C3C8DF-8729-30EE-0457-B7C3ECF626D2}"/>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0A909C16-5138-60B5-998B-5B7132BAA2A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5E4F516-86FF-CAAA-ED92-AA1FFAF2650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B459CC3-7307-708E-9A3C-DD4A0A5FE904}"/>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6"/>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5"/>
          <p:cNvSpPr txBox="1"/>
          <p:nvPr/>
        </p:nvSpPr>
        <p:spPr>
          <a:xfrm>
            <a:off x="0" y="-3055503"/>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770381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6D87-FC1C-A246-0FD2-616EBD9F3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02D9C-EB89-7620-1205-6D09BEDC2CCC}"/>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1713A8CE-3FA2-6681-328B-6E69DFE1D97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82B3D9A7-E1EE-FFA9-84EA-2D1A0EA02F9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68D5FF0-5222-1DB5-9B17-F2350AE1B343}"/>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7"/>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6"/>
          <p:cNvSpPr txBox="1"/>
          <p:nvPr/>
        </p:nvSpPr>
        <p:spPr>
          <a:xfrm>
            <a:off x="0" y="-984815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166385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ED498-1630-C623-0A9A-F3463F3A2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9F7DEA-50B1-3879-661E-28796B3B569A}"/>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E1AA4873-35C0-6251-F97C-F297DC089312}"/>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85D26DA-5E97-20A5-7BE3-F572CA92BAFC}"/>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CEDF103C-DE0B-A3AB-9941-68C73D309511}"/>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8"/>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7"/>
          <p:cNvSpPr txBox="1"/>
          <p:nvPr/>
        </p:nvSpPr>
        <p:spPr>
          <a:xfrm>
            <a:off x="0" y="-15833320"/>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a:t>
            </a:r>
            <a:r>
              <a:rPr lang="en-US" sz="2800" b="1" u="sng" dirty="0">
                <a:effectLst/>
                <a:latin typeface="+mn-lt"/>
              </a:rPr>
              <a:t>of the Old Testament, twenty-two books in number</a:t>
            </a:r>
            <a:r>
              <a:rPr lang="en-US" sz="2800" dirty="0">
                <a:effectLst/>
                <a:latin typeface="+mn-lt"/>
              </a:rPr>
              <a:t>;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4278483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13C2F-B17C-5A15-12C5-ACCCFA59B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38D71-4CB3-F478-314B-D431E02F45B3}"/>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BD4F7937-26DE-453F-417B-2B679D7D32A0}"/>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B167D4B8-C88E-3352-41CE-EBD87B9E10E8}"/>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331251DD-E658-C053-1A5F-0A40AFA5712D}"/>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9"/>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8"/>
          <p:cNvSpPr txBox="1"/>
          <p:nvPr/>
        </p:nvSpPr>
        <p:spPr>
          <a:xfrm>
            <a:off x="0" y="-22206406"/>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a:t>
            </a:r>
            <a:r>
              <a:rPr lang="en-US" sz="2800" b="1" u="sng" dirty="0">
                <a:effectLst/>
                <a:latin typeface="+mn-lt"/>
              </a:rPr>
              <a:t>Matthew, Mark, Luke, and John</a:t>
            </a:r>
            <a:r>
              <a:rPr lang="en-US" sz="2800" dirty="0">
                <a:effectLst/>
                <a:latin typeface="+mn-lt"/>
              </a:rPr>
              <a:t>. Afterwards, the </a:t>
            </a:r>
            <a:r>
              <a:rPr lang="en-US" sz="2800" b="1" u="sng" dirty="0">
                <a:effectLst/>
                <a:latin typeface="+mn-lt"/>
              </a:rPr>
              <a:t>Acts of the Apostles </a:t>
            </a:r>
            <a:r>
              <a:rPr lang="en-US" sz="2800" dirty="0">
                <a:effectLst/>
                <a:latin typeface="+mn-lt"/>
              </a:rPr>
              <a:t>and Epistles (called Catholic), seven, viz. </a:t>
            </a:r>
            <a:r>
              <a:rPr lang="en-US" sz="2800" b="1" u="sng" dirty="0">
                <a:effectLst/>
                <a:latin typeface="+mn-lt"/>
              </a:rPr>
              <a:t>of James, one; of Peter, two; of John, three; after these, one of Jude</a:t>
            </a:r>
            <a:r>
              <a:rPr lang="en-US" sz="2800" dirty="0">
                <a:effectLst/>
                <a:latin typeface="+mn-lt"/>
              </a:rPr>
              <a:t>. In addition, there are </a:t>
            </a:r>
            <a:r>
              <a:rPr lang="en-US" sz="2800" b="1" u="sng" dirty="0">
                <a:effectLst/>
                <a:latin typeface="+mn-lt"/>
              </a:rPr>
              <a:t>fourteen Epistles of Paul</a:t>
            </a:r>
            <a:r>
              <a:rPr lang="en-US" sz="2800" dirty="0">
                <a:effectLst/>
                <a:latin typeface="+mn-lt"/>
              </a:rPr>
              <a:t>,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a:t>
            </a:r>
            <a:r>
              <a:rPr lang="en-US" sz="2800" b="1" u="sng" dirty="0">
                <a:effectLst/>
                <a:latin typeface="+mn-lt"/>
              </a:rPr>
              <a:t>the Revelation of John</a:t>
            </a:r>
            <a:r>
              <a:rPr lang="en-US" sz="2800" dirty="0">
                <a:effectLst/>
                <a:latin typeface="+mn-lt"/>
              </a:rPr>
              <a:t>.</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Tree>
    <p:extLst>
      <p:ext uri="{BB962C8B-B14F-4D97-AF65-F5344CB8AC3E}">
        <p14:creationId xmlns:p14="http://schemas.microsoft.com/office/powerpoint/2010/main" val="282012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157C4-CFB8-3942-997E-9B04E44F5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F3D45-A246-5A8A-6317-E17DF0CE8378}"/>
              </a:ext>
            </a:extLst>
          </p:cNvPr>
          <p:cNvSpPr>
            <a:spLocks noGrp="1"/>
          </p:cNvSpPr>
          <p:nvPr>
            <p:ph type="title"/>
          </p:nvPr>
        </p:nvSpPr>
        <p:spPr>
          <a:xfrm>
            <a:off x="838200" y="-1382474"/>
            <a:ext cx="10515600" cy="1325563"/>
          </a:xfrm>
        </p:spPr>
        <p:txBody>
          <a:bodyPr/>
          <a:lstStyle/>
          <a:p>
            <a:r>
              <a:rPr lang="en-US" dirty="0"/>
              <a:t>Athanasius (4</a:t>
            </a:r>
            <a:r>
              <a:rPr lang="en-US" baseline="30000" dirty="0"/>
              <a:t>th</a:t>
            </a:r>
            <a:r>
              <a:rPr lang="en-US" dirty="0"/>
              <a:t> century)</a:t>
            </a:r>
          </a:p>
        </p:txBody>
      </p:sp>
      <p:sp>
        <p:nvSpPr>
          <p:cNvPr id="3" name="Content Placeholder 2">
            <a:extLst>
              <a:ext uri="{FF2B5EF4-FFF2-40B4-BE49-F238E27FC236}">
                <a16:creationId xmlns:a16="http://schemas.microsoft.com/office/drawing/2014/main" id="{408DBB00-EFFB-F021-EDE1-484CA34CE417}"/>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2A6F73C1-B464-193A-B13F-CD08448F26C0}"/>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8" name="TextBox 7">
            <a:extLst>
              <a:ext uri="{FF2B5EF4-FFF2-40B4-BE49-F238E27FC236}">
                <a16:creationId xmlns:a16="http://schemas.microsoft.com/office/drawing/2014/main" id="{A7C0CF79-1C2A-C5E6-FE60-606B5D62BF8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12" name="Letter 10"/>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13" name="Letter 9"/>
          <p:cNvSpPr txBox="1"/>
          <p:nvPr/>
        </p:nvSpPr>
        <p:spPr>
          <a:xfrm>
            <a:off x="0" y="-26972368"/>
            <a:ext cx="12192000" cy="31977985"/>
          </a:xfrm>
          <a:prstGeom prst="rect">
            <a:avLst/>
          </a:prstGeom>
          <a:noFill/>
        </p:spPr>
        <p:txBody>
          <a:bodyPr wrap="square">
            <a:spAutoFit/>
          </a:bodyPr>
          <a:lstStyle/>
          <a:p>
            <a:pPr marL="0" marR="0" indent="171450">
              <a:spcBef>
                <a:spcPts val="675"/>
              </a:spcBef>
              <a:buNone/>
            </a:pPr>
            <a:r>
              <a:rPr lang="en-US" sz="2800" dirty="0">
                <a:effectLst/>
                <a:latin typeface="+mn-lt"/>
              </a:rPr>
              <a:t>… 1. They have fabricated books which they call books of tables</a:t>
            </a:r>
            <a:r>
              <a:rPr lang="en-US" sz="2800" baseline="30000" dirty="0">
                <a:effectLst/>
                <a:latin typeface="+mn-lt"/>
              </a:rPr>
              <a:t>5</a:t>
            </a:r>
            <a:r>
              <a:rPr lang="en-US" sz="2800" dirty="0">
                <a:effectLst/>
                <a:latin typeface="+mn-lt"/>
              </a:rPr>
              <a:t>, in which they shew stars, to which they give the names of Saints. And therein of a truth they have inflicted on themselves a double reproach: those who have written such books, because they have perfected themselves in a lying and contemptible science; and as to the ignorant and simple, they have led them astray by evil thoughts concerning the right faith established in all truth and upright in the presence of God.</a:t>
            </a:r>
          </a:p>
          <a:p>
            <a:pPr marL="0" marR="0" indent="171450">
              <a:buNone/>
            </a:pPr>
            <a:r>
              <a:rPr lang="en-US" sz="2800" dirty="0">
                <a:effectLst/>
                <a:latin typeface="+mn-lt"/>
              </a:rPr>
              <a:t>… 2. But since we have made mention of heretics as dead, but of ourselves as possessing the Divine Scriptures for salvation; and since I fear lest, as Paul wrote to the Corinthians</a:t>
            </a:r>
            <a:r>
              <a:rPr lang="en-US" sz="2800" baseline="30000" dirty="0">
                <a:effectLst/>
                <a:latin typeface="+mn-lt"/>
              </a:rPr>
              <a:t>7</a:t>
            </a:r>
            <a:r>
              <a:rPr lang="en-US" sz="2800" dirty="0">
                <a:effectLst/>
                <a:latin typeface="+mn-lt"/>
              </a:rPr>
              <a:t>, some few of the simple should be beguiled from their simplicity and purity, by the subtilty of certain men, and should henceforth read other books—those called apocryphal—led astray by the similarity of their names with the true books; I beseech you to bear patiently, if I also write, by way of remembrance, of matters with which you are acquainted, influenced by the need and advantage of the Church.</a:t>
            </a:r>
          </a:p>
          <a:p>
            <a:pPr marL="0" marR="0" indent="171450">
              <a:buNone/>
            </a:pPr>
            <a:r>
              <a:rPr lang="en-US" sz="2800" dirty="0">
                <a:effectLst/>
                <a:latin typeface="+mn-lt"/>
              </a:rPr>
              <a:t>3. In proceeding to make mention of these things, I shall adopt, to commend my undertaking, the pattern of Luke the Evangelist, saying on my own account: ‘Forasmuch as some have taken in hand,’ to reduce into order for themselves the books termed apocryphal, and to mix them up with the divinely inspired Scripture, concerning which we have been fully persuaded, as they who from the beginning were eye-witnesses and ministers of the Word, delivered to the fathers; it seemed </a:t>
            </a:r>
            <a:r>
              <a:rPr lang="en-US" sz="2800" dirty="0">
                <a:solidFill>
                  <a:schemeClr val="tx1"/>
                </a:solidFill>
                <a:effectLst/>
                <a:latin typeface="+mn-lt"/>
              </a:rPr>
              <a:t>  p 552  </a:t>
            </a:r>
            <a:r>
              <a:rPr lang="en-US" sz="2800" dirty="0">
                <a:effectLst/>
                <a:latin typeface="+mn-lt"/>
              </a:rPr>
              <a:t>good to me also, having been urged thereto by true brethren, and having learned from the beginning, to set before you the books included in the Canon, and handed down, and accredited as Divine; to the end that any one who has fallen into error may condemn those who have led him astray; and that he who has continued </a:t>
            </a:r>
            <a:r>
              <a:rPr lang="en-US" sz="2800" dirty="0" err="1">
                <a:effectLst/>
                <a:latin typeface="+mn-lt"/>
              </a:rPr>
              <a:t>stedfast</a:t>
            </a:r>
            <a:r>
              <a:rPr lang="en-US" sz="2800" dirty="0">
                <a:effectLst/>
                <a:latin typeface="+mn-lt"/>
              </a:rPr>
              <a:t> in purity may again rejoice, having these things brought to his remembrance.</a:t>
            </a:r>
          </a:p>
          <a:p>
            <a:pPr marL="0" marR="0" indent="171450">
              <a:buNone/>
            </a:pPr>
            <a:r>
              <a:rPr lang="en-US" sz="2800" dirty="0">
                <a:effectLst/>
                <a:latin typeface="+mn-lt"/>
              </a:rPr>
              <a:t>4. There are, then, of the Old Testament, twenty-two books in number; for, as I have heard, it is handed down that this is the number of the letters among the Hebrews; their respective order and names being as follows. The first is Genesis, then Exodus, next Leviticus, after that Numbers, and then Deuteronomy. Following these there is Joshua, the son of Nun, then Judges, then Ruth. And again, after these four books of Kings, the first and second being reckoned as one book, and so likewise the third and fourth as one book. And again, the first and second of the Chronicles are reckoned as one book. Again Ezra, the first and second are similarly one book. After these there is the book of Psalms, then the Proverbs, next Ecclesiastes, and the Song of Songs. Job follows, then the Prophets, the twelve being reckoned as one book. Then Isaiah, one book, then Jeremiah with Baruch, Lamentations, and</a:t>
            </a:r>
            <a:r>
              <a:rPr lang="en-US" sz="2800" baseline="30000" dirty="0">
                <a:effectLst/>
                <a:latin typeface="+mn-lt"/>
              </a:rPr>
              <a:t>2</a:t>
            </a:r>
            <a:r>
              <a:rPr lang="en-US" sz="2800" dirty="0">
                <a:effectLst/>
                <a:latin typeface="+mn-lt"/>
              </a:rPr>
              <a:t> the epistle, one book; afterwards, Ezekiel and Daniel, each one book. Thus far constitutes the Old Testament.</a:t>
            </a:r>
          </a:p>
          <a:p>
            <a:pPr marL="0" marR="0" indent="171450">
              <a:buNone/>
            </a:pPr>
            <a:r>
              <a:rPr lang="en-US" sz="2800" dirty="0">
                <a:effectLst/>
                <a:latin typeface="+mn-lt"/>
              </a:rPr>
              <a:t>5. Again it is not tedious to speak of the [books] of the New Testament. These are, the four Gospels, according to Matthew, Mark, Luke, and John. Afterwards, the Acts of the Apostles and Epistles (called Catholic), seven, viz. of James, one; of Peter, two; of John, three; after these, one of Jude. In addition, there are fourteen Epistles of Paul, written in this order. The first, to the Romans; then two to the Corinthians; after these, to the Galatians; next, to the Ephesians; then to the Philippians; then to the Colossians; after these, two to the Thessalonians, and that to the Hebrews; and again, two to Timothy; one to Titus; and lastly, that to Philemon. And besides, the Revelation of John.</a:t>
            </a:r>
          </a:p>
          <a:p>
            <a:pPr marL="0" marR="0" indent="171450">
              <a:buNone/>
            </a:pPr>
            <a:r>
              <a:rPr lang="en-US" sz="2800" dirty="0">
                <a:effectLst/>
                <a:latin typeface="+mn-lt"/>
              </a:rPr>
              <a:t>6. These are fountains of salvation, that they who thirst may be satisfied with the living words they contain. In these alone is proclaimed the doctrine of godliness. Let no man add to these, neither let him take ought from these. For concerning these the Lord put to shame the Sadducees, and said, ‘Ye do err, not knowing the Scriptures.’ And He reproved the Jews, saying, ‘Search the Scriptures, for these are they that testify of Me.’</a:t>
            </a:r>
          </a:p>
          <a:p>
            <a:pPr marL="0" marR="0" indent="171450">
              <a:buNone/>
            </a:pPr>
            <a:r>
              <a:rPr lang="en-US" sz="2800" dirty="0">
                <a:effectLst/>
                <a:latin typeface="+mn-lt"/>
              </a:rPr>
              <a:t>7. But for greater exactness I add this also, writing of necessity; that there are other books besides these not indeed included in the Canon, but appointed by the Fathers to be read by those who newly join us, and who wish for instruction in the word of godliness. The Wisdom of Solomon, and the Wisdom of Sirach, and Esther, and Judith, and Tobit, and that which is called the Teaching of the Apostles, and the Shepherd. But the former, my brethren, are included in the Canon, the latter being [merely] read; nor is there in any place a mention of apocryphal writings. But they are an invention of heretics, who write them when they choose, bestowing upon them their approbation, and assigning to them a date, that so, using them as ancient writings, they may find occasion to lead astray the simple.</a:t>
            </a:r>
          </a:p>
          <a:p>
            <a:pPr marL="0" marR="0" indent="171450">
              <a:buNone/>
            </a:pPr>
            <a:br>
              <a:rPr lang="en-US" sz="2800" dirty="0">
                <a:effectLst/>
                <a:latin typeface="+mn-lt"/>
              </a:rPr>
            </a:br>
            <a:endParaRPr lang="en-US" sz="2800" dirty="0">
              <a:effectLst/>
              <a:latin typeface="+mn-lt"/>
            </a:endParaRPr>
          </a:p>
          <a:p>
            <a:pPr marL="0" marR="0">
              <a:buNone/>
            </a:pPr>
            <a:r>
              <a:rPr lang="en-US" sz="2800" dirty="0">
                <a:effectLst/>
                <a:latin typeface="+mn-lt"/>
              </a:rPr>
              <a:t> Athanasius of Alexandria, </a:t>
            </a:r>
            <a:r>
              <a:rPr lang="en-US" sz="2800" u="sng" dirty="0">
                <a:solidFill>
                  <a:schemeClr val="tx1"/>
                </a:solidFill>
                <a:effectLst/>
                <a:latin typeface="+mn-lt"/>
                <a:hlinkClick r:id="rId2"/>
              </a:rPr>
              <a:t>“Festal Letters,”</a:t>
            </a:r>
            <a:r>
              <a:rPr lang="en-US" sz="2800" dirty="0">
                <a:effectLst/>
                <a:latin typeface="+mn-lt"/>
              </a:rPr>
              <a:t> in St. Athanasius: Select Works and Letters, ed. Philip Schaff and Henry Wace, trans. Henry Burgess and Jessie Smith Payne, vol. 4 of A Select Library of the Nicene and Post-Nicene Fathers of the Christian Church, Second Series (New York: Christian Literature Company, 1892), 551–552.</a:t>
            </a:r>
            <a:endParaRPr lang="en-US" sz="2800" dirty="0">
              <a:effectLst/>
              <a:latin typeface="Calibri" panose="020F0502020204030204" pitchFamily="34" charset="0"/>
            </a:endParaRPr>
          </a:p>
        </p:txBody>
      </p:sp>
      <p:sp>
        <p:nvSpPr>
          <p:cNvPr id="4" name="TextBox 3">
            <a:extLst>
              <a:ext uri="{FF2B5EF4-FFF2-40B4-BE49-F238E27FC236}">
                <a16:creationId xmlns:a16="http://schemas.microsoft.com/office/drawing/2014/main" id="{389C214A-58F9-E0B1-BE7B-DCD1A8C7CFB9}"/>
              </a:ext>
            </a:extLst>
          </p:cNvPr>
          <p:cNvSpPr txBox="1"/>
          <p:nvPr/>
        </p:nvSpPr>
        <p:spPr>
          <a:xfrm>
            <a:off x="0" y="4813787"/>
            <a:ext cx="6324600" cy="954107"/>
          </a:xfrm>
          <a:prstGeom prst="rect">
            <a:avLst/>
          </a:prstGeom>
          <a:noFill/>
        </p:spPr>
        <p:txBody>
          <a:bodyPr wrap="square" rtlCol="0">
            <a:spAutoFit/>
          </a:bodyPr>
          <a:lstStyle/>
          <a:p>
            <a:r>
              <a:rPr lang="en-US" sz="2800" dirty="0"/>
              <a:t>For free: </a:t>
            </a:r>
            <a:r>
              <a:rPr lang="en-US" sz="2800" dirty="0">
                <a:hlinkClick r:id="rId3"/>
              </a:rPr>
              <a:t>https://www.bible-researcher.com/athanasius.html</a:t>
            </a:r>
            <a:r>
              <a:rPr lang="en-US" sz="2800" dirty="0"/>
              <a:t> </a:t>
            </a:r>
          </a:p>
        </p:txBody>
      </p:sp>
      <p:pic>
        <p:nvPicPr>
          <p:cNvPr id="7" name="Picture 6">
            <a:extLst>
              <a:ext uri="{FF2B5EF4-FFF2-40B4-BE49-F238E27FC236}">
                <a16:creationId xmlns:a16="http://schemas.microsoft.com/office/drawing/2014/main" id="{30C8F0AB-19EA-629A-FD30-DA49290C272D}"/>
              </a:ext>
            </a:extLst>
          </p:cNvPr>
          <p:cNvPicPr>
            <a:picLocks noChangeAspect="1"/>
          </p:cNvPicPr>
          <p:nvPr/>
        </p:nvPicPr>
        <p:blipFill>
          <a:blip r:embed="rId4"/>
          <a:stretch>
            <a:fillRect/>
          </a:stretch>
        </p:blipFill>
        <p:spPr>
          <a:xfrm>
            <a:off x="9449076" y="4171950"/>
            <a:ext cx="2686050" cy="2686050"/>
          </a:xfrm>
          <a:prstGeom prst="rect">
            <a:avLst/>
          </a:prstGeom>
        </p:spPr>
      </p:pic>
    </p:spTree>
    <p:extLst>
      <p:ext uri="{BB962C8B-B14F-4D97-AF65-F5344CB8AC3E}">
        <p14:creationId xmlns:p14="http://schemas.microsoft.com/office/powerpoint/2010/main" val="4125642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01B79-62D0-F9FD-2F87-9D9446E28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A9FE1-760D-270A-C0D9-1266EEC8C3A7}"/>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D8BAAB78-C2A9-EC33-C9B7-AFCC73D156E1}"/>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722945B6-21A8-AA98-2C41-86856C3A0EAD}"/>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7CA00B1B-EA9B-ABB1-E569-C845C7CFA418}"/>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29CFEC0-7F7D-0299-4310-B1CF594DE34F}"/>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63A2964-AD22-B32E-A9AB-E0447011E585}"/>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E5361C26-BA15-400B-B0CB-6C2EFFE4993C}"/>
              </a:ext>
            </a:extLst>
          </p:cNvPr>
          <p:cNvSpPr txBox="1"/>
          <p:nvPr/>
        </p:nvSpPr>
        <p:spPr>
          <a:xfrm>
            <a:off x="1059979" y="424610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8D742580-150B-5937-EF20-22EE2D268634}"/>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#2: “Closed”</a:t>
            </a:r>
          </a:p>
        </p:txBody>
      </p:sp>
    </p:spTree>
    <p:extLst>
      <p:ext uri="{BB962C8B-B14F-4D97-AF65-F5344CB8AC3E}">
        <p14:creationId xmlns:p14="http://schemas.microsoft.com/office/powerpoint/2010/main" val="104949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A2AD9-B90C-6EC4-E641-7F69C53B1F25}"/>
            </a:ext>
          </a:extLst>
        </p:cNvPr>
        <p:cNvGrpSpPr/>
        <p:nvPr/>
      </p:nvGrpSpPr>
      <p:grpSpPr>
        <a:xfrm>
          <a:off x="0" y="0"/>
          <a:ext cx="0" cy="0"/>
          <a:chOff x="0" y="0"/>
          <a:chExt cx="0" cy="0"/>
        </a:xfrm>
      </p:grpSpPr>
      <p:pic>
        <p:nvPicPr>
          <p:cNvPr id="15" name="Picture 14" descr=", AI generated">
            <a:extLst>
              <a:ext uri="{FF2B5EF4-FFF2-40B4-BE49-F238E27FC236}">
                <a16:creationId xmlns:a16="http://schemas.microsoft.com/office/drawing/2014/main" id="{3B48C98B-0120-A242-D635-95DA72B5F184}"/>
              </a:ext>
            </a:extLst>
          </p:cNvPr>
          <p:cNvPicPr>
            <a:picLocks noChangeAspect="1"/>
          </p:cNvPicPr>
          <p:nvPr/>
        </p:nvPicPr>
        <p:blipFill>
          <a:blip r:embed="rId2"/>
          <a:srcRect/>
          <a:stretch>
            <a:fillRect/>
          </a:stretch>
        </p:blipFill>
        <p:spPr>
          <a:xfrm>
            <a:off x="7707064" y="3429000"/>
            <a:ext cx="3383662" cy="3225052"/>
          </a:xfrm>
          <a:prstGeom prst="rect">
            <a:avLst/>
          </a:prstGeom>
          <a:ln>
            <a:solidFill>
              <a:schemeClr val="bg1"/>
            </a:solidFill>
          </a:ln>
        </p:spPr>
      </p:pic>
      <p:pic>
        <p:nvPicPr>
          <p:cNvPr id="11" name="Picture 10" descr="Generated image: Stick Figure Presenting an Ancient Scroll">
            <a:extLst>
              <a:ext uri="{FF2B5EF4-FFF2-40B4-BE49-F238E27FC236}">
                <a16:creationId xmlns:a16="http://schemas.microsoft.com/office/drawing/2014/main" id="{A6FAFA9A-2F82-1C1A-0889-70D15E201DB4}"/>
              </a:ext>
            </a:extLst>
          </p:cNvPr>
          <p:cNvPicPr>
            <a:picLocks noChangeAspect="1"/>
          </p:cNvPicPr>
          <p:nvPr/>
        </p:nvPicPr>
        <p:blipFill>
          <a:blip r:embed="rId3"/>
          <a:stretch>
            <a:fillRect/>
          </a:stretch>
        </p:blipFill>
        <p:spPr>
          <a:xfrm flipH="1">
            <a:off x="12233412" y="3467100"/>
            <a:ext cx="3310740" cy="3158497"/>
          </a:xfrm>
          <a:prstGeom prst="rect">
            <a:avLst/>
          </a:prstGeom>
        </p:spPr>
      </p:pic>
      <p:sp>
        <p:nvSpPr>
          <p:cNvPr id="2" name="Title 1">
            <a:extLst>
              <a:ext uri="{FF2B5EF4-FFF2-40B4-BE49-F238E27FC236}">
                <a16:creationId xmlns:a16="http://schemas.microsoft.com/office/drawing/2014/main" id="{48862708-65BA-B3E9-93CA-01EBB4265049}"/>
              </a:ext>
            </a:extLst>
          </p:cNvPr>
          <p:cNvSpPr>
            <a:spLocks noGrp="1"/>
          </p:cNvSpPr>
          <p:nvPr>
            <p:ph type="title"/>
          </p:nvPr>
        </p:nvSpPr>
        <p:spPr>
          <a:xfrm>
            <a:off x="838200" y="-336867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D329A816-1239-BE6E-D350-BAC6D04E9034}"/>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61A965B7-C2E2-4AD6-79CF-A1618EAF6E9A}"/>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F3D43D4C-B504-1F4D-11F5-ABFBF263A1D4}"/>
              </a:ext>
            </a:extLst>
          </p:cNvPr>
          <p:cNvSpPr txBox="1"/>
          <p:nvPr/>
        </p:nvSpPr>
        <p:spPr>
          <a:xfrm>
            <a:off x="0" y="-172296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4CD913F2-2FE8-4551-18C0-BBDB540F1BC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89FD2767-2865-D9F6-9BE2-FCE700333CCD}"/>
              </a:ext>
            </a:extLst>
          </p:cNvPr>
          <p:cNvSpPr txBox="1"/>
          <p:nvPr/>
        </p:nvSpPr>
        <p:spPr>
          <a:xfrm>
            <a:off x="0" y="-1295658"/>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93168118-A889-5AB3-49E3-B471B9E709D9}"/>
              </a:ext>
            </a:extLst>
          </p:cNvPr>
          <p:cNvSpPr txBox="1"/>
          <p:nvPr/>
        </p:nvSpPr>
        <p:spPr>
          <a:xfrm>
            <a:off x="1059979" y="1445756"/>
            <a:ext cx="10293821" cy="523220"/>
          </a:xfrm>
          <a:prstGeom prst="rect">
            <a:avLst/>
          </a:prstGeom>
          <a:noFill/>
        </p:spPr>
        <p:txBody>
          <a:bodyPr wrap="square" rtlCol="0">
            <a:spAutoFit/>
          </a:bodyPr>
          <a:lstStyle/>
          <a:p>
            <a:pPr marL="238125" indent="-238125">
              <a:buFont typeface="Arial" panose="020B0604020202020204" pitchFamily="34" charset="0"/>
              <a:buChar char="•"/>
            </a:pPr>
            <a:r>
              <a:rPr lang="en-US" sz="2800" dirty="0"/>
              <a:t>“Closed” means: There are no new books being added</a:t>
            </a:r>
          </a:p>
        </p:txBody>
      </p:sp>
      <p:sp>
        <p:nvSpPr>
          <p:cNvPr id="12" name="TextBox 11">
            <a:extLst>
              <a:ext uri="{FF2B5EF4-FFF2-40B4-BE49-F238E27FC236}">
                <a16:creationId xmlns:a16="http://schemas.microsoft.com/office/drawing/2014/main" id="{B671DB7B-CD63-86C8-E86D-0AFB8F0ACC2B}"/>
              </a:ext>
            </a:extLst>
          </p:cNvPr>
          <p:cNvSpPr txBox="1"/>
          <p:nvPr/>
        </p:nvSpPr>
        <p:spPr>
          <a:xfrm>
            <a:off x="949089" y="372497"/>
            <a:ext cx="10293821" cy="861774"/>
          </a:xfrm>
          <a:prstGeom prst="rect">
            <a:avLst/>
          </a:prstGeom>
          <a:noFill/>
        </p:spPr>
        <p:txBody>
          <a:bodyPr wrap="square" rtlCol="0">
            <a:spAutoFit/>
          </a:bodyPr>
          <a:lstStyle/>
          <a:p>
            <a:pPr algn="ctr"/>
            <a:r>
              <a:rPr lang="en-US" sz="5000" u="sng" dirty="0"/>
              <a:t>#2: “Closed”</a:t>
            </a:r>
          </a:p>
        </p:txBody>
      </p:sp>
      <p:pic>
        <p:nvPicPr>
          <p:cNvPr id="4" name="Picture 3" descr="Generated image: Stick Figure Reading an Open Book">
            <a:extLst>
              <a:ext uri="{FF2B5EF4-FFF2-40B4-BE49-F238E27FC236}">
                <a16:creationId xmlns:a16="http://schemas.microsoft.com/office/drawing/2014/main" id="{9A5839B4-092A-33A1-36E4-7F9479CC4DA5}"/>
              </a:ext>
            </a:extLst>
          </p:cNvPr>
          <p:cNvPicPr>
            <a:picLocks noChangeAspect="1"/>
          </p:cNvPicPr>
          <p:nvPr/>
        </p:nvPicPr>
        <p:blipFill>
          <a:blip r:embed="rId4"/>
          <a:stretch>
            <a:fillRect/>
          </a:stretch>
        </p:blipFill>
        <p:spPr>
          <a:xfrm>
            <a:off x="636342" y="3393729"/>
            <a:ext cx="3310741" cy="3310741"/>
          </a:xfrm>
          <a:prstGeom prst="rect">
            <a:avLst/>
          </a:prstGeom>
        </p:spPr>
      </p:pic>
      <p:sp>
        <p:nvSpPr>
          <p:cNvPr id="13" name="Oval Callout 12">
            <a:extLst>
              <a:ext uri="{FF2B5EF4-FFF2-40B4-BE49-F238E27FC236}">
                <a16:creationId xmlns:a16="http://schemas.microsoft.com/office/drawing/2014/main" id="{AD7A5D32-E7D1-03AC-6CB3-3AB0884E589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4" name="Oval Callout 13">
            <a:extLst>
              <a:ext uri="{FF2B5EF4-FFF2-40B4-BE49-F238E27FC236}">
                <a16:creationId xmlns:a16="http://schemas.microsoft.com/office/drawing/2014/main" id="{38675C71-BDC5-AB21-2229-938F6CACF1F2}"/>
              </a:ext>
            </a:extLst>
          </p:cNvPr>
          <p:cNvSpPr/>
          <p:nvPr/>
        </p:nvSpPr>
        <p:spPr>
          <a:xfrm flipH="1">
            <a:off x="5432611" y="1968975"/>
            <a:ext cx="368780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“You need this </a:t>
            </a:r>
            <a:r>
              <a:rPr lang="en-US" sz="3600" i="1" dirty="0"/>
              <a:t>Gospel of Thomas</a:t>
            </a:r>
            <a:r>
              <a:rPr lang="en-US" sz="3600" dirty="0"/>
              <a:t>!”</a:t>
            </a:r>
          </a:p>
        </p:txBody>
      </p:sp>
      <p:sp>
        <p:nvSpPr>
          <p:cNvPr id="16" name="Oval Callout 15">
            <a:extLst>
              <a:ext uri="{FF2B5EF4-FFF2-40B4-BE49-F238E27FC236}">
                <a16:creationId xmlns:a16="http://schemas.microsoft.com/office/drawing/2014/main" id="{9D5B4D65-BA37-FE32-3BE6-88C4D3181403}"/>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way, my canon is closed!”</a:t>
            </a:r>
          </a:p>
        </p:txBody>
      </p:sp>
    </p:spTree>
    <p:extLst>
      <p:ext uri="{BB962C8B-B14F-4D97-AF65-F5344CB8AC3E}">
        <p14:creationId xmlns:p14="http://schemas.microsoft.com/office/powerpoint/2010/main" val="2094752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1"/>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down)">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down)">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B55B1-6896-3C39-C649-12FFC7EFB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6F030-57D8-FB45-87B3-12D83864091D}"/>
              </a:ext>
            </a:extLst>
          </p:cNvPr>
          <p:cNvSpPr>
            <a:spLocks noGrp="1"/>
          </p:cNvSpPr>
          <p:nvPr>
            <p:ph type="title"/>
          </p:nvPr>
        </p:nvSpPr>
        <p:spPr/>
        <p:txBody>
          <a:bodyPr/>
          <a:lstStyle/>
          <a:p>
            <a:r>
              <a:rPr lang="en-US" dirty="0"/>
              <a:t>What is “the Canon”?</a:t>
            </a:r>
          </a:p>
        </p:txBody>
      </p:sp>
      <p:sp>
        <p:nvSpPr>
          <p:cNvPr id="3" name="Content Placeholder 2">
            <a:extLst>
              <a:ext uri="{FF2B5EF4-FFF2-40B4-BE49-F238E27FC236}">
                <a16:creationId xmlns:a16="http://schemas.microsoft.com/office/drawing/2014/main" id="{5C6E5C94-B990-07D2-7F23-699F35B96F3A}"/>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9E79A8D1-69C0-24AB-5BCC-C1B9F6EF6D3E}"/>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4EA64E91-31C2-9189-39FD-9097C9EA6E9D}"/>
              </a:ext>
            </a:extLst>
          </p:cNvPr>
          <p:cNvSpPr txBox="1"/>
          <p:nvPr/>
        </p:nvSpPr>
        <p:spPr>
          <a:xfrm>
            <a:off x="0" y="201084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53003671-506B-6B9C-68CB-1F2A923FCD32}"/>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0340354B-B067-E8DF-C5A6-95E1BF394260}"/>
              </a:ext>
            </a:extLst>
          </p:cNvPr>
          <p:cNvSpPr txBox="1"/>
          <p:nvPr/>
        </p:nvSpPr>
        <p:spPr>
          <a:xfrm>
            <a:off x="0" y="2438142"/>
            <a:ext cx="12192000" cy="523220"/>
          </a:xfrm>
          <a:prstGeom prst="rect">
            <a:avLst/>
          </a:prstGeom>
          <a:noFill/>
        </p:spPr>
        <p:txBody>
          <a:bodyPr wrap="square">
            <a:spAutoFit/>
          </a:bodyPr>
          <a:lstStyle/>
          <a:p>
            <a:pPr algn="ctr"/>
            <a:r>
              <a:rPr lang="en-US" sz="2800" dirty="0"/>
              <a:t>(undergraduate professor, 2026)</a:t>
            </a:r>
            <a:endParaRPr lang="en-US" dirty="0"/>
          </a:p>
        </p:txBody>
      </p:sp>
      <p:sp>
        <p:nvSpPr>
          <p:cNvPr id="9" name="TextBox 8">
            <a:extLst>
              <a:ext uri="{FF2B5EF4-FFF2-40B4-BE49-F238E27FC236}">
                <a16:creationId xmlns:a16="http://schemas.microsoft.com/office/drawing/2014/main" id="{48CDDFC9-558B-651B-6349-24874EF601AF}"/>
              </a:ext>
            </a:extLst>
          </p:cNvPr>
          <p:cNvSpPr txBox="1"/>
          <p:nvPr/>
        </p:nvSpPr>
        <p:spPr>
          <a:xfrm>
            <a:off x="1059979" y="4246106"/>
            <a:ext cx="10293821" cy="954107"/>
          </a:xfrm>
          <a:prstGeom prst="rect">
            <a:avLst/>
          </a:prstGeom>
          <a:noFill/>
        </p:spPr>
        <p:txBody>
          <a:bodyPr wrap="square" rtlCol="0">
            <a:spAutoFit/>
          </a:bodyPr>
          <a:lstStyle/>
          <a:p>
            <a:pPr marL="238125" indent="-238125">
              <a:buFont typeface="Arial" panose="020B0604020202020204" pitchFamily="34" charset="0"/>
              <a:buChar char="•"/>
            </a:pPr>
            <a:r>
              <a:rPr lang="en-US" sz="2800" dirty="0"/>
              <a:t>“Authoritative” means something like: “Ought to be listened to”</a:t>
            </a:r>
          </a:p>
          <a:p>
            <a:pPr marL="238125" indent="-238125">
              <a:buFont typeface="Arial" panose="020B0604020202020204" pitchFamily="34" charset="0"/>
              <a:buChar char="•"/>
            </a:pPr>
            <a:r>
              <a:rPr lang="en-US" sz="2800" dirty="0"/>
              <a:t>“Sacred” means: “holy,” “important,” etc.</a:t>
            </a:r>
          </a:p>
        </p:txBody>
      </p:sp>
      <p:sp>
        <p:nvSpPr>
          <p:cNvPr id="12" name="TextBox 11">
            <a:extLst>
              <a:ext uri="{FF2B5EF4-FFF2-40B4-BE49-F238E27FC236}">
                <a16:creationId xmlns:a16="http://schemas.microsoft.com/office/drawing/2014/main" id="{09EF90D4-7824-2F40-904E-47FB8E9188AF}"/>
              </a:ext>
            </a:extLst>
          </p:cNvPr>
          <p:cNvSpPr txBox="1"/>
          <p:nvPr/>
        </p:nvSpPr>
        <p:spPr>
          <a:xfrm>
            <a:off x="949089" y="3172847"/>
            <a:ext cx="10293821" cy="861774"/>
          </a:xfrm>
          <a:prstGeom prst="rect">
            <a:avLst/>
          </a:prstGeom>
          <a:noFill/>
        </p:spPr>
        <p:txBody>
          <a:bodyPr wrap="square" rtlCol="0">
            <a:spAutoFit/>
          </a:bodyPr>
          <a:lstStyle/>
          <a:p>
            <a:pPr algn="ctr"/>
            <a:r>
              <a:rPr lang="en-US" sz="5000" u="sng" dirty="0"/>
              <a:t>#3: “Authoritative, Sacred”</a:t>
            </a:r>
          </a:p>
        </p:txBody>
      </p:sp>
    </p:spTree>
    <p:extLst>
      <p:ext uri="{BB962C8B-B14F-4D97-AF65-F5344CB8AC3E}">
        <p14:creationId xmlns:p14="http://schemas.microsoft.com/office/powerpoint/2010/main" val="3799980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A5B12-931E-2C40-E799-20DD9178C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A0A1D-9D6B-380F-7BAC-F3ADB1C42E59}"/>
              </a:ext>
            </a:extLst>
          </p:cNvPr>
          <p:cNvSpPr>
            <a:spLocks noGrp="1"/>
          </p:cNvSpPr>
          <p:nvPr>
            <p:ph type="title"/>
          </p:nvPr>
        </p:nvSpPr>
        <p:spPr>
          <a:xfrm>
            <a:off x="838200" y="-1859915"/>
            <a:ext cx="10515600" cy="1325563"/>
          </a:xfrm>
        </p:spPr>
        <p:txBody>
          <a:bodyPr/>
          <a:lstStyle/>
          <a:p>
            <a:r>
              <a:rPr lang="en-US" dirty="0"/>
              <a:t>What is “the Canon”?</a:t>
            </a:r>
          </a:p>
        </p:txBody>
      </p:sp>
      <p:sp>
        <p:nvSpPr>
          <p:cNvPr id="3" name="Content Placeholder 2">
            <a:extLst>
              <a:ext uri="{FF2B5EF4-FFF2-40B4-BE49-F238E27FC236}">
                <a16:creationId xmlns:a16="http://schemas.microsoft.com/office/drawing/2014/main" id="{5FEBB178-7F98-058D-A4BC-932D589CA01D}"/>
              </a:ext>
            </a:extLst>
          </p:cNvPr>
          <p:cNvSpPr>
            <a:spLocks noGrp="1"/>
          </p:cNvSpPr>
          <p:nvPr>
            <p:ph idx="1"/>
          </p:nvPr>
        </p:nvSpPr>
        <p:spPr>
          <a:xfrm>
            <a:off x="-983974" y="-2045255"/>
            <a:ext cx="10515600" cy="1325563"/>
          </a:xfrm>
        </p:spPr>
        <p:txBody>
          <a:bodyPr/>
          <a:lstStyle/>
          <a:p>
            <a:r>
              <a:rPr lang="en-US" dirty="0"/>
              <a:t>“Much of the present confusion over the problem of canon turns on the failure to reach an agreement regarding terminology” (Brevard Childs as quoted by M. Kruger, </a:t>
            </a:r>
            <a:r>
              <a:rPr lang="en-US" i="1" dirty="0"/>
              <a:t>Canon Revisited</a:t>
            </a:r>
            <a:r>
              <a:rPr lang="en-US" dirty="0"/>
              <a:t>, p. 27)</a:t>
            </a:r>
          </a:p>
        </p:txBody>
      </p:sp>
      <p:sp>
        <p:nvSpPr>
          <p:cNvPr id="5" name="TextBox 4">
            <a:extLst>
              <a:ext uri="{FF2B5EF4-FFF2-40B4-BE49-F238E27FC236}">
                <a16:creationId xmlns:a16="http://schemas.microsoft.com/office/drawing/2014/main" id="{04E4EAD0-1012-9219-E86A-87FB5614938B}"/>
              </a:ext>
            </a:extLst>
          </p:cNvPr>
          <p:cNvSpPr txBox="1"/>
          <p:nvPr/>
        </p:nvSpPr>
        <p:spPr>
          <a:xfrm>
            <a:off x="1059979" y="-2332951"/>
            <a:ext cx="10515600" cy="2246769"/>
          </a:xfrm>
          <a:prstGeom prst="rect">
            <a:avLst/>
          </a:prstGeom>
          <a:noFill/>
        </p:spPr>
        <p:txBody>
          <a:bodyPr wrap="square">
            <a:spAutoFit/>
          </a:bodyPr>
          <a:lstStyle/>
          <a:p>
            <a:pPr marL="285750" indent="-285750">
              <a:buFont typeface="Arial" panose="020B0604020202020204" pitchFamily="34" charset="0"/>
              <a:buChar char="•"/>
            </a:pPr>
            <a:r>
              <a:rPr lang="en-US" sz="2800" dirty="0"/>
              <a:t>Metzger: “Still more basic are the questions of whether the canon is a collection of authoritative books or an authoritative collection of books—and in either case whether the collection can be held to reflect the divine intention within the history of salvation” (Metzger, p. 1)</a:t>
            </a:r>
          </a:p>
        </p:txBody>
      </p:sp>
      <p:sp>
        <p:nvSpPr>
          <p:cNvPr id="7" name="TextBox 6">
            <a:extLst>
              <a:ext uri="{FF2B5EF4-FFF2-40B4-BE49-F238E27FC236}">
                <a16:creationId xmlns:a16="http://schemas.microsoft.com/office/drawing/2014/main" id="{A07CDC5D-D620-91D8-2CBB-83BA4187F4C9}"/>
              </a:ext>
            </a:extLst>
          </p:cNvPr>
          <p:cNvSpPr txBox="1"/>
          <p:nvPr/>
        </p:nvSpPr>
        <p:spPr>
          <a:xfrm>
            <a:off x="0" y="471600"/>
            <a:ext cx="12192000" cy="523220"/>
          </a:xfrm>
          <a:prstGeom prst="rect">
            <a:avLst/>
          </a:prstGeom>
          <a:noFill/>
        </p:spPr>
        <p:txBody>
          <a:bodyPr wrap="square">
            <a:spAutoFit/>
          </a:bodyPr>
          <a:lstStyle/>
          <a:p>
            <a:pPr algn="ctr"/>
            <a:r>
              <a:rPr lang="en-US" sz="2800" b="1" dirty="0"/>
              <a:t>the canon is “a closed list of authoritative, sacred texts”</a:t>
            </a:r>
            <a:endParaRPr lang="en-US" sz="2800" dirty="0"/>
          </a:p>
        </p:txBody>
      </p:sp>
      <p:sp>
        <p:nvSpPr>
          <p:cNvPr id="8" name="TextBox 7">
            <a:extLst>
              <a:ext uri="{FF2B5EF4-FFF2-40B4-BE49-F238E27FC236}">
                <a16:creationId xmlns:a16="http://schemas.microsoft.com/office/drawing/2014/main" id="{ADD630F5-5EF2-EE2A-9BBD-7617FC04D6E8}"/>
              </a:ext>
            </a:extLst>
          </p:cNvPr>
          <p:cNvSpPr txBox="1"/>
          <p:nvPr/>
        </p:nvSpPr>
        <p:spPr>
          <a:xfrm>
            <a:off x="-5330741" y="5713869"/>
            <a:ext cx="4125395" cy="523220"/>
          </a:xfrm>
          <a:prstGeom prst="rect">
            <a:avLst/>
          </a:prstGeom>
          <a:noFill/>
        </p:spPr>
        <p:txBody>
          <a:bodyPr wrap="square">
            <a:spAutoFit/>
          </a:bodyPr>
          <a:lstStyle/>
          <a:p>
            <a:pPr marL="285750" indent="-285750">
              <a:buFont typeface="Arial" panose="020B0604020202020204" pitchFamily="34" charset="0"/>
              <a:buChar char="•"/>
            </a:pPr>
            <a:r>
              <a:rPr lang="en-US" sz="2800" dirty="0"/>
              <a:t>Definition for this study:</a:t>
            </a:r>
            <a:endParaRPr lang="en-US" sz="2800" b="1" dirty="0"/>
          </a:p>
        </p:txBody>
      </p:sp>
      <p:sp>
        <p:nvSpPr>
          <p:cNvPr id="6" name="TextBox 5">
            <a:extLst>
              <a:ext uri="{FF2B5EF4-FFF2-40B4-BE49-F238E27FC236}">
                <a16:creationId xmlns:a16="http://schemas.microsoft.com/office/drawing/2014/main" id="{2003FD8D-0DD8-B722-ED57-62E06828AAA6}"/>
              </a:ext>
            </a:extLst>
          </p:cNvPr>
          <p:cNvSpPr txBox="1"/>
          <p:nvPr/>
        </p:nvSpPr>
        <p:spPr>
          <a:xfrm>
            <a:off x="0" y="898902"/>
            <a:ext cx="12192000" cy="523220"/>
          </a:xfrm>
          <a:prstGeom prst="rect">
            <a:avLst/>
          </a:prstGeom>
          <a:noFill/>
        </p:spPr>
        <p:txBody>
          <a:bodyPr wrap="square">
            <a:spAutoFit/>
          </a:bodyPr>
          <a:lstStyle/>
          <a:p>
            <a:pPr algn="ctr"/>
            <a:r>
              <a:rPr lang="en-US" sz="2800" dirty="0"/>
              <a:t>(undergraduate professor, 2026)</a:t>
            </a:r>
            <a:endParaRPr lang="en-US" dirty="0"/>
          </a:p>
        </p:txBody>
      </p:sp>
      <p:pic>
        <p:nvPicPr>
          <p:cNvPr id="10" name="Picture 9" descr="Generated image: Stick Figure Reading an Open Book">
            <a:extLst>
              <a:ext uri="{FF2B5EF4-FFF2-40B4-BE49-F238E27FC236}">
                <a16:creationId xmlns:a16="http://schemas.microsoft.com/office/drawing/2014/main" id="{37CA2E7B-06D4-D9B2-81C0-BE8A46C3A022}"/>
              </a:ext>
            </a:extLst>
          </p:cNvPr>
          <p:cNvPicPr>
            <a:picLocks noChangeAspect="1"/>
          </p:cNvPicPr>
          <p:nvPr/>
        </p:nvPicPr>
        <p:blipFill>
          <a:blip r:embed="rId2"/>
          <a:stretch>
            <a:fillRect/>
          </a:stretch>
        </p:blipFill>
        <p:spPr>
          <a:xfrm>
            <a:off x="636342" y="3393729"/>
            <a:ext cx="3310741" cy="3310741"/>
          </a:xfrm>
          <a:prstGeom prst="rect">
            <a:avLst/>
          </a:prstGeom>
        </p:spPr>
      </p:pic>
      <p:pic>
        <p:nvPicPr>
          <p:cNvPr id="11" name="Picture 10" descr=", AI generated">
            <a:extLst>
              <a:ext uri="{FF2B5EF4-FFF2-40B4-BE49-F238E27FC236}">
                <a16:creationId xmlns:a16="http://schemas.microsoft.com/office/drawing/2014/main" id="{B85CCFB9-18C0-5B8A-153A-6F5AE62CCBE9}"/>
              </a:ext>
            </a:extLst>
          </p:cNvPr>
          <p:cNvPicPr>
            <a:picLocks noChangeAspect="1"/>
          </p:cNvPicPr>
          <p:nvPr/>
        </p:nvPicPr>
        <p:blipFill>
          <a:blip r:embed="rId3"/>
          <a:srcRect/>
          <a:stretch>
            <a:fillRect/>
          </a:stretch>
        </p:blipFill>
        <p:spPr>
          <a:xfrm>
            <a:off x="7707064" y="3429000"/>
            <a:ext cx="3383662" cy="3225052"/>
          </a:xfrm>
          <a:prstGeom prst="rect">
            <a:avLst/>
          </a:prstGeom>
          <a:ln>
            <a:solidFill>
              <a:schemeClr val="bg1"/>
            </a:solidFill>
          </a:ln>
        </p:spPr>
      </p:pic>
      <p:pic>
        <p:nvPicPr>
          <p:cNvPr id="13" name="Picture 12" descr="Generated image: Stick Figure Presenting an Ancient Scroll">
            <a:extLst>
              <a:ext uri="{FF2B5EF4-FFF2-40B4-BE49-F238E27FC236}">
                <a16:creationId xmlns:a16="http://schemas.microsoft.com/office/drawing/2014/main" id="{1C9F54AD-9A6F-19D2-73BE-FA4796DC33CE}"/>
              </a:ext>
            </a:extLst>
          </p:cNvPr>
          <p:cNvPicPr>
            <a:picLocks noChangeAspect="1"/>
          </p:cNvPicPr>
          <p:nvPr/>
        </p:nvPicPr>
        <p:blipFill>
          <a:blip r:embed="rId4"/>
          <a:stretch>
            <a:fillRect/>
          </a:stretch>
        </p:blipFill>
        <p:spPr>
          <a:xfrm flipH="1">
            <a:off x="12233412" y="3467100"/>
            <a:ext cx="3310740" cy="3158497"/>
          </a:xfrm>
          <a:prstGeom prst="rect">
            <a:avLst/>
          </a:prstGeom>
        </p:spPr>
      </p:pic>
      <p:sp>
        <p:nvSpPr>
          <p:cNvPr id="16" name="Oval Callout 15">
            <a:extLst>
              <a:ext uri="{FF2B5EF4-FFF2-40B4-BE49-F238E27FC236}">
                <a16:creationId xmlns:a16="http://schemas.microsoft.com/office/drawing/2014/main" id="{3A7C8C8E-72B5-035E-061F-52BE4BB17C69}"/>
              </a:ext>
            </a:extLst>
          </p:cNvPr>
          <p:cNvSpPr/>
          <p:nvPr/>
        </p:nvSpPr>
        <p:spPr>
          <a:xfrm>
            <a:off x="2599765" y="2180462"/>
            <a:ext cx="3496235" cy="1943304"/>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“I love my 66 books!”</a:t>
            </a:r>
          </a:p>
        </p:txBody>
      </p:sp>
      <p:sp>
        <p:nvSpPr>
          <p:cNvPr id="17" name="Oval Callout 16">
            <a:extLst>
              <a:ext uri="{FF2B5EF4-FFF2-40B4-BE49-F238E27FC236}">
                <a16:creationId xmlns:a16="http://schemas.microsoft.com/office/drawing/2014/main" id="{42647E6A-BB9F-B043-AC01-2A24A8E4A396}"/>
              </a:ext>
            </a:extLst>
          </p:cNvPr>
          <p:cNvSpPr/>
          <p:nvPr/>
        </p:nvSpPr>
        <p:spPr>
          <a:xfrm flipH="1">
            <a:off x="4750420" y="1422122"/>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do you think about </a:t>
            </a:r>
            <a:r>
              <a:rPr lang="en-US" sz="3600" i="1" dirty="0"/>
              <a:t>The Wisdom of Solomon</a:t>
            </a:r>
            <a:r>
              <a:rPr lang="en-US" sz="3600" dirty="0"/>
              <a:t>?”</a:t>
            </a:r>
          </a:p>
        </p:txBody>
      </p:sp>
      <p:sp>
        <p:nvSpPr>
          <p:cNvPr id="18" name="Oval Callout 17">
            <a:extLst>
              <a:ext uri="{FF2B5EF4-FFF2-40B4-BE49-F238E27FC236}">
                <a16:creationId xmlns:a16="http://schemas.microsoft.com/office/drawing/2014/main" id="{A4207822-57DF-BA88-B375-0D7249DF685F}"/>
              </a:ext>
            </a:extLst>
          </p:cNvPr>
          <p:cNvSpPr/>
          <p:nvPr/>
        </p:nvSpPr>
        <p:spPr>
          <a:xfrm>
            <a:off x="2575051" y="1922496"/>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“That’s a good book; you should read it!”</a:t>
            </a:r>
          </a:p>
        </p:txBody>
      </p:sp>
      <p:sp>
        <p:nvSpPr>
          <p:cNvPr id="19" name="Oval Callout 18">
            <a:extLst>
              <a:ext uri="{FF2B5EF4-FFF2-40B4-BE49-F238E27FC236}">
                <a16:creationId xmlns:a16="http://schemas.microsoft.com/office/drawing/2014/main" id="{983E0397-233F-2CED-2587-DCEEC46B9B6B}"/>
              </a:ext>
            </a:extLst>
          </p:cNvPr>
          <p:cNvSpPr/>
          <p:nvPr/>
        </p:nvSpPr>
        <p:spPr>
          <a:xfrm flipH="1">
            <a:off x="4746868" y="1422121"/>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“Wait, you think it should be in the canon?”</a:t>
            </a:r>
          </a:p>
        </p:txBody>
      </p:sp>
      <p:sp>
        <p:nvSpPr>
          <p:cNvPr id="20" name="Oval Callout 19">
            <a:extLst>
              <a:ext uri="{FF2B5EF4-FFF2-40B4-BE49-F238E27FC236}">
                <a16:creationId xmlns:a16="http://schemas.microsoft.com/office/drawing/2014/main" id="{3921A6FE-05D4-F055-F7B4-927E2C2ADB77}"/>
              </a:ext>
            </a:extLst>
          </p:cNvPr>
          <p:cNvSpPr/>
          <p:nvPr/>
        </p:nvSpPr>
        <p:spPr>
          <a:xfrm>
            <a:off x="2579167" y="1926612"/>
            <a:ext cx="3496235" cy="2238341"/>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“No! It is just a helpful book”</a:t>
            </a:r>
          </a:p>
        </p:txBody>
      </p:sp>
      <p:sp>
        <p:nvSpPr>
          <p:cNvPr id="21" name="Oval Callout 20">
            <a:extLst>
              <a:ext uri="{FF2B5EF4-FFF2-40B4-BE49-F238E27FC236}">
                <a16:creationId xmlns:a16="http://schemas.microsoft.com/office/drawing/2014/main" id="{4289878D-D305-52F6-DCB2-A50196849766}"/>
              </a:ext>
            </a:extLst>
          </p:cNvPr>
          <p:cNvSpPr/>
          <p:nvPr/>
        </p:nvSpPr>
        <p:spPr>
          <a:xfrm flipH="1">
            <a:off x="4746868" y="1416076"/>
            <a:ext cx="4369996" cy="2490157"/>
          </a:xfrm>
          <a:prstGeom prst="wedgeEllipseCallout">
            <a:avLst>
              <a:gd name="adj1" fmla="val -49485"/>
              <a:gd name="adj2" fmla="val 59439"/>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“What about this [Apocryphal book]</a:t>
            </a:r>
            <a:r>
              <a:rPr lang="en-US" sz="3600" baseline="30000" dirty="0"/>
              <a:t>1</a:t>
            </a:r>
            <a:r>
              <a:rPr lang="en-US" sz="3600" dirty="0"/>
              <a:t>?”</a:t>
            </a:r>
          </a:p>
        </p:txBody>
      </p:sp>
      <p:sp>
        <p:nvSpPr>
          <p:cNvPr id="23" name="Oval Callout 22">
            <a:extLst>
              <a:ext uri="{FF2B5EF4-FFF2-40B4-BE49-F238E27FC236}">
                <a16:creationId xmlns:a16="http://schemas.microsoft.com/office/drawing/2014/main" id="{E2C38C8A-5DF9-1EF9-3CC0-5EE6C11C78B1}"/>
              </a:ext>
            </a:extLst>
          </p:cNvPr>
          <p:cNvSpPr/>
          <p:nvPr/>
        </p:nvSpPr>
        <p:spPr>
          <a:xfrm>
            <a:off x="2430937" y="467485"/>
            <a:ext cx="6270118" cy="3655038"/>
          </a:xfrm>
          <a:prstGeom prst="wedgeEllipseCallout">
            <a:avLst>
              <a:gd name="adj1" fmla="val -46772"/>
              <a:gd name="adj2" fmla="val 56530"/>
            </a:avLst>
          </a:prstGeom>
          <a:ln>
            <a:solidFill>
              <a:schemeClr val="tx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US" sz="3600" dirty="0"/>
              <a:t>“That is an apocryphal book! That is heresy! False teachers wrote that and claimed it was an ancient book!”</a:t>
            </a:r>
          </a:p>
        </p:txBody>
      </p:sp>
      <p:sp>
        <p:nvSpPr>
          <p:cNvPr id="24" name="TextBox 23">
            <a:extLst>
              <a:ext uri="{FF2B5EF4-FFF2-40B4-BE49-F238E27FC236}">
                <a16:creationId xmlns:a16="http://schemas.microsoft.com/office/drawing/2014/main" id="{605C3492-442B-E7BC-49FA-CC4324CD2959}"/>
              </a:ext>
            </a:extLst>
          </p:cNvPr>
          <p:cNvSpPr txBox="1"/>
          <p:nvPr/>
        </p:nvSpPr>
        <p:spPr>
          <a:xfrm>
            <a:off x="3657208" y="5877029"/>
            <a:ext cx="4365127" cy="646331"/>
          </a:xfrm>
          <a:prstGeom prst="rect">
            <a:avLst/>
          </a:prstGeom>
          <a:noFill/>
        </p:spPr>
        <p:txBody>
          <a:bodyPr wrap="square" rtlCol="0">
            <a:spAutoFit/>
          </a:bodyPr>
          <a:lstStyle/>
          <a:p>
            <a:r>
              <a:rPr lang="en-US" baseline="30000" dirty="0"/>
              <a:t>1 </a:t>
            </a:r>
            <a:r>
              <a:rPr lang="en-US" i="1" dirty="0"/>
              <a:t>Athanasius does not give an example of an ‘apocryphal book.’</a:t>
            </a:r>
            <a:endParaRPr lang="en-US" dirty="0"/>
          </a:p>
        </p:txBody>
      </p:sp>
      <p:sp>
        <p:nvSpPr>
          <p:cNvPr id="25" name="TextBox 24">
            <a:extLst>
              <a:ext uri="{FF2B5EF4-FFF2-40B4-BE49-F238E27FC236}">
                <a16:creationId xmlns:a16="http://schemas.microsoft.com/office/drawing/2014/main" id="{AE05E63E-B3A5-192F-9ECE-A44B279545E9}"/>
              </a:ext>
            </a:extLst>
          </p:cNvPr>
          <p:cNvSpPr txBox="1"/>
          <p:nvPr/>
        </p:nvSpPr>
        <p:spPr>
          <a:xfrm>
            <a:off x="-46486" y="3389058"/>
            <a:ext cx="2111829" cy="523220"/>
          </a:xfrm>
          <a:prstGeom prst="rect">
            <a:avLst/>
          </a:prstGeom>
          <a:noFill/>
        </p:spPr>
        <p:txBody>
          <a:bodyPr wrap="square" rtlCol="0">
            <a:spAutoFit/>
          </a:bodyPr>
          <a:lstStyle/>
          <a:p>
            <a:pPr algn="ctr"/>
            <a:r>
              <a:rPr lang="en-US" sz="2800" b="1" dirty="0"/>
              <a:t>Athanasius</a:t>
            </a:r>
          </a:p>
        </p:txBody>
      </p:sp>
    </p:spTree>
    <p:extLst>
      <p:ext uri="{BB962C8B-B14F-4D97-AF65-F5344CB8AC3E}">
        <p14:creationId xmlns:p14="http://schemas.microsoft.com/office/powerpoint/2010/main" val="268702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0.05248 0.00139 L -0.3681 0.00139 " pathEditMode="relative" rAng="0" ptsTypes="AA">
                                      <p:cBhvr>
                                        <p:cTn id="11" dur="2000" fill="hold"/>
                                        <p:tgtEl>
                                          <p:spTgt spid="13"/>
                                        </p:tgtEl>
                                        <p:attrNameLst>
                                          <p:attrName>ppt_x</p:attrName>
                                          <p:attrName>ppt_y</p:attrName>
                                        </p:attrNameLst>
                                      </p:cBhvr>
                                      <p:rCtr x="-21029" y="0"/>
                                    </p:animMotion>
                                  </p:childTnLst>
                                </p:cTn>
                              </p:par>
                            </p:childTnLst>
                          </p:cTn>
                        </p:par>
                        <p:par>
                          <p:cTn id="12" fill="hold">
                            <p:stCondLst>
                              <p:cond delay="2000"/>
                            </p:stCondLst>
                            <p:childTnLst>
                              <p:par>
                                <p:cTn id="13" presetID="1" presetClass="entr" presetSubtype="0"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par>
                          <p:cTn id="17" fill="hold">
                            <p:stCondLst>
                              <p:cond delay="2000"/>
                            </p:stCondLst>
                            <p:childTnLst>
                              <p:par>
                                <p:cTn id="18" presetID="22" presetClass="entr" presetSubtype="4"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down)">
                                      <p:cBhvr>
                                        <p:cTn id="20" dur="5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down)">
                                      <p:cBhvr>
                                        <p:cTn id="25"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4"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wipe(down)">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4"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down)">
                                      <p:cBhvr>
                                        <p:cTn id="40" dur="500"/>
                                        <p:tgtEl>
                                          <p:spTgt spid="21"/>
                                        </p:tgtEl>
                                      </p:cBhvr>
                                    </p:animEffect>
                                  </p:childTnLst>
                                </p:cTn>
                              </p:par>
                            </p:childTnLst>
                          </p:cTn>
                        </p:par>
                        <p:par>
                          <p:cTn id="41" fill="hold">
                            <p:stCondLst>
                              <p:cond delay="500"/>
                            </p:stCondLst>
                            <p:childTnLst>
                              <p:par>
                                <p:cTn id="42" presetID="1" presetClass="entr" presetSubtype="0" fill="hold" grpId="0" nodeType="afterEffect">
                                  <p:stCondLst>
                                    <p:cond delay="0"/>
                                  </p:stCondLst>
                                  <p:childTnLst>
                                    <p:set>
                                      <p:cBhvr>
                                        <p:cTn id="43" dur="1" fill="hold">
                                          <p:stCondLst>
                                            <p:cond delay="0"/>
                                          </p:stCondLst>
                                        </p:cTn>
                                        <p:tgtEl>
                                          <p:spTgt spid="2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2" presetClass="entr" presetSubtype="4"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wipe(down)">
                                      <p:cBhvr>
                                        <p:cTn id="48" dur="500"/>
                                        <p:tgtEl>
                                          <p:spTgt spid="23"/>
                                        </p:tgtEl>
                                      </p:cBhvr>
                                    </p:animEffect>
                                  </p:childTnLst>
                                </p:cTn>
                              </p:par>
                              <p:par>
                                <p:cTn id="49" presetID="1" presetClass="exit"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animBg="1"/>
      <p:bldP spid="20" grpId="0" animBg="1"/>
      <p:bldP spid="21" grpId="0" animBg="1"/>
      <p:bldP spid="23" grpId="0" animBg="1"/>
      <p:bldP spid="24" grpId="0"/>
      <p:bldP spid="24"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17A58-01E1-CCC8-3F86-DC9C2B9A1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8A008-416B-BE24-100E-69549BE562FE}"/>
              </a:ext>
            </a:extLst>
          </p:cNvPr>
          <p:cNvSpPr>
            <a:spLocks noGrp="1"/>
          </p:cNvSpPr>
          <p:nvPr>
            <p:ph type="ctrTitle"/>
          </p:nvPr>
        </p:nvSpPr>
        <p:spPr>
          <a:xfrm>
            <a:off x="0" y="1435100"/>
            <a:ext cx="12192000" cy="2387600"/>
          </a:xfrm>
        </p:spPr>
        <p:txBody>
          <a:bodyPr>
            <a:normAutofit fontScale="90000"/>
          </a:bodyPr>
          <a:lstStyle/>
          <a:p>
            <a:pPr algn="ctr"/>
            <a:r>
              <a:rPr lang="en-US" b="1" dirty="0"/>
              <a:t>Class 2:</a:t>
            </a:r>
            <a:br>
              <a:rPr lang="en-US" b="1" dirty="0"/>
            </a:br>
            <a:r>
              <a:rPr lang="en-US" dirty="0"/>
              <a:t>History of Canon Discussion (19</a:t>
            </a:r>
            <a:r>
              <a:rPr lang="en-US" baseline="30000" dirty="0"/>
              <a:t>th</a:t>
            </a:r>
            <a:r>
              <a:rPr lang="en-US" dirty="0"/>
              <a:t> century)</a:t>
            </a:r>
          </a:p>
        </p:txBody>
      </p:sp>
      <p:sp>
        <p:nvSpPr>
          <p:cNvPr id="3" name="Subtitle 2">
            <a:extLst>
              <a:ext uri="{FF2B5EF4-FFF2-40B4-BE49-F238E27FC236}">
                <a16:creationId xmlns:a16="http://schemas.microsoft.com/office/drawing/2014/main" id="{4EEC99B1-7018-B5DB-B062-835C42BE8C22}"/>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700579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33D17-ABF1-E906-2DAC-585F2A1F22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B016D-F045-121C-10AC-ED776EA4D027}"/>
              </a:ext>
            </a:extLst>
          </p:cNvPr>
          <p:cNvSpPr>
            <a:spLocks noGrp="1"/>
          </p:cNvSpPr>
          <p:nvPr>
            <p:ph type="title"/>
          </p:nvPr>
        </p:nvSpPr>
        <p:spPr/>
        <p:txBody>
          <a:bodyPr/>
          <a:lstStyle/>
          <a:p>
            <a:r>
              <a:rPr lang="en-US" dirty="0"/>
              <a:t>History of Canon Discussion</a:t>
            </a:r>
          </a:p>
        </p:txBody>
      </p:sp>
      <p:sp>
        <p:nvSpPr>
          <p:cNvPr id="3" name="Content Placeholder 2">
            <a:extLst>
              <a:ext uri="{FF2B5EF4-FFF2-40B4-BE49-F238E27FC236}">
                <a16:creationId xmlns:a16="http://schemas.microsoft.com/office/drawing/2014/main" id="{4AD34373-4A94-1407-3812-5DA660CBF11D}"/>
              </a:ext>
            </a:extLst>
          </p:cNvPr>
          <p:cNvSpPr>
            <a:spLocks noGrp="1"/>
          </p:cNvSpPr>
          <p:nvPr>
            <p:ph idx="1"/>
          </p:nvPr>
        </p:nvSpPr>
        <p:spPr/>
        <p:txBody>
          <a:bodyPr/>
          <a:lstStyle/>
          <a:p>
            <a:r>
              <a:rPr lang="en-US" dirty="0"/>
              <a:t>Middle Ages: few quotes about the NT books</a:t>
            </a:r>
          </a:p>
          <a:p>
            <a:r>
              <a:rPr lang="en-US" dirty="0"/>
              <a:t>Renaissance / Reformation: occasional questions about authorship of Hebrews, several of the Catholic Epistles, and Revelation, but “no one dared seriously to dispute their canonicity” (Metzger: p. 11)</a:t>
            </a:r>
          </a:p>
          <a:p>
            <a:r>
              <a:rPr lang="en-US" dirty="0"/>
              <a:t>Luther: Hebrews, James, Jude, and Revelation are “inferior” but did not omit them from their translations of the NT (p. 11)</a:t>
            </a:r>
          </a:p>
          <a:p>
            <a:r>
              <a:rPr lang="en-US" dirty="0"/>
              <a:t>Questions about the Canon arouse because of the Deistic movement</a:t>
            </a:r>
          </a:p>
        </p:txBody>
      </p:sp>
    </p:spTree>
    <p:extLst>
      <p:ext uri="{BB962C8B-B14F-4D97-AF65-F5344CB8AC3E}">
        <p14:creationId xmlns:p14="http://schemas.microsoft.com/office/powerpoint/2010/main" val="3165679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2E34-DC20-3F93-8381-9136D8CC81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5A75BB-0856-A247-A9AF-8B2B4B1E7E1D}"/>
              </a:ext>
            </a:extLst>
          </p:cNvPr>
          <p:cNvSpPr>
            <a:spLocks noGrp="1"/>
          </p:cNvSpPr>
          <p:nvPr>
            <p:ph type="title"/>
          </p:nvPr>
        </p:nvSpPr>
        <p:spPr>
          <a:xfrm>
            <a:off x="838200" y="365125"/>
            <a:ext cx="113538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B9501302-2CF8-BBE2-7128-FEE81EF3F1C5}"/>
              </a:ext>
            </a:extLst>
          </p:cNvPr>
          <p:cNvSpPr/>
          <p:nvPr/>
        </p:nvSpPr>
        <p:spPr>
          <a:xfrm>
            <a:off x="6030518" y="3404039"/>
            <a:ext cx="13605641"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BF19084-A183-0E11-2A26-3FE711FB33FE}"/>
              </a:ext>
            </a:extLst>
          </p:cNvPr>
          <p:cNvSpPr/>
          <p:nvPr/>
        </p:nvSpPr>
        <p:spPr>
          <a:xfrm rot="16200000">
            <a:off x="5863472"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9B4BE8-79DC-D6A8-C01A-7E1B2C304D2B}"/>
              </a:ext>
            </a:extLst>
          </p:cNvPr>
          <p:cNvSpPr txBox="1"/>
          <p:nvPr/>
        </p:nvSpPr>
        <p:spPr>
          <a:xfrm>
            <a:off x="5428304"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5209C81D-5202-0149-A56F-951A05E8C3A6}"/>
              </a:ext>
            </a:extLst>
          </p:cNvPr>
          <p:cNvSpPr txBox="1"/>
          <p:nvPr/>
        </p:nvSpPr>
        <p:spPr>
          <a:xfrm>
            <a:off x="4862204" y="3676574"/>
            <a:ext cx="2459736" cy="954107"/>
          </a:xfrm>
          <a:prstGeom prst="rect">
            <a:avLst/>
          </a:prstGeom>
          <a:noFill/>
        </p:spPr>
        <p:txBody>
          <a:bodyPr wrap="square" rtlCol="0">
            <a:spAutoFit/>
          </a:bodyPr>
          <a:lstStyle/>
          <a:p>
            <a:pPr algn="ctr"/>
            <a:r>
              <a:rPr lang="en-US" sz="2800" dirty="0"/>
              <a:t>NT writings completed</a:t>
            </a:r>
          </a:p>
        </p:txBody>
      </p:sp>
    </p:spTree>
    <p:extLst>
      <p:ext uri="{BB962C8B-B14F-4D97-AF65-F5344CB8AC3E}">
        <p14:creationId xmlns:p14="http://schemas.microsoft.com/office/powerpoint/2010/main" val="3690747053"/>
      </p:ext>
    </p:extLst>
  </p:cSld>
  <p:clrMapOvr>
    <a:masterClrMapping/>
  </p:clrMapOvr>
  <mc:AlternateContent xmlns:mc="http://schemas.openxmlformats.org/markup-compatibility/2006" xmlns:p14="http://schemas.microsoft.com/office/powerpoint/2010/main">
    <mc:Choice Requires="p14">
      <p:transition spd="slow" p14:dur="3000"/>
    </mc:Choice>
    <mc:Fallback xmlns="">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E08FC-A93E-53BC-363D-3F8561BFDE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BD7D0-FF18-51A2-B6D5-1236747764D9}"/>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900D2AE-F512-A443-2A7A-FDFC06AC0DB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54137B3-EEFB-AE13-FCAD-C1DAFC958959}"/>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8B51732-D1CB-D0DA-C99A-8D73EFCB9A2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942E8FB-9A00-485E-6167-A40C9C77055A}"/>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D24A4FF-69FD-4DF0-78D2-48624E90428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81E84C3-4794-6007-91E2-A9B190EE44FD}"/>
              </a:ext>
            </a:extLst>
          </p:cNvPr>
          <p:cNvSpPr txBox="1"/>
          <p:nvPr/>
        </p:nvSpPr>
        <p:spPr>
          <a:xfrm>
            <a:off x="5369169"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34D4640D-09AC-489F-4647-64E4F8CD2936}"/>
              </a:ext>
            </a:extLst>
          </p:cNvPr>
          <p:cNvSpPr txBox="1"/>
          <p:nvPr/>
        </p:nvSpPr>
        <p:spPr>
          <a:xfrm>
            <a:off x="4803069" y="3691113"/>
            <a:ext cx="2459736" cy="954107"/>
          </a:xfrm>
          <a:prstGeom prst="rect">
            <a:avLst/>
          </a:prstGeom>
          <a:noFill/>
        </p:spPr>
        <p:txBody>
          <a:bodyPr wrap="square" rtlCol="0">
            <a:spAutoFit/>
          </a:bodyPr>
          <a:lstStyle/>
          <a:p>
            <a:pPr algn="ctr"/>
            <a:r>
              <a:rPr lang="en-US" sz="2800" dirty="0"/>
              <a:t>Athanasius: OT/NT</a:t>
            </a:r>
          </a:p>
        </p:txBody>
      </p:sp>
    </p:spTree>
    <p:extLst>
      <p:ext uri="{BB962C8B-B14F-4D97-AF65-F5344CB8AC3E}">
        <p14:creationId xmlns:p14="http://schemas.microsoft.com/office/powerpoint/2010/main" val="32545244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2AEC-0368-5532-1D9C-F043B558A9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1FDAF-63DA-A010-0587-73ED0AA31F51}"/>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E73A6BA-51D4-92C6-952F-50FFC101DCD7}"/>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F84DCB5-3496-C988-1CB4-17CCDD0E5BAA}"/>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660AFC5-81A9-F058-2D6F-758A8BC1B7D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21C16867-C860-F268-D157-BE5ADB04C266}"/>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FE50B887-3AE7-FC32-F989-AD55DBE5E1F2}"/>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582C0-86E7-F96B-BFA1-0CE4B39FD2DF}"/>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65A1A991-7EBF-7A7F-5F7A-AFFC609F3A68}"/>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56F891E2-D513-710A-204D-E1EFEE8E7EFB}"/>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396138B-0C06-C1B9-C670-A10D7701A1A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B42F064E-14FE-59A1-C501-AD88F8F368E5}"/>
              </a:ext>
            </a:extLst>
          </p:cNvPr>
          <p:cNvSpPr txBox="1"/>
          <p:nvPr/>
        </p:nvSpPr>
        <p:spPr>
          <a:xfrm>
            <a:off x="3684638" y="3676573"/>
            <a:ext cx="4822722" cy="954107"/>
          </a:xfrm>
          <a:prstGeom prst="rect">
            <a:avLst/>
          </a:prstGeom>
          <a:noFill/>
        </p:spPr>
        <p:txBody>
          <a:bodyPr wrap="square" rtlCol="0">
            <a:spAutoFit/>
          </a:bodyPr>
          <a:lstStyle/>
          <a:p>
            <a:pPr algn="ctr"/>
            <a:r>
              <a:rPr lang="en-US" sz="2800" dirty="0"/>
              <a:t>Luther: “inferior” books, but still includes in his NT</a:t>
            </a:r>
          </a:p>
        </p:txBody>
      </p:sp>
    </p:spTree>
    <p:extLst>
      <p:ext uri="{BB962C8B-B14F-4D97-AF65-F5344CB8AC3E}">
        <p14:creationId xmlns:p14="http://schemas.microsoft.com/office/powerpoint/2010/main" val="3985614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F7598-571A-CD67-2E73-9B153894D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1563C-3D66-BB6B-4D83-0EE2EC12D813}"/>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A6B100A-D17A-5562-5BD9-86696FBCDC7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2D3A719-5730-84D4-220A-F4C56F52E438}"/>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EF67F3-0D54-F704-F47F-8BDF7005E393}"/>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41F90682-B40E-55AB-EF66-A0E1FE3EE778}"/>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5A9CB593-287A-C453-2D8E-1CB832B80DE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E0D38A1-E074-FC3D-D150-2E89549A09D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F873F5A5-9137-C7D7-4D71-6F26FFDBFDC0}"/>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71A4454D-7215-FEE7-E8B0-E788A9DD0205}"/>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1BD6172-0281-A26B-E709-133418382889}"/>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4EEA87AF-DA85-4AA1-AE26-A9498F39295E}"/>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1E6C4F2-FB28-5CDB-9290-A9FDE07F828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A5071C-BEF9-EF08-896D-C3B0C858289D}"/>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B2ACF4E8-6C38-AC1B-2D1E-A07994DB9A1B}"/>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11D5B8CD-0244-FE2E-4254-AD7A4DD114F0}"/>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Tree>
    <p:extLst>
      <p:ext uri="{BB962C8B-B14F-4D97-AF65-F5344CB8AC3E}">
        <p14:creationId xmlns:p14="http://schemas.microsoft.com/office/powerpoint/2010/main" val="321040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p:bldP spid="12" grpId="0"/>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BAD-0798-44C0-477C-E2D0B2DF7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F6E45-B76B-7B17-E1FC-1CD5F501976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855F19-1EF4-2C14-DFA2-8057CEF20FA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C93638C-286E-D0C5-34E3-B309E08DE0AC}"/>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0CDC21B-0116-F1CD-0423-EDC6B268B0CC}"/>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0768BD8D-472E-74CC-FCAF-2670E42E9EBD}"/>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1D5F6D8F-E5E0-C283-242F-662B3BF2C70C}"/>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D37EE4-1332-A068-A44E-D0740C707BA0}"/>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0C734561-EDE8-A64A-6C35-3D961FEAD5F1}"/>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3F3A11F-E6EC-5F76-3604-7853E67A9B6E}"/>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FCBA367-7FD6-38AB-F5D4-51FE43D87EDA}"/>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239757AA-DE18-C26A-0413-26B8F4E8A37F}"/>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5ADE62DD-DE75-1D55-EFCD-926305D1968A}"/>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71AF61B-62BC-86BD-7F46-C032C031DB9F}"/>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C64E30DF-EEA7-3027-B394-B93366C4AF0A}"/>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8B714225-5777-6EF9-BF53-D6F351408E7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873511C3-8E97-C71F-7C69-7E0DD7EE90A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09D21F-1EB5-3789-AE42-1CB10CC32FB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B7D75F28-C02F-E75D-1FBD-C5DB6BCFD20F}"/>
              </a:ext>
            </a:extLst>
          </p:cNvPr>
          <p:cNvSpPr txBox="1"/>
          <p:nvPr/>
        </p:nvSpPr>
        <p:spPr>
          <a:xfrm>
            <a:off x="3684638"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08A8771B-6B8B-6FE5-B751-16755ABC1391}"/>
              </a:ext>
            </a:extLst>
          </p:cNvPr>
          <p:cNvSpPr txBox="1"/>
          <p:nvPr/>
        </p:nvSpPr>
        <p:spPr>
          <a:xfrm>
            <a:off x="1660170"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Tree>
    <p:extLst>
      <p:ext uri="{BB962C8B-B14F-4D97-AF65-F5344CB8AC3E}">
        <p14:creationId xmlns:p14="http://schemas.microsoft.com/office/powerpoint/2010/main" val="292686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5279C-1326-09F4-261A-B50F929EB5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A4CB4-25FF-60D6-916E-B8480351223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540DC24-3070-A2D3-5B14-C95058371FC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5FFA06B8-808E-E5E4-11A7-881383169E92}"/>
              </a:ext>
            </a:extLst>
          </p:cNvPr>
          <p:cNvSpPr/>
          <p:nvPr/>
        </p:nvSpPr>
        <p:spPr>
          <a:xfrm rot="16200000">
            <a:off x="-1612148" y="311237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A5F5837-1AD7-EFFB-DC00-C23F166F11E2}"/>
              </a:ext>
            </a:extLst>
          </p:cNvPr>
          <p:cNvSpPr txBox="1"/>
          <p:nvPr/>
        </p:nvSpPr>
        <p:spPr>
          <a:xfrm>
            <a:off x="-2047316" y="2390609"/>
            <a:ext cx="1453662" cy="523220"/>
          </a:xfrm>
          <a:prstGeom prst="rect">
            <a:avLst/>
          </a:prstGeom>
          <a:noFill/>
        </p:spPr>
        <p:txBody>
          <a:bodyPr wrap="square" rtlCol="0">
            <a:spAutoFit/>
          </a:bodyPr>
          <a:lstStyle/>
          <a:p>
            <a:r>
              <a:rPr lang="en-US" sz="2800" b="1" dirty="0"/>
              <a:t>100 AD</a:t>
            </a:r>
          </a:p>
        </p:txBody>
      </p:sp>
      <p:sp>
        <p:nvSpPr>
          <p:cNvPr id="10" name="TextBox 9">
            <a:extLst>
              <a:ext uri="{FF2B5EF4-FFF2-40B4-BE49-F238E27FC236}">
                <a16:creationId xmlns:a16="http://schemas.microsoft.com/office/drawing/2014/main" id="{73FCADAC-D17F-4CF7-6011-CF7FDB3066B4}"/>
              </a:ext>
            </a:extLst>
          </p:cNvPr>
          <p:cNvSpPr txBox="1"/>
          <p:nvPr/>
        </p:nvSpPr>
        <p:spPr>
          <a:xfrm>
            <a:off x="-2613416" y="3676574"/>
            <a:ext cx="2459736" cy="954107"/>
          </a:xfrm>
          <a:prstGeom prst="rect">
            <a:avLst/>
          </a:prstGeom>
          <a:noFill/>
        </p:spPr>
        <p:txBody>
          <a:bodyPr wrap="square" rtlCol="0">
            <a:spAutoFit/>
          </a:bodyPr>
          <a:lstStyle/>
          <a:p>
            <a:pPr algn="ctr"/>
            <a:r>
              <a:rPr lang="en-US" sz="2800" dirty="0"/>
              <a:t>NT writings completed</a:t>
            </a:r>
          </a:p>
        </p:txBody>
      </p:sp>
      <p:sp>
        <p:nvSpPr>
          <p:cNvPr id="3" name="Rectangle 2">
            <a:extLst>
              <a:ext uri="{FF2B5EF4-FFF2-40B4-BE49-F238E27FC236}">
                <a16:creationId xmlns:a16="http://schemas.microsoft.com/office/drawing/2014/main" id="{704B4ADD-E3D4-4A26-D745-1EA42109DA5B}"/>
              </a:ext>
            </a:extLst>
          </p:cNvPr>
          <p:cNvSpPr/>
          <p:nvPr/>
        </p:nvSpPr>
        <p:spPr>
          <a:xfrm rot="16200000">
            <a:off x="-163483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49D0FDA-EDF8-DCF5-B17B-7436C01DD784}"/>
              </a:ext>
            </a:extLst>
          </p:cNvPr>
          <p:cNvSpPr txBox="1"/>
          <p:nvPr/>
        </p:nvSpPr>
        <p:spPr>
          <a:xfrm>
            <a:off x="-2133063" y="2408649"/>
            <a:ext cx="1453662" cy="523220"/>
          </a:xfrm>
          <a:prstGeom prst="rect">
            <a:avLst/>
          </a:prstGeom>
          <a:noFill/>
        </p:spPr>
        <p:txBody>
          <a:bodyPr wrap="square" rtlCol="0">
            <a:spAutoFit/>
          </a:bodyPr>
          <a:lstStyle/>
          <a:p>
            <a:r>
              <a:rPr lang="en-US" sz="2800" b="1" dirty="0"/>
              <a:t>367 AD</a:t>
            </a:r>
          </a:p>
        </p:txBody>
      </p:sp>
      <p:sp>
        <p:nvSpPr>
          <p:cNvPr id="5" name="TextBox 4">
            <a:extLst>
              <a:ext uri="{FF2B5EF4-FFF2-40B4-BE49-F238E27FC236}">
                <a16:creationId xmlns:a16="http://schemas.microsoft.com/office/drawing/2014/main" id="{7D388803-0A37-6F37-0317-682059A26ADC}"/>
              </a:ext>
            </a:extLst>
          </p:cNvPr>
          <p:cNvSpPr txBox="1"/>
          <p:nvPr/>
        </p:nvSpPr>
        <p:spPr>
          <a:xfrm>
            <a:off x="-2699163" y="3691113"/>
            <a:ext cx="2459736" cy="954107"/>
          </a:xfrm>
          <a:prstGeom prst="rect">
            <a:avLst/>
          </a:prstGeom>
          <a:noFill/>
        </p:spPr>
        <p:txBody>
          <a:bodyPr wrap="square" rtlCol="0">
            <a:spAutoFit/>
          </a:bodyPr>
          <a:lstStyle/>
          <a:p>
            <a:pPr algn="ctr"/>
            <a:r>
              <a:rPr lang="en-US" sz="2800" dirty="0"/>
              <a:t>Athanasius: OT/NT</a:t>
            </a:r>
          </a:p>
        </p:txBody>
      </p:sp>
      <p:sp>
        <p:nvSpPr>
          <p:cNvPr id="13" name="Rectangle 12">
            <a:extLst>
              <a:ext uri="{FF2B5EF4-FFF2-40B4-BE49-F238E27FC236}">
                <a16:creationId xmlns:a16="http://schemas.microsoft.com/office/drawing/2014/main" id="{DEFA2EB1-AA2A-7A6C-EF1E-3EEC0C4DDDA0}"/>
              </a:ext>
            </a:extLst>
          </p:cNvPr>
          <p:cNvSpPr/>
          <p:nvPr/>
        </p:nvSpPr>
        <p:spPr>
          <a:xfrm rot="16200000">
            <a:off x="-351257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7BD56D7-6444-3FD1-77E8-902B2A0249A1}"/>
              </a:ext>
            </a:extLst>
          </p:cNvPr>
          <p:cNvSpPr txBox="1"/>
          <p:nvPr/>
        </p:nvSpPr>
        <p:spPr>
          <a:xfrm>
            <a:off x="-6454882" y="2423618"/>
            <a:ext cx="6341805" cy="523220"/>
          </a:xfrm>
          <a:prstGeom prst="rect">
            <a:avLst/>
          </a:prstGeom>
          <a:noFill/>
        </p:spPr>
        <p:txBody>
          <a:bodyPr wrap="square" rtlCol="0">
            <a:spAutoFit/>
          </a:bodyPr>
          <a:lstStyle/>
          <a:p>
            <a:pPr algn="ctr"/>
            <a:r>
              <a:rPr lang="en-US" sz="2800" b="1" dirty="0"/>
              <a:t>Renaissance and Reformation</a:t>
            </a:r>
          </a:p>
        </p:txBody>
      </p:sp>
      <p:sp>
        <p:nvSpPr>
          <p:cNvPr id="15" name="TextBox 14">
            <a:extLst>
              <a:ext uri="{FF2B5EF4-FFF2-40B4-BE49-F238E27FC236}">
                <a16:creationId xmlns:a16="http://schemas.microsoft.com/office/drawing/2014/main" id="{5F1E9786-C711-5A02-4812-6489A319C799}"/>
              </a:ext>
            </a:extLst>
          </p:cNvPr>
          <p:cNvSpPr txBox="1"/>
          <p:nvPr/>
        </p:nvSpPr>
        <p:spPr>
          <a:xfrm>
            <a:off x="-5695341" y="3676573"/>
            <a:ext cx="4822722" cy="954107"/>
          </a:xfrm>
          <a:prstGeom prst="rect">
            <a:avLst/>
          </a:prstGeom>
          <a:noFill/>
        </p:spPr>
        <p:txBody>
          <a:bodyPr wrap="square" rtlCol="0">
            <a:spAutoFit/>
          </a:bodyPr>
          <a:lstStyle/>
          <a:p>
            <a:pPr algn="ctr"/>
            <a:r>
              <a:rPr lang="en-US" sz="2800" dirty="0"/>
              <a:t>Luther: “inferior” books, but still includes in his NT</a:t>
            </a:r>
          </a:p>
        </p:txBody>
      </p:sp>
      <p:sp>
        <p:nvSpPr>
          <p:cNvPr id="7" name="Rectangle 6">
            <a:extLst>
              <a:ext uri="{FF2B5EF4-FFF2-40B4-BE49-F238E27FC236}">
                <a16:creationId xmlns:a16="http://schemas.microsoft.com/office/drawing/2014/main" id="{09E0A839-0D30-17C3-8852-C6BB1D7FADD9}"/>
              </a:ext>
            </a:extLst>
          </p:cNvPr>
          <p:cNvSpPr/>
          <p:nvPr/>
        </p:nvSpPr>
        <p:spPr>
          <a:xfrm rot="16200000">
            <a:off x="-494927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3E8C8F5-C216-BC14-69D3-F3CF339F14CD}"/>
              </a:ext>
            </a:extLst>
          </p:cNvPr>
          <p:cNvSpPr txBox="1"/>
          <p:nvPr/>
        </p:nvSpPr>
        <p:spPr>
          <a:xfrm>
            <a:off x="-7891573" y="2423618"/>
            <a:ext cx="6341805" cy="523220"/>
          </a:xfrm>
          <a:prstGeom prst="rect">
            <a:avLst/>
          </a:prstGeom>
          <a:noFill/>
        </p:spPr>
        <p:txBody>
          <a:bodyPr wrap="square" rtlCol="0">
            <a:spAutoFit/>
          </a:bodyPr>
          <a:lstStyle/>
          <a:p>
            <a:pPr algn="ctr"/>
            <a:r>
              <a:rPr lang="en-US" sz="2800" b="1" dirty="0"/>
              <a:t>1698</a:t>
            </a:r>
          </a:p>
        </p:txBody>
      </p:sp>
      <p:sp>
        <p:nvSpPr>
          <p:cNvPr id="12" name="TextBox 11">
            <a:extLst>
              <a:ext uri="{FF2B5EF4-FFF2-40B4-BE49-F238E27FC236}">
                <a16:creationId xmlns:a16="http://schemas.microsoft.com/office/drawing/2014/main" id="{88145D9A-984F-1AED-9FBB-39B7A8778B90}"/>
              </a:ext>
            </a:extLst>
          </p:cNvPr>
          <p:cNvSpPr txBox="1"/>
          <p:nvPr/>
        </p:nvSpPr>
        <p:spPr>
          <a:xfrm>
            <a:off x="-7132032" y="3676573"/>
            <a:ext cx="4822722" cy="523220"/>
          </a:xfrm>
          <a:prstGeom prst="rect">
            <a:avLst/>
          </a:prstGeom>
          <a:noFill/>
        </p:spPr>
        <p:txBody>
          <a:bodyPr wrap="square" rtlCol="0">
            <a:spAutoFit/>
          </a:bodyPr>
          <a:lstStyle/>
          <a:p>
            <a:pPr algn="ctr"/>
            <a:r>
              <a:rPr lang="en-US" sz="2800" dirty="0"/>
              <a:t>John Toland</a:t>
            </a:r>
          </a:p>
        </p:txBody>
      </p:sp>
      <p:sp>
        <p:nvSpPr>
          <p:cNvPr id="16" name="TextBox 15">
            <a:extLst>
              <a:ext uri="{FF2B5EF4-FFF2-40B4-BE49-F238E27FC236}">
                <a16:creationId xmlns:a16="http://schemas.microsoft.com/office/drawing/2014/main" id="{9E9A26C5-4EE3-8029-4DA3-04B52F5E4A2E}"/>
              </a:ext>
            </a:extLst>
          </p:cNvPr>
          <p:cNvSpPr txBox="1"/>
          <p:nvPr/>
        </p:nvSpPr>
        <p:spPr>
          <a:xfrm>
            <a:off x="-9156500" y="4165287"/>
            <a:ext cx="8997786" cy="2677656"/>
          </a:xfrm>
          <a:prstGeom prst="rect">
            <a:avLst/>
          </a:prstGeom>
          <a:noFill/>
        </p:spPr>
        <p:txBody>
          <a:bodyPr wrap="square" rtlCol="0">
            <a:spAutoFit/>
          </a:bodyPr>
          <a:lstStyle/>
          <a:p>
            <a:pPr algn="ctr"/>
            <a:r>
              <a:rPr lang="en-US" sz="2800" dirty="0"/>
              <a:t>“He disputed the royal authorship of the </a:t>
            </a:r>
            <a:r>
              <a:rPr lang="en-US" sz="2800" i="1" dirty="0"/>
              <a:t>Eikon </a:t>
            </a:r>
            <a:r>
              <a:rPr lang="en-US" sz="2800" i="1" dirty="0" err="1"/>
              <a:t>Basilike</a:t>
            </a:r>
            <a:r>
              <a:rPr lang="en-US" sz="2800" dirty="0"/>
              <a:t>…Toland took occasion to insinuate that, as people were mistaken on [the authorship of </a:t>
            </a:r>
            <a:r>
              <a:rPr lang="en-US" sz="2800" i="1" dirty="0"/>
              <a:t>Eikon </a:t>
            </a:r>
            <a:r>
              <a:rPr lang="en-US" sz="2800" i="1" dirty="0" err="1"/>
              <a:t>Basilike</a:t>
            </a:r>
            <a:r>
              <a:rPr lang="en-US" sz="2800" dirty="0"/>
              <a:t>], so </a:t>
            </a:r>
            <a:r>
              <a:rPr lang="en-US" sz="2800" b="1" dirty="0"/>
              <a:t>they might be also about the authenticity of many of the early writings of Christianity</a:t>
            </a:r>
            <a:r>
              <a:rPr lang="en-US" sz="2800" dirty="0"/>
              <a:t>, including presumably books of the New Testament” (p. 12) </a:t>
            </a:r>
          </a:p>
        </p:txBody>
      </p:sp>
      <p:sp>
        <p:nvSpPr>
          <p:cNvPr id="17" name="Rectangle 16">
            <a:extLst>
              <a:ext uri="{FF2B5EF4-FFF2-40B4-BE49-F238E27FC236}">
                <a16:creationId xmlns:a16="http://schemas.microsoft.com/office/drawing/2014/main" id="{4DD1F03C-49A6-5F38-8844-61887660A4CC}"/>
              </a:ext>
            </a:extLst>
          </p:cNvPr>
          <p:cNvSpPr/>
          <p:nvPr/>
        </p:nvSpPr>
        <p:spPr>
          <a:xfrm rot="16200000">
            <a:off x="-49225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F7C566B-D5E6-B295-51A9-E7B7B38EA17D}"/>
              </a:ext>
            </a:extLst>
          </p:cNvPr>
          <p:cNvSpPr txBox="1"/>
          <p:nvPr/>
        </p:nvSpPr>
        <p:spPr>
          <a:xfrm>
            <a:off x="-7864821" y="2423618"/>
            <a:ext cx="6341805" cy="523220"/>
          </a:xfrm>
          <a:prstGeom prst="rect">
            <a:avLst/>
          </a:prstGeom>
          <a:noFill/>
        </p:spPr>
        <p:txBody>
          <a:bodyPr wrap="square" rtlCol="0">
            <a:spAutoFit/>
          </a:bodyPr>
          <a:lstStyle/>
          <a:p>
            <a:pPr algn="ctr"/>
            <a:r>
              <a:rPr lang="en-US" sz="2800" b="1" dirty="0"/>
              <a:t>Jan 30, 1699</a:t>
            </a:r>
          </a:p>
        </p:txBody>
      </p:sp>
      <p:sp>
        <p:nvSpPr>
          <p:cNvPr id="19" name="TextBox 18">
            <a:extLst>
              <a:ext uri="{FF2B5EF4-FFF2-40B4-BE49-F238E27FC236}">
                <a16:creationId xmlns:a16="http://schemas.microsoft.com/office/drawing/2014/main" id="{004B65A6-6B29-E579-6473-20DBAA13294A}"/>
              </a:ext>
            </a:extLst>
          </p:cNvPr>
          <p:cNvSpPr txBox="1"/>
          <p:nvPr/>
        </p:nvSpPr>
        <p:spPr>
          <a:xfrm>
            <a:off x="-7105280" y="3676573"/>
            <a:ext cx="4822722" cy="523220"/>
          </a:xfrm>
          <a:prstGeom prst="rect">
            <a:avLst/>
          </a:prstGeom>
          <a:noFill/>
        </p:spPr>
        <p:txBody>
          <a:bodyPr wrap="square" rtlCol="0">
            <a:spAutoFit/>
          </a:bodyPr>
          <a:lstStyle/>
          <a:p>
            <a:pPr algn="ctr"/>
            <a:r>
              <a:rPr lang="en-US" sz="2800" dirty="0"/>
              <a:t>Reverend Offspring Blackall</a:t>
            </a:r>
          </a:p>
        </p:txBody>
      </p:sp>
      <p:sp>
        <p:nvSpPr>
          <p:cNvPr id="21" name="TextBox 20">
            <a:extLst>
              <a:ext uri="{FF2B5EF4-FFF2-40B4-BE49-F238E27FC236}">
                <a16:creationId xmlns:a16="http://schemas.microsoft.com/office/drawing/2014/main" id="{9E8C5460-5DA8-37FB-0927-7D0EAFBC6F88}"/>
              </a:ext>
            </a:extLst>
          </p:cNvPr>
          <p:cNvSpPr txBox="1"/>
          <p:nvPr/>
        </p:nvSpPr>
        <p:spPr>
          <a:xfrm>
            <a:off x="-9129748" y="4165287"/>
            <a:ext cx="8997786" cy="1384995"/>
          </a:xfrm>
          <a:prstGeom prst="rect">
            <a:avLst/>
          </a:prstGeom>
          <a:noFill/>
        </p:spPr>
        <p:txBody>
          <a:bodyPr wrap="square" rtlCol="0">
            <a:spAutoFit/>
          </a:bodyPr>
          <a:lstStyle/>
          <a:p>
            <a:pPr algn="ctr"/>
            <a:r>
              <a:rPr lang="en-US" sz="2800" dirty="0"/>
              <a:t>    - Preached a sermon before the House of Commons</a:t>
            </a:r>
          </a:p>
          <a:p>
            <a:pPr algn="ctr"/>
            <a:r>
              <a:rPr lang="en-US" sz="2800" dirty="0"/>
              <a:t>- A chaplain of King William’s “charged Toland with creating a scandal by what he had written” (p. 12)</a:t>
            </a:r>
          </a:p>
        </p:txBody>
      </p:sp>
      <p:sp>
        <p:nvSpPr>
          <p:cNvPr id="20" name="Rectangle 19">
            <a:extLst>
              <a:ext uri="{FF2B5EF4-FFF2-40B4-BE49-F238E27FC236}">
                <a16:creationId xmlns:a16="http://schemas.microsoft.com/office/drawing/2014/main" id="{AC5FC15B-7F13-291F-BFD5-722C4F9F994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CFE4408-C326-E4EA-1668-019AD2D2E48B}"/>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B64BCC8A-5383-6E08-04B1-280D24B085B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
        <p:nvSpPr>
          <p:cNvPr id="24" name="TextBox 23">
            <a:extLst>
              <a:ext uri="{FF2B5EF4-FFF2-40B4-BE49-F238E27FC236}">
                <a16:creationId xmlns:a16="http://schemas.microsoft.com/office/drawing/2014/main" id="{DC71A7CD-40A7-DAD6-1016-9E3B56E0EE99}"/>
              </a:ext>
            </a:extLst>
          </p:cNvPr>
          <p:cNvSpPr txBox="1"/>
          <p:nvPr/>
        </p:nvSpPr>
        <p:spPr>
          <a:xfrm>
            <a:off x="1660170" y="416528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7" name="TextBox 26">
            <a:extLst>
              <a:ext uri="{FF2B5EF4-FFF2-40B4-BE49-F238E27FC236}">
                <a16:creationId xmlns:a16="http://schemas.microsoft.com/office/drawing/2014/main" id="{3D6C541A-683C-75DA-FFEC-F94573846090}"/>
              </a:ext>
            </a:extLst>
          </p:cNvPr>
          <p:cNvSpPr txBox="1"/>
          <p:nvPr/>
        </p:nvSpPr>
        <p:spPr>
          <a:xfrm>
            <a:off x="0" y="6957578"/>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8" name="TextBox 27">
            <a:extLst>
              <a:ext uri="{FF2B5EF4-FFF2-40B4-BE49-F238E27FC236}">
                <a16:creationId xmlns:a16="http://schemas.microsoft.com/office/drawing/2014/main" id="{EB63B884-C7C5-EA12-17F0-7A6DE1812F8F}"/>
              </a:ext>
            </a:extLst>
          </p:cNvPr>
          <p:cNvSpPr txBox="1"/>
          <p:nvPr/>
        </p:nvSpPr>
        <p:spPr>
          <a:xfrm>
            <a:off x="0" y="8302220"/>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a:t>
            </a:r>
            <a:r>
              <a:rPr lang="en-US" sz="2800" dirty="0" err="1"/>
              <a:t>fefused</a:t>
            </a:r>
            <a:r>
              <a:rPr lang="en-US" sz="2800" dirty="0"/>
              <a:t>,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Tree>
    <p:extLst>
      <p:ext uri="{BB962C8B-B14F-4D97-AF65-F5344CB8AC3E}">
        <p14:creationId xmlns:p14="http://schemas.microsoft.com/office/powerpoint/2010/main" val="2988140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down)">
                                      <p:cBhvr>
                                        <p:cTn id="7" dur="500"/>
                                        <p:tgtEl>
                                          <p:spTgt spid="2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500"/>
                                        <p:tgtEl>
                                          <p:spTgt spid="22"/>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4">
                                            <p:txEl>
                                              <p:pRg st="0" end="0"/>
                                            </p:txEl>
                                          </p:spTgt>
                                        </p:tgtEl>
                                        <p:attrNameLst>
                                          <p:attrName>style.visibility</p:attrName>
                                        </p:attrNameLst>
                                      </p:cBhvr>
                                      <p:to>
                                        <p:strVal val="visible"/>
                                      </p:to>
                                    </p:set>
                                    <p:animEffect transition="in" filter="fade">
                                      <p:cBhvr>
                                        <p:cTn id="19" dur="500"/>
                                        <p:tgtEl>
                                          <p:spTgt spid="24">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xEl>
                                              <p:pRg st="1" end="1"/>
                                            </p:txEl>
                                          </p:spTgt>
                                        </p:tgtEl>
                                        <p:attrNameLst>
                                          <p:attrName>style.visibility</p:attrName>
                                        </p:attrNameLst>
                                      </p:cBhvr>
                                      <p:to>
                                        <p:strVal val="visible"/>
                                      </p:to>
                                    </p:set>
                                    <p:animEffect transition="in" filter="fade">
                                      <p:cBhvr>
                                        <p:cTn id="24" dur="500"/>
                                        <p:tgtEl>
                                          <p:spTgt spid="2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2" grpId="0"/>
      <p:bldP spid="2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D84B0-B635-A2D5-2800-836E62155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3DCD0-CF2E-6E72-D1AA-6350A58777D7}"/>
              </a:ext>
            </a:extLst>
          </p:cNvPr>
          <p:cNvSpPr>
            <a:spLocks noGrp="1"/>
          </p:cNvSpPr>
          <p:nvPr>
            <p:ph type="title"/>
          </p:nvPr>
        </p:nvSpPr>
        <p:spPr>
          <a:xfrm>
            <a:off x="838200" y="-1993065"/>
            <a:ext cx="10515600" cy="1325563"/>
          </a:xfrm>
        </p:spPr>
        <p:txBody>
          <a:bodyPr/>
          <a:lstStyle/>
          <a:p>
            <a:r>
              <a:rPr lang="en-US" dirty="0"/>
              <a:t>History of Canon Discussion</a:t>
            </a:r>
          </a:p>
        </p:txBody>
      </p:sp>
      <p:sp>
        <p:nvSpPr>
          <p:cNvPr id="6" name="Rectangle 5">
            <a:extLst>
              <a:ext uri="{FF2B5EF4-FFF2-40B4-BE49-F238E27FC236}">
                <a16:creationId xmlns:a16="http://schemas.microsoft.com/office/drawing/2014/main" id="{5011EC06-EC1A-3FE1-AE1D-8FC78016A2E2}"/>
              </a:ext>
            </a:extLst>
          </p:cNvPr>
          <p:cNvSpPr/>
          <p:nvPr/>
        </p:nvSpPr>
        <p:spPr>
          <a:xfrm>
            <a:off x="-1445103" y="104584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7A691F7-19D5-5100-855E-1C345A91FD43}"/>
              </a:ext>
            </a:extLst>
          </p:cNvPr>
          <p:cNvSpPr/>
          <p:nvPr/>
        </p:nvSpPr>
        <p:spPr>
          <a:xfrm rot="16200000">
            <a:off x="5867400" y="73921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75B1AE5-2207-4CE6-2361-A708CADBEFE6}"/>
              </a:ext>
            </a:extLst>
          </p:cNvPr>
          <p:cNvSpPr txBox="1"/>
          <p:nvPr/>
        </p:nvSpPr>
        <p:spPr>
          <a:xfrm>
            <a:off x="2925097" y="6542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D6ECF68F-C54B-C1BE-FC55-45DEE57BD18D}"/>
              </a:ext>
            </a:extLst>
          </p:cNvPr>
          <p:cNvSpPr txBox="1"/>
          <p:nvPr/>
        </p:nvSpPr>
        <p:spPr>
          <a:xfrm>
            <a:off x="3684638" y="1318383"/>
            <a:ext cx="4822722" cy="523220"/>
          </a:xfrm>
          <a:prstGeom prst="rect">
            <a:avLst/>
          </a:prstGeom>
          <a:noFill/>
        </p:spPr>
        <p:txBody>
          <a:bodyPr wrap="square" rtlCol="0">
            <a:spAutoFit/>
          </a:bodyPr>
          <a:lstStyle/>
          <a:p>
            <a:pPr algn="ctr"/>
            <a:r>
              <a:rPr lang="en-US" sz="2800" dirty="0"/>
              <a:t>John Toland</a:t>
            </a:r>
          </a:p>
        </p:txBody>
      </p:sp>
      <p:sp>
        <p:nvSpPr>
          <p:cNvPr id="25" name="TextBox 24">
            <a:extLst>
              <a:ext uri="{FF2B5EF4-FFF2-40B4-BE49-F238E27FC236}">
                <a16:creationId xmlns:a16="http://schemas.microsoft.com/office/drawing/2014/main" id="{8C5E98BB-00E5-F5FB-2E21-9C240C88DC68}"/>
              </a:ext>
            </a:extLst>
          </p:cNvPr>
          <p:cNvSpPr txBox="1"/>
          <p:nvPr/>
        </p:nvSpPr>
        <p:spPr>
          <a:xfrm>
            <a:off x="0" y="1988012"/>
            <a:ext cx="12192000" cy="1384995"/>
          </a:xfrm>
          <a:prstGeom prst="rect">
            <a:avLst/>
          </a:prstGeom>
          <a:noFill/>
        </p:spPr>
        <p:txBody>
          <a:bodyPr wrap="square" rtlCol="0">
            <a:spAutoFit/>
          </a:bodyPr>
          <a:lstStyle/>
          <a:p>
            <a:pPr algn="ctr"/>
            <a:r>
              <a:rPr lang="en-US" sz="2800" dirty="0"/>
              <a:t>“Thus he admitted that several spurious pieces are quoted by the Fathers as of equal authority with those that are generally received in the New Testament” (p. 12)</a:t>
            </a:r>
          </a:p>
        </p:txBody>
      </p:sp>
      <p:sp>
        <p:nvSpPr>
          <p:cNvPr id="26" name="TextBox 25">
            <a:extLst>
              <a:ext uri="{FF2B5EF4-FFF2-40B4-BE49-F238E27FC236}">
                <a16:creationId xmlns:a16="http://schemas.microsoft.com/office/drawing/2014/main" id="{DCC043C0-1449-F416-1E23-600887675F69}"/>
              </a:ext>
            </a:extLst>
          </p:cNvPr>
          <p:cNvSpPr txBox="1"/>
          <p:nvPr/>
        </p:nvSpPr>
        <p:spPr>
          <a:xfrm>
            <a:off x="1660170" y="-2672837"/>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
        <p:nvSpPr>
          <p:cNvPr id="28" name="TextBox 27">
            <a:extLst>
              <a:ext uri="{FF2B5EF4-FFF2-40B4-BE49-F238E27FC236}">
                <a16:creationId xmlns:a16="http://schemas.microsoft.com/office/drawing/2014/main" id="{EA56B1B6-5287-0E1C-5822-8BB26AB4F32A}"/>
              </a:ext>
            </a:extLst>
          </p:cNvPr>
          <p:cNvSpPr txBox="1"/>
          <p:nvPr/>
        </p:nvSpPr>
        <p:spPr>
          <a:xfrm>
            <a:off x="0" y="3332654"/>
            <a:ext cx="12192000" cy="3539430"/>
          </a:xfrm>
          <a:prstGeom prst="rect">
            <a:avLst/>
          </a:prstGeom>
          <a:noFill/>
        </p:spPr>
        <p:txBody>
          <a:bodyPr wrap="square">
            <a:spAutoFit/>
          </a:bodyPr>
          <a:lstStyle/>
          <a:p>
            <a:pPr algn="ctr"/>
            <a:r>
              <a:rPr lang="en-US" sz="2800" dirty="0"/>
              <a:t>“He urged also that he could not understand why the writings of Mark and Luke should be accepted as canonical whereas those attributed to Clement of Rome and Barnabas are </a:t>
            </a:r>
            <a:r>
              <a:rPr lang="en-US" sz="2800" dirty="0" err="1"/>
              <a:t>fefused</a:t>
            </a:r>
            <a:r>
              <a:rPr lang="en-US" sz="2800" dirty="0"/>
              <a:t>, since all four authors were equally companions and fellow-</a:t>
            </a:r>
            <a:r>
              <a:rPr lang="en-US" sz="2800" dirty="0" err="1"/>
              <a:t>labourers</a:t>
            </a:r>
            <a:r>
              <a:rPr lang="en-US" sz="2800" dirty="0"/>
              <a:t> with the apostles. In fact, Toland went so far as to declare, in so many words, that there is not one single book of the New Testament which was not refused by some of the ancient writers as being unjustly attributed to the apostles and as actually forged by their adversaries” (p. 12-13)</a:t>
            </a:r>
          </a:p>
        </p:txBody>
      </p:sp>
      <p:sp>
        <p:nvSpPr>
          <p:cNvPr id="29" name="TextBox 28">
            <a:extLst>
              <a:ext uri="{FF2B5EF4-FFF2-40B4-BE49-F238E27FC236}">
                <a16:creationId xmlns:a16="http://schemas.microsoft.com/office/drawing/2014/main" id="{7723457E-F81B-4D28-61E7-7B925F071008}"/>
              </a:ext>
            </a:extLst>
          </p:cNvPr>
          <p:cNvSpPr txBox="1"/>
          <p:nvPr/>
        </p:nvSpPr>
        <p:spPr>
          <a:xfrm>
            <a:off x="1660170" y="-3110166"/>
            <a:ext cx="8997786" cy="2677656"/>
          </a:xfrm>
          <a:prstGeom prst="rect">
            <a:avLst/>
          </a:prstGeom>
          <a:noFill/>
        </p:spPr>
        <p:txBody>
          <a:bodyPr wrap="square" rtlCol="0">
            <a:spAutoFit/>
          </a:bodyPr>
          <a:lstStyle/>
          <a:p>
            <a:pPr algn="ctr"/>
            <a:r>
              <a:rPr lang="en-US" sz="2800" dirty="0"/>
              <a:t>Response: claimed that his earlier statements were only about the apocryphal writings, not the NT</a:t>
            </a:r>
          </a:p>
          <a:p>
            <a:pPr algn="ctr"/>
            <a:r>
              <a:rPr lang="en-US" sz="2800" dirty="0"/>
              <a:t>“In the next breath, however, Toland raised questions that must, on the face of it, cast down on the validity of accepting as canonical several books of the New Testament” (p. 12)</a:t>
            </a:r>
          </a:p>
        </p:txBody>
      </p:sp>
    </p:spTree>
    <p:extLst>
      <p:ext uri="{BB962C8B-B14F-4D97-AF65-F5344CB8AC3E}">
        <p14:creationId xmlns:p14="http://schemas.microsoft.com/office/powerpoint/2010/main" val="1810582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0A817-53AE-41A4-F943-1FC87CCFE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407C0-C6B3-B606-21EC-8A80D7E23B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8678CFD5-EFE1-1E3A-18F9-39159D0CB3DB}"/>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9E02DDC-C305-6EFE-418E-ADB03C6EF1E4}"/>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1D5B21A-E99A-4B4D-68A9-859D33B3DFE3}"/>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05CD5F4-5C7B-C087-64DA-103E32F7FB2D}"/>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John Toland</a:t>
            </a:r>
          </a:p>
        </p:txBody>
      </p:sp>
    </p:spTree>
    <p:extLst>
      <p:ext uri="{BB962C8B-B14F-4D97-AF65-F5344CB8AC3E}">
        <p14:creationId xmlns:p14="http://schemas.microsoft.com/office/powerpoint/2010/main" val="906010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0">
        <p159:morph option="byObject"/>
      </p:transition>
    </mc:Choice>
    <mc:Fallback xmlns="">
      <p:transition spd="slow" advClick="0" advTm="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172E1-BB92-493F-A918-BD62E32DF7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7F9FA-CAF8-EDEA-FCDA-E9E03776294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25B8628-AC40-8C96-40EA-0F74209F031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B01331-63E0-7749-5D1C-02EB9D01823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709D705-9515-AA4E-2CED-6F89B8DBE3DD}"/>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2C57F4E9-B4EA-2519-BA8A-9243BF0D4BC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A4EA4CD-58C7-8E8D-37D9-D9B83C77C417}"/>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BAB3398-8367-20DA-006B-A84CD1722EA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638E378-1346-CF9C-1366-67CB878A09DB}"/>
              </a:ext>
            </a:extLst>
          </p:cNvPr>
          <p:cNvSpPr txBox="1"/>
          <p:nvPr/>
        </p:nvSpPr>
        <p:spPr>
          <a:xfrm>
            <a:off x="3684638"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3BF31409-FEFB-7CF7-F442-EA6E15B4AC11}"/>
              </a:ext>
            </a:extLst>
          </p:cNvPr>
          <p:cNvSpPr txBox="1"/>
          <p:nvPr/>
        </p:nvSpPr>
        <p:spPr>
          <a:xfrm>
            <a:off x="0"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Tree>
    <p:extLst>
      <p:ext uri="{BB962C8B-B14F-4D97-AF65-F5344CB8AC3E}">
        <p14:creationId xmlns:p14="http://schemas.microsoft.com/office/powerpoint/2010/main" val="3941359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52490-DB12-CE35-FB21-298DE8F1C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70D8-B0B2-7688-AC7B-A92301F221B8}"/>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DCBA06D-0387-5750-85C3-33029A2F6E1F}"/>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5B01EBC-B708-841A-57CE-48A9F8C40FA0}"/>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78F8836-B02F-E77F-369F-8706E0387EB8}"/>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CCE9B671-3971-A24E-C5FE-0CDE86CC1B77}"/>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8B69D8D6-E9EB-5655-7559-14677E3C27FC}"/>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BC1BA3B-747D-060F-24F0-10535F38151C}"/>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17C24C16-E8DB-DF36-FFCC-45ED4907A31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652D1E8-E819-860A-8661-B5B5C59B9311}"/>
              </a:ext>
            </a:extLst>
          </p:cNvPr>
          <p:cNvSpPr txBox="1"/>
          <p:nvPr/>
        </p:nvSpPr>
        <p:spPr>
          <a:xfrm>
            <a:off x="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8" name="Rectangle 7">
            <a:extLst>
              <a:ext uri="{FF2B5EF4-FFF2-40B4-BE49-F238E27FC236}">
                <a16:creationId xmlns:a16="http://schemas.microsoft.com/office/drawing/2014/main" id="{EDEC1109-9CB8-C523-DA64-8C3DCC3638A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071AB9C-E75A-41A2-62B0-00A73B5E2012}"/>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8C10249B-B207-2376-FA97-DCAFDF387C0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5F80C3CA-0080-38A3-E3B5-A1C320698374}"/>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D762DA3-921B-BBD9-7A08-4A42E8A8AF77}"/>
              </a:ext>
            </a:extLst>
          </p:cNvPr>
          <p:cNvSpPr txBox="1"/>
          <p:nvPr/>
        </p:nvSpPr>
        <p:spPr>
          <a:xfrm>
            <a:off x="-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Tree>
    <p:extLst>
      <p:ext uri="{BB962C8B-B14F-4D97-AF65-F5344CB8AC3E}">
        <p14:creationId xmlns:p14="http://schemas.microsoft.com/office/powerpoint/2010/main" val="4185811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presetID="1"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animBg="1"/>
      <p:bldP spid="9" grpId="0"/>
      <p:bldP spid="10" grpId="0"/>
      <p:bldP spid="1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B97E9-58C5-A5D7-B52D-2818A7D087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6B18D-CCEA-4EF0-CB81-420CC8AF9BF4}"/>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4C79D9C3-3603-0113-81C3-21BAA72C77E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5E4DFBC-0EC2-CE40-3717-FF6F41F2F8A7}"/>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31D8B171-CEE3-3575-4698-F54C268C82F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70D77643-96BF-7652-25F3-93D735472A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A212832B-0438-5251-040F-BF515871581F}"/>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8" name="Rectangle 7">
            <a:extLst>
              <a:ext uri="{FF2B5EF4-FFF2-40B4-BE49-F238E27FC236}">
                <a16:creationId xmlns:a16="http://schemas.microsoft.com/office/drawing/2014/main" id="{D58056BB-F52C-728F-8333-5B5B366E20D7}"/>
              </a:ext>
            </a:extLst>
          </p:cNvPr>
          <p:cNvSpPr/>
          <p:nvPr/>
        </p:nvSpPr>
        <p:spPr>
          <a:xfrm rot="16200000">
            <a:off x="1821181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34C387E-D881-3367-0B4A-0579046D7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3" name="Rectangle 12">
            <a:extLst>
              <a:ext uri="{FF2B5EF4-FFF2-40B4-BE49-F238E27FC236}">
                <a16:creationId xmlns:a16="http://schemas.microsoft.com/office/drawing/2014/main" id="{69F1A783-9488-9701-4FDB-17BE0272425C}"/>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1FB01D3-0B32-61DD-BDC9-0B4667265B3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B93FC1C0-1FC1-E8C0-2C2C-5675333DA7A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09F0AF2D-E437-973A-3374-A20046803B10}"/>
              </a:ext>
            </a:extLst>
          </p:cNvPr>
          <p:cNvSpPr txBox="1"/>
          <p:nvPr/>
        </p:nvSpPr>
        <p:spPr>
          <a:xfrm>
            <a:off x="0"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Tree>
    <p:extLst>
      <p:ext uri="{BB962C8B-B14F-4D97-AF65-F5344CB8AC3E}">
        <p14:creationId xmlns:p14="http://schemas.microsoft.com/office/powerpoint/2010/main" val="3816803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BB646-7913-5BC0-1C06-0F16D23A02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7DB195-A8FF-E9A1-7EC9-884D10518B7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5DF6C1F-D3B8-3016-1ACF-BF5BBD2089B1}"/>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FA3FFC6-9772-471A-F8C6-1C35A203D464}"/>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DD88CE1-7341-34DC-5486-38F4504D8234}"/>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4" name="TextBox 3">
            <a:extLst>
              <a:ext uri="{FF2B5EF4-FFF2-40B4-BE49-F238E27FC236}">
                <a16:creationId xmlns:a16="http://schemas.microsoft.com/office/drawing/2014/main" id="{18906923-0B85-800C-AAE0-6A9CF90815D3}"/>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B3DAC4F4-3529-1002-2D7E-C6AEB93B8CBE}"/>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D24492B-2FC1-FF58-94B1-AE8B4FFC9A8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2D8DE4B7-7197-3607-464B-445B6AB88B2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4062D7E-89C1-E79C-7B32-D73F46F0EFA2}"/>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98E3CCAC-E1D4-CCA6-5307-020E5C6E3ACE}"/>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03B4DC08-AA7F-A2D2-6BF0-A2EED239CC56}"/>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4C7389C3-A0F3-7AAB-2636-856B095CFA39}"/>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4A13230-43EE-6D40-E2B4-D137073DF257}"/>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960054EB-57A5-969E-2562-FF268AF79FD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7" name="Rectangle 16">
            <a:extLst>
              <a:ext uri="{FF2B5EF4-FFF2-40B4-BE49-F238E27FC236}">
                <a16:creationId xmlns:a16="http://schemas.microsoft.com/office/drawing/2014/main" id="{4A252BAA-54C4-BC55-5392-2F2FF96ED205}"/>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1FCF82-9D5D-CE25-FB3B-E3F5480DD92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CAF172-4651-AF71-78CB-83A9B64E5DA3}"/>
              </a:ext>
            </a:extLst>
          </p:cNvPr>
          <p:cNvSpPr txBox="1"/>
          <p:nvPr/>
        </p:nvSpPr>
        <p:spPr>
          <a:xfrm>
            <a:off x="3684638"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57A6F8BC-2E28-67A2-A238-6399F6F8DD45}"/>
              </a:ext>
            </a:extLst>
          </p:cNvPr>
          <p:cNvSpPr txBox="1"/>
          <p:nvPr/>
        </p:nvSpPr>
        <p:spPr>
          <a:xfrm>
            <a:off x="0"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6" name="Rectangle 25">
            <a:extLst>
              <a:ext uri="{FF2B5EF4-FFF2-40B4-BE49-F238E27FC236}">
                <a16:creationId xmlns:a16="http://schemas.microsoft.com/office/drawing/2014/main" id="{1DDCF93E-51AD-5D5B-353D-05DF419F9901}"/>
              </a:ext>
            </a:extLst>
          </p:cNvPr>
          <p:cNvSpPr/>
          <p:nvPr/>
        </p:nvSpPr>
        <p:spPr>
          <a:xfrm rot="16200000">
            <a:off x="-6039533" y="3097406"/>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50863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down)">
                                      <p:cBhvr>
                                        <p:cTn id="7" dur="500"/>
                                        <p:tgtEl>
                                          <p:spTgt spid="1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1"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BD67A-4E34-F902-C925-0B485B20F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072CD-1EC4-E1F3-5B66-FC3FD4561F2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D1F38579-EF36-2122-19F0-FDC3A7982275}"/>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0898AC5-381D-9CA2-128B-817B5377A61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C5DFAC-FB90-517B-41B5-74AED432810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18B664AC-0DC5-5D04-92D3-23C3ED152BB0}"/>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29CCA5EA-CBF7-723A-15AE-AF0FA4B6A2EF}"/>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2AE6D3-8656-0A9E-AFCD-69A581391BE6}"/>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C78FC507-5705-08D4-E2C8-F271C58C4118}"/>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75960E91-7CA2-8715-1715-DD7970530D97}"/>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D46B5F3-8769-665F-5ECA-1DA2A3249E7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495AB1CB-0991-2FF5-41A2-AD835E26C94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A6BAB564-4151-EE49-A955-BB53B12277E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F78A655A-08D7-E07C-2E74-DBE5F9DD480E}"/>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DD783ED4-9A78-6F7A-B8B2-4BA565193B2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A84CE4E-A02E-1BDD-89D8-14BE11DC999B}"/>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A7015791-8582-16DA-0586-8CA1189C67D9}"/>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A0DBD448-952F-12BC-686C-BD740595AB0E}"/>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401747D-5190-EC0D-7E59-83B7B784C33F}"/>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32BE66A-00D0-6E05-FB26-C95BDD5BF2D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15CDEF6D-A092-EE88-6468-DBBC6C8C070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7106AE2-538D-6D88-4DB7-FF3B8B2B339F}"/>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a:t>
            </a:r>
          </a:p>
        </p:txBody>
      </p:sp>
      <p:sp>
        <p:nvSpPr>
          <p:cNvPr id="26" name="TextBox 25">
            <a:extLst>
              <a:ext uri="{FF2B5EF4-FFF2-40B4-BE49-F238E27FC236}">
                <a16:creationId xmlns:a16="http://schemas.microsoft.com/office/drawing/2014/main" id="{47D7BE02-26C6-9437-505B-6EBEEA3B79D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 M. L. De Wette</a:t>
            </a:r>
          </a:p>
        </p:txBody>
      </p:sp>
      <p:sp>
        <p:nvSpPr>
          <p:cNvPr id="27" name="TextBox 26">
            <a:extLst>
              <a:ext uri="{FF2B5EF4-FFF2-40B4-BE49-F238E27FC236}">
                <a16:creationId xmlns:a16="http://schemas.microsoft.com/office/drawing/2014/main" id="{91961E94-E8A6-F8E5-09DE-2D81EDEA4CAD}"/>
              </a:ext>
            </a:extLst>
          </p:cNvPr>
          <p:cNvSpPr txBox="1"/>
          <p:nvPr/>
        </p:nvSpPr>
        <p:spPr>
          <a:xfrm>
            <a:off x="0" y="4392669"/>
            <a:ext cx="12192000" cy="954107"/>
          </a:xfrm>
          <a:prstGeom prst="rect">
            <a:avLst/>
          </a:prstGeom>
          <a:noFill/>
        </p:spPr>
        <p:txBody>
          <a:bodyPr wrap="square" rtlCol="0">
            <a:spAutoFit/>
          </a:bodyPr>
          <a:lstStyle/>
          <a:p>
            <a:pPr algn="ctr"/>
            <a:r>
              <a:rPr lang="en-US" sz="2800" dirty="0"/>
              <a:t>“Extended the history of the gradual development of the canon up to the year 400” (p. 18)</a:t>
            </a:r>
          </a:p>
        </p:txBody>
      </p:sp>
    </p:spTree>
    <p:extLst>
      <p:ext uri="{BB962C8B-B14F-4D97-AF65-F5344CB8AC3E}">
        <p14:creationId xmlns:p14="http://schemas.microsoft.com/office/powerpoint/2010/main" val="1724711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down)">
                                      <p:cBhvr>
                                        <p:cTn id="7" dur="500"/>
                                        <p:tgtEl>
                                          <p:spTgt spid="2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500"/>
                                        <p:tgtEl>
                                          <p:spTgt spid="25"/>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00"/>
                                        <p:tgtEl>
                                          <p:spTgt spid="26"/>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p:bldP spid="26" grpId="0"/>
      <p:bldP spid="2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6ECA7-3BF2-EB6A-A200-A7638F07B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113C2C-EBAD-A13E-73B0-F76A40D46CF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F4B2D4B-DBD3-2EB1-33D0-762906B49562}"/>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76A8172-ED0D-8B28-A1BA-785123EE66C5}"/>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6CE53A0-0AA5-A8FC-1CF7-5FF20BB90FC0}"/>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818B1C0-AF9F-02B5-3AEC-27DF620B49C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714E697A-39B5-3F83-A86F-6B50873421E6}"/>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8F3C2B1-D17C-C9BD-B54A-B1968B607FE0}"/>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83DD605A-8897-300B-F507-31D45F819CAD}"/>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05C6F08-756F-DBD6-00B3-4E2682C8A16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55CAB09-DF2F-327B-50F2-38BD7910E51F}"/>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5D61E8C2-72D5-9FD8-C22D-89FAFD7B6FC8}"/>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72234D9C-E1F3-E623-D900-2513965F02D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108F9A4C-29ED-4B5F-94EC-6170A749021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94708B49-B1C8-A460-D58E-9ECCD31AD95A}"/>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DB07511-E275-2262-B830-9916FFBC9560}"/>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B4FA16A2-A167-3006-EAA7-9E9E43C09AA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2401CB2F-75A4-D607-8001-3333BEEFE92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6351B449-C80F-ABB0-B394-DA90E696EE9C}"/>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069E05D-78C5-09BF-67E5-477500D326B7}"/>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B33B111-578E-E961-E8D2-C86DDF8082A3}"/>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7F930ED5-02BB-A116-C38F-12F893B877F4}"/>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38A3BAF0-7A8E-EADD-0028-E4DE617FB88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074C6C9-DB0E-7F1E-70C8-150F35D11B91}"/>
              </a:ext>
            </a:extLst>
          </p:cNvPr>
          <p:cNvSpPr txBox="1"/>
          <p:nvPr/>
        </p:nvSpPr>
        <p:spPr>
          <a:xfrm>
            <a:off x="0"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Tree>
    <p:extLst>
      <p:ext uri="{BB962C8B-B14F-4D97-AF65-F5344CB8AC3E}">
        <p14:creationId xmlns:p14="http://schemas.microsoft.com/office/powerpoint/2010/main" val="1647687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589CD-05C5-E6D1-5CEB-9862703B2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9B4FC-22D9-865E-1AE3-5922A508ABE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C408D2F-5A3A-2C0D-65E4-A61312F91940}"/>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FD9E27E-EB29-F905-F55D-18CA5E631E69}"/>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643D05E-281D-B73B-9DD8-D1DF45803A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6F9324D1-00C8-CDE5-C1E8-6CAE82DCA8ED}"/>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9319C3D8-78D2-C420-92E4-E767AC66D5DD}"/>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492CDC2-E817-F79E-DE28-497C81BDFE0B}"/>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7EF33931-BD70-A384-3184-8772401AFAC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C72F20F6-D10D-D4E3-AC5A-08A32D4A2175}"/>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E8493828-42F5-20F9-1AFA-FE9AE9DA24D9}"/>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6C7889C4-728C-9C4D-3FB5-1A492E61D59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DB29020A-A208-5D37-4182-89070EBE5ED7}"/>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50CCAE70-7E0D-C182-6668-BBEB415627C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FEA9FFF7-7DAC-631D-18F5-6047F7952073}"/>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C96DE7C-39AC-A498-BEA1-B99194728BF2}"/>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1C2689F1-DE34-642F-4481-38737721280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53A00C80-3B28-22F3-B9F0-2550AF97B3D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035C7C0C-A08D-4DFE-EE64-E8A7ED67CBB3}"/>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AC7A9EAD-5837-A60C-52E3-2CF315190204}"/>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CDCCCB6-25C7-BB91-9AE3-3C6D0E99652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0B74D8A-CCE9-F956-F385-438F2E6108A3}"/>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F55F73D8-C714-38F3-3F50-50BEE446C568}"/>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B193A4C1-194E-B5DD-F63F-028D6A5AF492}"/>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282CE0A7-7595-625C-8042-898B2FD2E932}"/>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2B3B20-3E2F-4843-5F75-67C9EDE74AD1}"/>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37273273-D70E-248A-7F13-EC95E4706DF2}"/>
              </a:ext>
            </a:extLst>
          </p:cNvPr>
          <p:cNvSpPr txBox="1"/>
          <p:nvPr/>
        </p:nvSpPr>
        <p:spPr>
          <a:xfrm>
            <a:off x="3684638"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F5907C0-C77E-7770-5256-3859FCFCBD7F}"/>
              </a:ext>
            </a:extLst>
          </p:cNvPr>
          <p:cNvSpPr txBox="1"/>
          <p:nvPr/>
        </p:nvSpPr>
        <p:spPr>
          <a:xfrm>
            <a:off x="0"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Tree>
    <p:extLst>
      <p:ext uri="{BB962C8B-B14F-4D97-AF65-F5344CB8AC3E}">
        <p14:creationId xmlns:p14="http://schemas.microsoft.com/office/powerpoint/2010/main" val="997158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500"/>
                                        <p:tgtEl>
                                          <p:spTgt spid="1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p:bldP spid="17" grpId="0"/>
      <p:bldP spid="2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3901C-4B4A-D2C7-ADE7-78A584FCC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DB132E-9FCF-9FE2-3320-B2F674E8549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D1A54F9-A943-C719-D38B-FAA1708D3F19}"/>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4E8D589-E2A0-6C19-EEF6-B391ED3D6C9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1B7D0D-D599-493B-ACE4-61185B810ADE}"/>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C1B4E4C-8091-1990-6318-AEE84298B72E}"/>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12A14F1-9E0B-8506-EBB6-A63957DC0E52}"/>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A4B9691-2526-EA27-58A7-3C571D718E2E}"/>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26A0EFF5-3B66-2F3C-392C-95A16852728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FE003076-AE65-4CA3-A644-DD6B4FAEC52B}"/>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28053F7-98BB-5D4F-38A1-9559744938DE}"/>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FF3FCCC7-D361-1D30-F496-635036A3E573}"/>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656801EB-62F1-73E7-54E4-C8A4421BB1F1}"/>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E1434A39-409F-49CD-F621-B1D306E904EC}"/>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AA859E8C-0D42-2667-979C-CE03A4187F81}"/>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8E20987E-5794-26D2-B8D0-2672945ABEE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CE15E30-3290-67C1-A60F-ADE979B8724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6021E95-24B7-0BF9-E42C-346E7723668B}"/>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E4D34517-3280-32E5-B20A-A3A6A86A1639}"/>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7401549-461B-1FC2-15E4-6B8B670F62A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22EE43DB-79B9-AFD4-C990-B5B00170A414}"/>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F60CED8-AB12-EBE0-C5CB-8BA1D0942A99}"/>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22015B4-632B-1EB6-1F91-40FB5BC31C0E}"/>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FC103C7C-F620-7831-5632-B7937F4EE9BF}"/>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AAD0394-2427-179E-5806-594C34BB106F}"/>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E117273-2FD0-0DDF-FCEE-BFFD9E4EE94E}"/>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E667374A-DB56-9BD4-634B-FA3D84415076}"/>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4BFF76CD-0FDD-2128-67DE-6042D041542E}"/>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031F119D-D4DC-D135-1A3A-22E4DC124B5D}"/>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F6BB26-E050-5F8B-0BBD-AEE0C48BCB67}"/>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EC726A30-9C73-1471-9BC1-ADD620E599A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969A8B3C-836D-ED27-9DB6-2FD5AB070804}"/>
              </a:ext>
            </a:extLst>
          </p:cNvPr>
          <p:cNvSpPr txBox="1"/>
          <p:nvPr/>
        </p:nvSpPr>
        <p:spPr>
          <a:xfrm>
            <a:off x="0"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Tree>
    <p:extLst>
      <p:ext uri="{BB962C8B-B14F-4D97-AF65-F5344CB8AC3E}">
        <p14:creationId xmlns:p14="http://schemas.microsoft.com/office/powerpoint/2010/main" val="22968776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500"/>
                                        <p:tgtEl>
                                          <p:spTgt spid="2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500"/>
                                        <p:tgtEl>
                                          <p:spTgt spid="30"/>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31" grpId="0"/>
      <p:bldP spid="3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36A6D-A600-3575-96AB-36E678845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C887-09F3-4D47-D9E6-774B3D42C49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BCF74D26-76D1-5241-FB3E-193633F6F02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683BA2C-923F-06D1-B826-C77EE07FFC4C}"/>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D03128C-8C61-038C-859D-0A804B32A14B}"/>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EE8C1D5E-B000-DC1D-E46B-98CFBF210F6F}"/>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CB670C00-D6E8-58E6-6E65-5F89B90E0BE0}"/>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689418A-6515-7025-85CE-CF7D6BA2C40D}"/>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0F386333-8A95-7479-1B75-D03EE9D0EF77}"/>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983B07A3-1BD8-7180-AD49-EA87F25CDACF}"/>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447E8A62-2613-B5F7-4599-B1917C2FEEA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801BB71-17A5-157C-E808-088EBFE6D3FF}"/>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7E61993-5FD2-4E49-D319-780B4D1FE86A}"/>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DB306723-A272-168E-6B51-7161332A007A}"/>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358A7B65-0EB0-950E-C5D8-BA78B58A2B36}"/>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ADEE7BB-9875-FD2F-228E-0BAB25D1D1B5}"/>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E9DA2DA8-7BFE-C88C-26CA-22BD1C582E8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09B5AF0-29E8-151A-85C7-E4CFF919559C}"/>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C4CDF98E-19B0-5C3C-9E70-03EA6A96D412}"/>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3FBC26BD-708F-C937-3EE5-7C75257B2E5A}"/>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CB21D62D-9F97-F65B-9E00-706F952FBB58}"/>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EC320B-88E9-5E7C-9134-606F32935434}"/>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7BE27BC-AFA9-FE99-95F4-874DCC4B9C8F}"/>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6F504ED-9B9D-2B4D-AF21-1C65D92B5C6A}"/>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6993EAF8-FA82-CD0D-655F-AFFF52D69ABA}"/>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EE270A8-686A-F72F-41D3-4BE9D4F81918}"/>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23EB7E54-7B61-015C-916C-517DE522BDB0}"/>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D4B67FA-12EA-E3D5-47A4-0B35EF50664B}"/>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16592C76-24AE-39E8-3B57-5619394C54E4}"/>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A6B8D13-9FEF-4009-1260-B0BDD9F6D9AC}"/>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8333DCAA-F47D-7424-C73A-302DA884A3E2}"/>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EEB1248-4822-D606-A436-3875B453E910}"/>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29B485A-D6D7-7E9C-DDBE-26DBD2D7619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D1CF4BB-24AF-072D-14DC-08A59270E0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5B29DF37-189B-56D6-2F98-F5BD2B696314}"/>
              </a:ext>
            </a:extLst>
          </p:cNvPr>
          <p:cNvSpPr txBox="1"/>
          <p:nvPr/>
        </p:nvSpPr>
        <p:spPr>
          <a:xfrm>
            <a:off x="3684638"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D9DB708F-0F8B-443F-B647-44501DE6DDCF}"/>
              </a:ext>
            </a:extLst>
          </p:cNvPr>
          <p:cNvSpPr txBox="1"/>
          <p:nvPr/>
        </p:nvSpPr>
        <p:spPr>
          <a:xfrm>
            <a:off x="0"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Tree>
    <p:extLst>
      <p:ext uri="{BB962C8B-B14F-4D97-AF65-F5344CB8AC3E}">
        <p14:creationId xmlns:p14="http://schemas.microsoft.com/office/powerpoint/2010/main" val="3097900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ipe(down)">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500"/>
                                        <p:tgtEl>
                                          <p:spTgt spid="3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P spid="35" grpId="0"/>
      <p:bldP spid="3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4498-2A1A-8037-BC4A-E25FC5BBA7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46D1FB-98E7-2758-DB8C-D52CA706F3BC}"/>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1BE4F692-045E-BDFF-B1EE-B81C9B9CCD5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5FEC275-350E-DFCC-7C3E-1AE4B90F42F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84F415A-CDE0-2E1F-FE5A-EB90984C77A5}"/>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329CB68-0C75-7184-9C0D-E960D234A488}"/>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E50098B7-9DCE-DF14-3567-98A2168EF8D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FCBB469-33D6-3271-E787-88FC4CB3C9B9}"/>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4FCE6008-EF9E-5B52-51DD-BCF5D10B2AC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2B1E0DDC-6751-DBA4-33CF-F7ABF73291A1}"/>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133B44B0-3D2A-FFF7-E1A2-5491272C105B}"/>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C3C69198-A6F9-985E-7665-FFDE798034E5}"/>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B5F4470B-0F21-3965-3C2E-2C080DC9E5AD}"/>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861674A1-47A3-02CA-BB76-3D72A5194F81}"/>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5A66AF82-12FD-F66F-CFAF-5809C1BF5162}"/>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FBCF8781-BF03-F258-5427-88CE78BCEE04}"/>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95CABA5-9ED5-E932-1710-4A98F08E0341}"/>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3AFE7AD4-45BC-3F14-83B1-F463F54495A9}"/>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8C107A42-92AA-EC76-1341-118D37BFDB31}"/>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F075FEC-F915-2AB1-DAB0-46F98F9C9F21}"/>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4010A339-72FD-6022-787B-82815B6D6DAB}"/>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338C287-E91A-7CC9-1B99-CFE881FDD86F}"/>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B63266CF-AAEB-B327-F554-A252836B6E31}"/>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4DEEF324-7245-3028-A421-C060A07A0D20}"/>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1C68EB93-BD3E-5976-CA67-80D301F31F8E}"/>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4D8EE6-7050-332B-A94B-5F4590D6874C}"/>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CAE1C256-3279-2A3E-4DBE-1F943D526E5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CB932774-DD1D-1389-0C54-0494C617D449}"/>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8FD639EF-0849-A34A-6CF7-6CBDDA22317B}"/>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02D85A2-3B04-DEC7-1DD6-F33D127039D2}"/>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A43BC6E-3242-CB86-7E84-C4368E85F269}"/>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53F192F-AE3D-7392-6AF6-3473C286CD4C}"/>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642C3010-267B-EDF0-7E52-B6CAE54DD1F0}"/>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CBF71B9-68EB-E1C3-3BF7-7DB6399D98BD}"/>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2FB38431-EABD-4027-CB3C-A8D7880693DE}"/>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598EDC63-12AE-8648-0BD4-D9853602137B}"/>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70C94B34-615B-35AF-99E8-BA22B2FB4D0A}"/>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28250C8F-A56E-1C2D-23D8-DE1E8C068506}"/>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B8BFA7A2-7303-897D-D68C-C468C9F21AEA}"/>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19A7864C-DC15-0DAF-9E22-88BC7481FE75}"/>
              </a:ext>
            </a:extLst>
          </p:cNvPr>
          <p:cNvSpPr txBox="1"/>
          <p:nvPr/>
        </p:nvSpPr>
        <p:spPr>
          <a:xfrm>
            <a:off x="0"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Tree>
    <p:extLst>
      <p:ext uri="{BB962C8B-B14F-4D97-AF65-F5344CB8AC3E}">
        <p14:creationId xmlns:p14="http://schemas.microsoft.com/office/powerpoint/2010/main" val="1307203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down)">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500"/>
                                        <p:tgtEl>
                                          <p:spTgt spid="38"/>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500"/>
                                        <p:tgtEl>
                                          <p:spTgt spid="39"/>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p:bldP spid="39" grpId="0"/>
      <p:bldP spid="40"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90B12-149E-2E17-02C9-44F6371A32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7D686-0312-5F8E-C9EC-FECB1676F19F}"/>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C6DAD5AF-C6C2-2A6E-B0DE-578ADFF11686}"/>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5251661-3D6E-5709-4ED4-45254786921E}"/>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EAC9CE2-34C3-BBF6-DE13-8E71D3833A4F}"/>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59CAC431-3CF7-3FB0-04E1-4BA1D5200B9B}"/>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3F86CAE-020D-5982-A435-B1C8CB4AF2C7}"/>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E0A1AA-EA73-F880-13D0-3A770CA3161F}"/>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BAB5A26-0800-5233-9CA2-807CE9E56345}"/>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13971DAF-24ED-DC6F-CA10-CE27A1612916}"/>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CB79E03D-BCDA-7A86-90CC-041D6058D054}"/>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DA240082-9C9F-091B-119D-EB7E931739EC}"/>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15851216-9BCE-A801-0DE2-0E0DFF17814C}"/>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A7F44A4D-F23B-8C7C-9648-6ADF844716B2}"/>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0399CCCF-940F-69E4-85BA-5BAADF56220E}"/>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26A83963-FF78-2B47-8B2E-14474047F806}"/>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CBE7686-3A91-9CA8-5C86-CA80150C1850}"/>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8FBBA7B9-BDD4-3142-98B9-B304491F1048}"/>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56F5EBA8-8EE5-F5A0-F219-B3300FD7DE38}"/>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491F6A3A-FE98-5A85-0987-36552B1EBF28}"/>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56C109A5-C9BD-40BB-8201-14FE35A2F7F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3B05783C-4960-795A-D0AB-F03765F3F4A8}"/>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76792F0F-FFB5-F779-9E8E-A2070D743E60}"/>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9C498B0-6592-9CA9-EA70-C797982EF93B}"/>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8D45A132-1EC7-6133-3491-AE5CAA83F07C}"/>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A423FD2-1768-A389-FB64-02FF36C6F7AB}"/>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C7EEA23-9ED5-A04D-6A99-254A96527102}"/>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13730CEA-B4D7-F709-09E2-F66AC23D43FC}"/>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5F2CF551-50AE-99CD-A295-5A29EAA79199}"/>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B527BB0-E827-A9FF-3404-E04820EC38FF}"/>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5EA8A7FA-6D66-EDAE-B9F9-914F502577FC}"/>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785647EC-1720-9655-BEC2-2F9CC1D45B66}"/>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A0FB9B8A-6B1A-4529-5C88-4897081630CC}"/>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2DF7E60D-6DC5-CC8C-5E00-EB5AF0A0B462}"/>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2B2DD82-1B9E-0B94-54D9-CFC15831450A}"/>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9C3C3C8B-09BD-5C81-5D50-1698ACA36926}"/>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E3AD2B06-135B-22FA-A58C-DC1202B31F22}"/>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7B5B6AE2-AF17-39EB-47A6-36A783058F3B}"/>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68627350-9C66-21D9-B0D4-694B9B05D4C3}"/>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70768860-595F-F046-FF35-C83CB2C4BEA6}"/>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F3FF5944-373F-4C3F-D087-ED7713E68BB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D93CAA66-CD84-2978-2FD9-0ACF02A62ABC}"/>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E4BDC8A0-C4CC-ADC7-1562-E0B663488539}"/>
              </a:ext>
            </a:extLst>
          </p:cNvPr>
          <p:cNvSpPr txBox="1"/>
          <p:nvPr/>
        </p:nvSpPr>
        <p:spPr>
          <a:xfrm>
            <a:off x="3684638"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ECB92A00-CBB5-575D-0035-8E8C608664B6}"/>
              </a:ext>
            </a:extLst>
          </p:cNvPr>
          <p:cNvSpPr txBox="1"/>
          <p:nvPr/>
        </p:nvSpPr>
        <p:spPr>
          <a:xfrm>
            <a:off x="0"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Tree>
    <p:extLst>
      <p:ext uri="{BB962C8B-B14F-4D97-AF65-F5344CB8AC3E}">
        <p14:creationId xmlns:p14="http://schemas.microsoft.com/office/powerpoint/2010/main" val="3872493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ipe(down)">
                                      <p:cBhvr>
                                        <p:cTn id="7" dur="500"/>
                                        <p:tgtEl>
                                          <p:spTgt spid="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fade">
                                      <p:cBhvr>
                                        <p:cTn id="10" dur="500"/>
                                        <p:tgtEl>
                                          <p:spTgt spid="42"/>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fade">
                                      <p:cBhvr>
                                        <p:cTn id="1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p:bldP spid="43" grpId="0"/>
      <p:bldP spid="4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6EA36-1E76-C346-7EDC-39AB3367C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146634-9AFA-FD0C-255E-57162AEA5BB0}"/>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2FF1CDA8-BE49-892F-A73C-E9416CA948DC}"/>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467659E-277D-8BDC-506D-58E163FFC9B6}"/>
              </a:ext>
            </a:extLst>
          </p:cNvPr>
          <p:cNvSpPr/>
          <p:nvPr/>
        </p:nvSpPr>
        <p:spPr>
          <a:xfrm rot="16200000">
            <a:off x="-347539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8A61E0B-4EBC-B91F-8522-892EA07E4369}"/>
              </a:ext>
            </a:extLst>
          </p:cNvPr>
          <p:cNvSpPr txBox="1"/>
          <p:nvPr/>
        </p:nvSpPr>
        <p:spPr>
          <a:xfrm>
            <a:off x="-6417698"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AD8CA5A4-97FD-5D40-27DB-ACA0A950A206}"/>
              </a:ext>
            </a:extLst>
          </p:cNvPr>
          <p:cNvSpPr txBox="1"/>
          <p:nvPr/>
        </p:nvSpPr>
        <p:spPr>
          <a:xfrm>
            <a:off x="-5658157"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B80ADB8D-5FDA-709B-C8B1-F8954A8B71E3}"/>
              </a:ext>
            </a:extLst>
          </p:cNvPr>
          <p:cNvSpPr/>
          <p:nvPr/>
        </p:nvSpPr>
        <p:spPr>
          <a:xfrm rot="16200000">
            <a:off x="-354931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131E0B6B-ADE7-F768-5D3D-0A7288238E82}"/>
              </a:ext>
            </a:extLst>
          </p:cNvPr>
          <p:cNvSpPr txBox="1"/>
          <p:nvPr/>
        </p:nvSpPr>
        <p:spPr>
          <a:xfrm>
            <a:off x="-6491617"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3459153A-F115-FE2F-CB00-412CFAB44C6A}"/>
              </a:ext>
            </a:extLst>
          </p:cNvPr>
          <p:cNvSpPr txBox="1"/>
          <p:nvPr/>
        </p:nvSpPr>
        <p:spPr>
          <a:xfrm>
            <a:off x="-5732076"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5690AED7-BB88-946C-2E3E-4CB85CD5A56A}"/>
              </a:ext>
            </a:extLst>
          </p:cNvPr>
          <p:cNvSpPr txBox="1"/>
          <p:nvPr/>
        </p:nvSpPr>
        <p:spPr>
          <a:xfrm>
            <a:off x="-12569670"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3D69A0DE-02A1-AA08-3089-F712CD3AB163}"/>
              </a:ext>
            </a:extLst>
          </p:cNvPr>
          <p:cNvSpPr txBox="1"/>
          <p:nvPr/>
        </p:nvSpPr>
        <p:spPr>
          <a:xfrm>
            <a:off x="-9644573"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361804FA-A204-303B-6BA2-6FA72BB4E49A}"/>
              </a:ext>
            </a:extLst>
          </p:cNvPr>
          <p:cNvSpPr txBox="1"/>
          <p:nvPr/>
        </p:nvSpPr>
        <p:spPr>
          <a:xfrm>
            <a:off x="-8885032"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E636958B-ED9A-3CCD-C5B3-77752BEFE836}"/>
              </a:ext>
            </a:extLst>
          </p:cNvPr>
          <p:cNvSpPr txBox="1"/>
          <p:nvPr/>
        </p:nvSpPr>
        <p:spPr>
          <a:xfrm>
            <a:off x="-12310928"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CA684118-3812-B03C-CA00-2E6364461859}"/>
              </a:ext>
            </a:extLst>
          </p:cNvPr>
          <p:cNvSpPr txBox="1"/>
          <p:nvPr/>
        </p:nvSpPr>
        <p:spPr>
          <a:xfrm>
            <a:off x="-12569671"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2BE6B613-FF47-367E-1509-49E6B942546F}"/>
              </a:ext>
            </a:extLst>
          </p:cNvPr>
          <p:cNvSpPr txBox="1"/>
          <p:nvPr/>
        </p:nvSpPr>
        <p:spPr>
          <a:xfrm>
            <a:off x="-9427049"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D5C7E3E5-C2BF-3F53-4BF7-7F6A39588BF3}"/>
              </a:ext>
            </a:extLst>
          </p:cNvPr>
          <p:cNvSpPr txBox="1"/>
          <p:nvPr/>
        </p:nvSpPr>
        <p:spPr>
          <a:xfrm>
            <a:off x="-8667508"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2180FF30-61F0-FCEB-D98F-29D2C4AF09B5}"/>
              </a:ext>
            </a:extLst>
          </p:cNvPr>
          <p:cNvSpPr txBox="1"/>
          <p:nvPr/>
        </p:nvSpPr>
        <p:spPr>
          <a:xfrm>
            <a:off x="-12352146"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42E1CABE-3CD8-9EFC-51FE-C5D005F9E336}"/>
              </a:ext>
            </a:extLst>
          </p:cNvPr>
          <p:cNvSpPr txBox="1"/>
          <p:nvPr/>
        </p:nvSpPr>
        <p:spPr>
          <a:xfrm>
            <a:off x="-9386634"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771F57D9-B1D4-9200-ACF4-A9251F7D7C06}"/>
              </a:ext>
            </a:extLst>
          </p:cNvPr>
          <p:cNvSpPr txBox="1"/>
          <p:nvPr/>
        </p:nvSpPr>
        <p:spPr>
          <a:xfrm>
            <a:off x="-8627093"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B34E9344-D02B-1C13-A64C-5BC7427783CD}"/>
              </a:ext>
            </a:extLst>
          </p:cNvPr>
          <p:cNvSpPr txBox="1"/>
          <p:nvPr/>
        </p:nvSpPr>
        <p:spPr>
          <a:xfrm>
            <a:off x="-12311731"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D7E7756-AAD7-854C-4670-A8F8E189D94F}"/>
              </a:ext>
            </a:extLst>
          </p:cNvPr>
          <p:cNvSpPr/>
          <p:nvPr/>
        </p:nvSpPr>
        <p:spPr>
          <a:xfrm rot="16200000">
            <a:off x="-6422136"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93EB2662-F25E-6814-2C0A-698F6251254B}"/>
              </a:ext>
            </a:extLst>
          </p:cNvPr>
          <p:cNvSpPr txBox="1"/>
          <p:nvPr/>
        </p:nvSpPr>
        <p:spPr>
          <a:xfrm>
            <a:off x="-9364439"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6D549DFE-8DEA-1055-0E01-2B4D6DC12229}"/>
              </a:ext>
            </a:extLst>
          </p:cNvPr>
          <p:cNvSpPr txBox="1"/>
          <p:nvPr/>
        </p:nvSpPr>
        <p:spPr>
          <a:xfrm>
            <a:off x="-8604898"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34F3610A-2D62-B287-636F-2EBD01A26241}"/>
              </a:ext>
            </a:extLst>
          </p:cNvPr>
          <p:cNvSpPr txBox="1"/>
          <p:nvPr/>
        </p:nvSpPr>
        <p:spPr>
          <a:xfrm>
            <a:off x="-12289536"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382D89E8-CF16-7A81-06EA-B4AE4925C436}"/>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254EB1F-2C48-B7F3-EE1C-58AF28C39F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5895F210-0678-82B2-8392-0ADE74E5F5B9}"/>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275E576A-E59D-62C1-EDF7-C48D42F31978}"/>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A8BC5C56-7D3A-A00A-A8C2-E98D97FF1732}"/>
              </a:ext>
            </a:extLst>
          </p:cNvPr>
          <p:cNvSpPr/>
          <p:nvPr/>
        </p:nvSpPr>
        <p:spPr>
          <a:xfrm rot="16200000">
            <a:off x="-645713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5725AD0-4997-51A4-0294-1FFCB905C8C7}"/>
              </a:ext>
            </a:extLst>
          </p:cNvPr>
          <p:cNvSpPr txBox="1"/>
          <p:nvPr/>
        </p:nvSpPr>
        <p:spPr>
          <a:xfrm>
            <a:off x="-9399442"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1E80F67C-1C59-7092-0A15-E698E8A04FBA}"/>
              </a:ext>
            </a:extLst>
          </p:cNvPr>
          <p:cNvSpPr txBox="1"/>
          <p:nvPr/>
        </p:nvSpPr>
        <p:spPr>
          <a:xfrm>
            <a:off x="-8639901"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81C88A78-87D0-EAFC-8B32-FDD35422C277}"/>
              </a:ext>
            </a:extLst>
          </p:cNvPr>
          <p:cNvSpPr txBox="1"/>
          <p:nvPr/>
        </p:nvSpPr>
        <p:spPr>
          <a:xfrm>
            <a:off x="-12324539"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55E8FE37-8960-C16C-F11E-1783CE1ED188}"/>
              </a:ext>
            </a:extLst>
          </p:cNvPr>
          <p:cNvSpPr/>
          <p:nvPr/>
        </p:nvSpPr>
        <p:spPr>
          <a:xfrm rot="16200000">
            <a:off x="-659628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E6E86058-568B-97BA-8FB0-94AAFF445F61}"/>
              </a:ext>
            </a:extLst>
          </p:cNvPr>
          <p:cNvSpPr txBox="1"/>
          <p:nvPr/>
        </p:nvSpPr>
        <p:spPr>
          <a:xfrm>
            <a:off x="-9538592"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EBBBCCA6-870E-8023-116F-351D252EA2F0}"/>
              </a:ext>
            </a:extLst>
          </p:cNvPr>
          <p:cNvSpPr txBox="1"/>
          <p:nvPr/>
        </p:nvSpPr>
        <p:spPr>
          <a:xfrm>
            <a:off x="-8779051"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59C1B84-8FB1-EC93-4A0E-9EDF6B896869}"/>
              </a:ext>
            </a:extLst>
          </p:cNvPr>
          <p:cNvSpPr txBox="1"/>
          <p:nvPr/>
        </p:nvSpPr>
        <p:spPr>
          <a:xfrm>
            <a:off x="-12463689"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94B696F3-D6AD-D884-8C55-0767D7700A11}"/>
              </a:ext>
            </a:extLst>
          </p:cNvPr>
          <p:cNvSpPr/>
          <p:nvPr/>
        </p:nvSpPr>
        <p:spPr>
          <a:xfrm rot="16200000">
            <a:off x="-65423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6AF7D7F-4705-F8FF-08DD-E0558452C456}"/>
              </a:ext>
            </a:extLst>
          </p:cNvPr>
          <p:cNvSpPr txBox="1"/>
          <p:nvPr/>
        </p:nvSpPr>
        <p:spPr>
          <a:xfrm>
            <a:off x="-9484605"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38BB9FE6-1584-C6D4-0048-4040CBAF9251}"/>
              </a:ext>
            </a:extLst>
          </p:cNvPr>
          <p:cNvSpPr txBox="1"/>
          <p:nvPr/>
        </p:nvSpPr>
        <p:spPr>
          <a:xfrm>
            <a:off x="-8725064"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926B0744-7F40-ACAE-2A13-EC97473E60D4}"/>
              </a:ext>
            </a:extLst>
          </p:cNvPr>
          <p:cNvSpPr txBox="1"/>
          <p:nvPr/>
        </p:nvSpPr>
        <p:spPr>
          <a:xfrm>
            <a:off x="-12409702"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3DA422BB-DA7D-0E8F-B764-BB2F61AFA833}"/>
              </a:ext>
            </a:extLst>
          </p:cNvPr>
          <p:cNvSpPr/>
          <p:nvPr/>
        </p:nvSpPr>
        <p:spPr>
          <a:xfrm rot="16200000">
            <a:off x="-6652838"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5427FAA9-AA56-FB8D-DC5E-F947F05D3A5A}"/>
              </a:ext>
            </a:extLst>
          </p:cNvPr>
          <p:cNvSpPr txBox="1"/>
          <p:nvPr/>
        </p:nvSpPr>
        <p:spPr>
          <a:xfrm>
            <a:off x="-9595141"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D4A8562C-C60A-0586-774A-BB63A0950344}"/>
              </a:ext>
            </a:extLst>
          </p:cNvPr>
          <p:cNvSpPr txBox="1"/>
          <p:nvPr/>
        </p:nvSpPr>
        <p:spPr>
          <a:xfrm>
            <a:off x="-8835600"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F261C5FB-5D1F-96EF-13F7-11AC571CDF21}"/>
              </a:ext>
            </a:extLst>
          </p:cNvPr>
          <p:cNvSpPr txBox="1"/>
          <p:nvPr/>
        </p:nvSpPr>
        <p:spPr>
          <a:xfrm>
            <a:off x="-12520238"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246B8B09-AB67-9004-2310-03291258FE48}"/>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C8530C7-8323-9D58-206A-8BA60AFDE6D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24EB2246-FC39-A7EF-A65E-2D118E08BAC6}"/>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A9F03C9E-C49F-19DB-D1FD-8E1E43B09407}"/>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3001902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down)">
                                      <p:cBhvr>
                                        <p:cTn id="7" dur="500"/>
                                        <p:tgtEl>
                                          <p:spTgt spid="4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fade">
                                      <p:cBhvr>
                                        <p:cTn id="14" dur="500"/>
                                        <p:tgtEl>
                                          <p:spTgt spid="47"/>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47" grpId="0"/>
      <p:bldP spid="4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40DD9-D945-BFDA-23DF-9052C1EC7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2FF3B-41B6-8AB5-7BCB-2DE2B6E4C807}"/>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56E9F437-BE63-5615-62E2-98E81EC2A52D}"/>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EB37C28-F1C3-8071-3F70-E339D3934114}"/>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53BF1BA-3D77-E7D5-0CCB-8C98E7A866D6}"/>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E17359F-D208-6F71-9905-72C4F625CCFD}"/>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603915FC-593F-379F-7BAA-B3F37CF6098A}"/>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678F489-70F9-2297-E7A4-00C01B5791A9}"/>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5F00F1AA-F4F9-C5F9-4D62-76848CDFCE55}"/>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411A96CA-F15A-B27D-9420-649CB4199712}"/>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03AB5A85-F8CB-9D5C-145F-068121DC4DFB}"/>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9B005A67-A11C-DE44-FBD4-340173A3B0FD}"/>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45CD780-A3C3-237B-673A-8F8359E7E68F}"/>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325788D0-60AB-BC00-BE42-3F2AB1FEB73A}"/>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650ECAF-55E8-3E8F-8824-FC0E46450E24}"/>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426DCA1A-B171-7C3D-8C53-1742CF5F4985}"/>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CA571E3A-53B2-0C65-BC4D-6B8CC0729C5B}"/>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95CE07BE-2AC7-A904-0430-33EC1B640ACC}"/>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3C8F6E31-473B-37C8-3CFC-0936AA7EB647}"/>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21B1F595-7F17-591B-3E8D-5C7E1D8E6197}"/>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04700C4A-3CCE-A5D8-F7BA-ACFFE8B4D173}"/>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3569255-86EA-6AF3-E432-CDD4A8FE84CB}"/>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2F8D0329-B7F0-F664-DA08-23D98CE844E4}"/>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ACD2F6B8-E54F-129E-A847-BAA4157C2341}"/>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4C458947-E65F-8C8C-957E-845E3B6C5664}"/>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F7C82F4-D3F3-9733-121B-69652D53ABED}"/>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D18507C5-BE1F-854F-81F2-973B5E203A5D}"/>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8BFF7B1B-1E6F-C7B9-6A04-2AD9A41731E3}"/>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32216B8A-14D2-0F2F-E45B-0A8C7E7D286B}"/>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7234B0E-D461-C77C-4070-091BC524A280}"/>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C893BF91-1416-82AF-BDDC-BCCEAE7F030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CE37BA7C-F7DA-F599-B288-EBA4987C5365}"/>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20B2DF89-28E2-2EF8-98B6-C0ADC37C388C}"/>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A555489-7CC7-B696-3758-6E7925E1C546}"/>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00FEBAEB-D09C-864E-9970-CC2BFCB48B3A}"/>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71A8AF19-F42F-5F25-15EF-2A3F16F64D63}"/>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6D93369C-8E72-9E21-2962-49C5D57B3464}"/>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4541465-5A86-863E-54A2-13B7A592A627}"/>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2EC8E293-2180-2BFA-FE29-1A3375F680C0}"/>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26C6845E-A946-78E4-7FB1-05831323D83A}"/>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034EA254-7751-4430-47E9-3803BF9CE167}"/>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C5630AF8-2391-D7BC-C260-D6EF15B0ED88}"/>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3FE6D3A2-7C0D-1304-5016-978761CFBFD6}"/>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7BC6E4D7-4412-341D-3F4F-B68041BDF3B5}"/>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FF5735E8-A050-EF24-434A-2A734533DF22}"/>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3C4D426-815F-4822-5E4E-3A4BC3BDB45C}"/>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4C9309A6-B6AA-F9EE-7205-F8805283EFA1}"/>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30A8503E-77C8-D23E-0FFA-89D7E67C5C60}"/>
              </a:ext>
            </a:extLst>
          </p:cNvPr>
          <p:cNvSpPr txBox="1"/>
          <p:nvPr/>
        </p:nvSpPr>
        <p:spPr>
          <a:xfrm>
            <a:off x="0" y="4199916"/>
            <a:ext cx="6096000" cy="2677656"/>
          </a:xfrm>
          <a:prstGeom prst="rect">
            <a:avLst/>
          </a:prstGeom>
          <a:noFill/>
        </p:spPr>
        <p:txBody>
          <a:bodyPr wrap="square" rtlCol="0">
            <a:spAutoFit/>
          </a:bodyPr>
          <a:lstStyle/>
          <a:p>
            <a:pPr algn="ctr"/>
            <a:r>
              <a:rPr lang="en-US" sz="2800" dirty="0"/>
              <a:t>“Understood [the canon] as a collection of books possessing authority, but he did not insist that this authority should be based on the thesis that ‘the New Testament is holy Scripture’” (p. 24)</a:t>
            </a:r>
          </a:p>
        </p:txBody>
      </p:sp>
    </p:spTree>
    <p:extLst>
      <p:ext uri="{BB962C8B-B14F-4D97-AF65-F5344CB8AC3E}">
        <p14:creationId xmlns:p14="http://schemas.microsoft.com/office/powerpoint/2010/main" val="1333608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FF48D-2FE2-2898-FC05-E096F08D0B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44200-9C8B-DCE5-BB2D-01203BBAE6DA}"/>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615D1F4E-5764-4E57-C59B-FA663B01718E}"/>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F196D04-269A-B527-AABB-9F4BFB435E89}"/>
              </a:ext>
            </a:extLst>
          </p:cNvPr>
          <p:cNvSpPr/>
          <p:nvPr/>
        </p:nvSpPr>
        <p:spPr>
          <a:xfrm rot="16200000">
            <a:off x="-386486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36AA455-A58D-890D-91A7-4D7937EE541A}"/>
              </a:ext>
            </a:extLst>
          </p:cNvPr>
          <p:cNvSpPr txBox="1"/>
          <p:nvPr/>
        </p:nvSpPr>
        <p:spPr>
          <a:xfrm>
            <a:off x="-6807164" y="2423618"/>
            <a:ext cx="6341805" cy="523220"/>
          </a:xfrm>
          <a:prstGeom prst="rect">
            <a:avLst/>
          </a:prstGeom>
          <a:noFill/>
        </p:spPr>
        <p:txBody>
          <a:bodyPr wrap="square" rtlCol="0">
            <a:spAutoFit/>
          </a:bodyPr>
          <a:lstStyle/>
          <a:p>
            <a:pPr algn="ctr"/>
            <a:r>
              <a:rPr lang="en-US" sz="2800" b="1" dirty="0"/>
              <a:t>1699</a:t>
            </a:r>
          </a:p>
        </p:txBody>
      </p:sp>
      <p:sp>
        <p:nvSpPr>
          <p:cNvPr id="23" name="TextBox 22">
            <a:extLst>
              <a:ext uri="{FF2B5EF4-FFF2-40B4-BE49-F238E27FC236}">
                <a16:creationId xmlns:a16="http://schemas.microsoft.com/office/drawing/2014/main" id="{41A0D9F0-F981-A768-A966-01F3B047F93E}"/>
              </a:ext>
            </a:extLst>
          </p:cNvPr>
          <p:cNvSpPr txBox="1"/>
          <p:nvPr/>
        </p:nvSpPr>
        <p:spPr>
          <a:xfrm>
            <a:off x="-6047623" y="3676573"/>
            <a:ext cx="4822722" cy="523220"/>
          </a:xfrm>
          <a:prstGeom prst="rect">
            <a:avLst/>
          </a:prstGeom>
          <a:noFill/>
        </p:spPr>
        <p:txBody>
          <a:bodyPr wrap="square" rtlCol="0">
            <a:spAutoFit/>
          </a:bodyPr>
          <a:lstStyle/>
          <a:p>
            <a:pPr algn="ctr"/>
            <a:r>
              <a:rPr lang="en-US" sz="2800" dirty="0"/>
              <a:t>John Toland</a:t>
            </a:r>
          </a:p>
        </p:txBody>
      </p:sp>
      <p:sp>
        <p:nvSpPr>
          <p:cNvPr id="3" name="Rectangle 2">
            <a:extLst>
              <a:ext uri="{FF2B5EF4-FFF2-40B4-BE49-F238E27FC236}">
                <a16:creationId xmlns:a16="http://schemas.microsoft.com/office/drawing/2014/main" id="{46A85A90-9CDA-0356-1F56-1FF4DB1D3338}"/>
              </a:ext>
            </a:extLst>
          </p:cNvPr>
          <p:cNvSpPr/>
          <p:nvPr/>
        </p:nvSpPr>
        <p:spPr>
          <a:xfrm rot="16200000">
            <a:off x="-3916450" y="3104892"/>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31D48DA-5A88-3891-C8AF-8B78BAA5A0CE}"/>
              </a:ext>
            </a:extLst>
          </p:cNvPr>
          <p:cNvSpPr txBox="1"/>
          <p:nvPr/>
        </p:nvSpPr>
        <p:spPr>
          <a:xfrm>
            <a:off x="-6881083" y="2423618"/>
            <a:ext cx="6341805" cy="523220"/>
          </a:xfrm>
          <a:prstGeom prst="rect">
            <a:avLst/>
          </a:prstGeom>
          <a:noFill/>
        </p:spPr>
        <p:txBody>
          <a:bodyPr wrap="square" rtlCol="0">
            <a:spAutoFit/>
          </a:bodyPr>
          <a:lstStyle/>
          <a:p>
            <a:pPr algn="ctr"/>
            <a:r>
              <a:rPr lang="en-US" sz="2800" b="1" dirty="0"/>
              <a:t>1700-1719</a:t>
            </a:r>
          </a:p>
        </p:txBody>
      </p:sp>
      <p:sp>
        <p:nvSpPr>
          <p:cNvPr id="5" name="TextBox 4">
            <a:extLst>
              <a:ext uri="{FF2B5EF4-FFF2-40B4-BE49-F238E27FC236}">
                <a16:creationId xmlns:a16="http://schemas.microsoft.com/office/drawing/2014/main" id="{F99562A9-4FE1-9C87-2122-19E34F3E2781}"/>
              </a:ext>
            </a:extLst>
          </p:cNvPr>
          <p:cNvSpPr txBox="1"/>
          <p:nvPr/>
        </p:nvSpPr>
        <p:spPr>
          <a:xfrm>
            <a:off x="-6121542" y="3676573"/>
            <a:ext cx="4822722" cy="954107"/>
          </a:xfrm>
          <a:prstGeom prst="rect">
            <a:avLst/>
          </a:prstGeom>
          <a:noFill/>
        </p:spPr>
        <p:txBody>
          <a:bodyPr wrap="square" rtlCol="0">
            <a:spAutoFit/>
          </a:bodyPr>
          <a:lstStyle/>
          <a:p>
            <a:pPr algn="ctr"/>
            <a:r>
              <a:rPr lang="en-US" sz="2800" dirty="0"/>
              <a:t>Samuel Clarke, Stephen Nye, John Richardson, and others</a:t>
            </a:r>
          </a:p>
        </p:txBody>
      </p:sp>
      <p:sp>
        <p:nvSpPr>
          <p:cNvPr id="7" name="TextBox 6">
            <a:extLst>
              <a:ext uri="{FF2B5EF4-FFF2-40B4-BE49-F238E27FC236}">
                <a16:creationId xmlns:a16="http://schemas.microsoft.com/office/drawing/2014/main" id="{81B4F3FB-8033-8A74-7F43-156C6358AB0B}"/>
              </a:ext>
            </a:extLst>
          </p:cNvPr>
          <p:cNvSpPr txBox="1"/>
          <p:nvPr/>
        </p:nvSpPr>
        <p:spPr>
          <a:xfrm>
            <a:off x="-12959136" y="4392669"/>
            <a:ext cx="12192000" cy="1384995"/>
          </a:xfrm>
          <a:prstGeom prst="rect">
            <a:avLst/>
          </a:prstGeom>
          <a:noFill/>
        </p:spPr>
        <p:txBody>
          <a:bodyPr wrap="square" rtlCol="0">
            <a:spAutoFit/>
          </a:bodyPr>
          <a:lstStyle/>
          <a:p>
            <a:pPr algn="ctr"/>
            <a:r>
              <a:rPr lang="en-US" sz="2800" dirty="0"/>
              <a:t>Used the “New and Full Method” of looking at ancient records to find early testimony or traditions of people concerning NT books written close to them in time </a:t>
            </a:r>
          </a:p>
        </p:txBody>
      </p:sp>
      <p:sp>
        <p:nvSpPr>
          <p:cNvPr id="9" name="TextBox 8">
            <a:extLst>
              <a:ext uri="{FF2B5EF4-FFF2-40B4-BE49-F238E27FC236}">
                <a16:creationId xmlns:a16="http://schemas.microsoft.com/office/drawing/2014/main" id="{5F327FEC-C20C-60BC-CC84-F0E69A13C80F}"/>
              </a:ext>
            </a:extLst>
          </p:cNvPr>
          <p:cNvSpPr txBox="1"/>
          <p:nvPr/>
        </p:nvSpPr>
        <p:spPr>
          <a:xfrm>
            <a:off x="-10034039" y="2423618"/>
            <a:ext cx="6341805" cy="523220"/>
          </a:xfrm>
          <a:prstGeom prst="rect">
            <a:avLst/>
          </a:prstGeom>
          <a:noFill/>
        </p:spPr>
        <p:txBody>
          <a:bodyPr wrap="square" rtlCol="0">
            <a:spAutoFit/>
          </a:bodyPr>
          <a:lstStyle/>
          <a:p>
            <a:pPr algn="ctr"/>
            <a:r>
              <a:rPr lang="en-US" sz="2800" b="1" dirty="0"/>
              <a:t>1726-1727</a:t>
            </a:r>
          </a:p>
        </p:txBody>
      </p:sp>
      <p:sp>
        <p:nvSpPr>
          <p:cNvPr id="10" name="TextBox 9">
            <a:extLst>
              <a:ext uri="{FF2B5EF4-FFF2-40B4-BE49-F238E27FC236}">
                <a16:creationId xmlns:a16="http://schemas.microsoft.com/office/drawing/2014/main" id="{0143D108-C067-88D8-4BEF-E9CBAD7523A0}"/>
              </a:ext>
            </a:extLst>
          </p:cNvPr>
          <p:cNvSpPr txBox="1"/>
          <p:nvPr/>
        </p:nvSpPr>
        <p:spPr>
          <a:xfrm>
            <a:off x="-9274498" y="3676573"/>
            <a:ext cx="4822722" cy="523220"/>
          </a:xfrm>
          <a:prstGeom prst="rect">
            <a:avLst/>
          </a:prstGeom>
          <a:noFill/>
        </p:spPr>
        <p:txBody>
          <a:bodyPr wrap="square" rtlCol="0">
            <a:spAutoFit/>
          </a:bodyPr>
          <a:lstStyle/>
          <a:p>
            <a:pPr algn="ctr"/>
            <a:r>
              <a:rPr lang="en-US" sz="2800" dirty="0"/>
              <a:t>Jeremiah Jones</a:t>
            </a:r>
          </a:p>
        </p:txBody>
      </p:sp>
      <p:sp>
        <p:nvSpPr>
          <p:cNvPr id="11" name="TextBox 10">
            <a:extLst>
              <a:ext uri="{FF2B5EF4-FFF2-40B4-BE49-F238E27FC236}">
                <a16:creationId xmlns:a16="http://schemas.microsoft.com/office/drawing/2014/main" id="{C0BDF11C-1BE0-A002-4A57-E31FB539AD21}"/>
              </a:ext>
            </a:extLst>
          </p:cNvPr>
          <p:cNvSpPr txBox="1"/>
          <p:nvPr/>
        </p:nvSpPr>
        <p:spPr>
          <a:xfrm>
            <a:off x="-12700394" y="4761635"/>
            <a:ext cx="12192000" cy="1815882"/>
          </a:xfrm>
          <a:prstGeom prst="rect">
            <a:avLst/>
          </a:prstGeom>
          <a:noFill/>
        </p:spPr>
        <p:txBody>
          <a:bodyPr wrap="square" rtlCol="0">
            <a:spAutoFit/>
          </a:bodyPr>
          <a:lstStyle/>
          <a:p>
            <a:pPr algn="ctr"/>
            <a:r>
              <a:rPr lang="en-US" sz="2800" dirty="0"/>
              <a:t>- Strongly denounced Toland</a:t>
            </a:r>
          </a:p>
          <a:p>
            <a:pPr algn="ctr"/>
            <a:r>
              <a:rPr lang="en-US" sz="2800" dirty="0"/>
              <a:t>- Richardson: “What the Apostles Wrote, and what they </a:t>
            </a:r>
            <a:r>
              <a:rPr lang="en-US" sz="2800" dirty="0" err="1"/>
              <a:t>Authoriz’d</a:t>
            </a:r>
            <a:r>
              <a:rPr lang="en-US" sz="2800" dirty="0"/>
              <a:t>, can be known in no other way, then by the Testimonies of those who </a:t>
            </a:r>
            <a:r>
              <a:rPr lang="en-US" sz="2800" dirty="0" err="1"/>
              <a:t>liv’d</a:t>
            </a:r>
            <a:r>
              <a:rPr lang="en-US" sz="2800" dirty="0"/>
              <a:t> at the same time with them, and the Tradition of those who succeeded them” (p. 13)</a:t>
            </a:r>
          </a:p>
        </p:txBody>
      </p:sp>
      <p:sp>
        <p:nvSpPr>
          <p:cNvPr id="12" name="TextBox 11">
            <a:extLst>
              <a:ext uri="{FF2B5EF4-FFF2-40B4-BE49-F238E27FC236}">
                <a16:creationId xmlns:a16="http://schemas.microsoft.com/office/drawing/2014/main" id="{9F05AA85-E1F0-90DE-EDD7-6BB576C1E6AE}"/>
              </a:ext>
            </a:extLst>
          </p:cNvPr>
          <p:cNvSpPr txBox="1"/>
          <p:nvPr/>
        </p:nvSpPr>
        <p:spPr>
          <a:xfrm>
            <a:off x="-12959137" y="4392668"/>
            <a:ext cx="12192000" cy="954107"/>
          </a:xfrm>
          <a:prstGeom prst="rect">
            <a:avLst/>
          </a:prstGeom>
          <a:noFill/>
        </p:spPr>
        <p:txBody>
          <a:bodyPr wrap="square" rtlCol="0">
            <a:spAutoFit/>
          </a:bodyPr>
          <a:lstStyle/>
          <a:p>
            <a:pPr algn="ctr"/>
            <a:r>
              <a:rPr lang="en-US" sz="2800" dirty="0"/>
              <a:t>Jones made available for  the first time an English translation of the text of dozens of apocryphal writings” (p. 14)</a:t>
            </a:r>
          </a:p>
        </p:txBody>
      </p:sp>
      <p:sp>
        <p:nvSpPr>
          <p:cNvPr id="14" name="TextBox 13">
            <a:extLst>
              <a:ext uri="{FF2B5EF4-FFF2-40B4-BE49-F238E27FC236}">
                <a16:creationId xmlns:a16="http://schemas.microsoft.com/office/drawing/2014/main" id="{1C2CE683-2CA5-C38B-6786-79A2D899FC85}"/>
              </a:ext>
            </a:extLst>
          </p:cNvPr>
          <p:cNvSpPr txBox="1"/>
          <p:nvPr/>
        </p:nvSpPr>
        <p:spPr>
          <a:xfrm>
            <a:off x="-9816515" y="2423618"/>
            <a:ext cx="6341805" cy="523220"/>
          </a:xfrm>
          <a:prstGeom prst="rect">
            <a:avLst/>
          </a:prstGeom>
          <a:noFill/>
        </p:spPr>
        <p:txBody>
          <a:bodyPr wrap="square" rtlCol="0">
            <a:spAutoFit/>
          </a:bodyPr>
          <a:lstStyle/>
          <a:p>
            <a:pPr algn="ctr"/>
            <a:r>
              <a:rPr lang="en-US" sz="2800" b="1" dirty="0"/>
              <a:t>1699 (in France)</a:t>
            </a:r>
          </a:p>
        </p:txBody>
      </p:sp>
      <p:sp>
        <p:nvSpPr>
          <p:cNvPr id="15" name="TextBox 14">
            <a:extLst>
              <a:ext uri="{FF2B5EF4-FFF2-40B4-BE49-F238E27FC236}">
                <a16:creationId xmlns:a16="http://schemas.microsoft.com/office/drawing/2014/main" id="{9E54785E-57F6-BEA9-8412-47763AAF24CA}"/>
              </a:ext>
            </a:extLst>
          </p:cNvPr>
          <p:cNvSpPr txBox="1"/>
          <p:nvPr/>
        </p:nvSpPr>
        <p:spPr>
          <a:xfrm>
            <a:off x="-9056974" y="3676573"/>
            <a:ext cx="4822722" cy="523220"/>
          </a:xfrm>
          <a:prstGeom prst="rect">
            <a:avLst/>
          </a:prstGeom>
          <a:noFill/>
        </p:spPr>
        <p:txBody>
          <a:bodyPr wrap="square" rtlCol="0">
            <a:spAutoFit/>
          </a:bodyPr>
          <a:lstStyle/>
          <a:p>
            <a:pPr algn="ctr"/>
            <a:r>
              <a:rPr lang="en-US" sz="2800" dirty="0"/>
              <a:t>Jacques Basnage</a:t>
            </a:r>
          </a:p>
        </p:txBody>
      </p:sp>
      <p:sp>
        <p:nvSpPr>
          <p:cNvPr id="16" name="TextBox 15">
            <a:extLst>
              <a:ext uri="{FF2B5EF4-FFF2-40B4-BE49-F238E27FC236}">
                <a16:creationId xmlns:a16="http://schemas.microsoft.com/office/drawing/2014/main" id="{5A1607B5-3FB4-83CA-FD5E-520D90C82335}"/>
              </a:ext>
            </a:extLst>
          </p:cNvPr>
          <p:cNvSpPr txBox="1"/>
          <p:nvPr/>
        </p:nvSpPr>
        <p:spPr>
          <a:xfrm>
            <a:off x="-12741612" y="4392669"/>
            <a:ext cx="12192000" cy="1815882"/>
          </a:xfrm>
          <a:prstGeom prst="rect">
            <a:avLst/>
          </a:prstGeom>
          <a:noFill/>
        </p:spPr>
        <p:txBody>
          <a:bodyPr wrap="square" rtlCol="0">
            <a:spAutoFit/>
          </a:bodyPr>
          <a:lstStyle/>
          <a:p>
            <a:pPr algn="ctr"/>
            <a:r>
              <a:rPr lang="en-US" sz="2800" dirty="0"/>
              <a:t>Found that during the first 3 centuries “there was no decision concerning the limits of the New Testament canon, but each local church had the liberty to choose or reject individual books; this freedom was most noticeable among Eastern Churches in rejecting the Apocalypse” (p. 16)</a:t>
            </a:r>
          </a:p>
        </p:txBody>
      </p:sp>
      <p:sp>
        <p:nvSpPr>
          <p:cNvPr id="18" name="TextBox 17">
            <a:extLst>
              <a:ext uri="{FF2B5EF4-FFF2-40B4-BE49-F238E27FC236}">
                <a16:creationId xmlns:a16="http://schemas.microsoft.com/office/drawing/2014/main" id="{E366C1FF-D601-3A6A-454D-B73ACEF2657A}"/>
              </a:ext>
            </a:extLst>
          </p:cNvPr>
          <p:cNvSpPr txBox="1"/>
          <p:nvPr/>
        </p:nvSpPr>
        <p:spPr>
          <a:xfrm>
            <a:off x="-9776100" y="2423618"/>
            <a:ext cx="6341805" cy="523220"/>
          </a:xfrm>
          <a:prstGeom prst="rect">
            <a:avLst/>
          </a:prstGeom>
          <a:noFill/>
        </p:spPr>
        <p:txBody>
          <a:bodyPr wrap="square" rtlCol="0">
            <a:spAutoFit/>
          </a:bodyPr>
          <a:lstStyle/>
          <a:p>
            <a:pPr algn="ctr"/>
            <a:r>
              <a:rPr lang="en-US" sz="2800" b="1" dirty="0"/>
              <a:t>1804-1812</a:t>
            </a:r>
          </a:p>
        </p:txBody>
      </p:sp>
      <p:sp>
        <p:nvSpPr>
          <p:cNvPr id="19" name="TextBox 18">
            <a:extLst>
              <a:ext uri="{FF2B5EF4-FFF2-40B4-BE49-F238E27FC236}">
                <a16:creationId xmlns:a16="http://schemas.microsoft.com/office/drawing/2014/main" id="{AEED144E-B623-5F34-1352-1DB84F1584FE}"/>
              </a:ext>
            </a:extLst>
          </p:cNvPr>
          <p:cNvSpPr txBox="1"/>
          <p:nvPr/>
        </p:nvSpPr>
        <p:spPr>
          <a:xfrm>
            <a:off x="-9016559" y="3676573"/>
            <a:ext cx="4822722" cy="523220"/>
          </a:xfrm>
          <a:prstGeom prst="rect">
            <a:avLst/>
          </a:prstGeom>
          <a:noFill/>
        </p:spPr>
        <p:txBody>
          <a:bodyPr wrap="square" rtlCol="0">
            <a:spAutoFit/>
          </a:bodyPr>
          <a:lstStyle/>
          <a:p>
            <a:pPr algn="ctr"/>
            <a:r>
              <a:rPr lang="en-US" sz="2800" dirty="0"/>
              <a:t>J. G. Eichhorn</a:t>
            </a:r>
          </a:p>
        </p:txBody>
      </p:sp>
      <p:sp>
        <p:nvSpPr>
          <p:cNvPr id="21" name="TextBox 20">
            <a:extLst>
              <a:ext uri="{FF2B5EF4-FFF2-40B4-BE49-F238E27FC236}">
                <a16:creationId xmlns:a16="http://schemas.microsoft.com/office/drawing/2014/main" id="{8E01ABA0-58F8-3705-F01A-569FAC7497DE}"/>
              </a:ext>
            </a:extLst>
          </p:cNvPr>
          <p:cNvSpPr txBox="1"/>
          <p:nvPr/>
        </p:nvSpPr>
        <p:spPr>
          <a:xfrm>
            <a:off x="-12701197" y="4392669"/>
            <a:ext cx="12192000" cy="1384995"/>
          </a:xfrm>
          <a:prstGeom prst="rect">
            <a:avLst/>
          </a:prstGeom>
          <a:noFill/>
        </p:spPr>
        <p:txBody>
          <a:bodyPr wrap="square" rtlCol="0">
            <a:spAutoFit/>
          </a:bodyPr>
          <a:lstStyle/>
          <a:p>
            <a:pPr algn="ctr"/>
            <a:r>
              <a:rPr lang="en-US" sz="2800" dirty="0"/>
              <a:t>“The first to attribute to Marcion the stimulus to collect the New Testament writings, and argued that the core of the future canon was established by about AD 175” (p. 18)</a:t>
            </a:r>
          </a:p>
        </p:txBody>
      </p:sp>
      <p:sp>
        <p:nvSpPr>
          <p:cNvPr id="24" name="Rectangle 23">
            <a:extLst>
              <a:ext uri="{FF2B5EF4-FFF2-40B4-BE49-F238E27FC236}">
                <a16:creationId xmlns:a16="http://schemas.microsoft.com/office/drawing/2014/main" id="{9B6F0C78-0D09-B93B-E064-78CA29C9AAD5}"/>
              </a:ext>
            </a:extLst>
          </p:cNvPr>
          <p:cNvSpPr/>
          <p:nvPr/>
        </p:nvSpPr>
        <p:spPr>
          <a:xfrm rot="16200000">
            <a:off x="-681160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F1914C9-BB36-E4CB-7C37-15F0CA66B293}"/>
              </a:ext>
            </a:extLst>
          </p:cNvPr>
          <p:cNvSpPr txBox="1"/>
          <p:nvPr/>
        </p:nvSpPr>
        <p:spPr>
          <a:xfrm>
            <a:off x="-9753905" y="2423618"/>
            <a:ext cx="6341805" cy="523220"/>
          </a:xfrm>
          <a:prstGeom prst="rect">
            <a:avLst/>
          </a:prstGeom>
          <a:noFill/>
        </p:spPr>
        <p:txBody>
          <a:bodyPr wrap="square" rtlCol="0">
            <a:spAutoFit/>
          </a:bodyPr>
          <a:lstStyle/>
          <a:p>
            <a:pPr algn="ctr"/>
            <a:r>
              <a:rPr lang="en-US" sz="2800" b="1" dirty="0"/>
              <a:t>1826 (in America)</a:t>
            </a:r>
          </a:p>
        </p:txBody>
      </p:sp>
      <p:sp>
        <p:nvSpPr>
          <p:cNvPr id="26" name="TextBox 25">
            <a:extLst>
              <a:ext uri="{FF2B5EF4-FFF2-40B4-BE49-F238E27FC236}">
                <a16:creationId xmlns:a16="http://schemas.microsoft.com/office/drawing/2014/main" id="{EB775DE8-9027-0499-CA33-A21EA77E51C7}"/>
              </a:ext>
            </a:extLst>
          </p:cNvPr>
          <p:cNvSpPr txBox="1"/>
          <p:nvPr/>
        </p:nvSpPr>
        <p:spPr>
          <a:xfrm>
            <a:off x="-8994364" y="3676573"/>
            <a:ext cx="4822722" cy="523220"/>
          </a:xfrm>
          <a:prstGeom prst="rect">
            <a:avLst/>
          </a:prstGeom>
          <a:noFill/>
        </p:spPr>
        <p:txBody>
          <a:bodyPr wrap="square" rtlCol="0">
            <a:spAutoFit/>
          </a:bodyPr>
          <a:lstStyle/>
          <a:p>
            <a:pPr algn="ctr"/>
            <a:r>
              <a:rPr lang="en-US" sz="2800" dirty="0"/>
              <a:t>Archibald Alexander</a:t>
            </a:r>
          </a:p>
        </p:txBody>
      </p:sp>
      <p:sp>
        <p:nvSpPr>
          <p:cNvPr id="27" name="TextBox 26">
            <a:extLst>
              <a:ext uri="{FF2B5EF4-FFF2-40B4-BE49-F238E27FC236}">
                <a16:creationId xmlns:a16="http://schemas.microsoft.com/office/drawing/2014/main" id="{20750E62-DBA8-06F3-7D05-33327E1EB3FF}"/>
              </a:ext>
            </a:extLst>
          </p:cNvPr>
          <p:cNvSpPr txBox="1"/>
          <p:nvPr/>
        </p:nvSpPr>
        <p:spPr>
          <a:xfrm>
            <a:off x="-12679002" y="4392669"/>
            <a:ext cx="12192000" cy="2246769"/>
          </a:xfrm>
          <a:prstGeom prst="rect">
            <a:avLst/>
          </a:prstGeom>
          <a:noFill/>
        </p:spPr>
        <p:txBody>
          <a:bodyPr wrap="square" rtlCol="0">
            <a:spAutoFit/>
          </a:bodyPr>
          <a:lstStyle/>
          <a:p>
            <a:pPr marL="457200" indent="-457200" algn="ctr">
              <a:buFontTx/>
              <a:buChar char="-"/>
            </a:pPr>
            <a:r>
              <a:rPr lang="en-US" sz="2800" dirty="0"/>
              <a:t>Wrote the first book (in the US) dealing solely with the Biblical canon</a:t>
            </a:r>
          </a:p>
          <a:p>
            <a:pPr marL="457200" indent="-457200" algn="ctr">
              <a:buFontTx/>
              <a:buChar char="-"/>
            </a:pPr>
            <a:r>
              <a:rPr lang="en-US" sz="2800" dirty="0"/>
              <a:t>“Argued that </a:t>
            </a:r>
            <a:r>
              <a:rPr lang="en-US" sz="2800" b="1" u="sng" dirty="0"/>
              <a:t>the criterion of New Testament canonicity is apostolic authorship</a:t>
            </a:r>
            <a:r>
              <a:rPr lang="en-US" sz="2800" dirty="0"/>
              <a:t>, whether direct or indirect (the latter in the case of Mark and Luke). Apostolicity is to be established by historically verified testimonies of patristic writers of the early Christian centuries” (p. 18)</a:t>
            </a:r>
          </a:p>
        </p:txBody>
      </p:sp>
      <p:sp>
        <p:nvSpPr>
          <p:cNvPr id="8" name="Rectangle 7">
            <a:extLst>
              <a:ext uri="{FF2B5EF4-FFF2-40B4-BE49-F238E27FC236}">
                <a16:creationId xmlns:a16="http://schemas.microsoft.com/office/drawing/2014/main" id="{5164AC86-9720-3466-BA87-E44619E8C177}"/>
              </a:ext>
            </a:extLst>
          </p:cNvPr>
          <p:cNvSpPr/>
          <p:nvPr/>
        </p:nvSpPr>
        <p:spPr>
          <a:xfrm rot="16200000">
            <a:off x="18172062"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C2D8924-A2B7-41D9-0487-0C5962CEC8A0}"/>
              </a:ext>
            </a:extLst>
          </p:cNvPr>
          <p:cNvSpPr txBox="1"/>
          <p:nvPr/>
        </p:nvSpPr>
        <p:spPr>
          <a:xfrm>
            <a:off x="15229759" y="2423618"/>
            <a:ext cx="6341805" cy="523220"/>
          </a:xfrm>
          <a:prstGeom prst="rect">
            <a:avLst/>
          </a:prstGeom>
          <a:noFill/>
        </p:spPr>
        <p:txBody>
          <a:bodyPr wrap="square" rtlCol="0">
            <a:spAutoFit/>
          </a:bodyPr>
          <a:lstStyle/>
          <a:p>
            <a:pPr algn="ctr"/>
            <a:r>
              <a:rPr lang="en-US" sz="2800" b="1" dirty="0"/>
              <a:t>1866</a:t>
            </a:r>
          </a:p>
        </p:txBody>
      </p:sp>
      <p:sp>
        <p:nvSpPr>
          <p:cNvPr id="17" name="TextBox 16">
            <a:extLst>
              <a:ext uri="{FF2B5EF4-FFF2-40B4-BE49-F238E27FC236}">
                <a16:creationId xmlns:a16="http://schemas.microsoft.com/office/drawing/2014/main" id="{A6492DC9-4711-7C40-9CB8-C5FCBB32C49C}"/>
              </a:ext>
            </a:extLst>
          </p:cNvPr>
          <p:cNvSpPr txBox="1"/>
          <p:nvPr/>
        </p:nvSpPr>
        <p:spPr>
          <a:xfrm>
            <a:off x="15989300" y="3676573"/>
            <a:ext cx="4822722" cy="523220"/>
          </a:xfrm>
          <a:prstGeom prst="rect">
            <a:avLst/>
          </a:prstGeom>
          <a:noFill/>
        </p:spPr>
        <p:txBody>
          <a:bodyPr wrap="square" rtlCol="0">
            <a:spAutoFit/>
          </a:bodyPr>
          <a:lstStyle/>
          <a:p>
            <a:pPr algn="ctr"/>
            <a:r>
              <a:rPr lang="en-US" sz="2800" dirty="0"/>
              <a:t>Constantin von Tischendorf</a:t>
            </a:r>
          </a:p>
        </p:txBody>
      </p:sp>
      <p:sp>
        <p:nvSpPr>
          <p:cNvPr id="28" name="TextBox 27">
            <a:extLst>
              <a:ext uri="{FF2B5EF4-FFF2-40B4-BE49-F238E27FC236}">
                <a16:creationId xmlns:a16="http://schemas.microsoft.com/office/drawing/2014/main" id="{988056DD-56E7-C60C-A522-49B3EF419B9A}"/>
              </a:ext>
            </a:extLst>
          </p:cNvPr>
          <p:cNvSpPr txBox="1"/>
          <p:nvPr/>
        </p:nvSpPr>
        <p:spPr>
          <a:xfrm>
            <a:off x="12304662" y="4392669"/>
            <a:ext cx="12192000" cy="954107"/>
          </a:xfrm>
          <a:prstGeom prst="rect">
            <a:avLst/>
          </a:prstGeom>
          <a:noFill/>
        </p:spPr>
        <p:txBody>
          <a:bodyPr wrap="square" rtlCol="0">
            <a:spAutoFit/>
          </a:bodyPr>
          <a:lstStyle/>
          <a:p>
            <a:pPr algn="ctr"/>
            <a:r>
              <a:rPr lang="en-US" sz="2800" dirty="0"/>
              <a:t>Argued  the canon of the NT was established by the beginning of the 2</a:t>
            </a:r>
            <a:r>
              <a:rPr lang="en-US" sz="2800" baseline="30000" dirty="0"/>
              <a:t>nd</a:t>
            </a:r>
            <a:r>
              <a:rPr lang="en-US" sz="2800" dirty="0"/>
              <a:t> century</a:t>
            </a:r>
          </a:p>
        </p:txBody>
      </p:sp>
      <p:sp>
        <p:nvSpPr>
          <p:cNvPr id="29" name="Rectangle 28">
            <a:extLst>
              <a:ext uri="{FF2B5EF4-FFF2-40B4-BE49-F238E27FC236}">
                <a16:creationId xmlns:a16="http://schemas.microsoft.com/office/drawing/2014/main" id="{EECA638A-5660-92E7-11C0-D21CD9229A09}"/>
              </a:ext>
            </a:extLst>
          </p:cNvPr>
          <p:cNvSpPr/>
          <p:nvPr/>
        </p:nvSpPr>
        <p:spPr>
          <a:xfrm rot="16200000">
            <a:off x="-684660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0C077E2-EBDA-DDEC-FC11-D4A43CD15C2E}"/>
              </a:ext>
            </a:extLst>
          </p:cNvPr>
          <p:cNvSpPr txBox="1"/>
          <p:nvPr/>
        </p:nvSpPr>
        <p:spPr>
          <a:xfrm>
            <a:off x="-9788908" y="2423618"/>
            <a:ext cx="6341805" cy="523220"/>
          </a:xfrm>
          <a:prstGeom prst="rect">
            <a:avLst/>
          </a:prstGeom>
          <a:noFill/>
        </p:spPr>
        <p:txBody>
          <a:bodyPr wrap="square" rtlCol="0">
            <a:spAutoFit/>
          </a:bodyPr>
          <a:lstStyle/>
          <a:p>
            <a:pPr algn="ctr"/>
            <a:r>
              <a:rPr lang="en-US" sz="2800" b="1" dirty="0"/>
              <a:t>1855 (in Britian)</a:t>
            </a:r>
          </a:p>
        </p:txBody>
      </p:sp>
      <p:sp>
        <p:nvSpPr>
          <p:cNvPr id="31" name="TextBox 30">
            <a:extLst>
              <a:ext uri="{FF2B5EF4-FFF2-40B4-BE49-F238E27FC236}">
                <a16:creationId xmlns:a16="http://schemas.microsoft.com/office/drawing/2014/main" id="{DC251847-712C-451C-B0D6-58C8900B5FB0}"/>
              </a:ext>
            </a:extLst>
          </p:cNvPr>
          <p:cNvSpPr txBox="1"/>
          <p:nvPr/>
        </p:nvSpPr>
        <p:spPr>
          <a:xfrm>
            <a:off x="-9029367" y="3676573"/>
            <a:ext cx="4822722" cy="523220"/>
          </a:xfrm>
          <a:prstGeom prst="rect">
            <a:avLst/>
          </a:prstGeom>
          <a:noFill/>
        </p:spPr>
        <p:txBody>
          <a:bodyPr wrap="square" rtlCol="0">
            <a:spAutoFit/>
          </a:bodyPr>
          <a:lstStyle/>
          <a:p>
            <a:pPr algn="ctr"/>
            <a:r>
              <a:rPr lang="en-US" sz="2800" dirty="0"/>
              <a:t>Brooke Foss Westcott</a:t>
            </a:r>
          </a:p>
        </p:txBody>
      </p:sp>
      <p:sp>
        <p:nvSpPr>
          <p:cNvPr id="32" name="TextBox 31">
            <a:extLst>
              <a:ext uri="{FF2B5EF4-FFF2-40B4-BE49-F238E27FC236}">
                <a16:creationId xmlns:a16="http://schemas.microsoft.com/office/drawing/2014/main" id="{F95A8367-49F0-74A9-4DBF-7CC920ACF7F3}"/>
              </a:ext>
            </a:extLst>
          </p:cNvPr>
          <p:cNvSpPr txBox="1"/>
          <p:nvPr/>
        </p:nvSpPr>
        <p:spPr>
          <a:xfrm>
            <a:off x="-12714005" y="4392669"/>
            <a:ext cx="12192000" cy="1384995"/>
          </a:xfrm>
          <a:prstGeom prst="rect">
            <a:avLst/>
          </a:prstGeom>
          <a:noFill/>
        </p:spPr>
        <p:txBody>
          <a:bodyPr wrap="square" rtlCol="0">
            <a:spAutoFit/>
          </a:bodyPr>
          <a:lstStyle/>
          <a:p>
            <a:pPr algn="ctr"/>
            <a:r>
              <a:rPr lang="en-US" sz="2800" dirty="0"/>
              <a:t>Said that the formulation of the canon was one of “the first instinctive acts of the Christian society, resting upon the general confession of the Churches and not upon independent opinions of its members” (p. 21)</a:t>
            </a:r>
          </a:p>
        </p:txBody>
      </p:sp>
      <p:sp>
        <p:nvSpPr>
          <p:cNvPr id="33" name="Rectangle 32">
            <a:extLst>
              <a:ext uri="{FF2B5EF4-FFF2-40B4-BE49-F238E27FC236}">
                <a16:creationId xmlns:a16="http://schemas.microsoft.com/office/drawing/2014/main" id="{F69E61B7-BF20-34E0-B8F7-348A4D141CD7}"/>
              </a:ext>
            </a:extLst>
          </p:cNvPr>
          <p:cNvSpPr/>
          <p:nvPr/>
        </p:nvSpPr>
        <p:spPr>
          <a:xfrm rot="16200000">
            <a:off x="-6985755"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ABBEF3DB-90C5-9F79-F175-5881520CBFE0}"/>
              </a:ext>
            </a:extLst>
          </p:cNvPr>
          <p:cNvSpPr txBox="1"/>
          <p:nvPr/>
        </p:nvSpPr>
        <p:spPr>
          <a:xfrm>
            <a:off x="-9928058" y="2423618"/>
            <a:ext cx="6341805" cy="523220"/>
          </a:xfrm>
          <a:prstGeom prst="rect">
            <a:avLst/>
          </a:prstGeom>
          <a:noFill/>
        </p:spPr>
        <p:txBody>
          <a:bodyPr wrap="square" rtlCol="0">
            <a:spAutoFit/>
          </a:bodyPr>
          <a:lstStyle/>
          <a:p>
            <a:pPr algn="ctr"/>
            <a:r>
              <a:rPr lang="en-US" sz="2800" b="1" dirty="0"/>
              <a:t>1874-1877</a:t>
            </a:r>
          </a:p>
        </p:txBody>
      </p:sp>
      <p:sp>
        <p:nvSpPr>
          <p:cNvPr id="35" name="TextBox 34">
            <a:extLst>
              <a:ext uri="{FF2B5EF4-FFF2-40B4-BE49-F238E27FC236}">
                <a16:creationId xmlns:a16="http://schemas.microsoft.com/office/drawing/2014/main" id="{8D97C1A0-1FD7-5770-75EA-9198D9C4F293}"/>
              </a:ext>
            </a:extLst>
          </p:cNvPr>
          <p:cNvSpPr txBox="1"/>
          <p:nvPr/>
        </p:nvSpPr>
        <p:spPr>
          <a:xfrm>
            <a:off x="-9168517" y="3676573"/>
            <a:ext cx="4822722" cy="523220"/>
          </a:xfrm>
          <a:prstGeom prst="rect">
            <a:avLst/>
          </a:prstGeom>
          <a:noFill/>
        </p:spPr>
        <p:txBody>
          <a:bodyPr wrap="square" rtlCol="0">
            <a:spAutoFit/>
          </a:bodyPr>
          <a:lstStyle/>
          <a:p>
            <a:pPr algn="ctr"/>
            <a:r>
              <a:rPr lang="en-US" sz="2800" dirty="0"/>
              <a:t>Walter R. Cassels</a:t>
            </a:r>
          </a:p>
        </p:txBody>
      </p:sp>
      <p:sp>
        <p:nvSpPr>
          <p:cNvPr id="36" name="TextBox 35">
            <a:extLst>
              <a:ext uri="{FF2B5EF4-FFF2-40B4-BE49-F238E27FC236}">
                <a16:creationId xmlns:a16="http://schemas.microsoft.com/office/drawing/2014/main" id="{6C8FC7C8-19DB-FDC3-504B-AFA7063D867B}"/>
              </a:ext>
            </a:extLst>
          </p:cNvPr>
          <p:cNvSpPr txBox="1"/>
          <p:nvPr/>
        </p:nvSpPr>
        <p:spPr>
          <a:xfrm>
            <a:off x="-12853155" y="4392669"/>
            <a:ext cx="12192000" cy="2246769"/>
          </a:xfrm>
          <a:prstGeom prst="rect">
            <a:avLst/>
          </a:prstGeom>
          <a:noFill/>
        </p:spPr>
        <p:txBody>
          <a:bodyPr wrap="square" rtlCol="0">
            <a:spAutoFit/>
          </a:bodyPr>
          <a:lstStyle/>
          <a:p>
            <a:pPr algn="ctr"/>
            <a:r>
              <a:rPr lang="en-US" sz="2800" dirty="0"/>
              <a:t>Wrote an anonymous work in three volumes which revived some of the old arguments of 18</a:t>
            </a:r>
            <a:r>
              <a:rPr lang="en-US" sz="2800" baseline="30000" dirty="0"/>
              <a:t>th</a:t>
            </a:r>
            <a:r>
              <a:rPr lang="en-US" sz="2800" dirty="0"/>
              <a:t> century Deism. His “purpose was to show from patristic testimony that the canonical Gospels are so far removed in time from the events they record that they lose all competence as witnesses to the reality of the miraculous” (p. 22)</a:t>
            </a:r>
          </a:p>
        </p:txBody>
      </p:sp>
      <p:sp>
        <p:nvSpPr>
          <p:cNvPr id="37" name="Rectangle 36">
            <a:extLst>
              <a:ext uri="{FF2B5EF4-FFF2-40B4-BE49-F238E27FC236}">
                <a16:creationId xmlns:a16="http://schemas.microsoft.com/office/drawing/2014/main" id="{29442885-6184-772C-FAD5-73E946151EE9}"/>
              </a:ext>
            </a:extLst>
          </p:cNvPr>
          <p:cNvSpPr/>
          <p:nvPr/>
        </p:nvSpPr>
        <p:spPr>
          <a:xfrm rot="16200000">
            <a:off x="357592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099ACE2-8FB8-1DBF-F593-BD08B234A11A}"/>
              </a:ext>
            </a:extLst>
          </p:cNvPr>
          <p:cNvSpPr txBox="1"/>
          <p:nvPr/>
        </p:nvSpPr>
        <p:spPr>
          <a:xfrm>
            <a:off x="-9874071" y="2423618"/>
            <a:ext cx="6341805" cy="523220"/>
          </a:xfrm>
          <a:prstGeom prst="rect">
            <a:avLst/>
          </a:prstGeom>
          <a:noFill/>
        </p:spPr>
        <p:txBody>
          <a:bodyPr wrap="square" rtlCol="0">
            <a:spAutoFit/>
          </a:bodyPr>
          <a:lstStyle/>
          <a:p>
            <a:pPr algn="ctr"/>
            <a:r>
              <a:rPr lang="en-US" sz="2800" b="1" dirty="0"/>
              <a:t>1894</a:t>
            </a:r>
          </a:p>
        </p:txBody>
      </p:sp>
      <p:sp>
        <p:nvSpPr>
          <p:cNvPr id="39" name="TextBox 38">
            <a:extLst>
              <a:ext uri="{FF2B5EF4-FFF2-40B4-BE49-F238E27FC236}">
                <a16:creationId xmlns:a16="http://schemas.microsoft.com/office/drawing/2014/main" id="{FBFE9798-9976-1F21-E117-3340C683CDB7}"/>
              </a:ext>
            </a:extLst>
          </p:cNvPr>
          <p:cNvSpPr txBox="1"/>
          <p:nvPr/>
        </p:nvSpPr>
        <p:spPr>
          <a:xfrm>
            <a:off x="-9114530" y="3676573"/>
            <a:ext cx="4822722" cy="523220"/>
          </a:xfrm>
          <a:prstGeom prst="rect">
            <a:avLst/>
          </a:prstGeom>
          <a:noFill/>
        </p:spPr>
        <p:txBody>
          <a:bodyPr wrap="square" rtlCol="0">
            <a:spAutoFit/>
          </a:bodyPr>
          <a:lstStyle/>
          <a:p>
            <a:pPr algn="ctr"/>
            <a:r>
              <a:rPr lang="en-US" sz="2800" dirty="0"/>
              <a:t>Adolf Jülicher</a:t>
            </a:r>
          </a:p>
        </p:txBody>
      </p:sp>
      <p:sp>
        <p:nvSpPr>
          <p:cNvPr id="40" name="TextBox 39">
            <a:extLst>
              <a:ext uri="{FF2B5EF4-FFF2-40B4-BE49-F238E27FC236}">
                <a16:creationId xmlns:a16="http://schemas.microsoft.com/office/drawing/2014/main" id="{49E605E5-E217-D39A-4E2D-376F6A5B7313}"/>
              </a:ext>
            </a:extLst>
          </p:cNvPr>
          <p:cNvSpPr txBox="1"/>
          <p:nvPr/>
        </p:nvSpPr>
        <p:spPr>
          <a:xfrm>
            <a:off x="-12799168" y="4392669"/>
            <a:ext cx="12192000" cy="1815882"/>
          </a:xfrm>
          <a:prstGeom prst="rect">
            <a:avLst/>
          </a:prstGeom>
          <a:noFill/>
        </p:spPr>
        <p:txBody>
          <a:bodyPr wrap="square" rtlCol="0">
            <a:spAutoFit/>
          </a:bodyPr>
          <a:lstStyle/>
          <a:p>
            <a:pPr algn="ctr"/>
            <a:r>
              <a:rPr lang="en-US" sz="2800" dirty="0"/>
              <a:t>“Said that the public reading…of Christian books and epistles in a liturgical setting, along with Old Testament books already regarded as authoritative, that was chiefly responsible for their being recognized eventually as canonical Scripture” (p. 23)</a:t>
            </a:r>
          </a:p>
        </p:txBody>
      </p:sp>
      <p:sp>
        <p:nvSpPr>
          <p:cNvPr id="41" name="Rectangle 40">
            <a:extLst>
              <a:ext uri="{FF2B5EF4-FFF2-40B4-BE49-F238E27FC236}">
                <a16:creationId xmlns:a16="http://schemas.microsoft.com/office/drawing/2014/main" id="{5302CE01-03CC-06BD-FC33-115174F87134}"/>
              </a:ext>
            </a:extLst>
          </p:cNvPr>
          <p:cNvSpPr/>
          <p:nvPr/>
        </p:nvSpPr>
        <p:spPr>
          <a:xfrm rot="16200000">
            <a:off x="-7042304"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9EC037C-8B7C-E8D5-C001-BB457424DF63}"/>
              </a:ext>
            </a:extLst>
          </p:cNvPr>
          <p:cNvSpPr txBox="1"/>
          <p:nvPr/>
        </p:nvSpPr>
        <p:spPr>
          <a:xfrm>
            <a:off x="624616" y="2423618"/>
            <a:ext cx="6341805" cy="523220"/>
          </a:xfrm>
          <a:prstGeom prst="rect">
            <a:avLst/>
          </a:prstGeom>
          <a:noFill/>
        </p:spPr>
        <p:txBody>
          <a:bodyPr wrap="square" rtlCol="0">
            <a:spAutoFit/>
          </a:bodyPr>
          <a:lstStyle/>
          <a:p>
            <a:pPr algn="ctr"/>
            <a:r>
              <a:rPr lang="en-US" sz="2800" b="1" dirty="0"/>
              <a:t>1888-1901</a:t>
            </a:r>
          </a:p>
        </p:txBody>
      </p:sp>
      <p:sp>
        <p:nvSpPr>
          <p:cNvPr id="43" name="TextBox 42">
            <a:extLst>
              <a:ext uri="{FF2B5EF4-FFF2-40B4-BE49-F238E27FC236}">
                <a16:creationId xmlns:a16="http://schemas.microsoft.com/office/drawing/2014/main" id="{00F06215-DFEE-602D-4A71-09E83EC4D22C}"/>
              </a:ext>
            </a:extLst>
          </p:cNvPr>
          <p:cNvSpPr txBox="1"/>
          <p:nvPr/>
        </p:nvSpPr>
        <p:spPr>
          <a:xfrm>
            <a:off x="1261709" y="3676573"/>
            <a:ext cx="4822722" cy="523220"/>
          </a:xfrm>
          <a:prstGeom prst="rect">
            <a:avLst/>
          </a:prstGeom>
          <a:noFill/>
        </p:spPr>
        <p:txBody>
          <a:bodyPr wrap="square" rtlCol="0">
            <a:spAutoFit/>
          </a:bodyPr>
          <a:lstStyle/>
          <a:p>
            <a:pPr algn="ctr"/>
            <a:r>
              <a:rPr lang="en-US" sz="2800" dirty="0"/>
              <a:t>Theodor Zahn</a:t>
            </a:r>
          </a:p>
        </p:txBody>
      </p:sp>
      <p:sp>
        <p:nvSpPr>
          <p:cNvPr id="44" name="TextBox 43">
            <a:extLst>
              <a:ext uri="{FF2B5EF4-FFF2-40B4-BE49-F238E27FC236}">
                <a16:creationId xmlns:a16="http://schemas.microsoft.com/office/drawing/2014/main" id="{C12DF96F-E237-7FA6-B28D-E417D75E3FA0}"/>
              </a:ext>
            </a:extLst>
          </p:cNvPr>
          <p:cNvSpPr txBox="1"/>
          <p:nvPr/>
        </p:nvSpPr>
        <p:spPr>
          <a:xfrm>
            <a:off x="-12909704" y="4392669"/>
            <a:ext cx="12192000" cy="954107"/>
          </a:xfrm>
          <a:prstGeom prst="rect">
            <a:avLst/>
          </a:prstGeom>
          <a:noFill/>
        </p:spPr>
        <p:txBody>
          <a:bodyPr wrap="square" rtlCol="0">
            <a:spAutoFit/>
          </a:bodyPr>
          <a:lstStyle/>
          <a:p>
            <a:pPr algn="ctr"/>
            <a:r>
              <a:rPr lang="en-US" sz="2800" dirty="0"/>
              <a:t>Believed the canon “came into existence by the end of the first century” (p. 23-24)</a:t>
            </a:r>
          </a:p>
        </p:txBody>
      </p:sp>
      <p:sp>
        <p:nvSpPr>
          <p:cNvPr id="45" name="Rectangle 44">
            <a:extLst>
              <a:ext uri="{FF2B5EF4-FFF2-40B4-BE49-F238E27FC236}">
                <a16:creationId xmlns:a16="http://schemas.microsoft.com/office/drawing/2014/main" id="{AC2F2156-62EA-8A69-70AB-39A2EBA74EA7}"/>
              </a:ext>
            </a:extLst>
          </p:cNvPr>
          <p:cNvSpPr/>
          <p:nvPr/>
        </p:nvSpPr>
        <p:spPr>
          <a:xfrm rot="16200000">
            <a:off x="8287869"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1AEB023-0DC1-9ED0-75A8-F3821D77F55E}"/>
              </a:ext>
            </a:extLst>
          </p:cNvPr>
          <p:cNvSpPr txBox="1"/>
          <p:nvPr/>
        </p:nvSpPr>
        <p:spPr>
          <a:xfrm>
            <a:off x="5345566"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078DD136-C213-29BC-927A-00217183D830}"/>
              </a:ext>
            </a:extLst>
          </p:cNvPr>
          <p:cNvSpPr txBox="1"/>
          <p:nvPr/>
        </p:nvSpPr>
        <p:spPr>
          <a:xfrm>
            <a:off x="6105107" y="3676573"/>
            <a:ext cx="4822722" cy="523220"/>
          </a:xfrm>
          <a:prstGeom prst="rect">
            <a:avLst/>
          </a:prstGeom>
          <a:noFill/>
        </p:spPr>
        <p:txBody>
          <a:bodyPr wrap="square" rtlCol="0">
            <a:spAutoFit/>
          </a:bodyPr>
          <a:lstStyle/>
          <a:p>
            <a:pPr algn="ctr"/>
            <a:r>
              <a:rPr lang="en-US" sz="2800" dirty="0"/>
              <a:t>Adolf Harnack</a:t>
            </a:r>
          </a:p>
        </p:txBody>
      </p:sp>
      <p:sp>
        <p:nvSpPr>
          <p:cNvPr id="49" name="TextBox 48">
            <a:extLst>
              <a:ext uri="{FF2B5EF4-FFF2-40B4-BE49-F238E27FC236}">
                <a16:creationId xmlns:a16="http://schemas.microsoft.com/office/drawing/2014/main" id="{9B51197A-42A2-EAF0-EFCF-67DAF9935802}"/>
              </a:ext>
            </a:extLst>
          </p:cNvPr>
          <p:cNvSpPr txBox="1"/>
          <p:nvPr/>
        </p:nvSpPr>
        <p:spPr>
          <a:xfrm>
            <a:off x="-1" y="4199916"/>
            <a:ext cx="6127007" cy="2677656"/>
          </a:xfrm>
          <a:prstGeom prst="rect">
            <a:avLst/>
          </a:prstGeom>
          <a:noFill/>
        </p:spPr>
        <p:txBody>
          <a:bodyPr wrap="square" rtlCol="0">
            <a:spAutoFit/>
          </a:bodyPr>
          <a:lstStyle/>
          <a:p>
            <a:pPr algn="ctr"/>
            <a:r>
              <a:rPr lang="en-US" sz="2800" dirty="0"/>
              <a:t>“He was satisfied if, for instance, the four Gospels are an authority because of the authority of the Lord’s sayings which they contain. He could…speak of the existence of a NT ‘canon’ [at the close of the 1st century]: (p. 24)</a:t>
            </a:r>
          </a:p>
        </p:txBody>
      </p:sp>
      <p:sp>
        <p:nvSpPr>
          <p:cNvPr id="50" name="TextBox 49">
            <a:extLst>
              <a:ext uri="{FF2B5EF4-FFF2-40B4-BE49-F238E27FC236}">
                <a16:creationId xmlns:a16="http://schemas.microsoft.com/office/drawing/2014/main" id="{39E944AF-EBA5-0367-1162-84E1CB06AB3D}"/>
              </a:ext>
            </a:extLst>
          </p:cNvPr>
          <p:cNvSpPr txBox="1"/>
          <p:nvPr/>
        </p:nvSpPr>
        <p:spPr>
          <a:xfrm>
            <a:off x="6092653" y="4207794"/>
            <a:ext cx="6096000" cy="2677656"/>
          </a:xfrm>
          <a:prstGeom prst="rect">
            <a:avLst/>
          </a:prstGeom>
          <a:noFill/>
        </p:spPr>
        <p:txBody>
          <a:bodyPr wrap="square" rtlCol="0">
            <a:spAutoFit/>
          </a:bodyPr>
          <a:lstStyle/>
          <a:p>
            <a:pPr algn="ctr"/>
            <a:r>
              <a:rPr lang="en-US" sz="2800" dirty="0"/>
              <a:t>“New Testament canon is a collection of books that possessed authority </a:t>
            </a:r>
            <a:r>
              <a:rPr lang="en-US" sz="2800" i="1" dirty="0"/>
              <a:t>because</a:t>
            </a:r>
            <a:r>
              <a:rPr lang="en-US" sz="2800" dirty="0"/>
              <a:t> they were regarded as holy Scripture. Accordingly he placed the rise of the New Testament canon at the close of the 2</a:t>
            </a:r>
            <a:r>
              <a:rPr lang="en-US" sz="2800" baseline="30000" dirty="0"/>
              <a:t>nd</a:t>
            </a:r>
            <a:r>
              <a:rPr lang="en-US" sz="2800" dirty="0"/>
              <a:t>  century” (p. 24)</a:t>
            </a:r>
          </a:p>
        </p:txBody>
      </p:sp>
    </p:spTree>
    <p:extLst>
      <p:ext uri="{BB962C8B-B14F-4D97-AF65-F5344CB8AC3E}">
        <p14:creationId xmlns:p14="http://schemas.microsoft.com/office/powerpoint/2010/main" val="304986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fade">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50"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C37D4-0D15-F842-8EC9-FE03792C5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E7D60-BBA3-5E8E-1EFA-5AB4B8065C05}"/>
              </a:ext>
            </a:extLst>
          </p:cNvPr>
          <p:cNvSpPr>
            <a:spLocks noGrp="1"/>
          </p:cNvSpPr>
          <p:nvPr>
            <p:ph type="ctrTitle"/>
          </p:nvPr>
        </p:nvSpPr>
        <p:spPr>
          <a:xfrm>
            <a:off x="0" y="1435100"/>
            <a:ext cx="12192000" cy="2387600"/>
          </a:xfrm>
        </p:spPr>
        <p:txBody>
          <a:bodyPr>
            <a:normAutofit fontScale="90000"/>
          </a:bodyPr>
          <a:lstStyle/>
          <a:p>
            <a:pPr algn="ctr"/>
            <a:r>
              <a:rPr lang="en-US" b="1" dirty="0"/>
              <a:t>Class 3:</a:t>
            </a:r>
            <a:br>
              <a:rPr lang="en-US" b="1" dirty="0"/>
            </a:br>
            <a:r>
              <a:rPr lang="en-US" dirty="0"/>
              <a:t>History of Canon Discussion (20</a:t>
            </a:r>
            <a:r>
              <a:rPr lang="en-US" baseline="30000" dirty="0"/>
              <a:t>th</a:t>
            </a:r>
            <a:r>
              <a:rPr lang="en-US" dirty="0"/>
              <a:t> century)</a:t>
            </a:r>
          </a:p>
        </p:txBody>
      </p:sp>
      <p:sp>
        <p:nvSpPr>
          <p:cNvPr id="3" name="Subtitle 2">
            <a:extLst>
              <a:ext uri="{FF2B5EF4-FFF2-40B4-BE49-F238E27FC236}">
                <a16:creationId xmlns:a16="http://schemas.microsoft.com/office/drawing/2014/main" id="{A8AD341C-DB6A-BD06-914A-6E0B5BC262F4}"/>
              </a:ext>
            </a:extLst>
          </p:cNvPr>
          <p:cNvSpPr>
            <a:spLocks noGrp="1"/>
          </p:cNvSpPr>
          <p:nvPr>
            <p:ph type="subTitle" idx="1"/>
          </p:nvPr>
        </p:nvSpPr>
        <p:spPr>
          <a:xfrm>
            <a:off x="1524000" y="3924300"/>
            <a:ext cx="9144000" cy="1651000"/>
          </a:xfrm>
        </p:spPr>
        <p:txBody>
          <a:bodyPr/>
          <a:lstStyle/>
          <a:p>
            <a:pPr algn="ctr"/>
            <a:r>
              <a:rPr lang="en-US" dirty="0"/>
              <a:t>Based on B. Metzger, </a:t>
            </a:r>
            <a:r>
              <a:rPr lang="en-US" i="1" dirty="0"/>
              <a:t>The Canon of the New Testament: Its Origin, Development, and Significance, </a:t>
            </a:r>
            <a:r>
              <a:rPr lang="en-US" dirty="0"/>
              <a:t>Oxford (1987)</a:t>
            </a:r>
          </a:p>
        </p:txBody>
      </p:sp>
    </p:spTree>
    <p:extLst>
      <p:ext uri="{BB962C8B-B14F-4D97-AF65-F5344CB8AC3E}">
        <p14:creationId xmlns:p14="http://schemas.microsoft.com/office/powerpoint/2010/main" val="28654004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43B76-8A7B-9F52-DA67-CC18C4C37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2EE7F-41AC-375C-8B95-2F9F1B10A982}"/>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F7502F2B-BAA0-62CE-3451-3C6FC1F640B3}"/>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BBAC2EE-C07B-049E-93B1-5C37D3C87F70}"/>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F8F8ECE-5B56-1C80-91E9-17768D830F15}"/>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7220F52E-A39C-6159-A6DF-E89E9E0CC451}"/>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63EEA6B1-4AA9-94F3-5B21-EE14A2C49538}"/>
              </a:ext>
            </a:extLst>
          </p:cNvPr>
          <p:cNvSpPr txBox="1"/>
          <p:nvPr/>
        </p:nvSpPr>
        <p:spPr>
          <a:xfrm>
            <a:off x="0"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Tree>
    <p:extLst>
      <p:ext uri="{BB962C8B-B14F-4D97-AF65-F5344CB8AC3E}">
        <p14:creationId xmlns:p14="http://schemas.microsoft.com/office/powerpoint/2010/main" val="2119144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1BCE-2498-2B88-EC3A-79CD78933F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1993-B9F8-62A1-DA7B-B0DF1E43BABD}"/>
              </a:ext>
            </a:extLst>
          </p:cNvPr>
          <p:cNvSpPr>
            <a:spLocks noGrp="1"/>
          </p:cNvSpPr>
          <p:nvPr>
            <p:ph type="title"/>
          </p:nvPr>
        </p:nvSpPr>
        <p:spPr/>
        <p:txBody>
          <a:bodyPr/>
          <a:lstStyle/>
          <a:p>
            <a:r>
              <a:rPr lang="en-US" dirty="0"/>
              <a:t>History of Canon Discussion</a:t>
            </a:r>
          </a:p>
        </p:txBody>
      </p:sp>
      <p:sp>
        <p:nvSpPr>
          <p:cNvPr id="6" name="Rectangle 5">
            <a:extLst>
              <a:ext uri="{FF2B5EF4-FFF2-40B4-BE49-F238E27FC236}">
                <a16:creationId xmlns:a16="http://schemas.microsoft.com/office/drawing/2014/main" id="{0A2FF3CC-C159-1BC2-A2AD-8FE798650BD4}"/>
              </a:ext>
            </a:extLst>
          </p:cNvPr>
          <p:cNvSpPr/>
          <p:nvPr/>
        </p:nvSpPr>
        <p:spPr>
          <a:xfrm>
            <a:off x="-1445103" y="3404039"/>
            <a:ext cx="1536192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B5B734BA-4569-5FA5-FD72-1EA1CAFDDF55}"/>
              </a:ext>
            </a:extLst>
          </p:cNvPr>
          <p:cNvSpPr/>
          <p:nvPr/>
        </p:nvSpPr>
        <p:spPr>
          <a:xfrm rot="16200000">
            <a:off x="-6438251"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172078D6-0843-6F7F-69EF-5ABD3608D1D7}"/>
              </a:ext>
            </a:extLst>
          </p:cNvPr>
          <p:cNvSpPr txBox="1"/>
          <p:nvPr/>
        </p:nvSpPr>
        <p:spPr>
          <a:xfrm>
            <a:off x="-9380554" y="2423618"/>
            <a:ext cx="6341805" cy="523220"/>
          </a:xfrm>
          <a:prstGeom prst="rect">
            <a:avLst/>
          </a:prstGeom>
          <a:noFill/>
        </p:spPr>
        <p:txBody>
          <a:bodyPr wrap="square" rtlCol="0">
            <a:spAutoFit/>
          </a:bodyPr>
          <a:lstStyle/>
          <a:p>
            <a:pPr algn="ctr"/>
            <a:r>
              <a:rPr lang="en-US" sz="2800" b="1" dirty="0"/>
              <a:t>1889</a:t>
            </a:r>
          </a:p>
        </p:txBody>
      </p:sp>
      <p:sp>
        <p:nvSpPr>
          <p:cNvPr id="47" name="TextBox 46">
            <a:extLst>
              <a:ext uri="{FF2B5EF4-FFF2-40B4-BE49-F238E27FC236}">
                <a16:creationId xmlns:a16="http://schemas.microsoft.com/office/drawing/2014/main" id="{94788DEA-8521-3888-856F-4C4A29BC074B}"/>
              </a:ext>
            </a:extLst>
          </p:cNvPr>
          <p:cNvSpPr txBox="1"/>
          <p:nvPr/>
        </p:nvSpPr>
        <p:spPr>
          <a:xfrm>
            <a:off x="-8621013" y="3676573"/>
            <a:ext cx="4822722" cy="523220"/>
          </a:xfrm>
          <a:prstGeom prst="rect">
            <a:avLst/>
          </a:prstGeom>
          <a:noFill/>
        </p:spPr>
        <p:txBody>
          <a:bodyPr wrap="square" rtlCol="0">
            <a:spAutoFit/>
          </a:bodyPr>
          <a:lstStyle/>
          <a:p>
            <a:pPr algn="ctr"/>
            <a:r>
              <a:rPr lang="en-US" sz="2800" dirty="0"/>
              <a:t>Adolf Harnack</a:t>
            </a:r>
          </a:p>
        </p:txBody>
      </p:sp>
      <p:sp>
        <p:nvSpPr>
          <p:cNvPr id="48" name="TextBox 47">
            <a:extLst>
              <a:ext uri="{FF2B5EF4-FFF2-40B4-BE49-F238E27FC236}">
                <a16:creationId xmlns:a16="http://schemas.microsoft.com/office/drawing/2014/main" id="{3494B2DB-AAA6-6755-CC2F-2B0580CD69D8}"/>
              </a:ext>
            </a:extLst>
          </p:cNvPr>
          <p:cNvSpPr txBox="1"/>
          <p:nvPr/>
        </p:nvSpPr>
        <p:spPr>
          <a:xfrm>
            <a:off x="-12305651" y="4348065"/>
            <a:ext cx="12192000" cy="2246769"/>
          </a:xfrm>
          <a:prstGeom prst="rect">
            <a:avLst/>
          </a:prstGeom>
          <a:noFill/>
        </p:spPr>
        <p:txBody>
          <a:bodyPr wrap="square" rtlCol="0">
            <a:spAutoFit/>
          </a:bodyPr>
          <a:lstStyle/>
          <a:p>
            <a:pPr marL="457200" indent="-457200" algn="ctr">
              <a:buFontTx/>
              <a:buChar char="-"/>
            </a:pPr>
            <a:r>
              <a:rPr lang="en-US" sz="2800" dirty="0"/>
              <a:t>Chief rival against Zahn</a:t>
            </a:r>
          </a:p>
          <a:p>
            <a:pPr marL="457200" indent="-457200" algn="ctr">
              <a:buFontTx/>
              <a:buChar char="-"/>
            </a:pPr>
            <a:r>
              <a:rPr lang="en-US" sz="2800" dirty="0"/>
              <a:t>Said that the canon was one of the three barriers which the Church created to defend against heresies such as Gnosticism (the other two were the creed and the bishopric)</a:t>
            </a:r>
          </a:p>
          <a:p>
            <a:pPr marL="457200" indent="-457200" algn="ctr">
              <a:buFontTx/>
              <a:buChar char="-"/>
            </a:pPr>
            <a:r>
              <a:rPr lang="en-US" sz="2800" dirty="0"/>
              <a:t>The process was a “competition” of books and the most helpful survived</a:t>
            </a:r>
          </a:p>
        </p:txBody>
      </p:sp>
      <p:sp>
        <p:nvSpPr>
          <p:cNvPr id="3" name="Rectangle 2">
            <a:extLst>
              <a:ext uri="{FF2B5EF4-FFF2-40B4-BE49-F238E27FC236}">
                <a16:creationId xmlns:a16="http://schemas.microsoft.com/office/drawing/2014/main" id="{B51A10D6-92CA-A945-18B9-234E9E375D71}"/>
              </a:ext>
            </a:extLst>
          </p:cNvPr>
          <p:cNvSpPr/>
          <p:nvPr/>
        </p:nvSpPr>
        <p:spPr>
          <a:xfrm rot="16200000">
            <a:off x="5867400" y="3097407"/>
            <a:ext cx="457200" cy="12612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32AFAE3-910A-D991-C1B8-CA20BE9AF800}"/>
              </a:ext>
            </a:extLst>
          </p:cNvPr>
          <p:cNvSpPr txBox="1"/>
          <p:nvPr/>
        </p:nvSpPr>
        <p:spPr>
          <a:xfrm>
            <a:off x="2925097" y="2423618"/>
            <a:ext cx="6341805" cy="523220"/>
          </a:xfrm>
          <a:prstGeom prst="rect">
            <a:avLst/>
          </a:prstGeom>
          <a:noFill/>
        </p:spPr>
        <p:txBody>
          <a:bodyPr wrap="square" rtlCol="0">
            <a:spAutoFit/>
          </a:bodyPr>
          <a:lstStyle/>
          <a:p>
            <a:pPr algn="ctr"/>
            <a:r>
              <a:rPr lang="en-US" sz="2800" b="1" dirty="0"/>
              <a:t>?</a:t>
            </a:r>
          </a:p>
        </p:txBody>
      </p:sp>
      <p:sp>
        <p:nvSpPr>
          <p:cNvPr id="5" name="TextBox 4">
            <a:extLst>
              <a:ext uri="{FF2B5EF4-FFF2-40B4-BE49-F238E27FC236}">
                <a16:creationId xmlns:a16="http://schemas.microsoft.com/office/drawing/2014/main" id="{A9B9A53E-E6FF-B50C-471C-B680F3942510}"/>
              </a:ext>
            </a:extLst>
          </p:cNvPr>
          <p:cNvSpPr txBox="1"/>
          <p:nvPr/>
        </p:nvSpPr>
        <p:spPr>
          <a:xfrm>
            <a:off x="3684638" y="3676573"/>
            <a:ext cx="4822722" cy="523220"/>
          </a:xfrm>
          <a:prstGeom prst="rect">
            <a:avLst/>
          </a:prstGeom>
          <a:noFill/>
        </p:spPr>
        <p:txBody>
          <a:bodyPr wrap="square" rtlCol="0">
            <a:spAutoFit/>
          </a:bodyPr>
          <a:lstStyle/>
          <a:p>
            <a:pPr algn="ctr"/>
            <a:r>
              <a:rPr lang="en-US" sz="2800" dirty="0"/>
              <a:t>?</a:t>
            </a:r>
          </a:p>
        </p:txBody>
      </p:sp>
      <p:sp>
        <p:nvSpPr>
          <p:cNvPr id="7" name="TextBox 6">
            <a:extLst>
              <a:ext uri="{FF2B5EF4-FFF2-40B4-BE49-F238E27FC236}">
                <a16:creationId xmlns:a16="http://schemas.microsoft.com/office/drawing/2014/main" id="{EE324419-DBD8-7421-0275-A6850CE4E0D0}"/>
              </a:ext>
            </a:extLst>
          </p:cNvPr>
          <p:cNvSpPr txBox="1"/>
          <p:nvPr/>
        </p:nvSpPr>
        <p:spPr>
          <a:xfrm>
            <a:off x="0" y="4348065"/>
            <a:ext cx="12192000" cy="523220"/>
          </a:xfrm>
          <a:prstGeom prst="rect">
            <a:avLst/>
          </a:prstGeom>
          <a:noFill/>
        </p:spPr>
        <p:txBody>
          <a:bodyPr wrap="square" rtlCol="0">
            <a:spAutoFit/>
          </a:bodyPr>
          <a:lstStyle/>
          <a:p>
            <a:pPr algn="ctr"/>
            <a:r>
              <a:rPr lang="en-US" sz="2800" dirty="0"/>
              <a:t>?</a:t>
            </a:r>
          </a:p>
        </p:txBody>
      </p:sp>
    </p:spTree>
    <p:extLst>
      <p:ext uri="{BB962C8B-B14F-4D97-AF65-F5344CB8AC3E}">
        <p14:creationId xmlns:p14="http://schemas.microsoft.com/office/powerpoint/2010/main" val="2327353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309</TotalTime>
  <Words>14568</Words>
  <Application>Microsoft Macintosh PowerPoint</Application>
  <PresentationFormat>Widescreen</PresentationFormat>
  <Paragraphs>595</Paragraphs>
  <Slides>41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Aptos Display</vt:lpstr>
      <vt:lpstr>Arial</vt:lpstr>
      <vt:lpstr>Calibri</vt:lpstr>
      <vt:lpstr>Office Theme</vt:lpstr>
      <vt:lpstr>Class 1: Introduction to the Canon of the NT</vt:lpstr>
      <vt:lpstr>Sources</vt:lpstr>
      <vt:lpstr>What is “the Canon”?</vt:lpstr>
      <vt:lpstr>What is “the Canon”?</vt:lpstr>
      <vt:lpstr>Athanasius (367 AD)</vt:lpstr>
      <vt:lpstr>Athanasius (4th century)</vt:lpstr>
      <vt:lpstr>Athanasius (4th century)</vt:lpstr>
      <vt:lpstr>Athanasius (4th century)</vt:lpstr>
      <vt:lpstr>Athanasius (4th century)</vt:lpstr>
      <vt:lpstr>Athanasius (4th century)</vt:lpstr>
      <vt:lpstr>What is “the Canon”?</vt:lpstr>
      <vt:lpstr>What is “the Canon”?</vt:lpstr>
      <vt:lpstr>What is “the Canon”?</vt:lpstr>
      <vt:lpstr>What is “the Canon”?</vt:lpstr>
      <vt:lpstr>Class 2: History of Canon Discussion (19th century)</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History of Canon Discussion</vt:lpstr>
      <vt:lpstr>Class 3: History of Canon Discussion (20th century)</vt:lpstr>
      <vt:lpstr>History of Canon Discussion</vt:lpstr>
      <vt:lpstr>History of Canon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Josh Haub</dc:creator>
  <cp:lastModifiedBy>Josh Haub</cp:lastModifiedBy>
  <cp:revision>1</cp:revision>
  <dcterms:created xsi:type="dcterms:W3CDTF">2026-10-03T17:49:49Z</dcterms:created>
  <dcterms:modified xsi:type="dcterms:W3CDTF">2026-10-04T00:14:05Z</dcterms:modified>
</cp:coreProperties>
</file>