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307" r:id="rId2"/>
    <p:sldId id="257" r:id="rId3"/>
    <p:sldId id="338" r:id="rId4"/>
    <p:sldId id="258" r:id="rId5"/>
    <p:sldId id="272" r:id="rId6"/>
    <p:sldId id="273" r:id="rId7"/>
    <p:sldId id="274" r:id="rId8"/>
    <p:sldId id="275" r:id="rId9"/>
    <p:sldId id="276" r:id="rId10"/>
    <p:sldId id="277" r:id="rId11"/>
    <p:sldId id="278" r:id="rId12"/>
    <p:sldId id="279" r:id="rId13"/>
    <p:sldId id="280" r:id="rId14"/>
    <p:sldId id="281" r:id="rId15"/>
    <p:sldId id="282" r:id="rId16"/>
    <p:sldId id="328" r:id="rId17"/>
    <p:sldId id="329" r:id="rId18"/>
    <p:sldId id="330" r:id="rId19"/>
    <p:sldId id="411" r:id="rId20"/>
    <p:sldId id="408" r:id="rId21"/>
    <p:sldId id="409" r:id="rId22"/>
    <p:sldId id="414" r:id="rId23"/>
    <p:sldId id="412" r:id="rId24"/>
    <p:sldId id="332" r:id="rId25"/>
    <p:sldId id="308" r:id="rId26"/>
    <p:sldId id="339" r:id="rId27"/>
    <p:sldId id="259" r:id="rId28"/>
    <p:sldId id="283" r:id="rId29"/>
    <p:sldId id="284" r:id="rId30"/>
    <p:sldId id="285" r:id="rId31"/>
    <p:sldId id="286" r:id="rId32"/>
    <p:sldId id="287" r:id="rId33"/>
    <p:sldId id="288" r:id="rId34"/>
    <p:sldId id="290" r:id="rId35"/>
    <p:sldId id="289" r:id="rId36"/>
    <p:sldId id="291" r:id="rId37"/>
    <p:sldId id="292" r:id="rId38"/>
    <p:sldId id="294" r:id="rId39"/>
    <p:sldId id="295" r:id="rId40"/>
    <p:sldId id="296" r:id="rId41"/>
    <p:sldId id="297" r:id="rId42"/>
    <p:sldId id="298" r:id="rId43"/>
    <p:sldId id="300" r:id="rId44"/>
    <p:sldId id="301" r:id="rId45"/>
    <p:sldId id="302" r:id="rId46"/>
    <p:sldId id="303" r:id="rId47"/>
    <p:sldId id="304" r:id="rId48"/>
    <p:sldId id="305" r:id="rId49"/>
    <p:sldId id="306" r:id="rId50"/>
    <p:sldId id="310" r:id="rId51"/>
    <p:sldId id="340" r:id="rId52"/>
    <p:sldId id="311" r:id="rId53"/>
    <p:sldId id="312" r:id="rId54"/>
    <p:sldId id="489" r:id="rId55"/>
    <p:sldId id="341" r:id="rId56"/>
    <p:sldId id="373" r:id="rId57"/>
    <p:sldId id="320" r:id="rId58"/>
    <p:sldId id="506" r:id="rId59"/>
    <p:sldId id="510" r:id="rId60"/>
    <p:sldId id="511" r:id="rId61"/>
    <p:sldId id="512" r:id="rId62"/>
    <p:sldId id="497" r:id="rId63"/>
    <p:sldId id="507" r:id="rId64"/>
    <p:sldId id="508" r:id="rId65"/>
    <p:sldId id="509" r:id="rId66"/>
    <p:sldId id="496" r:id="rId67"/>
    <p:sldId id="334" r:id="rId68"/>
    <p:sldId id="335" r:id="rId69"/>
    <p:sldId id="336" r:id="rId70"/>
    <p:sldId id="337" r:id="rId71"/>
    <p:sldId id="348" r:id="rId72"/>
    <p:sldId id="349" r:id="rId73"/>
    <p:sldId id="350" r:id="rId74"/>
    <p:sldId id="352" r:id="rId75"/>
    <p:sldId id="353" r:id="rId76"/>
    <p:sldId id="354" r:id="rId77"/>
    <p:sldId id="358" r:id="rId78"/>
    <p:sldId id="361" r:id="rId79"/>
    <p:sldId id="362" r:id="rId80"/>
    <p:sldId id="363" r:id="rId81"/>
    <p:sldId id="372" r:id="rId82"/>
    <p:sldId id="366" r:id="rId83"/>
    <p:sldId id="367" r:id="rId84"/>
    <p:sldId id="368" r:id="rId85"/>
    <p:sldId id="369" r:id="rId86"/>
    <p:sldId id="370" r:id="rId87"/>
    <p:sldId id="385" r:id="rId88"/>
    <p:sldId id="384" r:id="rId89"/>
    <p:sldId id="394" r:id="rId90"/>
    <p:sldId id="395" r:id="rId91"/>
    <p:sldId id="371" r:id="rId92"/>
    <p:sldId id="398" r:id="rId93"/>
    <p:sldId id="399" r:id="rId94"/>
    <p:sldId id="400" r:id="rId95"/>
    <p:sldId id="401" r:id="rId96"/>
    <p:sldId id="416" r:id="rId97"/>
    <p:sldId id="468" r:id="rId98"/>
    <p:sldId id="419" r:id="rId99"/>
    <p:sldId id="420" r:id="rId100"/>
    <p:sldId id="429" r:id="rId101"/>
    <p:sldId id="451" r:id="rId102"/>
    <p:sldId id="452" r:id="rId103"/>
    <p:sldId id="428" r:id="rId104"/>
    <p:sldId id="427" r:id="rId105"/>
    <p:sldId id="430" r:id="rId106"/>
    <p:sldId id="477" r:id="rId107"/>
    <p:sldId id="470" r:id="rId108"/>
    <p:sldId id="471" r:id="rId109"/>
    <p:sldId id="472" r:id="rId110"/>
    <p:sldId id="473" r:id="rId111"/>
    <p:sldId id="474" r:id="rId112"/>
    <p:sldId id="475" r:id="rId113"/>
    <p:sldId id="476" r:id="rId114"/>
    <p:sldId id="469" r:id="rId115"/>
    <p:sldId id="484" r:id="rId116"/>
    <p:sldId id="485" r:id="rId117"/>
    <p:sldId id="486" r:id="rId1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lass 1" id="{E489293F-F5AC-7E44-A2D8-B75C05CD0C03}">
          <p14:sldIdLst>
            <p14:sldId id="307"/>
            <p14:sldId id="257"/>
            <p14:sldId id="338"/>
            <p14:sldId id="258"/>
            <p14:sldId id="272"/>
            <p14:sldId id="273"/>
            <p14:sldId id="274"/>
            <p14:sldId id="275"/>
            <p14:sldId id="276"/>
            <p14:sldId id="277"/>
            <p14:sldId id="278"/>
            <p14:sldId id="279"/>
            <p14:sldId id="280"/>
            <p14:sldId id="281"/>
            <p14:sldId id="282"/>
            <p14:sldId id="328"/>
            <p14:sldId id="329"/>
            <p14:sldId id="330"/>
            <p14:sldId id="411"/>
            <p14:sldId id="408"/>
            <p14:sldId id="409"/>
            <p14:sldId id="414"/>
            <p14:sldId id="412"/>
            <p14:sldId id="332"/>
          </p14:sldIdLst>
        </p14:section>
        <p14:section name="Class 2" id="{8D818155-D4B6-E245-9AA1-67AB0038A8FE}">
          <p14:sldIdLst>
            <p14:sldId id="308"/>
            <p14:sldId id="339"/>
            <p14:sldId id="259"/>
            <p14:sldId id="283"/>
            <p14:sldId id="284"/>
            <p14:sldId id="285"/>
            <p14:sldId id="286"/>
            <p14:sldId id="287"/>
            <p14:sldId id="288"/>
            <p14:sldId id="290"/>
            <p14:sldId id="289"/>
            <p14:sldId id="291"/>
            <p14:sldId id="292"/>
            <p14:sldId id="294"/>
            <p14:sldId id="295"/>
            <p14:sldId id="296"/>
            <p14:sldId id="297"/>
            <p14:sldId id="298"/>
            <p14:sldId id="300"/>
            <p14:sldId id="301"/>
            <p14:sldId id="302"/>
            <p14:sldId id="303"/>
            <p14:sldId id="304"/>
            <p14:sldId id="305"/>
            <p14:sldId id="306"/>
          </p14:sldIdLst>
        </p14:section>
        <p14:section name="Class 3" id="{0E02AA3A-22CE-A94E-BA7B-A4D8B556FCC1}">
          <p14:sldIdLst>
            <p14:sldId id="310"/>
            <p14:sldId id="340"/>
            <p14:sldId id="311"/>
            <p14:sldId id="312"/>
          </p14:sldIdLst>
        </p14:section>
        <p14:section name="Class 4" id="{EDBED110-80FB-3744-BDF7-B6A5EC749D96}">
          <p14:sldIdLst>
            <p14:sldId id="489"/>
            <p14:sldId id="341"/>
            <p14:sldId id="373"/>
            <p14:sldId id="320"/>
            <p14:sldId id="506"/>
            <p14:sldId id="510"/>
            <p14:sldId id="511"/>
            <p14:sldId id="512"/>
            <p14:sldId id="497"/>
            <p14:sldId id="507"/>
            <p14:sldId id="508"/>
            <p14:sldId id="509"/>
            <p14:sldId id="496"/>
            <p14:sldId id="334"/>
            <p14:sldId id="335"/>
            <p14:sldId id="336"/>
            <p14:sldId id="337"/>
            <p14:sldId id="348"/>
            <p14:sldId id="349"/>
            <p14:sldId id="350"/>
            <p14:sldId id="352"/>
            <p14:sldId id="353"/>
            <p14:sldId id="354"/>
            <p14:sldId id="358"/>
            <p14:sldId id="361"/>
            <p14:sldId id="362"/>
            <p14:sldId id="363"/>
            <p14:sldId id="372"/>
            <p14:sldId id="366"/>
            <p14:sldId id="367"/>
            <p14:sldId id="368"/>
            <p14:sldId id="369"/>
            <p14:sldId id="370"/>
            <p14:sldId id="385"/>
            <p14:sldId id="384"/>
            <p14:sldId id="394"/>
            <p14:sldId id="395"/>
            <p14:sldId id="371"/>
            <p14:sldId id="398"/>
            <p14:sldId id="399"/>
            <p14:sldId id="400"/>
            <p14:sldId id="401"/>
            <p14:sldId id="416"/>
            <p14:sldId id="468"/>
            <p14:sldId id="419"/>
            <p14:sldId id="420"/>
            <p14:sldId id="429"/>
            <p14:sldId id="451"/>
            <p14:sldId id="452"/>
            <p14:sldId id="428"/>
            <p14:sldId id="427"/>
            <p14:sldId id="430"/>
            <p14:sldId id="477"/>
            <p14:sldId id="470"/>
            <p14:sldId id="471"/>
            <p14:sldId id="472"/>
            <p14:sldId id="473"/>
            <p14:sldId id="474"/>
            <p14:sldId id="475"/>
            <p14:sldId id="476"/>
            <p14:sldId id="469"/>
            <p14:sldId id="484"/>
            <p14:sldId id="485"/>
            <p14:sldId id="486"/>
          </p14:sldIdLst>
        </p14:section>
        <p14:section name="Class 5" id="{1FB347F8-8BCE-134D-A172-A4060013A73C}">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75"/>
  </p:normalViewPr>
  <p:slideViewPr>
    <p:cSldViewPr snapToGrid="0" showGuides="1">
      <p:cViewPr varScale="1">
        <p:scale>
          <a:sx n="107" d="100"/>
          <a:sy n="107" d="100"/>
        </p:scale>
        <p:origin x="176" y="328"/>
      </p:cViewPr>
      <p:guideLst>
        <p:guide orient="horz" pos="2160"/>
        <p:guide pos="3840"/>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notesMaster" Target="notesMasters/notesMaster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3B0B8-2163-C748-A57A-9B2531B34292}" type="datetimeFigureOut">
              <a:rPr lang="en-US" smtClean="0"/>
              <a:t>10/16/26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A3446E-04A9-A74E-980F-977D282969DA}" type="slidenum">
              <a:rPr lang="en-US" smtClean="0"/>
              <a:t>‹#›</a:t>
            </a:fld>
            <a:endParaRPr lang="en-US"/>
          </a:p>
        </p:txBody>
      </p:sp>
    </p:spTree>
    <p:extLst>
      <p:ext uri="{BB962C8B-B14F-4D97-AF65-F5344CB8AC3E}">
        <p14:creationId xmlns:p14="http://schemas.microsoft.com/office/powerpoint/2010/main" val="3760626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F6EA6-45D9-A729-1CB1-C3DAC873E8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566666-A37B-0FDC-356A-D7B2DC0F85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3EA8E9-7E52-DFCC-7714-4656D97B07CE}"/>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43FDA276-41FC-D4CF-A020-08BA79DF8D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26313A-2D4E-5F89-5DE1-DAAAAF52FAA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963346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CCBE6-EBFD-56AD-EEAA-46352B3AB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639E3-DF20-DEC4-6923-7FD40FA68C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8B6D6A-F8FE-3552-11F1-1A70AA4DAE3E}"/>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508FF11F-624F-96D4-5817-224290FDEF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FB5601-A730-B63C-7CB2-EC5DEAB8DDB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77229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FDF76-FC51-711D-B881-F6E99E465A2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46B274-1934-64E3-CFE5-0A2924531D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C2134A-7F1C-B287-4C96-28907CA28585}"/>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4F12A1FB-A459-2BBD-1B6B-247CBE0FFB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47503D-F692-4F1D-135C-8F38F8F78ACF}"/>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1698873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A9D9A-C5B4-76BC-6A2F-20C5F76C3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4A2AEA-F4F7-10E5-586B-0A2B1433E2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D638C8A-108F-E51E-DD4E-3C5A95E3A8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73DFE8-9D78-1F21-7520-FAD5CA2EF496}"/>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6" name="Footer Placeholder 5">
            <a:extLst>
              <a:ext uri="{FF2B5EF4-FFF2-40B4-BE49-F238E27FC236}">
                <a16:creationId xmlns:a16="http://schemas.microsoft.com/office/drawing/2014/main" id="{8808B878-5AAB-784B-F3DD-D294345FC9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E96A0A-3B43-4323-8C02-0CD828942309}"/>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1293192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D8F-D7EB-73B8-390F-2980C38786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400FD3-7CBE-0BF4-1ED7-AD08118332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2C15CB-12D3-2283-691B-C78D8B0C3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68EA59-0E22-90E1-F1E0-E4A3FDE197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4C26CF3-B913-DBA7-E6A6-8F4A134CC8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204332-247A-EF9B-67DB-78FA559F330B}"/>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8" name="Footer Placeholder 7">
            <a:extLst>
              <a:ext uri="{FF2B5EF4-FFF2-40B4-BE49-F238E27FC236}">
                <a16:creationId xmlns:a16="http://schemas.microsoft.com/office/drawing/2014/main" id="{13866BE6-0B66-E23E-6042-7826A7ABF96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D3D48E-5F74-02E0-3B66-950DEA6D2DE7}"/>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3878439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5503B-D8AD-0AF5-4130-C915643D94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F205E97-939B-5335-8C12-B84842F4ACDF}"/>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4" name="Footer Placeholder 3">
            <a:extLst>
              <a:ext uri="{FF2B5EF4-FFF2-40B4-BE49-F238E27FC236}">
                <a16:creationId xmlns:a16="http://schemas.microsoft.com/office/drawing/2014/main" id="{F87F3EE2-1E6C-D8BE-6FEC-DE02148F07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B1149B-1DC4-7CAC-A2EC-37B862A12111}"/>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416190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C2A8BA-ADBD-AB32-C4CD-845E1D80AF88}"/>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3" name="Footer Placeholder 2">
            <a:extLst>
              <a:ext uri="{FF2B5EF4-FFF2-40B4-BE49-F238E27FC236}">
                <a16:creationId xmlns:a16="http://schemas.microsoft.com/office/drawing/2014/main" id="{F2C3492C-D150-EA8D-5DA9-48A629DB9D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37EE3-CC40-2AAD-C84A-CE4C7138D1A4}"/>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4638812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07AF7-6D7F-8415-077D-DECDB9C7AA1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5EA9C5C-192A-C945-A33D-AE8422805C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64808-CC7A-DB0F-B7EC-F128BFB38B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E39916-5999-C752-AA14-EEF4AEE918FC}"/>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6" name="Footer Placeholder 5">
            <a:extLst>
              <a:ext uri="{FF2B5EF4-FFF2-40B4-BE49-F238E27FC236}">
                <a16:creationId xmlns:a16="http://schemas.microsoft.com/office/drawing/2014/main" id="{FDD0D815-89A4-6F73-0D0F-C4F5CD387D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D2BB1-411D-A1B0-E4A8-33152677C96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42194752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8A432-CB42-5882-EB4A-761454E214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8E89769-4443-AE3A-5916-41E9E9E4D726}"/>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524A6F-FD40-69AB-76B6-0C0940DECA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918FC8-CAAB-C7C9-F5CB-62F977B663E3}"/>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6" name="Footer Placeholder 5">
            <a:extLst>
              <a:ext uri="{FF2B5EF4-FFF2-40B4-BE49-F238E27FC236}">
                <a16:creationId xmlns:a16="http://schemas.microsoft.com/office/drawing/2014/main" id="{E7424A12-9A29-89AF-AA54-CAA083351B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F66B31-0370-DECE-3E30-2DC78BD6234E}"/>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274642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B044D-BC30-07BA-9ADB-2DA39B2241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1D7592F-E149-9932-B142-2F74C2EBAA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7996E3-3AED-9036-31C1-AC43949DF6CB}"/>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6FA7BEAC-3C62-0374-69FA-F8AEFB173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E3BAE2-D4ED-ED6F-63A4-652C9E7F179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223690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7FCA466-F394-F557-2BB0-9E7AD5D8000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35D4817-F455-227A-538C-52538440CF5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42FF5F-60F9-3210-539A-94DFCFF57E7F}"/>
              </a:ext>
            </a:extLst>
          </p:cNvPr>
          <p:cNvSpPr>
            <a:spLocks noGrp="1"/>
          </p:cNvSpPr>
          <p:nvPr>
            <p:ph type="dt" sz="half" idx="10"/>
          </p:nvPr>
        </p:nvSpPr>
        <p:spPr/>
        <p:txBody>
          <a:body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435D8299-C4E1-4D44-F5CF-DC99CC4552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C015B4-CAB2-AB9E-FE84-41B2418ED393}"/>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434377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A0B277-B6F0-BF4E-74A6-3559F2C887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870C74E-2E85-BDC8-860A-C9CC202768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ED1397-FC2D-A56C-A320-65A94D5F82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218986-71C6-F44F-84D6-5BF352D2A615}" type="datetimeFigureOut">
              <a:rPr lang="en-US" smtClean="0"/>
              <a:t>10/16/26</a:t>
            </a:fld>
            <a:endParaRPr lang="en-US"/>
          </a:p>
        </p:txBody>
      </p:sp>
      <p:sp>
        <p:nvSpPr>
          <p:cNvPr id="5" name="Footer Placeholder 4">
            <a:extLst>
              <a:ext uri="{FF2B5EF4-FFF2-40B4-BE49-F238E27FC236}">
                <a16:creationId xmlns:a16="http://schemas.microsoft.com/office/drawing/2014/main" id="{98938E00-871F-51F3-43AB-31B04E2004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86A9A96-8EAE-C962-D071-8F4F86FDB5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3333C5-B118-AF41-B00E-BA2813DFDF79}" type="slidenum">
              <a:rPr lang="en-US" smtClean="0"/>
              <a:t>‹#›</a:t>
            </a:fld>
            <a:endParaRPr lang="en-US"/>
          </a:p>
        </p:txBody>
      </p:sp>
    </p:spTree>
    <p:extLst>
      <p:ext uri="{BB962C8B-B14F-4D97-AF65-F5344CB8AC3E}">
        <p14:creationId xmlns:p14="http://schemas.microsoft.com/office/powerpoint/2010/main" val="397668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bible-researcher.com/athanasius.html#note1" TargetMode="External"/><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hyperlink" Target="https://www.youtube.com/watch?v=SUvJQmduAdA&amp;list=PLzytIUBlFDMN62nZiv6cPVBYoBaCPJjQM"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87.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0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A6B18-54BF-D02B-40FE-29F4BD9D3632}"/>
              </a:ext>
            </a:extLst>
          </p:cNvPr>
          <p:cNvSpPr>
            <a:spLocks noGrp="1"/>
          </p:cNvSpPr>
          <p:nvPr>
            <p:ph type="ctrTitle"/>
          </p:nvPr>
        </p:nvSpPr>
        <p:spPr>
          <a:xfrm>
            <a:off x="0" y="1435100"/>
            <a:ext cx="12192000" cy="2387600"/>
          </a:xfrm>
        </p:spPr>
        <p:txBody>
          <a:bodyPr>
            <a:normAutofit/>
          </a:bodyPr>
          <a:lstStyle/>
          <a:p>
            <a:pPr algn="ctr"/>
            <a:r>
              <a:rPr lang="en-US" b="1" dirty="0"/>
              <a:t>Class 1:</a:t>
            </a:r>
            <a:br>
              <a:rPr lang="en-US" b="1" dirty="0"/>
            </a:br>
            <a:r>
              <a:rPr lang="en-US" dirty="0"/>
              <a:t>Introduction to the Canon of the NT</a:t>
            </a:r>
          </a:p>
        </p:txBody>
      </p:sp>
      <p:sp>
        <p:nvSpPr>
          <p:cNvPr id="3" name="Subtitle 2">
            <a:extLst>
              <a:ext uri="{FF2B5EF4-FFF2-40B4-BE49-F238E27FC236}">
                <a16:creationId xmlns:a16="http://schemas.microsoft.com/office/drawing/2014/main" id="{D9D9313E-C278-4E6E-FC8F-D8AC43E96277}"/>
              </a:ext>
            </a:extLst>
          </p:cNvPr>
          <p:cNvSpPr>
            <a:spLocks noGrp="1"/>
          </p:cNvSpPr>
          <p:nvPr>
            <p:ph type="subTitle" idx="1"/>
          </p:nvPr>
        </p:nvSpPr>
        <p:spPr>
          <a:xfrm>
            <a:off x="1524000" y="3924300"/>
            <a:ext cx="9144000" cy="1655762"/>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3881084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BB19B-C0C2-A7C7-CCA5-95D80839905B}"/>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7D840FBF-D71F-6F56-E5F6-09561BC43DCA}"/>
              </a:ext>
            </a:extLst>
          </p:cNvPr>
          <p:cNvSpPr>
            <a:spLocks noGrp="1"/>
          </p:cNvSpPr>
          <p:nvPr>
            <p:ph idx="1"/>
          </p:nvPr>
        </p:nvSpPr>
        <p:spPr>
          <a:xfrm>
            <a:off x="838200" y="1825625"/>
            <a:ext cx="6808049" cy="4351338"/>
          </a:xfrm>
        </p:spPr>
        <p:txBody>
          <a:bodyPr>
            <a:normAutofit/>
          </a:bodyPr>
          <a:lstStyle/>
          <a:p>
            <a:r>
              <a:rPr lang="en-US" dirty="0"/>
              <a:t>Primarily: Bruce Metzger, </a:t>
            </a:r>
            <a:r>
              <a:rPr lang="en-US" i="1" dirty="0"/>
              <a:t>The Canon of the New Testament: Its Origin, Development, and Significance</a:t>
            </a:r>
            <a:r>
              <a:rPr lang="en-US" dirty="0"/>
              <a:t> (Oxford: 1987)</a:t>
            </a:r>
          </a:p>
          <a:p>
            <a:r>
              <a:rPr lang="en-US" dirty="0"/>
              <a:t>This book is considered the standard work on the NT canon</a:t>
            </a:r>
          </a:p>
          <a:p>
            <a:r>
              <a:rPr lang="en-US" dirty="0"/>
              <a:t>Other sources used as well (such as my work on 1 and 2 Peter)</a:t>
            </a:r>
          </a:p>
          <a:p>
            <a:pPr lvl="1"/>
            <a:r>
              <a:rPr lang="en-US" sz="2800" dirty="0"/>
              <a:t>Unless otherwise stated, assume all material is from Metzger</a:t>
            </a:r>
          </a:p>
        </p:txBody>
      </p:sp>
      <p:pic>
        <p:nvPicPr>
          <p:cNvPr id="6" name="Picture 5">
            <a:extLst>
              <a:ext uri="{FF2B5EF4-FFF2-40B4-BE49-F238E27FC236}">
                <a16:creationId xmlns:a16="http://schemas.microsoft.com/office/drawing/2014/main" id="{F941B59B-DE66-368D-2E59-340A568A82C4}"/>
              </a:ext>
            </a:extLst>
          </p:cNvPr>
          <p:cNvPicPr>
            <a:picLocks noChangeAspect="1"/>
          </p:cNvPicPr>
          <p:nvPr/>
        </p:nvPicPr>
        <p:blipFill>
          <a:blip r:embed="rId2"/>
          <a:stretch>
            <a:fillRect/>
          </a:stretch>
        </p:blipFill>
        <p:spPr>
          <a:xfrm>
            <a:off x="7646249" y="1027906"/>
            <a:ext cx="3707551" cy="5745172"/>
          </a:xfrm>
          <a:prstGeom prst="rect">
            <a:avLst/>
          </a:prstGeom>
        </p:spPr>
      </p:pic>
    </p:spTree>
    <p:extLst>
      <p:ext uri="{BB962C8B-B14F-4D97-AF65-F5344CB8AC3E}">
        <p14:creationId xmlns:p14="http://schemas.microsoft.com/office/powerpoint/2010/main" val="1273825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A9B5-54AE-F67C-E945-C767547ED9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3DF9EB-794A-91F1-87CE-7D0200A40A49}"/>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4E102BA4-3B15-976A-6AA2-EF984A80DB69}"/>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8468B139-EFB6-739B-FDF1-C8EAD53D3308}"/>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3711638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54820-7FF7-7975-824D-29561ABA1150}"/>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93CC7EA0-4CAC-B457-FEDE-C1D924A3FA45}"/>
              </a:ext>
            </a:extLst>
          </p:cNvPr>
          <p:cNvSpPr>
            <a:spLocks noGrp="1"/>
          </p:cNvSpPr>
          <p:nvPr>
            <p:ph idx="1"/>
          </p:nvPr>
        </p:nvSpPr>
        <p:spPr>
          <a:xfrm>
            <a:off x="540026" y="2141537"/>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9105C9A-B0A6-D696-DC58-5E5AC44BAF01}"/>
              </a:ext>
            </a:extLst>
          </p:cNvPr>
          <p:cNvSpPr txBox="1"/>
          <p:nvPr/>
        </p:nvSpPr>
        <p:spPr>
          <a:xfrm>
            <a:off x="540026" y="3429000"/>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1CAB52F-7C93-A660-5D14-CC9C66EEA029}"/>
              </a:ext>
            </a:extLst>
          </p:cNvPr>
          <p:cNvSpPr txBox="1"/>
          <p:nvPr/>
        </p:nvSpPr>
        <p:spPr>
          <a:xfrm>
            <a:off x="540026" y="5675769"/>
            <a:ext cx="11651974" cy="954107"/>
          </a:xfrm>
          <a:prstGeom prst="rect">
            <a:avLst/>
          </a:prstGeom>
          <a:noFill/>
        </p:spPr>
        <p:txBody>
          <a:bodyPr wrap="square">
            <a:spAutoFit/>
          </a:bodyPr>
          <a:lstStyle/>
          <a:p>
            <a:r>
              <a:rPr lang="en-US" sz="2800" b="1" dirty="0"/>
              <a:t>                                                       the canon is “a closed list of authoritative, sacred texts”</a:t>
            </a:r>
          </a:p>
        </p:txBody>
      </p:sp>
      <p:sp>
        <p:nvSpPr>
          <p:cNvPr id="8" name="TextBox 7">
            <a:extLst>
              <a:ext uri="{FF2B5EF4-FFF2-40B4-BE49-F238E27FC236}">
                <a16:creationId xmlns:a16="http://schemas.microsoft.com/office/drawing/2014/main" id="{720B2E8E-39DC-358B-8930-1CF337EC89FB}"/>
              </a:ext>
            </a:extLst>
          </p:cNvPr>
          <p:cNvSpPr txBox="1"/>
          <p:nvPr/>
        </p:nvSpPr>
        <p:spPr>
          <a:xfrm>
            <a:off x="540026" y="5675769"/>
            <a:ext cx="10515600"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0" name="TextBox 9">
            <a:extLst>
              <a:ext uri="{FF2B5EF4-FFF2-40B4-BE49-F238E27FC236}">
                <a16:creationId xmlns:a16="http://schemas.microsoft.com/office/drawing/2014/main" id="{1B08AC56-B22B-9C93-9263-57483F2FB7AA}"/>
              </a:ext>
            </a:extLst>
          </p:cNvPr>
          <p:cNvSpPr txBox="1"/>
          <p:nvPr/>
        </p:nvSpPr>
        <p:spPr>
          <a:xfrm>
            <a:off x="2745344" y="6097066"/>
            <a:ext cx="6104964" cy="523220"/>
          </a:xfrm>
          <a:prstGeom prst="rect">
            <a:avLst/>
          </a:prstGeom>
          <a:noFill/>
        </p:spPr>
        <p:txBody>
          <a:bodyPr wrap="square">
            <a:spAutoFit/>
          </a:bodyPr>
          <a:lstStyle/>
          <a:p>
            <a:r>
              <a:rPr lang="en-US" sz="2800" dirty="0"/>
              <a:t>(undergraduate professor, 2026)</a:t>
            </a:r>
            <a:endParaRPr lang="en-US" dirty="0"/>
          </a:p>
        </p:txBody>
      </p:sp>
    </p:spTree>
    <p:extLst>
      <p:ext uri="{BB962C8B-B14F-4D97-AF65-F5344CB8AC3E}">
        <p14:creationId xmlns:p14="http://schemas.microsoft.com/office/powerpoint/2010/main" val="5937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80E44-C2D7-4313-DF08-365ED54879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E75E6-443C-42B9-9438-5E609994D38C}"/>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8066AA13-6DFE-CE01-C494-C1AE87E969D8}"/>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AB41AE2-B835-74A0-656B-B51877D31A87}"/>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4BB058D-B9E7-9BC0-8AFF-8A1A350FCE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869116F9-0142-5296-5026-CE0C1D91EAD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CDE62061-6837-5022-DA90-134D9C9E96C2}"/>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9D05D49-9262-D954-FE16-DDF4863FD127}"/>
              </a:ext>
            </a:extLst>
          </p:cNvPr>
          <p:cNvSpPr txBox="1"/>
          <p:nvPr/>
        </p:nvSpPr>
        <p:spPr>
          <a:xfrm>
            <a:off x="1059979" y="4246106"/>
            <a:ext cx="10293821" cy="2246769"/>
          </a:xfrm>
          <a:prstGeom prst="rect">
            <a:avLst/>
          </a:prstGeom>
          <a:noFill/>
        </p:spPr>
        <p:txBody>
          <a:bodyPr wrap="square" rtlCol="0">
            <a:spAutoFit/>
          </a:bodyPr>
          <a:lstStyle/>
          <a:p>
            <a:pPr marL="238125" indent="-238125">
              <a:buFont typeface="Arial" panose="020B0604020202020204" pitchFamily="34" charset="0"/>
              <a:buChar char="•"/>
            </a:pPr>
            <a:r>
              <a:rPr lang="en-US" sz="2800" dirty="0"/>
              <a:t>The term “canon” comes from the Greek word meaning, “rule” or “standard” (3x in 2 Cor 10:13-16; 1x in Gal 6:16)</a:t>
            </a:r>
          </a:p>
          <a:p>
            <a:pPr marL="238125" indent="-238125">
              <a:buFont typeface="Arial" panose="020B0604020202020204" pitchFamily="34" charset="0"/>
              <a:buChar char="•"/>
            </a:pPr>
            <a:r>
              <a:rPr lang="en-US" sz="2800" dirty="0"/>
              <a:t>It is believed by some that Athanasius (4</a:t>
            </a:r>
            <a:r>
              <a:rPr lang="en-US" sz="2800" baseline="30000" dirty="0"/>
              <a:t>th</a:t>
            </a:r>
            <a:r>
              <a:rPr lang="en-US" sz="2800" dirty="0"/>
              <a:t> century) was the first person to use the term in reference to a “canon of sacred Scripture” (matches our OT and NT)</a:t>
            </a:r>
          </a:p>
        </p:txBody>
      </p:sp>
      <p:sp>
        <p:nvSpPr>
          <p:cNvPr id="12" name="TextBox 11">
            <a:extLst>
              <a:ext uri="{FF2B5EF4-FFF2-40B4-BE49-F238E27FC236}">
                <a16:creationId xmlns:a16="http://schemas.microsoft.com/office/drawing/2014/main" id="{C480E7D9-5D9F-549C-6988-A0507EAC479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#1: “Canon”</a:t>
            </a:r>
          </a:p>
        </p:txBody>
      </p:sp>
    </p:spTree>
    <p:extLst>
      <p:ext uri="{BB962C8B-B14F-4D97-AF65-F5344CB8AC3E}">
        <p14:creationId xmlns:p14="http://schemas.microsoft.com/office/powerpoint/2010/main" val="2496930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3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A48D3-149E-075A-0D16-A5EA83812B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26772E-B3CE-3046-8B4E-000443BBD3A5}"/>
              </a:ext>
            </a:extLst>
          </p:cNvPr>
          <p:cNvSpPr>
            <a:spLocks noGrp="1"/>
          </p:cNvSpPr>
          <p:nvPr>
            <p:ph type="title"/>
          </p:nvPr>
        </p:nvSpPr>
        <p:spPr/>
        <p:txBody>
          <a:bodyPr/>
          <a:lstStyle/>
          <a:p>
            <a:r>
              <a:rPr lang="en-US" dirty="0"/>
              <a:t>Athanasius (367 AD)</a:t>
            </a:r>
          </a:p>
        </p:txBody>
      </p:sp>
      <p:sp>
        <p:nvSpPr>
          <p:cNvPr id="3" name="Content Placeholder 2">
            <a:extLst>
              <a:ext uri="{FF2B5EF4-FFF2-40B4-BE49-F238E27FC236}">
                <a16:creationId xmlns:a16="http://schemas.microsoft.com/office/drawing/2014/main" id="{8A313EB7-DDA4-7996-90AC-6CF69B1B508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23ABC05-5F2D-FB5F-0842-384D6638B682}"/>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76582D3F-5ED1-C8F4-A210-A4F3999E0C7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6"/>
          <p:cNvSpPr txBox="1"/>
          <p:nvPr/>
        </p:nvSpPr>
        <p:spPr>
          <a:xfrm>
            <a:off x="0" y="1641187"/>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91383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03D3B-ACE5-9F8C-F442-4CE223A8B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C3C8DF-8729-30EE-0457-B7C3ECF626D2}"/>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0A909C16-5138-60B5-998B-5B7132BAA2A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5E4F516-86FF-CAAA-ED92-AA1FFAF2650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B459CC3-7307-708E-9A3C-DD4A0A5FE904}"/>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7"/>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6"/>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770381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6D87-FC1C-A246-0FD2-616EBD9F3E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D02D9C-EB89-7620-1205-6D09BEDC2CCC}"/>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1713A8CE-3FA2-6681-328B-6E69DFE1D97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82B3D9A7-E1EE-FFA9-84EA-2D1A0EA02F9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68D5FF0-5222-1DB5-9B17-F2350AE1B343}"/>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8"/>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7"/>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66385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ED498-1630-C623-0A9A-F3463F3A2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9F7DEA-50B1-3879-661E-28796B3B569A}"/>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E1AA4873-35C0-6251-F97C-F297DC089312}"/>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85D26DA-5E97-20A5-7BE3-F572CA92BAFC}"/>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CEDF103C-DE0B-A3AB-9941-68C73D309511}"/>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9"/>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8"/>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4278483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13C2F-B17C-5A15-12C5-ACCCFA59B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438D71-4CB3-F478-314B-D431E02F45B3}"/>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BD4F7937-26DE-453F-417B-2B679D7D32A0}"/>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B167D4B8-C88E-3352-41CE-EBD87B9E10E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31251DD-E658-C053-1A5F-0A40AFA5712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10"/>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9"/>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82012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157C4-CFB8-3942-997E-9B04E44F5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F3D45-A246-5A8A-6317-E17DF0CE8378}"/>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408DBB00-EFFB-F021-EDE1-484CA34CE417}"/>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2A6F73C1-B464-193A-B13F-CD08448F26C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7C0CF79-1C2A-C5E6-FE60-606B5D62BF8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11"/>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10"/>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4" name="TextBox 3">
            <a:extLst>
              <a:ext uri="{FF2B5EF4-FFF2-40B4-BE49-F238E27FC236}">
                <a16:creationId xmlns:a16="http://schemas.microsoft.com/office/drawing/2014/main" id="{389C214A-58F9-E0B1-BE7B-DCD1A8C7CFB9}"/>
              </a:ext>
            </a:extLst>
          </p:cNvPr>
          <p:cNvSpPr txBox="1"/>
          <p:nvPr/>
        </p:nvSpPr>
        <p:spPr>
          <a:xfrm>
            <a:off x="0" y="4813787"/>
            <a:ext cx="6324600" cy="954107"/>
          </a:xfrm>
          <a:prstGeom prst="rect">
            <a:avLst/>
          </a:prstGeom>
          <a:noFill/>
        </p:spPr>
        <p:txBody>
          <a:bodyPr wrap="square" rtlCol="0">
            <a:spAutoFit/>
          </a:bodyPr>
          <a:lstStyle/>
          <a:p>
            <a:r>
              <a:rPr lang="en-US" sz="2800" dirty="0"/>
              <a:t>For free: </a:t>
            </a:r>
            <a:r>
              <a:rPr lang="en-US" sz="2800" dirty="0">
                <a:hlinkClick r:id="rId3"/>
              </a:rPr>
              <a:t>https://www.bible-researcher.com/athanasius.html</a:t>
            </a:r>
            <a:r>
              <a:rPr lang="en-US" sz="2800" dirty="0"/>
              <a:t> </a:t>
            </a:r>
          </a:p>
        </p:txBody>
      </p:sp>
      <p:pic>
        <p:nvPicPr>
          <p:cNvPr id="7" name="Picture 6">
            <a:extLst>
              <a:ext uri="{FF2B5EF4-FFF2-40B4-BE49-F238E27FC236}">
                <a16:creationId xmlns:a16="http://schemas.microsoft.com/office/drawing/2014/main" id="{30C8F0AB-19EA-629A-FD30-DA49290C272D}"/>
              </a:ext>
            </a:extLst>
          </p:cNvPr>
          <p:cNvPicPr>
            <a:picLocks noChangeAspect="1"/>
          </p:cNvPicPr>
          <p:nvPr/>
        </p:nvPicPr>
        <p:blipFill>
          <a:blip r:embed="rId4"/>
          <a:stretch>
            <a:fillRect/>
          </a:stretch>
        </p:blipFill>
        <p:spPr>
          <a:xfrm>
            <a:off x="9449076" y="4171950"/>
            <a:ext cx="2686050" cy="2686050"/>
          </a:xfrm>
          <a:prstGeom prst="rect">
            <a:avLst/>
          </a:prstGeom>
        </p:spPr>
      </p:pic>
    </p:spTree>
    <p:extLst>
      <p:ext uri="{BB962C8B-B14F-4D97-AF65-F5344CB8AC3E}">
        <p14:creationId xmlns:p14="http://schemas.microsoft.com/office/powerpoint/2010/main" val="4125642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 fill="hold">
                            <p:stCondLst>
                              <p:cond delay="0"/>
                            </p:stCondLst>
                            <p:childTnLst>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01B79-62D0-F9FD-2F87-9D9446E282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A9FE1-760D-270A-C0D9-1266EEC8C3A7}"/>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D8BAAB78-C2A9-EC33-C9B7-AFCC73D156E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22945B6-21A8-AA98-2C41-86856C3A0EAD}"/>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7CA00B1B-EA9B-ABB1-E569-C845C7CFA4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29CFEC0-7F7D-0299-4310-B1CF594DE34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63A2964-AD22-B32E-A9AB-E0447011E585}"/>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E5361C26-BA15-400B-B0CB-6C2EFFE4993C}"/>
              </a:ext>
            </a:extLst>
          </p:cNvPr>
          <p:cNvSpPr txBox="1"/>
          <p:nvPr/>
        </p:nvSpPr>
        <p:spPr>
          <a:xfrm>
            <a:off x="1059979" y="424610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8D742580-150B-5937-EF20-22EE2D26863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#2: “Closed”</a:t>
            </a:r>
          </a:p>
        </p:txBody>
      </p:sp>
    </p:spTree>
    <p:extLst>
      <p:ext uri="{BB962C8B-B14F-4D97-AF65-F5344CB8AC3E}">
        <p14:creationId xmlns:p14="http://schemas.microsoft.com/office/powerpoint/2010/main" val="104949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A2AD9-B90C-6EC4-E641-7F69C53B1F25}"/>
            </a:ext>
          </a:extLst>
        </p:cNvPr>
        <p:cNvGrpSpPr/>
        <p:nvPr/>
      </p:nvGrpSpPr>
      <p:grpSpPr>
        <a:xfrm>
          <a:off x="0" y="0"/>
          <a:ext cx="0" cy="0"/>
          <a:chOff x="0" y="0"/>
          <a:chExt cx="0" cy="0"/>
        </a:xfrm>
      </p:grpSpPr>
      <p:pic>
        <p:nvPicPr>
          <p:cNvPr id="15" name="Picture 14" descr=", AI generated">
            <a:extLst>
              <a:ext uri="{FF2B5EF4-FFF2-40B4-BE49-F238E27FC236}">
                <a16:creationId xmlns:a16="http://schemas.microsoft.com/office/drawing/2014/main" id="{3B48C98B-0120-A242-D635-95DA72B5F184}"/>
              </a:ext>
            </a:extLst>
          </p:cNvPr>
          <p:cNvPicPr>
            <a:picLocks noChangeAspect="1"/>
          </p:cNvPicPr>
          <p:nvPr/>
        </p:nvPicPr>
        <p:blipFill>
          <a:blip r:embed="rId2"/>
          <a:srcRect/>
          <a:stretch>
            <a:fillRect/>
          </a:stretch>
        </p:blipFill>
        <p:spPr>
          <a:xfrm>
            <a:off x="7707064" y="3429000"/>
            <a:ext cx="3383662" cy="3225052"/>
          </a:xfrm>
          <a:prstGeom prst="rect">
            <a:avLst/>
          </a:prstGeom>
          <a:ln>
            <a:solidFill>
              <a:schemeClr val="bg1"/>
            </a:solidFill>
          </a:ln>
        </p:spPr>
      </p:pic>
      <p:pic>
        <p:nvPicPr>
          <p:cNvPr id="11" name="Picture 10" descr="Generated image: Stick Figure Presenting an Ancient Scroll">
            <a:extLst>
              <a:ext uri="{FF2B5EF4-FFF2-40B4-BE49-F238E27FC236}">
                <a16:creationId xmlns:a16="http://schemas.microsoft.com/office/drawing/2014/main" id="{A6FAFA9A-2F82-1C1A-0889-70D15E201DB4}"/>
              </a:ext>
            </a:extLst>
          </p:cNvPr>
          <p:cNvPicPr>
            <a:picLocks noChangeAspect="1"/>
          </p:cNvPicPr>
          <p:nvPr/>
        </p:nvPicPr>
        <p:blipFill>
          <a:blip r:embed="rId3"/>
          <a:stretch>
            <a:fillRect/>
          </a:stretch>
        </p:blipFill>
        <p:spPr>
          <a:xfrm flipH="1">
            <a:off x="12233412" y="3467100"/>
            <a:ext cx="3310740" cy="3158497"/>
          </a:xfrm>
          <a:prstGeom prst="rect">
            <a:avLst/>
          </a:prstGeom>
        </p:spPr>
      </p:pic>
      <p:sp>
        <p:nvSpPr>
          <p:cNvPr id="2" name="Title 1">
            <a:extLst>
              <a:ext uri="{FF2B5EF4-FFF2-40B4-BE49-F238E27FC236}">
                <a16:creationId xmlns:a16="http://schemas.microsoft.com/office/drawing/2014/main" id="{48862708-65BA-B3E9-93CA-01EBB4265049}"/>
              </a:ext>
            </a:extLst>
          </p:cNvPr>
          <p:cNvSpPr>
            <a:spLocks noGrp="1"/>
          </p:cNvSpPr>
          <p:nvPr>
            <p:ph type="title"/>
          </p:nvPr>
        </p:nvSpPr>
        <p:spPr>
          <a:xfrm>
            <a:off x="838200" y="-336867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D329A816-1239-BE6E-D350-BAC6D04E903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1A965B7-C2E2-4AD6-79CF-A1618EAF6E9A}"/>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F3D43D4C-B504-1F4D-11F5-ABFBF263A1D4}"/>
              </a:ext>
            </a:extLst>
          </p:cNvPr>
          <p:cNvSpPr txBox="1"/>
          <p:nvPr/>
        </p:nvSpPr>
        <p:spPr>
          <a:xfrm>
            <a:off x="0" y="-172296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CD913F2-2FE8-4551-18C0-BBDB540F1BC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89FD2767-2865-D9F6-9BE2-FCE700333CCD}"/>
              </a:ext>
            </a:extLst>
          </p:cNvPr>
          <p:cNvSpPr txBox="1"/>
          <p:nvPr/>
        </p:nvSpPr>
        <p:spPr>
          <a:xfrm>
            <a:off x="0" y="-1295658"/>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93168118-A889-5AB3-49E3-B471B9E709D9}"/>
              </a:ext>
            </a:extLst>
          </p:cNvPr>
          <p:cNvSpPr txBox="1"/>
          <p:nvPr/>
        </p:nvSpPr>
        <p:spPr>
          <a:xfrm>
            <a:off x="1059979" y="144575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B671DB7B-CD63-86C8-E86D-0AFB8F0ACC2B}"/>
              </a:ext>
            </a:extLst>
          </p:cNvPr>
          <p:cNvSpPr txBox="1"/>
          <p:nvPr/>
        </p:nvSpPr>
        <p:spPr>
          <a:xfrm>
            <a:off x="949089" y="372497"/>
            <a:ext cx="10293821" cy="861774"/>
          </a:xfrm>
          <a:prstGeom prst="rect">
            <a:avLst/>
          </a:prstGeom>
          <a:noFill/>
        </p:spPr>
        <p:txBody>
          <a:bodyPr wrap="square" rtlCol="0">
            <a:spAutoFit/>
          </a:bodyPr>
          <a:lstStyle/>
          <a:p>
            <a:pPr algn="ctr"/>
            <a:r>
              <a:rPr lang="en-US" sz="5000" u="sng" dirty="0"/>
              <a:t>#2: “Closed”</a:t>
            </a:r>
          </a:p>
        </p:txBody>
      </p:sp>
      <p:pic>
        <p:nvPicPr>
          <p:cNvPr id="4" name="Picture 3" descr="Generated image: Stick Figure Reading an Open Book">
            <a:extLst>
              <a:ext uri="{FF2B5EF4-FFF2-40B4-BE49-F238E27FC236}">
                <a16:creationId xmlns:a16="http://schemas.microsoft.com/office/drawing/2014/main" id="{9A5839B4-092A-33A1-36E4-7F9479CC4DA5}"/>
              </a:ext>
            </a:extLst>
          </p:cNvPr>
          <p:cNvPicPr>
            <a:picLocks noChangeAspect="1"/>
          </p:cNvPicPr>
          <p:nvPr/>
        </p:nvPicPr>
        <p:blipFill>
          <a:blip r:embed="rId4"/>
          <a:stretch>
            <a:fillRect/>
          </a:stretch>
        </p:blipFill>
        <p:spPr>
          <a:xfrm>
            <a:off x="636342" y="3393729"/>
            <a:ext cx="3310741" cy="3310741"/>
          </a:xfrm>
          <a:prstGeom prst="rect">
            <a:avLst/>
          </a:prstGeom>
        </p:spPr>
      </p:pic>
      <p:sp>
        <p:nvSpPr>
          <p:cNvPr id="13" name="Oval Callout 12">
            <a:extLst>
              <a:ext uri="{FF2B5EF4-FFF2-40B4-BE49-F238E27FC236}">
                <a16:creationId xmlns:a16="http://schemas.microsoft.com/office/drawing/2014/main" id="{AD7A5D32-E7D1-03AC-6CB3-3AB0884E589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4" name="Oval Callout 13">
            <a:extLst>
              <a:ext uri="{FF2B5EF4-FFF2-40B4-BE49-F238E27FC236}">
                <a16:creationId xmlns:a16="http://schemas.microsoft.com/office/drawing/2014/main" id="{38675C71-BDC5-AB21-2229-938F6CACF1F2}"/>
              </a:ext>
            </a:extLst>
          </p:cNvPr>
          <p:cNvSpPr/>
          <p:nvPr/>
        </p:nvSpPr>
        <p:spPr>
          <a:xfrm flipH="1">
            <a:off x="5432611" y="1968975"/>
            <a:ext cx="368780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“You need this </a:t>
            </a:r>
            <a:r>
              <a:rPr lang="en-US" sz="3600" i="1" dirty="0"/>
              <a:t>Gospel of Thomas</a:t>
            </a:r>
            <a:r>
              <a:rPr lang="en-US" sz="3600" dirty="0"/>
              <a:t>!”</a:t>
            </a:r>
          </a:p>
        </p:txBody>
      </p:sp>
      <p:sp>
        <p:nvSpPr>
          <p:cNvPr id="16" name="Oval Callout 15">
            <a:extLst>
              <a:ext uri="{FF2B5EF4-FFF2-40B4-BE49-F238E27FC236}">
                <a16:creationId xmlns:a16="http://schemas.microsoft.com/office/drawing/2014/main" id="{9D5B4D65-BA37-FE32-3BE6-88C4D318140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way, my canon is closed!”</a:t>
            </a:r>
          </a:p>
        </p:txBody>
      </p:sp>
    </p:spTree>
    <p:extLst>
      <p:ext uri="{BB962C8B-B14F-4D97-AF65-F5344CB8AC3E}">
        <p14:creationId xmlns:p14="http://schemas.microsoft.com/office/powerpoint/2010/main" val="2094752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1"/>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1"/>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wipe(down)">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down)">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B55B1-6896-3C39-C649-12FFC7EFB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6F030-57D8-FB45-87B3-12D83864091D}"/>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5C6E5C94-B990-07D2-7F23-699F35B96F3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9E79A8D1-69C0-24AB-5BCC-C1B9F6EF6D3E}"/>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4EA64E91-31C2-9189-39FD-9097C9EA6E9D}"/>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53003671-506B-6B9C-68CB-1F2A923FCD32}"/>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340354B-B067-E8DF-C5A6-95E1BF394260}"/>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8CDDFC9-558B-651B-6349-24874EF601AF}"/>
              </a:ext>
            </a:extLst>
          </p:cNvPr>
          <p:cNvSpPr txBox="1"/>
          <p:nvPr/>
        </p:nvSpPr>
        <p:spPr>
          <a:xfrm>
            <a:off x="1059979" y="4246106"/>
            <a:ext cx="10293821" cy="954107"/>
          </a:xfrm>
          <a:prstGeom prst="rect">
            <a:avLst/>
          </a:prstGeom>
          <a:noFill/>
        </p:spPr>
        <p:txBody>
          <a:bodyPr wrap="square" rtlCol="0">
            <a:spAutoFit/>
          </a:bodyPr>
          <a:lstStyle/>
          <a:p>
            <a:pPr marL="238125" indent="-238125">
              <a:buFont typeface="Arial" panose="020B0604020202020204" pitchFamily="34" charset="0"/>
              <a:buChar char="•"/>
            </a:pPr>
            <a:r>
              <a:rPr lang="en-US" sz="2800" dirty="0"/>
              <a:t>“Authoritative” means something like: “Ought to be listened to”</a:t>
            </a:r>
          </a:p>
          <a:p>
            <a:pPr marL="238125" indent="-238125">
              <a:buFont typeface="Arial" panose="020B0604020202020204" pitchFamily="34" charset="0"/>
              <a:buChar char="•"/>
            </a:pPr>
            <a:r>
              <a:rPr lang="en-US" sz="2800" dirty="0"/>
              <a:t>“Sacred” means: “holy,” “important,” etc.</a:t>
            </a:r>
          </a:p>
        </p:txBody>
      </p:sp>
      <p:sp>
        <p:nvSpPr>
          <p:cNvPr id="12" name="TextBox 11">
            <a:extLst>
              <a:ext uri="{FF2B5EF4-FFF2-40B4-BE49-F238E27FC236}">
                <a16:creationId xmlns:a16="http://schemas.microsoft.com/office/drawing/2014/main" id="{09EF90D4-7824-2F40-904E-47FB8E9188AF}"/>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#3: “Authoritative, Sacred”</a:t>
            </a:r>
          </a:p>
        </p:txBody>
      </p:sp>
    </p:spTree>
    <p:extLst>
      <p:ext uri="{BB962C8B-B14F-4D97-AF65-F5344CB8AC3E}">
        <p14:creationId xmlns:p14="http://schemas.microsoft.com/office/powerpoint/2010/main" val="3799980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A5B12-931E-2C40-E799-20DD9178C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A0A1D-9D6B-380F-7BAC-F3ADB1C42E59}"/>
              </a:ext>
            </a:extLst>
          </p:cNvPr>
          <p:cNvSpPr>
            <a:spLocks noGrp="1"/>
          </p:cNvSpPr>
          <p:nvPr>
            <p:ph type="title"/>
          </p:nvPr>
        </p:nvSpPr>
        <p:spPr>
          <a:xfrm>
            <a:off x="838200" y="-185991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5FEBB178-7F98-058D-A4BC-932D589CA01D}"/>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04E4EAD0-1012-9219-E86A-87FB5614938B}"/>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A07CDC5D-D620-91D8-2CBB-83BA4187F4C9}"/>
              </a:ext>
            </a:extLst>
          </p:cNvPr>
          <p:cNvSpPr txBox="1"/>
          <p:nvPr/>
        </p:nvSpPr>
        <p:spPr>
          <a:xfrm>
            <a:off x="0" y="47160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ADD630F5-5EF2-EE2A-9BBD-7617FC04D6E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2003FD8D-0DD8-B722-ED57-62E06828AAA6}"/>
              </a:ext>
            </a:extLst>
          </p:cNvPr>
          <p:cNvSpPr txBox="1"/>
          <p:nvPr/>
        </p:nvSpPr>
        <p:spPr>
          <a:xfrm>
            <a:off x="0" y="898902"/>
            <a:ext cx="12192000" cy="523220"/>
          </a:xfrm>
          <a:prstGeom prst="rect">
            <a:avLst/>
          </a:prstGeom>
          <a:noFill/>
        </p:spPr>
        <p:txBody>
          <a:bodyPr wrap="square">
            <a:spAutoFit/>
          </a:bodyPr>
          <a:lstStyle/>
          <a:p>
            <a:pPr algn="ctr"/>
            <a:r>
              <a:rPr lang="en-US" sz="2800" dirty="0"/>
              <a:t>(undergraduate professor, 2026)</a:t>
            </a:r>
            <a:endParaRPr lang="en-US" dirty="0"/>
          </a:p>
        </p:txBody>
      </p:sp>
      <p:pic>
        <p:nvPicPr>
          <p:cNvPr id="10" name="Picture 9" descr="Generated image: Stick Figure Reading an Open Book">
            <a:extLst>
              <a:ext uri="{FF2B5EF4-FFF2-40B4-BE49-F238E27FC236}">
                <a16:creationId xmlns:a16="http://schemas.microsoft.com/office/drawing/2014/main" id="{37CA2E7B-06D4-D9B2-81C0-BE8A46C3A022}"/>
              </a:ext>
            </a:extLst>
          </p:cNvPr>
          <p:cNvPicPr>
            <a:picLocks noChangeAspect="1"/>
          </p:cNvPicPr>
          <p:nvPr/>
        </p:nvPicPr>
        <p:blipFill>
          <a:blip r:embed="rId2"/>
          <a:stretch>
            <a:fillRect/>
          </a:stretch>
        </p:blipFill>
        <p:spPr>
          <a:xfrm>
            <a:off x="636342" y="3393729"/>
            <a:ext cx="3310741" cy="3310741"/>
          </a:xfrm>
          <a:prstGeom prst="rect">
            <a:avLst/>
          </a:prstGeom>
        </p:spPr>
      </p:pic>
      <p:pic>
        <p:nvPicPr>
          <p:cNvPr id="11" name="Picture 10" descr=", AI generated">
            <a:extLst>
              <a:ext uri="{FF2B5EF4-FFF2-40B4-BE49-F238E27FC236}">
                <a16:creationId xmlns:a16="http://schemas.microsoft.com/office/drawing/2014/main" id="{B85CCFB9-18C0-5B8A-153A-6F5AE62CCBE9}"/>
              </a:ext>
            </a:extLst>
          </p:cNvPr>
          <p:cNvPicPr>
            <a:picLocks noChangeAspect="1"/>
          </p:cNvPicPr>
          <p:nvPr/>
        </p:nvPicPr>
        <p:blipFill>
          <a:blip r:embed="rId3"/>
          <a:srcRect/>
          <a:stretch>
            <a:fillRect/>
          </a:stretch>
        </p:blipFill>
        <p:spPr>
          <a:xfrm>
            <a:off x="7707064" y="3429000"/>
            <a:ext cx="3383662" cy="3225052"/>
          </a:xfrm>
          <a:prstGeom prst="rect">
            <a:avLst/>
          </a:prstGeom>
          <a:ln>
            <a:solidFill>
              <a:schemeClr val="bg1"/>
            </a:solidFill>
          </a:ln>
        </p:spPr>
      </p:pic>
      <p:pic>
        <p:nvPicPr>
          <p:cNvPr id="13" name="Picture 12" descr="Generated image: Stick Figure Presenting an Ancient Scroll">
            <a:extLst>
              <a:ext uri="{FF2B5EF4-FFF2-40B4-BE49-F238E27FC236}">
                <a16:creationId xmlns:a16="http://schemas.microsoft.com/office/drawing/2014/main" id="{1C9F54AD-9A6F-19D2-73BE-FA4796DC33CE}"/>
              </a:ext>
            </a:extLst>
          </p:cNvPr>
          <p:cNvPicPr>
            <a:picLocks noChangeAspect="1"/>
          </p:cNvPicPr>
          <p:nvPr/>
        </p:nvPicPr>
        <p:blipFill>
          <a:blip r:embed="rId4"/>
          <a:stretch>
            <a:fillRect/>
          </a:stretch>
        </p:blipFill>
        <p:spPr>
          <a:xfrm flipH="1">
            <a:off x="12233412" y="3467100"/>
            <a:ext cx="3310740" cy="3158497"/>
          </a:xfrm>
          <a:prstGeom prst="rect">
            <a:avLst/>
          </a:prstGeom>
        </p:spPr>
      </p:pic>
      <p:sp>
        <p:nvSpPr>
          <p:cNvPr id="16" name="Oval Callout 15">
            <a:extLst>
              <a:ext uri="{FF2B5EF4-FFF2-40B4-BE49-F238E27FC236}">
                <a16:creationId xmlns:a16="http://schemas.microsoft.com/office/drawing/2014/main" id="{3A7C8C8E-72B5-035E-061F-52BE4BB17C69}"/>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7" name="Oval Callout 16">
            <a:extLst>
              <a:ext uri="{FF2B5EF4-FFF2-40B4-BE49-F238E27FC236}">
                <a16:creationId xmlns:a16="http://schemas.microsoft.com/office/drawing/2014/main" id="{42647E6A-BB9F-B043-AC01-2A24A8E4A396}"/>
              </a:ext>
            </a:extLst>
          </p:cNvPr>
          <p:cNvSpPr/>
          <p:nvPr/>
        </p:nvSpPr>
        <p:spPr>
          <a:xfrm flipH="1">
            <a:off x="4750420" y="1422122"/>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do you think about </a:t>
            </a:r>
            <a:r>
              <a:rPr lang="en-US" sz="3600" i="1" dirty="0"/>
              <a:t>The Wisdom of Solomon</a:t>
            </a:r>
            <a:r>
              <a:rPr lang="en-US" sz="3600" dirty="0"/>
              <a:t>?”</a:t>
            </a:r>
          </a:p>
        </p:txBody>
      </p:sp>
      <p:sp>
        <p:nvSpPr>
          <p:cNvPr id="18" name="Oval Callout 17">
            <a:extLst>
              <a:ext uri="{FF2B5EF4-FFF2-40B4-BE49-F238E27FC236}">
                <a16:creationId xmlns:a16="http://schemas.microsoft.com/office/drawing/2014/main" id="{A4207822-57DF-BA88-B375-0D7249DF685F}"/>
              </a:ext>
            </a:extLst>
          </p:cNvPr>
          <p:cNvSpPr/>
          <p:nvPr/>
        </p:nvSpPr>
        <p:spPr>
          <a:xfrm>
            <a:off x="2575051" y="1922496"/>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“That’s a good book; you should read it!”</a:t>
            </a:r>
          </a:p>
        </p:txBody>
      </p:sp>
      <p:sp>
        <p:nvSpPr>
          <p:cNvPr id="19" name="Oval Callout 18">
            <a:extLst>
              <a:ext uri="{FF2B5EF4-FFF2-40B4-BE49-F238E27FC236}">
                <a16:creationId xmlns:a16="http://schemas.microsoft.com/office/drawing/2014/main" id="{983E0397-233F-2CED-2587-DCEEC46B9B6B}"/>
              </a:ext>
            </a:extLst>
          </p:cNvPr>
          <p:cNvSpPr/>
          <p:nvPr/>
        </p:nvSpPr>
        <p:spPr>
          <a:xfrm flipH="1">
            <a:off x="4746868" y="1422121"/>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“Wait, you think it should be in the canon?”</a:t>
            </a:r>
          </a:p>
        </p:txBody>
      </p:sp>
      <p:sp>
        <p:nvSpPr>
          <p:cNvPr id="20" name="Oval Callout 19">
            <a:extLst>
              <a:ext uri="{FF2B5EF4-FFF2-40B4-BE49-F238E27FC236}">
                <a16:creationId xmlns:a16="http://schemas.microsoft.com/office/drawing/2014/main" id="{3921A6FE-05D4-F055-F7B4-927E2C2ADB77}"/>
              </a:ext>
            </a:extLst>
          </p:cNvPr>
          <p:cNvSpPr/>
          <p:nvPr/>
        </p:nvSpPr>
        <p:spPr>
          <a:xfrm>
            <a:off x="2579167" y="1926612"/>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It is just a helpful book”</a:t>
            </a:r>
          </a:p>
        </p:txBody>
      </p:sp>
      <p:sp>
        <p:nvSpPr>
          <p:cNvPr id="21" name="Oval Callout 20">
            <a:extLst>
              <a:ext uri="{FF2B5EF4-FFF2-40B4-BE49-F238E27FC236}">
                <a16:creationId xmlns:a16="http://schemas.microsoft.com/office/drawing/2014/main" id="{4289878D-D305-52F6-DCB2-A50196849766}"/>
              </a:ext>
            </a:extLst>
          </p:cNvPr>
          <p:cNvSpPr/>
          <p:nvPr/>
        </p:nvSpPr>
        <p:spPr>
          <a:xfrm flipH="1">
            <a:off x="4746868" y="1416076"/>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this [Apocryphal book]</a:t>
            </a:r>
            <a:r>
              <a:rPr lang="en-US" sz="3600" baseline="30000" dirty="0"/>
              <a:t>1</a:t>
            </a:r>
            <a:r>
              <a:rPr lang="en-US" sz="3600" dirty="0"/>
              <a:t>?”</a:t>
            </a:r>
          </a:p>
        </p:txBody>
      </p:sp>
      <p:sp>
        <p:nvSpPr>
          <p:cNvPr id="23" name="Oval Callout 22">
            <a:extLst>
              <a:ext uri="{FF2B5EF4-FFF2-40B4-BE49-F238E27FC236}">
                <a16:creationId xmlns:a16="http://schemas.microsoft.com/office/drawing/2014/main" id="{E2C38C8A-5DF9-1EF9-3CC0-5EE6C11C78B1}"/>
              </a:ext>
            </a:extLst>
          </p:cNvPr>
          <p:cNvSpPr/>
          <p:nvPr/>
        </p:nvSpPr>
        <p:spPr>
          <a:xfrm>
            <a:off x="2430937" y="467485"/>
            <a:ext cx="6270118" cy="3655038"/>
          </a:xfrm>
          <a:prstGeom prst="wedgeEllipseCallout">
            <a:avLst>
              <a:gd name="adj1" fmla="val -46772"/>
              <a:gd name="adj2" fmla="val 5653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 is an apocryphal book! That is heresy! False teachers wrote that and claimed it was an ancient book!”</a:t>
            </a:r>
          </a:p>
        </p:txBody>
      </p:sp>
      <p:sp>
        <p:nvSpPr>
          <p:cNvPr id="24" name="TextBox 23">
            <a:extLst>
              <a:ext uri="{FF2B5EF4-FFF2-40B4-BE49-F238E27FC236}">
                <a16:creationId xmlns:a16="http://schemas.microsoft.com/office/drawing/2014/main" id="{605C3492-442B-E7BC-49FA-CC4324CD2959}"/>
              </a:ext>
            </a:extLst>
          </p:cNvPr>
          <p:cNvSpPr txBox="1"/>
          <p:nvPr/>
        </p:nvSpPr>
        <p:spPr>
          <a:xfrm>
            <a:off x="3657208" y="5877029"/>
            <a:ext cx="4365127" cy="923330"/>
          </a:xfrm>
          <a:prstGeom prst="rect">
            <a:avLst/>
          </a:prstGeom>
          <a:noFill/>
        </p:spPr>
        <p:txBody>
          <a:bodyPr wrap="square" rtlCol="0">
            <a:spAutoFit/>
          </a:bodyPr>
          <a:lstStyle/>
          <a:p>
            <a:r>
              <a:rPr lang="en-US" baseline="30000" dirty="0"/>
              <a:t>1 </a:t>
            </a:r>
            <a:r>
              <a:rPr lang="en-US" i="1" dirty="0"/>
              <a:t>Athanasius does not give an example of an ‘apocryphal book.’ but may mean NT apocryphal like ‘Gospel of Thomas’</a:t>
            </a:r>
            <a:endParaRPr lang="en-US" dirty="0"/>
          </a:p>
        </p:txBody>
      </p:sp>
      <p:sp>
        <p:nvSpPr>
          <p:cNvPr id="25" name="TextBox 24">
            <a:extLst>
              <a:ext uri="{FF2B5EF4-FFF2-40B4-BE49-F238E27FC236}">
                <a16:creationId xmlns:a16="http://schemas.microsoft.com/office/drawing/2014/main" id="{AE05E63E-B3A5-192F-9ECE-A44B279545E9}"/>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Athanasius</a:t>
            </a:r>
          </a:p>
        </p:txBody>
      </p:sp>
    </p:spTree>
    <p:extLst>
      <p:ext uri="{BB962C8B-B14F-4D97-AF65-F5344CB8AC3E}">
        <p14:creationId xmlns:p14="http://schemas.microsoft.com/office/powerpoint/2010/main" val="2687026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3"/>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down)">
                                      <p:cBhvr>
                                        <p:cTn id="20" dur="5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down)">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5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wipe(down)">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4"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down)">
                                      <p:cBhvr>
                                        <p:cTn id="40" dur="500"/>
                                        <p:tgtEl>
                                          <p:spTgt spid="21"/>
                                        </p:tgtEl>
                                      </p:cBhvr>
                                    </p:animEffect>
                                  </p:childTnLst>
                                </p:cTn>
                              </p:par>
                            </p:childTnLst>
                          </p:cTn>
                        </p:par>
                        <p:par>
                          <p:cTn id="41" fill="hold">
                            <p:stCondLst>
                              <p:cond delay="500"/>
                            </p:stCondLst>
                            <p:childTnLst>
                              <p:par>
                                <p:cTn id="42" presetID="1" presetClass="entr" presetSubtype="0" fill="hold" grpId="0" nodeType="afterEffect">
                                  <p:stCondLst>
                                    <p:cond delay="0"/>
                                  </p:stCondLst>
                                  <p:childTnLst>
                                    <p:set>
                                      <p:cBhvr>
                                        <p:cTn id="43" dur="1" fill="hold">
                                          <p:stCondLst>
                                            <p:cond delay="0"/>
                                          </p:stCondLst>
                                        </p:cTn>
                                        <p:tgtEl>
                                          <p:spTgt spid="24"/>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22" presetClass="entr" presetSubtype="4" fill="hold" grpId="0"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wipe(down)">
                                      <p:cBhvr>
                                        <p:cTn id="48" dur="500"/>
                                        <p:tgtEl>
                                          <p:spTgt spid="23"/>
                                        </p:tgtEl>
                                      </p:cBhvr>
                                    </p:animEffect>
                                  </p:childTnLst>
                                </p:cTn>
                              </p:par>
                              <p:par>
                                <p:cTn id="49" presetID="1" presetClass="exit"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animBg="1"/>
      <p:bldP spid="20" grpId="0" animBg="1"/>
      <p:bldP spid="21" grpId="0" animBg="1"/>
      <p:bldP spid="23" grpId="0" animBg="1"/>
      <p:bldP spid="24" grpId="0"/>
      <p:bldP spid="24"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E09A3-25F7-95C2-DAC0-508984E4F617}"/>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9AEE4884-C1F4-486B-1AAC-1E88CAF7F2BD}"/>
              </a:ext>
            </a:extLst>
          </p:cNvPr>
          <p:cNvSpPr>
            <a:spLocks noGrp="1"/>
          </p:cNvSpPr>
          <p:nvPr>
            <p:ph idx="1"/>
          </p:nvPr>
        </p:nvSpPr>
        <p:spPr>
          <a:xfrm>
            <a:off x="838200" y="1825624"/>
            <a:ext cx="10515600" cy="4865107"/>
          </a:xfrm>
        </p:spPr>
        <p:txBody>
          <a:bodyPr>
            <a:normAutofit lnSpcReduction="10000"/>
          </a:bodyPr>
          <a:lstStyle/>
          <a:p>
            <a:r>
              <a:rPr lang="en-US" dirty="0"/>
              <a:t>Notes Sundberg’s version: “the canon…[is] a final, fixed, closed list” (</a:t>
            </a:r>
            <a:r>
              <a:rPr lang="en-US" i="1" dirty="0"/>
              <a:t>Canon Revisited</a:t>
            </a:r>
            <a:r>
              <a:rPr lang="en-US" dirty="0"/>
              <a:t>, p. 35)</a:t>
            </a:r>
          </a:p>
          <a:p>
            <a:r>
              <a:rPr lang="en-US" dirty="0"/>
              <a:t>Canon ≠ Scripture, the Canon is </a:t>
            </a:r>
            <a:r>
              <a:rPr lang="en-US" i="1" dirty="0"/>
              <a:t>made up of </a:t>
            </a:r>
            <a:r>
              <a:rPr lang="en-US" dirty="0"/>
              <a:t> “Scripture”</a:t>
            </a:r>
          </a:p>
          <a:p>
            <a:r>
              <a:rPr lang="en-US" dirty="0"/>
              <a:t>“the strict demarcation between Scripture and canon may seem clear to Sundberg, it seems difficult to imagine these two concepts being separated within the minds of, say, second-century Christians. In order to recognize a certain book to be Scripture in the first place, an early Christian would have needed to be able to say another book in his library was </a:t>
            </a:r>
            <a:r>
              <a:rPr lang="en-US" i="1" dirty="0"/>
              <a:t>not</a:t>
            </a:r>
            <a:r>
              <a:rPr lang="en-US" dirty="0"/>
              <a:t> Scripture…. </a:t>
            </a:r>
            <a:r>
              <a:rPr lang="en-US" dirty="0">
                <a:solidFill>
                  <a:schemeClr val="accent2"/>
                </a:solidFill>
              </a:rPr>
              <a:t>the term </a:t>
            </a:r>
            <a:r>
              <a:rPr lang="en-US" i="1" dirty="0">
                <a:solidFill>
                  <a:schemeClr val="accent2"/>
                </a:solidFill>
              </a:rPr>
              <a:t>Scripture</a:t>
            </a:r>
            <a:r>
              <a:rPr lang="en-US" dirty="0">
                <a:solidFill>
                  <a:schemeClr val="accent2"/>
                </a:solidFill>
              </a:rPr>
              <a:t> already implies exclusion and limitation to some degree, making a sharp distinction between Scripture and canon more difficult to sustain</a:t>
            </a:r>
            <a:r>
              <a:rPr lang="en-US" dirty="0"/>
              <a:t>” (p. 36)</a:t>
            </a:r>
          </a:p>
        </p:txBody>
      </p:sp>
    </p:spTree>
    <p:extLst>
      <p:ext uri="{BB962C8B-B14F-4D97-AF65-F5344CB8AC3E}">
        <p14:creationId xmlns:p14="http://schemas.microsoft.com/office/powerpoint/2010/main" val="1663589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5E78D-3559-378F-3FBC-E7076198D6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C1BB3B-D503-CF6D-EE70-3A1FD252A100}"/>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F3AF21DE-AECD-6FB4-B8B3-FEB5D225F4DD}"/>
              </a:ext>
            </a:extLst>
          </p:cNvPr>
          <p:cNvSpPr>
            <a:spLocks noGrp="1"/>
          </p:cNvSpPr>
          <p:nvPr>
            <p:ph idx="1"/>
          </p:nvPr>
        </p:nvSpPr>
        <p:spPr/>
        <p:txBody>
          <a:bodyPr>
            <a:normAutofit fontScale="92500" lnSpcReduction="10000"/>
          </a:bodyPr>
          <a:lstStyle/>
          <a:p>
            <a:r>
              <a:rPr lang="en-US" dirty="0"/>
              <a:t>“before this time most of the New Testament books had already been functioning with sacred authority for generations, and their place in the New Testament corpus was fully secure. The supposed closing of the canon in the fourth century neither changed their status nor increased their authority—it was already as high as it could be. In regard to the function of these books, one could rightly say there was already a canon, or at least the category of a canon, well before the fourth century. Sundberg’s definition is so focused on the final stage of the canon’s development that it misses the fact that it is, after all, a </a:t>
            </a:r>
            <a:r>
              <a:rPr lang="en-US" i="1" dirty="0"/>
              <a:t>stage</a:t>
            </a:r>
            <a:r>
              <a:rPr lang="en-US" dirty="0"/>
              <a:t>—and therefore is intimately connected to, and dependent on, what has come before…. </a:t>
            </a:r>
            <a:r>
              <a:rPr lang="en-US" dirty="0">
                <a:solidFill>
                  <a:schemeClr val="accent2"/>
                </a:solidFill>
              </a:rPr>
              <a:t>the concept of canon cannot be reduced to a single point of time. It is best conceived of as a continuum</a:t>
            </a:r>
            <a:r>
              <a:rPr lang="en-US" dirty="0"/>
              <a:t>—less like a dot and more like a line” (p. 37)</a:t>
            </a:r>
          </a:p>
        </p:txBody>
      </p:sp>
    </p:spTree>
    <p:extLst>
      <p:ext uri="{BB962C8B-B14F-4D97-AF65-F5344CB8AC3E}">
        <p14:creationId xmlns:p14="http://schemas.microsoft.com/office/powerpoint/2010/main" val="18024159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78DEE-CC7C-6A6A-F926-9D77634E44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BEC585-7BE8-BE13-A1A8-9E22BB4A3BE8}"/>
              </a:ext>
            </a:extLst>
          </p:cNvPr>
          <p:cNvSpPr>
            <a:spLocks noGrp="1"/>
          </p:cNvSpPr>
          <p:nvPr>
            <p:ph type="title"/>
          </p:nvPr>
        </p:nvSpPr>
        <p:spPr/>
        <p:txBody>
          <a:bodyPr/>
          <a:lstStyle/>
          <a:p>
            <a:r>
              <a:rPr lang="en-US" dirty="0"/>
              <a:t>Pushback to this Definition (by M. Kruger)</a:t>
            </a:r>
          </a:p>
        </p:txBody>
      </p:sp>
      <p:sp>
        <p:nvSpPr>
          <p:cNvPr id="3" name="Content Placeholder 2">
            <a:extLst>
              <a:ext uri="{FF2B5EF4-FFF2-40B4-BE49-F238E27FC236}">
                <a16:creationId xmlns:a16="http://schemas.microsoft.com/office/drawing/2014/main" id="{8EBA2A58-9A31-EB84-618B-33094678489C}"/>
              </a:ext>
            </a:extLst>
          </p:cNvPr>
          <p:cNvSpPr>
            <a:spLocks noGrp="1"/>
          </p:cNvSpPr>
          <p:nvPr>
            <p:ph idx="1"/>
          </p:nvPr>
        </p:nvSpPr>
        <p:spPr>
          <a:xfrm>
            <a:off x="838200" y="2010278"/>
            <a:ext cx="10515600" cy="2913643"/>
          </a:xfrm>
        </p:spPr>
        <p:txBody>
          <a:bodyPr>
            <a:normAutofit/>
          </a:bodyPr>
          <a:lstStyle/>
          <a:p>
            <a:pPr marL="0" indent="0" algn="ctr">
              <a:buNone/>
            </a:pPr>
            <a:r>
              <a:rPr lang="en-US" sz="4000" dirty="0"/>
              <a:t>“from the perspective of God’s revelational activity, a canon exists as soon as the New Testament books are written—</a:t>
            </a:r>
            <a:r>
              <a:rPr lang="en-US" sz="4000" dirty="0">
                <a:solidFill>
                  <a:schemeClr val="accent2"/>
                </a:solidFill>
              </a:rPr>
              <a:t>the canon is always the books God has given to the corporate church, no more, no less</a:t>
            </a:r>
            <a:r>
              <a:rPr lang="en-US" sz="4000" dirty="0"/>
              <a:t>” (p. 38)</a:t>
            </a:r>
          </a:p>
          <a:p>
            <a:pPr marL="0" indent="0">
              <a:buNone/>
            </a:pPr>
            <a:endParaRPr lang="en-US" dirty="0"/>
          </a:p>
        </p:txBody>
      </p:sp>
    </p:spTree>
    <p:extLst>
      <p:ext uri="{BB962C8B-B14F-4D97-AF65-F5344CB8AC3E}">
        <p14:creationId xmlns:p14="http://schemas.microsoft.com/office/powerpoint/2010/main" val="28605388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B287F-D7ED-6186-14AE-FE8A92A66FE7}"/>
              </a:ext>
            </a:extLst>
          </p:cNvPr>
          <p:cNvSpPr>
            <a:spLocks noGrp="1"/>
          </p:cNvSpPr>
          <p:nvPr>
            <p:ph type="title"/>
          </p:nvPr>
        </p:nvSpPr>
        <p:spPr/>
        <p:txBody>
          <a:bodyPr/>
          <a:lstStyle/>
          <a:p>
            <a:r>
              <a:rPr lang="en-US" dirty="0"/>
              <a:t>3 Definitions of “Canon” (see p. 58)</a:t>
            </a:r>
          </a:p>
        </p:txBody>
      </p:sp>
      <p:sp>
        <p:nvSpPr>
          <p:cNvPr id="3" name="Content Placeholder 2">
            <a:extLst>
              <a:ext uri="{FF2B5EF4-FFF2-40B4-BE49-F238E27FC236}">
                <a16:creationId xmlns:a16="http://schemas.microsoft.com/office/drawing/2014/main" id="{BB50382D-8973-8717-A4EA-950271DFC6DD}"/>
              </a:ext>
            </a:extLst>
          </p:cNvPr>
          <p:cNvSpPr>
            <a:spLocks noGrp="1"/>
          </p:cNvSpPr>
          <p:nvPr>
            <p:ph idx="1"/>
          </p:nvPr>
        </p:nvSpPr>
        <p:spPr>
          <a:xfrm>
            <a:off x="838200" y="1825625"/>
            <a:ext cx="10515600" cy="3017308"/>
          </a:xfrm>
        </p:spPr>
        <p:txBody>
          <a:bodyPr>
            <a:normAutofit/>
          </a:bodyPr>
          <a:lstStyle/>
          <a:p>
            <a:r>
              <a:rPr lang="en-US" sz="4000" dirty="0"/>
              <a:t>The “Exclusive” definition: “A final, closed list; the final reception of a set of books” (as we have been discussing)</a:t>
            </a:r>
          </a:p>
          <a:p>
            <a:r>
              <a:rPr lang="en-US" sz="4000" dirty="0"/>
              <a:t>The “Functional” definition: “A set of books used as authoritative texts in the community”</a:t>
            </a:r>
          </a:p>
        </p:txBody>
      </p:sp>
      <p:sp>
        <p:nvSpPr>
          <p:cNvPr id="5" name="TextBox 4">
            <a:extLst>
              <a:ext uri="{FF2B5EF4-FFF2-40B4-BE49-F238E27FC236}">
                <a16:creationId xmlns:a16="http://schemas.microsoft.com/office/drawing/2014/main" id="{4B71EA9E-2A1B-696E-217F-B9EFA3C7F029}"/>
              </a:ext>
            </a:extLst>
          </p:cNvPr>
          <p:cNvSpPr txBox="1"/>
          <p:nvPr/>
        </p:nvSpPr>
        <p:spPr>
          <a:xfrm>
            <a:off x="838200" y="4842933"/>
            <a:ext cx="10515600" cy="1323439"/>
          </a:xfrm>
          <a:prstGeom prst="rect">
            <a:avLst/>
          </a:prstGeom>
          <a:noFill/>
        </p:spPr>
        <p:txBody>
          <a:bodyPr wrap="square">
            <a:spAutoFit/>
          </a:bodyPr>
          <a:lstStyle/>
          <a:p>
            <a:pPr marL="236538" indent="-236538">
              <a:buFont typeface="Arial" panose="020B0604020202020204" pitchFamily="34" charset="0"/>
              <a:buChar char="•"/>
            </a:pPr>
            <a:r>
              <a:rPr lang="en-US" sz="4000" dirty="0"/>
              <a:t>The “</a:t>
            </a:r>
            <a:r>
              <a:rPr lang="en-US" sz="4000" dirty="0">
                <a:solidFill>
                  <a:schemeClr val="tx1">
                    <a:alpha val="0"/>
                  </a:schemeClr>
                </a:solidFill>
              </a:rPr>
              <a:t>Ontological</a:t>
            </a:r>
            <a:r>
              <a:rPr lang="en-US" sz="4000" dirty="0"/>
              <a:t>” definition: “The scriptural books that God gave the corporate church”</a:t>
            </a:r>
          </a:p>
        </p:txBody>
      </p:sp>
      <p:sp>
        <p:nvSpPr>
          <p:cNvPr id="6" name="!!Ontological"/>
          <p:cNvSpPr txBox="1"/>
          <p:nvPr/>
        </p:nvSpPr>
        <p:spPr>
          <a:xfrm>
            <a:off x="2133600" y="4838700"/>
            <a:ext cx="2794000" cy="812800"/>
          </a:xfrm>
          <a:prstGeom prst="rect">
            <a:avLst/>
          </a:prstGeom>
          <a:noFill/>
        </p:spPr>
        <p:txBody>
          <a:bodyPr wrap="none" rtlCol="0">
            <a:noAutofit/>
          </a:bodyPr>
          <a:lstStyle/>
          <a:p>
            <a:pPr marL="0" indent="0">
              <a:buNone/>
            </a:pPr>
            <a:r>
              <a:rPr lang="en-US" sz="4000" dirty="0"/>
              <a:t>Ontological</a:t>
            </a:r>
          </a:p>
        </p:txBody>
      </p:sp>
    </p:spTree>
    <p:extLst>
      <p:ext uri="{BB962C8B-B14F-4D97-AF65-F5344CB8AC3E}">
        <p14:creationId xmlns:p14="http://schemas.microsoft.com/office/powerpoint/2010/main" val="2621799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9601E-6221-C603-AF0C-583022D28A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708A3-DEE3-2A41-3A4B-26317FE05047}"/>
              </a:ext>
            </a:extLst>
          </p:cNvPr>
          <p:cNvSpPr>
            <a:spLocks noGrp="1"/>
          </p:cNvSpPr>
          <p:nvPr>
            <p:ph type="title"/>
          </p:nvPr>
        </p:nvSpPr>
        <p:spPr/>
        <p:txBody>
          <a:bodyPr/>
          <a:lstStyle/>
          <a:p>
            <a:r>
              <a:rPr lang="en-US" dirty="0"/>
              <a:t>3 Definitions of “Canon” (see p. 58)</a:t>
            </a:r>
          </a:p>
        </p:txBody>
      </p:sp>
      <p:sp>
        <p:nvSpPr>
          <p:cNvPr id="3" name="Content Placeholder 2">
            <a:extLst>
              <a:ext uri="{FF2B5EF4-FFF2-40B4-BE49-F238E27FC236}">
                <a16:creationId xmlns:a16="http://schemas.microsoft.com/office/drawing/2014/main" id="{933D6324-7A0E-EAC2-25A2-DD4C63436D7C}"/>
              </a:ext>
            </a:extLst>
          </p:cNvPr>
          <p:cNvSpPr>
            <a:spLocks noGrp="1"/>
          </p:cNvSpPr>
          <p:nvPr>
            <p:ph idx="1"/>
          </p:nvPr>
        </p:nvSpPr>
        <p:spPr>
          <a:xfrm>
            <a:off x="838200" y="-3186636"/>
            <a:ext cx="10515600" cy="3017308"/>
          </a:xfrm>
        </p:spPr>
        <p:txBody>
          <a:bodyPr>
            <a:normAutofit/>
          </a:bodyPr>
          <a:lstStyle/>
          <a:p>
            <a:r>
              <a:rPr lang="en-US" sz="4000" dirty="0"/>
              <a:t>The “Exclusive” definition: “A final, closed list; the final reception of a set of books” (as we have been discussing)</a:t>
            </a:r>
          </a:p>
          <a:p>
            <a:r>
              <a:rPr lang="en-US" sz="4000" dirty="0"/>
              <a:t>The “Functional” definition: “A set of books used as authoritative texts in the community”</a:t>
            </a:r>
          </a:p>
        </p:txBody>
      </p:sp>
      <p:sp>
        <p:nvSpPr>
          <p:cNvPr id="5" name="TextBox 4">
            <a:extLst>
              <a:ext uri="{FF2B5EF4-FFF2-40B4-BE49-F238E27FC236}">
                <a16:creationId xmlns:a16="http://schemas.microsoft.com/office/drawing/2014/main" id="{C5F8A6FF-6FE8-A6D4-8839-55F82D334D84}"/>
              </a:ext>
            </a:extLst>
          </p:cNvPr>
          <p:cNvSpPr txBox="1"/>
          <p:nvPr/>
        </p:nvSpPr>
        <p:spPr>
          <a:xfrm>
            <a:off x="838200" y="1371602"/>
            <a:ext cx="10515600" cy="1323439"/>
          </a:xfrm>
          <a:prstGeom prst="rect">
            <a:avLst/>
          </a:prstGeom>
          <a:noFill/>
        </p:spPr>
        <p:txBody>
          <a:bodyPr wrap="square">
            <a:spAutoFit/>
          </a:bodyPr>
          <a:lstStyle/>
          <a:p>
            <a:pPr marL="236538" indent="-236538">
              <a:buFont typeface="Arial" panose="020B0604020202020204" pitchFamily="34" charset="0"/>
              <a:buChar char="•"/>
            </a:pPr>
            <a:r>
              <a:rPr lang="en-US" sz="4000" dirty="0"/>
              <a:t>The “</a:t>
            </a:r>
            <a:r>
              <a:rPr lang="en-US" sz="4000" dirty="0">
                <a:solidFill>
                  <a:schemeClr val="tx1">
                    <a:alpha val="0"/>
                  </a:schemeClr>
                </a:solidFill>
              </a:rPr>
              <a:t>Ontological</a:t>
            </a:r>
            <a:r>
              <a:rPr lang="en-US" sz="4000" dirty="0"/>
              <a:t>” definition: “The scriptural books that God gave the corporate church”</a:t>
            </a:r>
          </a:p>
        </p:txBody>
      </p:sp>
      <p:sp>
        <p:nvSpPr>
          <p:cNvPr id="4" name="TextBox 3">
            <a:extLst>
              <a:ext uri="{FF2B5EF4-FFF2-40B4-BE49-F238E27FC236}">
                <a16:creationId xmlns:a16="http://schemas.microsoft.com/office/drawing/2014/main" id="{FB005490-FDEB-B769-8862-22244A751D69}"/>
              </a:ext>
            </a:extLst>
          </p:cNvPr>
          <p:cNvSpPr txBox="1"/>
          <p:nvPr/>
        </p:nvSpPr>
        <p:spPr>
          <a:xfrm>
            <a:off x="304800" y="2915176"/>
            <a:ext cx="11582400" cy="3785652"/>
          </a:xfrm>
          <a:prstGeom prst="rect">
            <a:avLst/>
          </a:prstGeom>
          <a:noFill/>
        </p:spPr>
        <p:txBody>
          <a:bodyPr wrap="square" rtlCol="0">
            <a:spAutoFit/>
          </a:bodyPr>
          <a:lstStyle/>
          <a:p>
            <a:pPr algn="ctr"/>
            <a:r>
              <a:rPr lang="en-US" sz="3000" dirty="0"/>
              <a:t>“God’s books are authoritative prior to anyone using them or recognizing them. Surely, the existence of canon and the recognition of canon are two distinguishable phenomena. Why, then, should the term </a:t>
            </a:r>
            <a:r>
              <a:rPr lang="en-US" sz="3000" i="1" dirty="0"/>
              <a:t>canon</a:t>
            </a:r>
            <a:r>
              <a:rPr lang="en-US" sz="3000" dirty="0"/>
              <a:t> be restricted to only the latter? This distinction is critical because it reminds us that neither the church’s use of these books (functional definition) nor the church’s final reception of these books (exclusive definition) is what </a:t>
            </a:r>
            <a:r>
              <a:rPr lang="en-US" sz="3000" i="1" dirty="0"/>
              <a:t>makes</a:t>
            </a:r>
            <a:r>
              <a:rPr lang="en-US" sz="3000" dirty="0"/>
              <a:t> them canonical. </a:t>
            </a:r>
            <a:r>
              <a:rPr lang="en-US" sz="3000" dirty="0">
                <a:solidFill>
                  <a:schemeClr val="accent2"/>
                </a:solidFill>
              </a:rPr>
              <a:t>They are canonical by virtue of what they </a:t>
            </a:r>
            <a:r>
              <a:rPr lang="en-US" sz="3000" i="1" dirty="0">
                <a:solidFill>
                  <a:schemeClr val="accent2"/>
                </a:solidFill>
              </a:rPr>
              <a:t>are</a:t>
            </a:r>
            <a:r>
              <a:rPr lang="en-US" sz="3000" dirty="0">
                <a:solidFill>
                  <a:schemeClr val="accent2"/>
                </a:solidFill>
              </a:rPr>
              <a:t>, namely, God’s books</a:t>
            </a:r>
            <a:r>
              <a:rPr lang="en-US" sz="3000" dirty="0"/>
              <a:t>” (p. 58)</a:t>
            </a:r>
          </a:p>
        </p:txBody>
      </p:sp>
      <p:sp>
        <p:nvSpPr>
          <p:cNvPr id="6" name="!!Ontological"/>
          <p:cNvSpPr txBox="1"/>
          <p:nvPr/>
        </p:nvSpPr>
        <p:spPr>
          <a:xfrm>
            <a:off x="2133600" y="1371600"/>
            <a:ext cx="2794000" cy="812800"/>
          </a:xfrm>
          <a:prstGeom prst="rect">
            <a:avLst/>
          </a:prstGeom>
          <a:noFill/>
        </p:spPr>
        <p:txBody>
          <a:bodyPr wrap="none" rtlCol="0">
            <a:noAutofit/>
          </a:bodyPr>
          <a:lstStyle/>
          <a:p>
            <a:pPr marL="0" indent="0">
              <a:buNone/>
            </a:pPr>
            <a:r>
              <a:rPr lang="en-US" sz="4000" dirty="0"/>
              <a:t>Ontological</a:t>
            </a:r>
          </a:p>
        </p:txBody>
      </p:sp>
      <p:sp>
        <p:nvSpPr>
          <p:cNvPr id="7" name="!!Exclusive"/>
          <p:cNvSpPr txBox="1"/>
          <p:nvPr/>
        </p:nvSpPr>
        <p:spPr>
          <a:xfrm>
            <a:off x="2298700" y="-1397000"/>
            <a:ext cx="2413000" cy="812800"/>
          </a:xfrm>
          <a:prstGeom prst="rect">
            <a:avLst/>
          </a:prstGeom>
          <a:noFill/>
        </p:spPr>
        <p:txBody>
          <a:bodyPr wrap="none" rtlCol="0">
            <a:noAutofit/>
          </a:bodyPr>
          <a:lstStyle/>
          <a:p>
            <a:pPr marL="0" indent="0">
              <a:buNone/>
            </a:pPr>
            <a:r>
              <a:rPr lang="en-US" sz="4000" dirty="0"/>
              <a:t>Exclusive,</a:t>
            </a:r>
          </a:p>
        </p:txBody>
      </p:sp>
      <p:sp>
        <p:nvSpPr>
          <p:cNvPr id="8" name="!!Functional"/>
          <p:cNvSpPr txBox="1"/>
          <p:nvPr/>
        </p:nvSpPr>
        <p:spPr>
          <a:xfrm>
            <a:off x="4610100" y="-1397000"/>
            <a:ext cx="2730500" cy="812800"/>
          </a:xfrm>
          <a:prstGeom prst="rect">
            <a:avLst/>
          </a:prstGeom>
          <a:noFill/>
        </p:spPr>
        <p:txBody>
          <a:bodyPr wrap="none" rtlCol="0">
            <a:noAutofit/>
          </a:bodyPr>
          <a:lstStyle/>
          <a:p>
            <a:pPr marL="0" indent="0">
              <a:buNone/>
            </a:pPr>
            <a:r>
              <a:rPr lang="en-US" sz="4000" dirty="0"/>
              <a:t>Functional,</a:t>
            </a:r>
          </a:p>
        </p:txBody>
      </p:sp>
    </p:spTree>
    <p:extLst>
      <p:ext uri="{BB962C8B-B14F-4D97-AF65-F5344CB8AC3E}">
        <p14:creationId xmlns:p14="http://schemas.microsoft.com/office/powerpoint/2010/main" val="746982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01A36-4745-1C4D-571D-E92533EBC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8A1D11-193F-D84A-E604-0C2595D1EC9D}"/>
              </a:ext>
            </a:extLst>
          </p:cNvPr>
          <p:cNvSpPr>
            <a:spLocks noGrp="1"/>
          </p:cNvSpPr>
          <p:nvPr>
            <p:ph type="title"/>
          </p:nvPr>
        </p:nvSpPr>
        <p:spPr/>
        <p:txBody>
          <a:bodyPr/>
          <a:lstStyle/>
          <a:p>
            <a:r>
              <a:rPr lang="en-US" dirty="0"/>
              <a:t>3 Definitions of “Canon” (see p. 58)</a:t>
            </a:r>
          </a:p>
        </p:txBody>
      </p:sp>
      <p:sp>
        <p:nvSpPr>
          <p:cNvPr id="3" name="Content Placeholder 2">
            <a:extLst>
              <a:ext uri="{FF2B5EF4-FFF2-40B4-BE49-F238E27FC236}">
                <a16:creationId xmlns:a16="http://schemas.microsoft.com/office/drawing/2014/main" id="{5BC35EE5-0E7F-2087-9DB3-651782902F4D}"/>
              </a:ext>
            </a:extLst>
          </p:cNvPr>
          <p:cNvSpPr>
            <a:spLocks noGrp="1"/>
          </p:cNvSpPr>
          <p:nvPr>
            <p:ph idx="1"/>
          </p:nvPr>
        </p:nvSpPr>
        <p:spPr>
          <a:xfrm>
            <a:off x="838200" y="-3186636"/>
            <a:ext cx="10515600" cy="3017308"/>
          </a:xfrm>
        </p:spPr>
        <p:txBody>
          <a:bodyPr>
            <a:normAutofit/>
          </a:bodyPr>
          <a:lstStyle/>
          <a:p>
            <a:r>
              <a:rPr lang="en-US" sz="4000" dirty="0"/>
              <a:t>The “Exclusive” definition: “A final, closed list; the final reception of a set of books” (as we have been discussing)</a:t>
            </a:r>
          </a:p>
          <a:p>
            <a:r>
              <a:rPr lang="en-US" sz="4000" dirty="0"/>
              <a:t>The “Functional” definition: “A set of books used as authoritative texts in the community”</a:t>
            </a:r>
          </a:p>
        </p:txBody>
      </p:sp>
      <p:sp>
        <p:nvSpPr>
          <p:cNvPr id="5" name="!!Ontological">
            <a:extLst>
              <a:ext uri="{FF2B5EF4-FFF2-40B4-BE49-F238E27FC236}">
                <a16:creationId xmlns:a16="http://schemas.microsoft.com/office/drawing/2014/main" id="{C3E7FA11-7450-00AE-E4BC-E7F68AD9D00F}"/>
              </a:ext>
            </a:extLst>
          </p:cNvPr>
          <p:cNvSpPr txBox="1"/>
          <p:nvPr/>
        </p:nvSpPr>
        <p:spPr>
          <a:xfrm>
            <a:off x="7232650" y="2095500"/>
            <a:ext cx="2794000" cy="812800"/>
          </a:xfrm>
          <a:prstGeom prst="rect">
            <a:avLst/>
          </a:prstGeom>
          <a:noFill/>
        </p:spPr>
        <p:txBody>
          <a:bodyPr wrap="none">
            <a:noAutofit/>
          </a:bodyPr>
          <a:lstStyle/>
          <a:p>
            <a:pPr marL="0" indent="0">
              <a:buNone/>
            </a:pPr>
            <a:r>
              <a:rPr lang="en-US" sz="4000" dirty="0"/>
              <a:t>Ontological</a:t>
            </a:r>
          </a:p>
        </p:txBody>
      </p:sp>
      <p:sp>
        <p:nvSpPr>
          <p:cNvPr id="7" name="TextBox 6">
            <a:extLst>
              <a:ext uri="{FF2B5EF4-FFF2-40B4-BE49-F238E27FC236}">
                <a16:creationId xmlns:a16="http://schemas.microsoft.com/office/drawing/2014/main" id="{72D05861-D79D-4DAC-389D-9575C31722F0}"/>
              </a:ext>
            </a:extLst>
          </p:cNvPr>
          <p:cNvSpPr txBox="1"/>
          <p:nvPr/>
        </p:nvSpPr>
        <p:spPr>
          <a:xfrm>
            <a:off x="0" y="3384332"/>
            <a:ext cx="12192000" cy="3108543"/>
          </a:xfrm>
          <a:prstGeom prst="rect">
            <a:avLst/>
          </a:prstGeom>
          <a:noFill/>
        </p:spPr>
        <p:txBody>
          <a:bodyPr wrap="square">
            <a:spAutoFit/>
          </a:bodyPr>
          <a:lstStyle/>
          <a:p>
            <a:pPr marL="0" marR="0" algn="ctr">
              <a:buNone/>
            </a:pPr>
            <a:r>
              <a:rPr lang="en-US" sz="2800" dirty="0">
                <a:effectLst/>
                <a:latin typeface="+mn-lt"/>
              </a:rPr>
              <a:t>“If we are to be balanced, it seems we need </a:t>
            </a:r>
            <a:r>
              <a:rPr lang="en-US" sz="2800" i="1" dirty="0">
                <a:effectLst/>
                <a:latin typeface="+mn-lt"/>
              </a:rPr>
              <a:t>three</a:t>
            </a:r>
            <a:r>
              <a:rPr lang="en-US" sz="2800" dirty="0">
                <a:effectLst/>
                <a:latin typeface="+mn-lt"/>
              </a:rPr>
              <a:t> aspects to our definition of canon: canon as </a:t>
            </a:r>
            <a:r>
              <a:rPr lang="en-US" sz="2800" dirty="0">
                <a:solidFill>
                  <a:schemeClr val="accent2"/>
                </a:solidFill>
                <a:effectLst/>
                <a:latin typeface="+mn-lt"/>
              </a:rPr>
              <a:t>reception (exclusive)</a:t>
            </a:r>
            <a:r>
              <a:rPr lang="en-US" sz="2800" dirty="0">
                <a:effectLst/>
                <a:latin typeface="+mn-lt"/>
              </a:rPr>
              <a:t>,</a:t>
            </a:r>
            <a:r>
              <a:rPr lang="en-US" sz="2800" dirty="0">
                <a:solidFill>
                  <a:schemeClr val="accent2"/>
                </a:solidFill>
                <a:effectLst/>
                <a:latin typeface="+mn-lt"/>
              </a:rPr>
              <a:t> </a:t>
            </a:r>
            <a:r>
              <a:rPr lang="en-US" sz="2800" dirty="0">
                <a:effectLst/>
                <a:latin typeface="+mn-lt"/>
              </a:rPr>
              <a:t>canon as </a:t>
            </a:r>
            <a:r>
              <a:rPr lang="en-US" sz="2800" dirty="0">
                <a:solidFill>
                  <a:schemeClr val="accent2"/>
                </a:solidFill>
                <a:effectLst/>
                <a:latin typeface="+mn-lt"/>
              </a:rPr>
              <a:t>use (functional)</a:t>
            </a:r>
            <a:r>
              <a:rPr lang="en-US" sz="2800" dirty="0">
                <a:effectLst/>
                <a:latin typeface="+mn-lt"/>
              </a:rPr>
              <a:t>,</a:t>
            </a:r>
            <a:r>
              <a:rPr lang="en-US" sz="2800" dirty="0">
                <a:solidFill>
                  <a:schemeClr val="accent2"/>
                </a:solidFill>
                <a:effectLst/>
                <a:latin typeface="+mn-lt"/>
              </a:rPr>
              <a:t> </a:t>
            </a:r>
            <a:r>
              <a:rPr lang="en-US" sz="2800" dirty="0">
                <a:effectLst/>
                <a:latin typeface="+mn-lt"/>
              </a:rPr>
              <a:t>and canon as </a:t>
            </a:r>
            <a:r>
              <a:rPr lang="en-US" sz="2800" dirty="0">
                <a:solidFill>
                  <a:schemeClr val="accent2"/>
                </a:solidFill>
                <a:effectLst/>
                <a:latin typeface="+mn-lt"/>
              </a:rPr>
              <a:t>divinely given (ontological)</a:t>
            </a:r>
            <a:r>
              <a:rPr lang="en-US" sz="2800" dirty="0">
                <a:effectLst/>
                <a:latin typeface="+mn-lt"/>
              </a:rPr>
              <a:t>.</a:t>
            </a:r>
            <a:r>
              <a:rPr lang="en-US" sz="2800" dirty="0">
                <a:solidFill>
                  <a:schemeClr val="accent2"/>
                </a:solidFill>
                <a:effectLst/>
                <a:latin typeface="+mn-lt"/>
              </a:rPr>
              <a:t> </a:t>
            </a:r>
            <a:r>
              <a:rPr lang="en-US" sz="2800" dirty="0">
                <a:effectLst/>
                <a:latin typeface="+mn-lt"/>
              </a:rPr>
              <a:t>As we shall discuss further below, we are not forced to choose between these three, but can recognize that each of them captures true aspects of canon. When all three are considered in tandem, their weaknesses can be balanced out, and a more well-rounded understanding of canon can emerge” (pp. 58-59)</a:t>
            </a:r>
          </a:p>
        </p:txBody>
      </p:sp>
      <p:sp>
        <p:nvSpPr>
          <p:cNvPr id="4" name="!!Exclusive">
            <a:extLst>
              <a:ext uri="{FF2B5EF4-FFF2-40B4-BE49-F238E27FC236}">
                <a16:creationId xmlns:a16="http://schemas.microsoft.com/office/drawing/2014/main" id="{B7DFA44A-A7E9-6441-BD97-7C046A5A802F}"/>
              </a:ext>
            </a:extLst>
          </p:cNvPr>
          <p:cNvSpPr txBox="1"/>
          <p:nvPr/>
        </p:nvSpPr>
        <p:spPr>
          <a:xfrm>
            <a:off x="2298700" y="2095500"/>
            <a:ext cx="2413000" cy="812800"/>
          </a:xfrm>
          <a:prstGeom prst="rect">
            <a:avLst/>
          </a:prstGeom>
          <a:noFill/>
        </p:spPr>
        <p:txBody>
          <a:bodyPr vertOverflow="overflow" vert="horz" wrap="none" rtlCol="0" anchor="t">
            <a:noAutofit/>
          </a:bodyPr>
          <a:lstStyle/>
          <a:p>
            <a:pPr marL="0" indent="0">
              <a:buNone/>
            </a:pPr>
            <a:r>
              <a:rPr lang="en-US" sz="4000" dirty="0"/>
              <a:t>Exclusive,</a:t>
            </a:r>
          </a:p>
        </p:txBody>
      </p:sp>
      <p:sp>
        <p:nvSpPr>
          <p:cNvPr id="6" name="!!Functional">
            <a:extLst>
              <a:ext uri="{FF2B5EF4-FFF2-40B4-BE49-F238E27FC236}">
                <a16:creationId xmlns:a16="http://schemas.microsoft.com/office/drawing/2014/main" id="{098B4EFE-A387-5248-9DD7-02A2B607395E}"/>
              </a:ext>
            </a:extLst>
          </p:cNvPr>
          <p:cNvSpPr txBox="1"/>
          <p:nvPr/>
        </p:nvSpPr>
        <p:spPr>
          <a:xfrm>
            <a:off x="4610100" y="2095500"/>
            <a:ext cx="2730500" cy="812800"/>
          </a:xfrm>
          <a:prstGeom prst="rect">
            <a:avLst/>
          </a:prstGeom>
          <a:noFill/>
        </p:spPr>
        <p:txBody>
          <a:bodyPr vertOverflow="overflow" vert="horz" wrap="none" rtlCol="0" anchor="t">
            <a:noAutofit/>
          </a:bodyPr>
          <a:lstStyle/>
          <a:p>
            <a:pPr marL="0" indent="0">
              <a:buNone/>
            </a:pPr>
            <a:r>
              <a:rPr lang="en-US" sz="4000" dirty="0"/>
              <a:t>Functional,</a:t>
            </a:r>
          </a:p>
        </p:txBody>
      </p:sp>
    </p:spTree>
    <p:extLst>
      <p:ext uri="{BB962C8B-B14F-4D97-AF65-F5344CB8AC3E}">
        <p14:creationId xmlns:p14="http://schemas.microsoft.com/office/powerpoint/2010/main" val="42358366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D503C-0269-EF32-0853-B868FE253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A7E6EC-5478-4B8F-C717-5D442A1E2A81}"/>
              </a:ext>
            </a:extLst>
          </p:cNvPr>
          <p:cNvSpPr>
            <a:spLocks noGrp="1"/>
          </p:cNvSpPr>
          <p:nvPr>
            <p:ph type="title"/>
          </p:nvPr>
        </p:nvSpPr>
        <p:spPr/>
        <p:txBody>
          <a:bodyPr/>
          <a:lstStyle/>
          <a:p>
            <a:r>
              <a:rPr lang="en-US" dirty="0"/>
              <a:t>When is the Canon Established?</a:t>
            </a:r>
          </a:p>
        </p:txBody>
      </p:sp>
      <p:sp>
        <p:nvSpPr>
          <p:cNvPr id="7" name="Rectangle 6">
            <a:extLst>
              <a:ext uri="{FF2B5EF4-FFF2-40B4-BE49-F238E27FC236}">
                <a16:creationId xmlns:a16="http://schemas.microsoft.com/office/drawing/2014/main" id="{FAF34166-F20E-A04A-77E5-4075DB9509CE}"/>
              </a:ext>
            </a:extLst>
          </p:cNvPr>
          <p:cNvSpPr/>
          <p:nvPr/>
        </p:nvSpPr>
        <p:spPr>
          <a:xfrm>
            <a:off x="887730"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AF6BACC-4C16-16F5-6CEC-9ACCDBCD936D}"/>
              </a:ext>
            </a:extLst>
          </p:cNvPr>
          <p:cNvSpPr/>
          <p:nvPr/>
        </p:nvSpPr>
        <p:spPr>
          <a:xfrm rot="16200000">
            <a:off x="796873"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A3A413C-643E-33BE-4F30-055C8013E772}"/>
              </a:ext>
            </a:extLst>
          </p:cNvPr>
          <p:cNvSpPr/>
          <p:nvPr/>
        </p:nvSpPr>
        <p:spPr>
          <a:xfrm rot="16200000">
            <a:off x="11160238"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descr="Generated image: Stick Figure Presenting an Ancient Scroll">
            <a:extLst>
              <a:ext uri="{FF2B5EF4-FFF2-40B4-BE49-F238E27FC236}">
                <a16:creationId xmlns:a16="http://schemas.microsoft.com/office/drawing/2014/main" id="{6C31EA86-9B35-EF89-A86A-0DABBE51DDDF}"/>
              </a:ext>
            </a:extLst>
          </p:cNvPr>
          <p:cNvPicPr>
            <a:picLocks noChangeAspect="1"/>
          </p:cNvPicPr>
          <p:nvPr/>
        </p:nvPicPr>
        <p:blipFill rotWithShape="1">
          <a:blip r:embed="rId2"/>
          <a:srcRect l="36294" t="13897" r="20000" b="34902"/>
          <a:stretch>
            <a:fillRect/>
          </a:stretch>
        </p:blipFill>
        <p:spPr>
          <a:xfrm flipH="1">
            <a:off x="-256205" y="4440109"/>
            <a:ext cx="2418438" cy="2833173"/>
          </a:xfrm>
          <a:prstGeom prst="rect">
            <a:avLst/>
          </a:prstGeom>
        </p:spPr>
      </p:pic>
      <p:pic>
        <p:nvPicPr>
          <p:cNvPr id="11" name="Picture 10" descr="Generated image: Stick Figure Presenting an Ancient Scroll">
            <a:extLst>
              <a:ext uri="{FF2B5EF4-FFF2-40B4-BE49-F238E27FC236}">
                <a16:creationId xmlns:a16="http://schemas.microsoft.com/office/drawing/2014/main" id="{96FC2E77-90A7-4C74-5B8E-B4F0C01E26C8}"/>
              </a:ext>
            </a:extLst>
          </p:cNvPr>
          <p:cNvPicPr>
            <a:picLocks noChangeAspect="1"/>
          </p:cNvPicPr>
          <p:nvPr/>
        </p:nvPicPr>
        <p:blipFill rotWithShape="1">
          <a:blip r:embed="rId2"/>
          <a:srcRect l="36294" t="13897" r="20000" b="34902"/>
          <a:stretch>
            <a:fillRect/>
          </a:stretch>
        </p:blipFill>
        <p:spPr>
          <a:xfrm flipH="1">
            <a:off x="10107159" y="4440109"/>
            <a:ext cx="2418439" cy="2833174"/>
          </a:xfrm>
          <a:prstGeom prst="rect">
            <a:avLst/>
          </a:prstGeom>
        </p:spPr>
      </p:pic>
      <p:sp>
        <p:nvSpPr>
          <p:cNvPr id="14" name="TextBox 13">
            <a:extLst>
              <a:ext uri="{FF2B5EF4-FFF2-40B4-BE49-F238E27FC236}">
                <a16:creationId xmlns:a16="http://schemas.microsoft.com/office/drawing/2014/main" id="{89AB26C0-67F8-0C1E-6811-6B8E00DA7A87}"/>
              </a:ext>
            </a:extLst>
          </p:cNvPr>
          <p:cNvSpPr txBox="1"/>
          <p:nvPr/>
        </p:nvSpPr>
        <p:spPr>
          <a:xfrm>
            <a:off x="0"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15" name="TextBox 14">
            <a:extLst>
              <a:ext uri="{FF2B5EF4-FFF2-40B4-BE49-F238E27FC236}">
                <a16:creationId xmlns:a16="http://schemas.microsoft.com/office/drawing/2014/main" id="{0034A8C7-7F5F-C4FA-C21D-3C2ECC647332}"/>
              </a:ext>
            </a:extLst>
          </p:cNvPr>
          <p:cNvSpPr txBox="1"/>
          <p:nvPr/>
        </p:nvSpPr>
        <p:spPr>
          <a:xfrm>
            <a:off x="9979647"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29" name="Rectangle 28">
            <a:extLst>
              <a:ext uri="{FF2B5EF4-FFF2-40B4-BE49-F238E27FC236}">
                <a16:creationId xmlns:a16="http://schemas.microsoft.com/office/drawing/2014/main" id="{FD646694-2FEA-D471-21A3-580B95BAD30B}"/>
              </a:ext>
            </a:extLst>
          </p:cNvPr>
          <p:cNvSpPr/>
          <p:nvPr/>
        </p:nvSpPr>
        <p:spPr>
          <a:xfrm rot="16200000">
            <a:off x="4769336"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30" name="Picture 29" descr="Generated image: Stick Figure Presenting an Ancient Scroll">
            <a:extLst>
              <a:ext uri="{FF2B5EF4-FFF2-40B4-BE49-F238E27FC236}">
                <a16:creationId xmlns:a16="http://schemas.microsoft.com/office/drawing/2014/main" id="{7E76A3AC-12ED-137C-E789-CE94D2D68170}"/>
              </a:ext>
            </a:extLst>
          </p:cNvPr>
          <p:cNvPicPr>
            <a:picLocks noChangeAspect="1"/>
          </p:cNvPicPr>
          <p:nvPr/>
        </p:nvPicPr>
        <p:blipFill rotWithShape="1">
          <a:blip r:embed="rId2"/>
          <a:srcRect l="36294" t="13897" r="20000" b="34902"/>
          <a:stretch>
            <a:fillRect/>
          </a:stretch>
        </p:blipFill>
        <p:spPr>
          <a:xfrm flipH="1">
            <a:off x="3716258" y="4440109"/>
            <a:ext cx="2418438" cy="2833173"/>
          </a:xfrm>
          <a:prstGeom prst="rect">
            <a:avLst/>
          </a:prstGeom>
        </p:spPr>
      </p:pic>
      <p:sp>
        <p:nvSpPr>
          <p:cNvPr id="31" name="TextBox 30">
            <a:extLst>
              <a:ext uri="{FF2B5EF4-FFF2-40B4-BE49-F238E27FC236}">
                <a16:creationId xmlns:a16="http://schemas.microsoft.com/office/drawing/2014/main" id="{B4584370-24C1-0B08-8CB1-7122447D2D38}"/>
              </a:ext>
            </a:extLst>
          </p:cNvPr>
          <p:cNvSpPr txBox="1"/>
          <p:nvPr/>
        </p:nvSpPr>
        <p:spPr>
          <a:xfrm>
            <a:off x="3826914" y="3672199"/>
            <a:ext cx="2197126" cy="369332"/>
          </a:xfrm>
          <a:prstGeom prst="rect">
            <a:avLst/>
          </a:prstGeom>
          <a:noFill/>
        </p:spPr>
        <p:txBody>
          <a:bodyPr wrap="square" rtlCol="0">
            <a:spAutoFit/>
          </a:bodyPr>
          <a:lstStyle/>
          <a:p>
            <a:pPr algn="ctr"/>
            <a:r>
              <a:rPr lang="en-US" b="1" dirty="0"/>
              <a:t>2</a:t>
            </a:r>
            <a:r>
              <a:rPr lang="en-US" b="1" baseline="30000" dirty="0"/>
              <a:t>nd</a:t>
            </a:r>
            <a:r>
              <a:rPr lang="en-US" b="1" dirty="0"/>
              <a:t> century AD</a:t>
            </a:r>
          </a:p>
        </p:txBody>
      </p:sp>
      <p:sp>
        <p:nvSpPr>
          <p:cNvPr id="32" name="!!Ontological">
            <a:extLst>
              <a:ext uri="{FF2B5EF4-FFF2-40B4-BE49-F238E27FC236}">
                <a16:creationId xmlns:a16="http://schemas.microsoft.com/office/drawing/2014/main" id="{359E1A2A-6D9A-7786-9E1A-5BEBE8483B77}"/>
              </a:ext>
            </a:extLst>
          </p:cNvPr>
          <p:cNvSpPr txBox="1"/>
          <p:nvPr/>
        </p:nvSpPr>
        <p:spPr>
          <a:xfrm>
            <a:off x="7232650" y="2095500"/>
            <a:ext cx="2794000" cy="812800"/>
          </a:xfrm>
          <a:prstGeom prst="rect">
            <a:avLst/>
          </a:prstGeom>
          <a:noFill/>
        </p:spPr>
        <p:txBody>
          <a:bodyPr wrap="none">
            <a:noAutofit/>
          </a:bodyPr>
          <a:lstStyle/>
          <a:p>
            <a:pPr marL="0" indent="0">
              <a:buNone/>
            </a:pPr>
            <a:r>
              <a:rPr lang="en-US" sz="4000" dirty="0"/>
              <a:t>Ontological</a:t>
            </a:r>
          </a:p>
        </p:txBody>
      </p:sp>
      <p:sp>
        <p:nvSpPr>
          <p:cNvPr id="33" name="!!Exclusive">
            <a:extLst>
              <a:ext uri="{FF2B5EF4-FFF2-40B4-BE49-F238E27FC236}">
                <a16:creationId xmlns:a16="http://schemas.microsoft.com/office/drawing/2014/main" id="{143D6818-B063-018A-38C0-7BB77DDB1F46}"/>
              </a:ext>
            </a:extLst>
          </p:cNvPr>
          <p:cNvSpPr txBox="1"/>
          <p:nvPr/>
        </p:nvSpPr>
        <p:spPr>
          <a:xfrm>
            <a:off x="2298700" y="2095500"/>
            <a:ext cx="2413000" cy="812800"/>
          </a:xfrm>
          <a:prstGeom prst="rect">
            <a:avLst/>
          </a:prstGeom>
          <a:noFill/>
        </p:spPr>
        <p:txBody>
          <a:bodyPr vertOverflow="overflow" vert="horz" wrap="none" rtlCol="0" anchor="t">
            <a:noAutofit/>
          </a:bodyPr>
          <a:lstStyle/>
          <a:p>
            <a:pPr marL="0" indent="0">
              <a:buNone/>
            </a:pPr>
            <a:r>
              <a:rPr lang="en-US" sz="4000" dirty="0"/>
              <a:t>Exclusive</a:t>
            </a:r>
          </a:p>
        </p:txBody>
      </p:sp>
      <p:sp>
        <p:nvSpPr>
          <p:cNvPr id="34" name="!!Functional">
            <a:extLst>
              <a:ext uri="{FF2B5EF4-FFF2-40B4-BE49-F238E27FC236}">
                <a16:creationId xmlns:a16="http://schemas.microsoft.com/office/drawing/2014/main" id="{1DC0C3FB-E3EA-24B7-71AF-64E98AFF3F60}"/>
              </a:ext>
            </a:extLst>
          </p:cNvPr>
          <p:cNvSpPr txBox="1"/>
          <p:nvPr/>
        </p:nvSpPr>
        <p:spPr>
          <a:xfrm>
            <a:off x="4610100" y="2095500"/>
            <a:ext cx="2730500" cy="812800"/>
          </a:xfrm>
          <a:prstGeom prst="rect">
            <a:avLst/>
          </a:prstGeom>
          <a:noFill/>
        </p:spPr>
        <p:txBody>
          <a:bodyPr vertOverflow="overflow" vert="horz" wrap="none" rtlCol="0" anchor="t">
            <a:noAutofit/>
          </a:bodyPr>
          <a:lstStyle/>
          <a:p>
            <a:pPr marL="0" indent="0">
              <a:buNone/>
            </a:pPr>
            <a:r>
              <a:rPr lang="en-US" sz="4000" dirty="0"/>
              <a:t>Functional</a:t>
            </a:r>
          </a:p>
        </p:txBody>
      </p:sp>
    </p:spTree>
    <p:extLst>
      <p:ext uri="{BB962C8B-B14F-4D97-AF65-F5344CB8AC3E}">
        <p14:creationId xmlns:p14="http://schemas.microsoft.com/office/powerpoint/2010/main" val="236981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5.55112E-17 -4.81481E-6 L 0.62331 0.12153 " pathEditMode="relative" rAng="0" ptsTypes="AA">
                                      <p:cBhvr>
                                        <p:cTn id="6" dur="2000" fill="hold"/>
                                        <p:tgtEl>
                                          <p:spTgt spid="33"/>
                                        </p:tgtEl>
                                        <p:attrNameLst>
                                          <p:attrName>ppt_x</p:attrName>
                                          <p:attrName>ppt_y</p:attrName>
                                        </p:attrNameLst>
                                      </p:cBhvr>
                                      <p:rCtr x="31159" y="6065"/>
                                    </p:animMotion>
                                  </p:childTnLst>
                                </p:cTn>
                              </p:par>
                              <p:par>
                                <p:cTn id="7" presetID="0" presetClass="path" presetSubtype="0" accel="50000" decel="50000" fill="hold" grpId="0" nodeType="withEffect">
                                  <p:stCondLst>
                                    <p:cond delay="0"/>
                                  </p:stCondLst>
                                  <p:childTnLst>
                                    <p:animMotion origin="layout" path="M -4.16667E-6 -4.81481E-6 L -0.07005 0.12153 " pathEditMode="relative" rAng="0" ptsTypes="AA">
                                      <p:cBhvr>
                                        <p:cTn id="8" dur="2000" fill="hold"/>
                                        <p:tgtEl>
                                          <p:spTgt spid="34"/>
                                        </p:tgtEl>
                                        <p:attrNameLst>
                                          <p:attrName>ppt_x</p:attrName>
                                          <p:attrName>ppt_y</p:attrName>
                                        </p:attrNameLst>
                                      </p:cBhvr>
                                      <p:rCtr x="-3503" y="6065"/>
                                    </p:animMotion>
                                  </p:childTnLst>
                                </p:cTn>
                              </p:par>
                              <p:par>
                                <p:cTn id="9" presetID="0" presetClass="path" presetSubtype="0" accel="50000" decel="50000" fill="hold" grpId="0" nodeType="withEffect">
                                  <p:stCondLst>
                                    <p:cond delay="0"/>
                                  </p:stCondLst>
                                  <p:childTnLst>
                                    <p:animMotion origin="layout" path="M -2.5E-6 -4.81481E-6 L -0.5875 0.12153 " pathEditMode="relative" rAng="0" ptsTypes="AA">
                                      <p:cBhvr>
                                        <p:cTn id="10" dur="2000" fill="hold"/>
                                        <p:tgtEl>
                                          <p:spTgt spid="32"/>
                                        </p:tgtEl>
                                        <p:attrNameLst>
                                          <p:attrName>ppt_x</p:attrName>
                                          <p:attrName>ppt_y</p:attrName>
                                        </p:attrNameLst>
                                      </p:cBhvr>
                                      <p:rCtr x="-29375" y="606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CB7F8-2905-4686-5C29-AF7333237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F97BEA-E388-227B-4716-EF136DC55C56}"/>
              </a:ext>
            </a:extLst>
          </p:cNvPr>
          <p:cNvSpPr>
            <a:spLocks noGrp="1"/>
          </p:cNvSpPr>
          <p:nvPr>
            <p:ph type="title"/>
          </p:nvPr>
        </p:nvSpPr>
        <p:spPr/>
        <p:txBody>
          <a:bodyPr/>
          <a:lstStyle/>
          <a:p>
            <a:r>
              <a:rPr lang="en-US" dirty="0"/>
              <a:t>Pushback to Kruger</a:t>
            </a:r>
          </a:p>
        </p:txBody>
      </p:sp>
      <p:sp>
        <p:nvSpPr>
          <p:cNvPr id="3" name="Content Placeholder 2">
            <a:extLst>
              <a:ext uri="{FF2B5EF4-FFF2-40B4-BE49-F238E27FC236}">
                <a16:creationId xmlns:a16="http://schemas.microsoft.com/office/drawing/2014/main" id="{A4AE1C7E-C302-FD57-E865-0018FE91892C}"/>
              </a:ext>
            </a:extLst>
          </p:cNvPr>
          <p:cNvSpPr>
            <a:spLocks noGrp="1"/>
          </p:cNvSpPr>
          <p:nvPr>
            <p:ph idx="1"/>
          </p:nvPr>
        </p:nvSpPr>
        <p:spPr>
          <a:xfrm>
            <a:off x="838200" y="1825624"/>
            <a:ext cx="10515600" cy="4865107"/>
          </a:xfrm>
        </p:spPr>
        <p:txBody>
          <a:bodyPr>
            <a:normAutofit/>
          </a:bodyPr>
          <a:lstStyle/>
          <a:p>
            <a:r>
              <a:rPr lang="en-US" sz="3600" dirty="0"/>
              <a:t>The question is, “</a:t>
            </a:r>
            <a:r>
              <a:rPr lang="en-US" sz="3600" i="1" dirty="0"/>
              <a:t>Which</a:t>
            </a:r>
            <a:r>
              <a:rPr lang="en-US" sz="3600" dirty="0"/>
              <a:t> books did God give us?”</a:t>
            </a:r>
          </a:p>
          <a:p>
            <a:r>
              <a:rPr lang="en-US" sz="3600" dirty="0"/>
              <a:t>It is true that the books we should have in our canon are books “from God,” but the ancient church debated on </a:t>
            </a:r>
            <a:r>
              <a:rPr lang="en-US" sz="3600" i="1" dirty="0"/>
              <a:t>which</a:t>
            </a:r>
            <a:r>
              <a:rPr lang="en-US" sz="3600" dirty="0"/>
              <a:t> books those were!</a:t>
            </a:r>
          </a:p>
          <a:p>
            <a:r>
              <a:rPr lang="en-US" sz="3600" dirty="0"/>
              <a:t>We will not be abandoning the definition of “canon,” but Kruger does give a good reminder that God had a part to play in the creation of the books</a:t>
            </a:r>
          </a:p>
        </p:txBody>
      </p:sp>
    </p:spTree>
    <p:extLst>
      <p:ext uri="{BB962C8B-B14F-4D97-AF65-F5344CB8AC3E}">
        <p14:creationId xmlns:p14="http://schemas.microsoft.com/office/powerpoint/2010/main" val="1471462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B40C7-F82F-9352-986E-521A6C6A07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A02EF5-8BFD-8700-D4FA-EFD3C4304EB5}"/>
              </a:ext>
            </a:extLst>
          </p:cNvPr>
          <p:cNvSpPr>
            <a:spLocks noGrp="1"/>
          </p:cNvSpPr>
          <p:nvPr>
            <p:ph type="title"/>
          </p:nvPr>
        </p:nvSpPr>
        <p:spPr/>
        <p:txBody>
          <a:bodyPr/>
          <a:lstStyle/>
          <a:p>
            <a:r>
              <a:rPr lang="en-US" dirty="0"/>
              <a:t>Misunderstanding “Scripture” in the NT</a:t>
            </a:r>
          </a:p>
        </p:txBody>
      </p:sp>
      <p:sp>
        <p:nvSpPr>
          <p:cNvPr id="3" name="Content Placeholder 2">
            <a:extLst>
              <a:ext uri="{FF2B5EF4-FFF2-40B4-BE49-F238E27FC236}">
                <a16:creationId xmlns:a16="http://schemas.microsoft.com/office/drawing/2014/main" id="{F3308F8B-8BEC-9AAE-D88F-6302361B18A8}"/>
              </a:ext>
            </a:extLst>
          </p:cNvPr>
          <p:cNvSpPr>
            <a:spLocks noGrp="1"/>
          </p:cNvSpPr>
          <p:nvPr>
            <p:ph idx="1"/>
          </p:nvPr>
        </p:nvSpPr>
        <p:spPr>
          <a:xfrm>
            <a:off x="838200" y="1825624"/>
            <a:ext cx="10515600" cy="4865107"/>
          </a:xfrm>
        </p:spPr>
        <p:txBody>
          <a:bodyPr>
            <a:normAutofit/>
          </a:bodyPr>
          <a:lstStyle/>
          <a:p>
            <a:r>
              <a:rPr lang="en-US" sz="3600" dirty="0"/>
              <a:t>2 Timothy 3:16-17 (c. 1</a:t>
            </a:r>
            <a:r>
              <a:rPr lang="en-US" sz="3600" baseline="30000" dirty="0"/>
              <a:t>st</a:t>
            </a:r>
            <a:r>
              <a:rPr lang="en-US" sz="3600" dirty="0"/>
              <a:t> century): “All Scripture” = </a:t>
            </a:r>
            <a:r>
              <a:rPr lang="en-US" sz="3600" u="sng" dirty="0"/>
              <a:t>OT Scripture</a:t>
            </a:r>
            <a:r>
              <a:rPr lang="en-US" sz="3600" dirty="0"/>
              <a:t>, not “All the Bible” (NT canon not formed yet)</a:t>
            </a:r>
          </a:p>
          <a:p>
            <a:pPr marL="0" indent="0">
              <a:buNone/>
            </a:pPr>
            <a:endParaRPr lang="en-US" sz="3600" dirty="0"/>
          </a:p>
          <a:p>
            <a:r>
              <a:rPr lang="en-US" sz="3600" dirty="0"/>
              <a:t>2 Peter 3:16 (c. 50AD-100AD) = Paul’s letters being equated with </a:t>
            </a:r>
            <a:r>
              <a:rPr lang="en-US" sz="3600" u="sng" dirty="0"/>
              <a:t>OT Scripture</a:t>
            </a:r>
            <a:r>
              <a:rPr lang="en-US" sz="3600" dirty="0"/>
              <a:t> BUT STILL not “All the Bible” (NT canon not formed yet) </a:t>
            </a:r>
          </a:p>
        </p:txBody>
      </p:sp>
    </p:spTree>
    <p:extLst>
      <p:ext uri="{BB962C8B-B14F-4D97-AF65-F5344CB8AC3E}">
        <p14:creationId xmlns:p14="http://schemas.microsoft.com/office/powerpoint/2010/main" val="30490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17A58-01E1-CCC8-3F86-DC9C2B9A1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8A008-416B-BE24-100E-69549BE562FE}"/>
              </a:ext>
            </a:extLst>
          </p:cNvPr>
          <p:cNvSpPr>
            <a:spLocks noGrp="1"/>
          </p:cNvSpPr>
          <p:nvPr>
            <p:ph type="ctrTitle"/>
          </p:nvPr>
        </p:nvSpPr>
        <p:spPr>
          <a:xfrm>
            <a:off x="0" y="1435100"/>
            <a:ext cx="12192000" cy="2387600"/>
          </a:xfrm>
        </p:spPr>
        <p:txBody>
          <a:bodyPr>
            <a:normAutofit fontScale="90000"/>
          </a:bodyPr>
          <a:lstStyle/>
          <a:p>
            <a:pPr algn="ctr"/>
            <a:r>
              <a:rPr lang="en-US" b="1" dirty="0"/>
              <a:t>Class 2:</a:t>
            </a:r>
            <a:br>
              <a:rPr lang="en-US" b="1" dirty="0"/>
            </a:br>
            <a:r>
              <a:rPr lang="en-US" dirty="0"/>
              <a:t>History of Canon Discussion (19</a:t>
            </a:r>
            <a:r>
              <a:rPr lang="en-US" baseline="30000" dirty="0"/>
              <a:t>th</a:t>
            </a:r>
            <a:r>
              <a:rPr lang="en-US" dirty="0"/>
              <a:t> century)</a:t>
            </a:r>
          </a:p>
        </p:txBody>
      </p:sp>
      <p:sp>
        <p:nvSpPr>
          <p:cNvPr id="3" name="Subtitle 2">
            <a:extLst>
              <a:ext uri="{FF2B5EF4-FFF2-40B4-BE49-F238E27FC236}">
                <a16:creationId xmlns:a16="http://schemas.microsoft.com/office/drawing/2014/main" id="{4EEC99B1-7018-B5DB-B062-835C42BE8C22}"/>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7005799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EB5A4-79B5-F097-B72D-4C510CE483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EA5B15-E07E-42F7-E9A0-E0650CD78F94}"/>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162B70B3-5DA2-5133-473A-BC4FDA30B91F}"/>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600A9F09-EC77-5E26-2923-802377961B5A}"/>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38651902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33D17-ABF1-E906-2DAC-585F2A1F22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B016D-F045-121C-10AC-ED776EA4D027}"/>
              </a:ext>
            </a:extLst>
          </p:cNvPr>
          <p:cNvSpPr>
            <a:spLocks noGrp="1"/>
          </p:cNvSpPr>
          <p:nvPr>
            <p:ph type="title"/>
          </p:nvPr>
        </p:nvSpPr>
        <p:spPr/>
        <p:txBody>
          <a:bodyPr/>
          <a:lstStyle/>
          <a:p>
            <a:r>
              <a:rPr lang="en-US" dirty="0"/>
              <a:t>History of Canon Discussion</a:t>
            </a:r>
          </a:p>
        </p:txBody>
      </p:sp>
      <p:sp>
        <p:nvSpPr>
          <p:cNvPr id="3" name="Content Placeholder 2">
            <a:extLst>
              <a:ext uri="{FF2B5EF4-FFF2-40B4-BE49-F238E27FC236}">
                <a16:creationId xmlns:a16="http://schemas.microsoft.com/office/drawing/2014/main" id="{4AD34373-4A94-1407-3812-5DA660CBF11D}"/>
              </a:ext>
            </a:extLst>
          </p:cNvPr>
          <p:cNvSpPr>
            <a:spLocks noGrp="1"/>
          </p:cNvSpPr>
          <p:nvPr>
            <p:ph idx="1"/>
          </p:nvPr>
        </p:nvSpPr>
        <p:spPr/>
        <p:txBody>
          <a:bodyPr/>
          <a:lstStyle/>
          <a:p>
            <a:r>
              <a:rPr lang="en-US" dirty="0"/>
              <a:t>Middle Ages: few quotes about the NT books</a:t>
            </a:r>
          </a:p>
          <a:p>
            <a:r>
              <a:rPr lang="en-US" dirty="0"/>
              <a:t>Renaissance / Reformation: occasional questions about authorship of Hebrews, several of the Catholic Epistles, and Revelation, but “no one dared seriously to dispute their canonicity” (Metzger: p. 11)</a:t>
            </a:r>
          </a:p>
          <a:p>
            <a:r>
              <a:rPr lang="en-US" dirty="0"/>
              <a:t>Luther: Hebrews, James, Jude, and Revelation are “inferior” but did not omit them from their translations of the NT (p. 11)</a:t>
            </a:r>
          </a:p>
          <a:p>
            <a:r>
              <a:rPr lang="en-US" dirty="0"/>
              <a:t>Questions about the Canon arouse because of the Deistic movement</a:t>
            </a:r>
          </a:p>
        </p:txBody>
      </p:sp>
    </p:spTree>
    <p:extLst>
      <p:ext uri="{BB962C8B-B14F-4D97-AF65-F5344CB8AC3E}">
        <p14:creationId xmlns:p14="http://schemas.microsoft.com/office/powerpoint/2010/main" val="3165679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32E34-DC20-3F93-8381-9136D8CC81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5A75BB-0856-A247-A9AF-8B2B4B1E7E1D}"/>
              </a:ext>
            </a:extLst>
          </p:cNvPr>
          <p:cNvSpPr>
            <a:spLocks noGrp="1"/>
          </p:cNvSpPr>
          <p:nvPr>
            <p:ph type="title"/>
          </p:nvPr>
        </p:nvSpPr>
        <p:spPr>
          <a:xfrm>
            <a:off x="838200" y="365125"/>
            <a:ext cx="113538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B9501302-2CF8-BBE2-7128-FEE81EF3F1C5}"/>
              </a:ext>
            </a:extLst>
          </p:cNvPr>
          <p:cNvSpPr/>
          <p:nvPr/>
        </p:nvSpPr>
        <p:spPr>
          <a:xfrm>
            <a:off x="6030518" y="3404039"/>
            <a:ext cx="13605641"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BF19084-A183-0E11-2A26-3FE711FB33FE}"/>
              </a:ext>
            </a:extLst>
          </p:cNvPr>
          <p:cNvSpPr/>
          <p:nvPr/>
        </p:nvSpPr>
        <p:spPr>
          <a:xfrm rot="16200000">
            <a:off x="5863472"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B9B4BE8-79DC-D6A8-C01A-7E1B2C304D2B}"/>
              </a:ext>
            </a:extLst>
          </p:cNvPr>
          <p:cNvSpPr txBox="1"/>
          <p:nvPr/>
        </p:nvSpPr>
        <p:spPr>
          <a:xfrm>
            <a:off x="5428304"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5209C81D-5202-0149-A56F-951A05E8C3A6}"/>
              </a:ext>
            </a:extLst>
          </p:cNvPr>
          <p:cNvSpPr txBox="1"/>
          <p:nvPr/>
        </p:nvSpPr>
        <p:spPr>
          <a:xfrm>
            <a:off x="4862204" y="3676574"/>
            <a:ext cx="2459736" cy="954107"/>
          </a:xfrm>
          <a:prstGeom prst="rect">
            <a:avLst/>
          </a:prstGeom>
          <a:noFill/>
        </p:spPr>
        <p:txBody>
          <a:bodyPr wrap="square" rtlCol="0">
            <a:spAutoFit/>
          </a:bodyPr>
          <a:lstStyle/>
          <a:p>
            <a:pPr algn="ctr"/>
            <a:r>
              <a:rPr lang="en-US" sz="2800" dirty="0"/>
              <a:t>NT writings completed</a:t>
            </a:r>
          </a:p>
        </p:txBody>
      </p:sp>
    </p:spTree>
    <p:extLst>
      <p:ext uri="{BB962C8B-B14F-4D97-AF65-F5344CB8AC3E}">
        <p14:creationId xmlns:p14="http://schemas.microsoft.com/office/powerpoint/2010/main" val="3690747053"/>
      </p:ext>
    </p:extLst>
  </p:cSld>
  <p:clrMapOvr>
    <a:masterClrMapping/>
  </p:clrMapOvr>
  <mc:AlternateContent xmlns:mc="http://schemas.openxmlformats.org/markup-compatibility/2006" xmlns:p14="http://schemas.microsoft.com/office/powerpoint/2010/main">
    <mc:Choice Requires="p14">
      <p:transition spd="slow" p14:dur="3000"/>
    </mc:Choice>
    <mc:Fallback xmlns="">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E08FC-A93E-53BC-363D-3F8561BFDE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BD7D0-FF18-51A2-B6D5-1236747764D9}"/>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900D2AE-F512-A443-2A7A-FDFC06AC0DB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54137B3-EEFB-AE13-FCAD-C1DAFC958959}"/>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8B51732-D1CB-D0DA-C99A-8D73EFCB9A2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942E8FB-9A00-485E-6167-A40C9C77055A}"/>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D24A4FF-69FD-4DF0-78D2-48624E90428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81E84C3-4794-6007-91E2-A9B190EE44FD}"/>
              </a:ext>
            </a:extLst>
          </p:cNvPr>
          <p:cNvSpPr txBox="1"/>
          <p:nvPr/>
        </p:nvSpPr>
        <p:spPr>
          <a:xfrm>
            <a:off x="5369169"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34D4640D-09AC-489F-4647-64E4F8CD2936}"/>
              </a:ext>
            </a:extLst>
          </p:cNvPr>
          <p:cNvSpPr txBox="1"/>
          <p:nvPr/>
        </p:nvSpPr>
        <p:spPr>
          <a:xfrm>
            <a:off x="4803069" y="3691113"/>
            <a:ext cx="2459736" cy="954107"/>
          </a:xfrm>
          <a:prstGeom prst="rect">
            <a:avLst/>
          </a:prstGeom>
          <a:noFill/>
        </p:spPr>
        <p:txBody>
          <a:bodyPr wrap="square" rtlCol="0">
            <a:spAutoFit/>
          </a:bodyPr>
          <a:lstStyle/>
          <a:p>
            <a:pPr algn="ctr"/>
            <a:r>
              <a:rPr lang="en-US" sz="2800" dirty="0"/>
              <a:t>Athanasius: OT/NT</a:t>
            </a:r>
          </a:p>
        </p:txBody>
      </p:sp>
    </p:spTree>
    <p:extLst>
      <p:ext uri="{BB962C8B-B14F-4D97-AF65-F5344CB8AC3E}">
        <p14:creationId xmlns:p14="http://schemas.microsoft.com/office/powerpoint/2010/main" val="3254524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22AEC-0368-5532-1D9C-F043B558A9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1FDAF-63DA-A010-0587-73ED0AA31F51}"/>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E73A6BA-51D4-92C6-952F-50FFC101DCD7}"/>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F84DCB5-3496-C988-1CB4-17CCDD0E5BAA}"/>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660AFC5-81A9-F058-2D6F-758A8BC1B7D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21C16867-C860-F268-D157-BE5ADB04C266}"/>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FE50B887-3AE7-FC32-F989-AD55DBE5E1F2}"/>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582C0-86E7-F96B-BFA1-0CE4B39FD2DF}"/>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65A1A991-7EBF-7A7F-5F7A-AFFC609F3A68}"/>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56F891E2-D513-710A-204D-E1EFEE8E7EFB}"/>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396138B-0C06-C1B9-C670-A10D7701A1A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B42F064E-14FE-59A1-C501-AD88F8F368E5}"/>
              </a:ext>
            </a:extLst>
          </p:cNvPr>
          <p:cNvSpPr txBox="1"/>
          <p:nvPr/>
        </p:nvSpPr>
        <p:spPr>
          <a:xfrm>
            <a:off x="3684638" y="3676573"/>
            <a:ext cx="4822722" cy="954107"/>
          </a:xfrm>
          <a:prstGeom prst="rect">
            <a:avLst/>
          </a:prstGeom>
          <a:noFill/>
        </p:spPr>
        <p:txBody>
          <a:bodyPr wrap="square" rtlCol="0">
            <a:spAutoFit/>
          </a:bodyPr>
          <a:lstStyle/>
          <a:p>
            <a:pPr algn="ctr"/>
            <a:r>
              <a:rPr lang="en-US" sz="2800" dirty="0"/>
              <a:t>Luther: “inferior” books, but still includes in his NT</a:t>
            </a:r>
          </a:p>
        </p:txBody>
      </p:sp>
    </p:spTree>
    <p:extLst>
      <p:ext uri="{BB962C8B-B14F-4D97-AF65-F5344CB8AC3E}">
        <p14:creationId xmlns:p14="http://schemas.microsoft.com/office/powerpoint/2010/main" val="3985614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F7598-571A-CD67-2E73-9B153894D4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1563C-3D66-BB6B-4D83-0EE2EC12D813}"/>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A6B100A-D17A-5562-5BD9-86696FBCDC7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2D3A719-5730-84D4-220A-F4C56F52E438}"/>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3EF67F3-0D54-F704-F47F-8BDF7005E39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1F90682-B40E-55AB-EF66-A0E1FE3EE778}"/>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A9CB593-287A-C453-2D8E-1CB832B80DE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E0D38A1-E074-FC3D-D150-2E89549A09D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F873F5A5-9137-C7D7-4D71-6F26FFDBFDC0}"/>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71A4454D-7215-FEE7-E8B0-E788A9DD0205}"/>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1BD6172-0281-A26B-E709-133418382889}"/>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4EEA87AF-DA85-4AA1-AE26-A9498F39295E}"/>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1E6C4F2-FB28-5CDB-9290-A9FDE07F828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2A5071C-BEF9-EF08-896D-C3B0C858289D}"/>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B2ACF4E8-6C38-AC1B-2D1E-A07994DB9A1B}"/>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11D5B8CD-0244-FE2E-4254-AD7A4DD114F0}"/>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Tree>
    <p:extLst>
      <p:ext uri="{BB962C8B-B14F-4D97-AF65-F5344CB8AC3E}">
        <p14:creationId xmlns:p14="http://schemas.microsoft.com/office/powerpoint/2010/main" val="321040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p:bldP spid="12" grpId="0"/>
      <p:bldP spid="1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D1BAD-0798-44C0-477C-E2D0B2DF7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F6E45-B76B-7B17-E1FC-1CD5F501976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855F19-1EF4-2C14-DFA2-8057CEF20FA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C93638C-286E-D0C5-34E3-B309E08DE0AC}"/>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0CDC21B-0116-F1CD-0423-EDC6B268B0CC}"/>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0768BD8D-472E-74CC-FCAF-2670E42E9EBD}"/>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1D5F6D8F-E5E0-C283-242F-662B3BF2C70C}"/>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D37EE4-1332-A068-A44E-D0740C707BA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0C734561-EDE8-A64A-6C35-3D961FEAD5F1}"/>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3F3A11F-E6EC-5F76-3604-7853E67A9B6E}"/>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FCBA367-7FD6-38AB-F5D4-51FE43D87EDA}"/>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239757AA-DE18-C26A-0413-26B8F4E8A37F}"/>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ADE62DD-DE75-1D55-EFCD-926305D1968A}"/>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71AF61B-62BC-86BD-7F46-C032C031DB9F}"/>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C64E30DF-EEA7-3027-B394-B93366C4AF0A}"/>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8B714225-5777-6EF9-BF53-D6F351408E7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873511C3-8E97-C71F-7C69-7E0DD7EE90A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909D21F-1EB5-3789-AE42-1CB10CC32FB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B7D75F28-C02F-E75D-1FBD-C5DB6BCFD20F}"/>
              </a:ext>
            </a:extLst>
          </p:cNvPr>
          <p:cNvSpPr txBox="1"/>
          <p:nvPr/>
        </p:nvSpPr>
        <p:spPr>
          <a:xfrm>
            <a:off x="3684638"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08A8771B-6B8B-6FE5-B751-16755ABC1391}"/>
              </a:ext>
            </a:extLst>
          </p:cNvPr>
          <p:cNvSpPr txBox="1"/>
          <p:nvPr/>
        </p:nvSpPr>
        <p:spPr>
          <a:xfrm>
            <a:off x="1660170"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Tree>
    <p:extLst>
      <p:ext uri="{BB962C8B-B14F-4D97-AF65-F5344CB8AC3E}">
        <p14:creationId xmlns:p14="http://schemas.microsoft.com/office/powerpoint/2010/main" val="292686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5279C-1326-09F4-261A-B50F929EB5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EA4CB4-25FF-60D6-916E-B8480351223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540DC24-3070-A2D3-5B14-C95058371FC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5FFA06B8-808E-E5E4-11A7-881383169E92}"/>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A5F5837-1AD7-EFFB-DC00-C23F166F11E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73FCADAC-D17F-4CF7-6011-CF7FDB3066B4}"/>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704B4ADD-E3D4-4A26-D745-1EA42109DA5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49D0FDA-EDF8-DCF5-B17B-7436C01DD784}"/>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7D388803-0A37-6F37-0317-682059A26ADC}"/>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EFA2EB1-AA2A-7A6C-EF1E-3EEC0C4DDDA0}"/>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7BD56D7-6444-3FD1-77E8-902B2A0249A1}"/>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5F1E9786-C711-5A02-4812-6489A319C799}"/>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09E0A839-0D30-17C3-8852-C6BB1D7FADD9}"/>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3E8C8F5-C216-BC14-69D3-F3CF339F14CD}"/>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88145D9A-984F-1AED-9FBB-39B7A8778B90}"/>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9E9A26C5-4EE3-8029-4DA3-04B52F5E4A2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4DD1F03C-49A6-5F38-8844-61887660A4CC}"/>
              </a:ext>
            </a:extLst>
          </p:cNvPr>
          <p:cNvSpPr/>
          <p:nvPr/>
        </p:nvSpPr>
        <p:spPr>
          <a:xfrm rot="16200000">
            <a:off x="-49225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F7C566B-D5E6-B295-51A9-E7B7B38EA17D}"/>
              </a:ext>
            </a:extLst>
          </p:cNvPr>
          <p:cNvSpPr txBox="1"/>
          <p:nvPr/>
        </p:nvSpPr>
        <p:spPr>
          <a:xfrm>
            <a:off x="-7864821"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004B65A6-6B29-E579-6473-20DBAA13294A}"/>
              </a:ext>
            </a:extLst>
          </p:cNvPr>
          <p:cNvSpPr txBox="1"/>
          <p:nvPr/>
        </p:nvSpPr>
        <p:spPr>
          <a:xfrm>
            <a:off x="-7105280"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9E8C5460-5DA8-37FB-0927-7D0EAFBC6F88}"/>
              </a:ext>
            </a:extLst>
          </p:cNvPr>
          <p:cNvSpPr txBox="1"/>
          <p:nvPr/>
        </p:nvSpPr>
        <p:spPr>
          <a:xfrm>
            <a:off x="-9129748"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
        <p:nvSpPr>
          <p:cNvPr id="20" name="Rectangle 19">
            <a:extLst>
              <a:ext uri="{FF2B5EF4-FFF2-40B4-BE49-F238E27FC236}">
                <a16:creationId xmlns:a16="http://schemas.microsoft.com/office/drawing/2014/main" id="{AC5FC15B-7F13-291F-BFD5-722C4F9F994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CFE4408-C326-E4EA-1668-019AD2D2E48B}"/>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B64BCC8A-5383-6E08-04B1-280D24B085B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24" name="TextBox 23">
            <a:extLst>
              <a:ext uri="{FF2B5EF4-FFF2-40B4-BE49-F238E27FC236}">
                <a16:creationId xmlns:a16="http://schemas.microsoft.com/office/drawing/2014/main" id="{DC71A7CD-40A7-DAD6-1016-9E3B56E0EE99}"/>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7" name="TextBox 26">
            <a:extLst>
              <a:ext uri="{FF2B5EF4-FFF2-40B4-BE49-F238E27FC236}">
                <a16:creationId xmlns:a16="http://schemas.microsoft.com/office/drawing/2014/main" id="{3D6C541A-683C-75DA-FFEC-F94573846090}"/>
              </a:ext>
            </a:extLst>
          </p:cNvPr>
          <p:cNvSpPr txBox="1"/>
          <p:nvPr/>
        </p:nvSpPr>
        <p:spPr>
          <a:xfrm>
            <a:off x="0" y="6957578"/>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8" name="TextBox 27">
            <a:extLst>
              <a:ext uri="{FF2B5EF4-FFF2-40B4-BE49-F238E27FC236}">
                <a16:creationId xmlns:a16="http://schemas.microsoft.com/office/drawing/2014/main" id="{EB63B884-C7C5-EA12-17F0-7A6DE1812F8F}"/>
              </a:ext>
            </a:extLst>
          </p:cNvPr>
          <p:cNvSpPr txBox="1"/>
          <p:nvPr/>
        </p:nvSpPr>
        <p:spPr>
          <a:xfrm>
            <a:off x="0" y="8302220"/>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a:t>
            </a:r>
            <a:r>
              <a:rPr lang="en-US" sz="2800" dirty="0" err="1"/>
              <a:t>fefused</a:t>
            </a:r>
            <a:r>
              <a:rPr lang="en-US" sz="2800" dirty="0"/>
              <a:t>,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Tree>
    <p:extLst>
      <p:ext uri="{BB962C8B-B14F-4D97-AF65-F5344CB8AC3E}">
        <p14:creationId xmlns:p14="http://schemas.microsoft.com/office/powerpoint/2010/main" val="2988140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down)">
                                      <p:cBhvr>
                                        <p:cTn id="7" dur="500"/>
                                        <p:tgtEl>
                                          <p:spTgt spid="20"/>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500"/>
                                        <p:tgtEl>
                                          <p:spTgt spid="22"/>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4">
                                            <p:txEl>
                                              <p:pRg st="0" end="0"/>
                                            </p:txEl>
                                          </p:spTgt>
                                        </p:tgtEl>
                                        <p:attrNameLst>
                                          <p:attrName>style.visibility</p:attrName>
                                        </p:attrNameLst>
                                      </p:cBhvr>
                                      <p:to>
                                        <p:strVal val="visible"/>
                                      </p:to>
                                    </p:set>
                                    <p:animEffect transition="in" filter="fade">
                                      <p:cBhvr>
                                        <p:cTn id="19" dur="500"/>
                                        <p:tgtEl>
                                          <p:spTgt spid="24">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4">
                                            <p:txEl>
                                              <p:pRg st="1" end="1"/>
                                            </p:txEl>
                                          </p:spTgt>
                                        </p:tgtEl>
                                        <p:attrNameLst>
                                          <p:attrName>style.visibility</p:attrName>
                                        </p:attrNameLst>
                                      </p:cBhvr>
                                      <p:to>
                                        <p:strVal val="visible"/>
                                      </p:to>
                                    </p:set>
                                    <p:animEffect transition="in" filter="fade">
                                      <p:cBhvr>
                                        <p:cTn id="24" dur="500"/>
                                        <p:tgtEl>
                                          <p:spTgt spid="2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2" grpId="0"/>
      <p:bldP spid="23"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D84B0-B635-A2D5-2800-836E62155B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53DCD0-CF2E-6E72-D1AA-6350A58777D7}"/>
              </a:ext>
            </a:extLst>
          </p:cNvPr>
          <p:cNvSpPr>
            <a:spLocks noGrp="1"/>
          </p:cNvSpPr>
          <p:nvPr>
            <p:ph type="title"/>
          </p:nvPr>
        </p:nvSpPr>
        <p:spPr>
          <a:xfrm>
            <a:off x="838200" y="-1993065"/>
            <a:ext cx="105156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5011EC06-EC1A-3FE1-AE1D-8FC78016A2E2}"/>
              </a:ext>
            </a:extLst>
          </p:cNvPr>
          <p:cNvSpPr/>
          <p:nvPr/>
        </p:nvSpPr>
        <p:spPr>
          <a:xfrm>
            <a:off x="-1445103" y="104584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7A691F7-19D5-5100-855E-1C345A91FD43}"/>
              </a:ext>
            </a:extLst>
          </p:cNvPr>
          <p:cNvSpPr/>
          <p:nvPr/>
        </p:nvSpPr>
        <p:spPr>
          <a:xfrm rot="16200000">
            <a:off x="5867400" y="73921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75B1AE5-2207-4CE6-2361-A708CADBEFE6}"/>
              </a:ext>
            </a:extLst>
          </p:cNvPr>
          <p:cNvSpPr txBox="1"/>
          <p:nvPr/>
        </p:nvSpPr>
        <p:spPr>
          <a:xfrm>
            <a:off x="2925097" y="6542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D6ECF68F-C54B-C1BE-FC55-45DEE57BD18D}"/>
              </a:ext>
            </a:extLst>
          </p:cNvPr>
          <p:cNvSpPr txBox="1"/>
          <p:nvPr/>
        </p:nvSpPr>
        <p:spPr>
          <a:xfrm>
            <a:off x="3684638" y="1318383"/>
            <a:ext cx="4822722" cy="523220"/>
          </a:xfrm>
          <a:prstGeom prst="rect">
            <a:avLst/>
          </a:prstGeom>
          <a:noFill/>
        </p:spPr>
        <p:txBody>
          <a:bodyPr wrap="square" rtlCol="0">
            <a:spAutoFit/>
          </a:bodyPr>
          <a:lstStyle/>
          <a:p>
            <a:pPr algn="ctr"/>
            <a:r>
              <a:rPr lang="en-US" sz="2800" dirty="0"/>
              <a:t>John Toland</a:t>
            </a:r>
          </a:p>
        </p:txBody>
      </p:sp>
      <p:sp>
        <p:nvSpPr>
          <p:cNvPr id="25" name="TextBox 24">
            <a:extLst>
              <a:ext uri="{FF2B5EF4-FFF2-40B4-BE49-F238E27FC236}">
                <a16:creationId xmlns:a16="http://schemas.microsoft.com/office/drawing/2014/main" id="{8C5E98BB-00E5-F5FB-2E21-9C240C88DC68}"/>
              </a:ext>
            </a:extLst>
          </p:cNvPr>
          <p:cNvSpPr txBox="1"/>
          <p:nvPr/>
        </p:nvSpPr>
        <p:spPr>
          <a:xfrm>
            <a:off x="0" y="1988012"/>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6" name="TextBox 25">
            <a:extLst>
              <a:ext uri="{FF2B5EF4-FFF2-40B4-BE49-F238E27FC236}">
                <a16:creationId xmlns:a16="http://schemas.microsoft.com/office/drawing/2014/main" id="{DCC043C0-1449-F416-1E23-600887675F69}"/>
              </a:ext>
            </a:extLst>
          </p:cNvPr>
          <p:cNvSpPr txBox="1"/>
          <p:nvPr/>
        </p:nvSpPr>
        <p:spPr>
          <a:xfrm>
            <a:off x="1660170" y="-267283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8" name="TextBox 27">
            <a:extLst>
              <a:ext uri="{FF2B5EF4-FFF2-40B4-BE49-F238E27FC236}">
                <a16:creationId xmlns:a16="http://schemas.microsoft.com/office/drawing/2014/main" id="{EA56B1B6-5287-0E1C-5822-8BB26AB4F32A}"/>
              </a:ext>
            </a:extLst>
          </p:cNvPr>
          <p:cNvSpPr txBox="1"/>
          <p:nvPr/>
        </p:nvSpPr>
        <p:spPr>
          <a:xfrm>
            <a:off x="0" y="3332654"/>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refused,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
        <p:nvSpPr>
          <p:cNvPr id="29" name="TextBox 28">
            <a:extLst>
              <a:ext uri="{FF2B5EF4-FFF2-40B4-BE49-F238E27FC236}">
                <a16:creationId xmlns:a16="http://schemas.microsoft.com/office/drawing/2014/main" id="{7723457E-F81B-4D28-61E7-7B925F071008}"/>
              </a:ext>
            </a:extLst>
          </p:cNvPr>
          <p:cNvSpPr txBox="1"/>
          <p:nvPr/>
        </p:nvSpPr>
        <p:spPr>
          <a:xfrm>
            <a:off x="1660170" y="-3110166"/>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Tree>
    <p:extLst>
      <p:ext uri="{BB962C8B-B14F-4D97-AF65-F5344CB8AC3E}">
        <p14:creationId xmlns:p14="http://schemas.microsoft.com/office/powerpoint/2010/main" val="1810582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0A817-53AE-41A4-F943-1FC87CCFE9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407C0-C6B3-B606-21EC-8A80D7E23B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678CFD5-EFE1-1E3A-18F9-39159D0CB3DB}"/>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9E02DDC-C305-6EFE-418E-ADB03C6EF1E4}"/>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1D5B21A-E99A-4B4D-68A9-859D33B3DFE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05CD5F4-5C7B-C087-64DA-103E32F7FB2D}"/>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Tree>
    <p:extLst>
      <p:ext uri="{BB962C8B-B14F-4D97-AF65-F5344CB8AC3E}">
        <p14:creationId xmlns:p14="http://schemas.microsoft.com/office/powerpoint/2010/main" val="906010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0">
        <p159:morph option="byObject"/>
      </p:transition>
    </mc:Choice>
    <mc:Fallback xmlns="">
      <p:transition spd="slow" advClick="0" advTm="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172E1-BB92-493F-A918-BD62E32DF7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7F9FA-CAF8-EDEA-FCDA-E9E03776294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25B8628-AC40-8C96-40EA-0F74209F031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B01331-63E0-7749-5D1C-02EB9D01823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709D705-9515-AA4E-2CED-6F89B8DBE3DD}"/>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2C57F4E9-B4EA-2519-BA8A-9243BF0D4BC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A4EA4CD-58C7-8E8D-37D9-D9B83C77C41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BAB3398-8367-20DA-006B-A84CD1722EA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638E378-1346-CF9C-1366-67CB878A09DB}"/>
              </a:ext>
            </a:extLst>
          </p:cNvPr>
          <p:cNvSpPr txBox="1"/>
          <p:nvPr/>
        </p:nvSpPr>
        <p:spPr>
          <a:xfrm>
            <a:off x="3684638"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3BF31409-FEFB-7CF7-F442-EA6E15B4AC11}"/>
              </a:ext>
            </a:extLst>
          </p:cNvPr>
          <p:cNvSpPr txBox="1"/>
          <p:nvPr/>
        </p:nvSpPr>
        <p:spPr>
          <a:xfrm>
            <a:off x="0"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Tree>
    <p:extLst>
      <p:ext uri="{BB962C8B-B14F-4D97-AF65-F5344CB8AC3E}">
        <p14:creationId xmlns:p14="http://schemas.microsoft.com/office/powerpoint/2010/main" val="394135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52490-DB12-CE35-FB21-298DE8F1C1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70D8-B0B2-7688-AC7B-A92301F221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DCBA06D-0387-5750-85C3-33029A2F6E1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5B01EBC-B708-841A-57CE-48A9F8C40FA0}"/>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78F8836-B02F-E77F-369F-8706E0387EB8}"/>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CE9B671-3971-A24E-C5FE-0CDE86CC1B77}"/>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8B69D8D6-E9EB-5655-7559-14677E3C27FC}"/>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BC1BA3B-747D-060F-24F0-10535F38151C}"/>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17C24C16-E8DB-DF36-FFCC-45ED4907A31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652D1E8-E819-860A-8661-B5B5C59B9311}"/>
              </a:ext>
            </a:extLst>
          </p:cNvPr>
          <p:cNvSpPr txBox="1"/>
          <p:nvPr/>
        </p:nvSpPr>
        <p:spPr>
          <a:xfrm>
            <a:off x="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8" name="Rectangle 7">
            <a:extLst>
              <a:ext uri="{FF2B5EF4-FFF2-40B4-BE49-F238E27FC236}">
                <a16:creationId xmlns:a16="http://schemas.microsoft.com/office/drawing/2014/main" id="{EDEC1109-9CB8-C523-DA64-8C3DCC3638A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071AB9C-E75A-41A2-62B0-00A73B5E2012}"/>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8C10249B-B207-2376-FA97-DCAFDF387C0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5F80C3CA-0080-38A3-E3B5-A1C320698374}"/>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D762DA3-921B-BBD9-7A08-4A42E8A8AF77}"/>
              </a:ext>
            </a:extLst>
          </p:cNvPr>
          <p:cNvSpPr txBox="1"/>
          <p:nvPr/>
        </p:nvSpPr>
        <p:spPr>
          <a:xfrm>
            <a:off x="-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Tree>
    <p:extLst>
      <p:ext uri="{BB962C8B-B14F-4D97-AF65-F5344CB8AC3E}">
        <p14:creationId xmlns:p14="http://schemas.microsoft.com/office/powerpoint/2010/main" val="41858110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presetID="1"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animBg="1"/>
      <p:bldP spid="9" grpId="0"/>
      <p:bldP spid="10" grpId="0"/>
      <p:bldP spid="1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B97E9-58C5-A5D7-B52D-2818A7D087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6B18D-CCEA-4EF0-CB81-420CC8AF9BF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C79D9C3-3603-0113-81C3-21BAA72C77E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5E4DFBC-0EC2-CE40-3717-FF6F41F2F8A7}"/>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31D8B171-CEE3-3575-4698-F54C268C82F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70D77643-96BF-7652-25F3-93D735472A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A212832B-0438-5251-040F-BF515871581F}"/>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8" name="Rectangle 7">
            <a:extLst>
              <a:ext uri="{FF2B5EF4-FFF2-40B4-BE49-F238E27FC236}">
                <a16:creationId xmlns:a16="http://schemas.microsoft.com/office/drawing/2014/main" id="{D58056BB-F52C-728F-8333-5B5B366E20D7}"/>
              </a:ext>
            </a:extLst>
          </p:cNvPr>
          <p:cNvSpPr/>
          <p:nvPr/>
        </p:nvSpPr>
        <p:spPr>
          <a:xfrm rot="16200000">
            <a:off x="182118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34C387E-D881-3367-0B4A-0579046D7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3" name="Rectangle 12">
            <a:extLst>
              <a:ext uri="{FF2B5EF4-FFF2-40B4-BE49-F238E27FC236}">
                <a16:creationId xmlns:a16="http://schemas.microsoft.com/office/drawing/2014/main" id="{69F1A783-9488-9701-4FDB-17BE0272425C}"/>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91FB01D3-0B32-61DD-BDC9-0B4667265B3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B93FC1C0-1FC1-E8C0-2C2C-5675333DA7A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09F0AF2D-E437-973A-3374-A20046803B10}"/>
              </a:ext>
            </a:extLst>
          </p:cNvPr>
          <p:cNvSpPr txBox="1"/>
          <p:nvPr/>
        </p:nvSpPr>
        <p:spPr>
          <a:xfrm>
            <a:off x="0"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Tree>
    <p:extLst>
      <p:ext uri="{BB962C8B-B14F-4D97-AF65-F5344CB8AC3E}">
        <p14:creationId xmlns:p14="http://schemas.microsoft.com/office/powerpoint/2010/main" val="3816803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BB646-7913-5BC0-1C06-0F16D23A02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7DB195-A8FF-E9A1-7EC9-884D10518B7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5DF6C1F-D3B8-3016-1ACF-BF5BBD2089B1}"/>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FA3FFC6-9772-471A-F8C6-1C35A203D464}"/>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DD88CE1-7341-34DC-5486-38F4504D8234}"/>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18906923-0B85-800C-AAE0-6A9CF90815D3}"/>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B3DAC4F4-3529-1002-2D7E-C6AEB93B8CBE}"/>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D24492B-2FC1-FF58-94B1-AE8B4FFC9A8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2D8DE4B7-7197-3607-464B-445B6AB88B2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4062D7E-89C1-E79C-7B32-D73F46F0EFA2}"/>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98E3CCAC-E1D4-CCA6-5307-020E5C6E3ACE}"/>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03B4DC08-AA7F-A2D2-6BF0-A2EED239CC56}"/>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4C7389C3-A0F3-7AAB-2636-856B095CFA39}"/>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4A13230-43EE-6D40-E2B4-D137073DF257}"/>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960054EB-57A5-969E-2562-FF268AF79FD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7" name="Rectangle 16">
            <a:extLst>
              <a:ext uri="{FF2B5EF4-FFF2-40B4-BE49-F238E27FC236}">
                <a16:creationId xmlns:a16="http://schemas.microsoft.com/office/drawing/2014/main" id="{4A252BAA-54C4-BC55-5392-2F2FF96ED20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1FCF82-9D5D-CE25-FB3B-E3F5480DD92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CAF172-4651-AF71-78CB-83A9B64E5DA3}"/>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57A6F8BC-2E28-67A2-A238-6399F6F8DD45}"/>
              </a:ext>
            </a:extLst>
          </p:cNvPr>
          <p:cNvSpPr txBox="1"/>
          <p:nvPr/>
        </p:nvSpPr>
        <p:spPr>
          <a:xfrm>
            <a:off x="0"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6" name="Rectangle 25">
            <a:extLst>
              <a:ext uri="{FF2B5EF4-FFF2-40B4-BE49-F238E27FC236}">
                <a16:creationId xmlns:a16="http://schemas.microsoft.com/office/drawing/2014/main" id="{1DDCF93E-51AD-5D5B-353D-05DF419F9901}"/>
              </a:ext>
            </a:extLst>
          </p:cNvPr>
          <p:cNvSpPr/>
          <p:nvPr/>
        </p:nvSpPr>
        <p:spPr>
          <a:xfrm rot="16200000">
            <a:off x="-6039533" y="309740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50863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BD67A-4E34-F902-C925-0B485B20F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1072CD-1EC4-E1F3-5B66-FC3FD4561F2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F38579-EF36-2122-19F0-FDC3A7982275}"/>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0898AC5-381D-9CA2-128B-817B5377A61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C5DFAC-FB90-517B-41B5-74AED432810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18B664AC-0DC5-5D04-92D3-23C3ED152BB0}"/>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9CCA5EA-CBF7-723A-15AE-AF0FA4B6A2EF}"/>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2AE6D3-8656-0A9E-AFCD-69A581391BE6}"/>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C78FC507-5705-08D4-E2C8-F271C58C4118}"/>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75960E91-7CA2-8715-1715-DD7970530D9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D46B5F3-8769-665F-5ECA-1DA2A3249E7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495AB1CB-0991-2FF5-41A2-AD835E26C94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A6BAB564-4151-EE49-A955-BB53B12277E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F78A655A-08D7-E07C-2E74-DBE5F9DD480E}"/>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DD783ED4-9A78-6F7A-B8B2-4BA565193B2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A84CE4E-A02E-1BDD-89D8-14BE11DC999B}"/>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A7015791-8582-16DA-0586-8CA1189C67D9}"/>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A0DBD448-952F-12BC-686C-BD740595AB0E}"/>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401747D-5190-EC0D-7E59-83B7B784C33F}"/>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32BE66A-00D0-6E05-FB26-C95BDD5BF2D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15CDEF6D-A092-EE88-6468-DBBC6C8C070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7106AE2-538D-6D88-4DB7-FF3B8B2B339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a:t>
            </a:r>
          </a:p>
        </p:txBody>
      </p:sp>
      <p:sp>
        <p:nvSpPr>
          <p:cNvPr id="26" name="TextBox 25">
            <a:extLst>
              <a:ext uri="{FF2B5EF4-FFF2-40B4-BE49-F238E27FC236}">
                <a16:creationId xmlns:a16="http://schemas.microsoft.com/office/drawing/2014/main" id="{47D7BE02-26C6-9437-505B-6EBEEA3B79D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 M. L. De Wette</a:t>
            </a:r>
          </a:p>
        </p:txBody>
      </p:sp>
      <p:sp>
        <p:nvSpPr>
          <p:cNvPr id="27" name="TextBox 26">
            <a:extLst>
              <a:ext uri="{FF2B5EF4-FFF2-40B4-BE49-F238E27FC236}">
                <a16:creationId xmlns:a16="http://schemas.microsoft.com/office/drawing/2014/main" id="{91961E94-E8A6-F8E5-09DE-2D81EDEA4CAD}"/>
              </a:ext>
            </a:extLst>
          </p:cNvPr>
          <p:cNvSpPr txBox="1"/>
          <p:nvPr/>
        </p:nvSpPr>
        <p:spPr>
          <a:xfrm>
            <a:off x="0" y="4392669"/>
            <a:ext cx="12192000" cy="954107"/>
          </a:xfrm>
          <a:prstGeom prst="rect">
            <a:avLst/>
          </a:prstGeom>
          <a:noFill/>
        </p:spPr>
        <p:txBody>
          <a:bodyPr wrap="square" rtlCol="0">
            <a:spAutoFit/>
          </a:bodyPr>
          <a:lstStyle/>
          <a:p>
            <a:pPr algn="ctr"/>
            <a:r>
              <a:rPr lang="en-US" sz="2800" dirty="0"/>
              <a:t>“Extended the history of the gradual development of the canon up to the year 400” (p. 18)</a:t>
            </a:r>
          </a:p>
        </p:txBody>
      </p:sp>
    </p:spTree>
    <p:extLst>
      <p:ext uri="{BB962C8B-B14F-4D97-AF65-F5344CB8AC3E}">
        <p14:creationId xmlns:p14="http://schemas.microsoft.com/office/powerpoint/2010/main" val="1724711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down)">
                                      <p:cBhvr>
                                        <p:cTn id="7" dur="500"/>
                                        <p:tgtEl>
                                          <p:spTgt spid="2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500"/>
                                        <p:tgtEl>
                                          <p:spTgt spid="2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p:bldP spid="26" grpId="0"/>
      <p:bldP spid="27"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6ECA7-3BF2-EB6A-A200-A7638F07B6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113C2C-EBAD-A13E-73B0-F76A40D46CF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F4B2D4B-DBD3-2EB1-33D0-762906B4956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76A8172-ED0D-8B28-A1BA-785123EE66C5}"/>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6CE53A0-0AA5-A8FC-1CF7-5FF20BB90FC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818B1C0-AF9F-02B5-3AEC-27DF620B49C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714E697A-39B5-3F83-A86F-6B50873421E6}"/>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F3C2B1-D17C-C9BD-B54A-B1968B607FE0}"/>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83DD605A-8897-300B-F507-31D45F819CA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05C6F08-756F-DBD6-00B3-4E2682C8A16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55CAB09-DF2F-327B-50F2-38BD7910E51F}"/>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5D61E8C2-72D5-9FD8-C22D-89FAFD7B6FC8}"/>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72234D9C-E1F3-E623-D900-2513965F02D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08F9A4C-29ED-4B5F-94EC-6170A749021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94708B49-B1C8-A460-D58E-9ECCD31AD95A}"/>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DB07511-E275-2262-B830-9916FFBC9560}"/>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B4FA16A2-A167-3006-EAA7-9E9E43C09AA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2401CB2F-75A4-D607-8001-3333BEEFE92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6351B449-C80F-ABB0-B394-DA90E696EE9C}"/>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069E05D-78C5-09BF-67E5-477500D326B7}"/>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B33B111-578E-E961-E8D2-C86DDF8082A3}"/>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7F930ED5-02BB-A116-C38F-12F893B877F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38A3BAF0-7A8E-EADD-0028-E4DE617FB88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074C6C9-DB0E-7F1E-70C8-150F35D11B91}"/>
              </a:ext>
            </a:extLst>
          </p:cNvPr>
          <p:cNvSpPr txBox="1"/>
          <p:nvPr/>
        </p:nvSpPr>
        <p:spPr>
          <a:xfrm>
            <a:off x="0"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Tree>
    <p:extLst>
      <p:ext uri="{BB962C8B-B14F-4D97-AF65-F5344CB8AC3E}">
        <p14:creationId xmlns:p14="http://schemas.microsoft.com/office/powerpoint/2010/main" val="16476873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589CD-05C5-E6D1-5CEB-9862703B2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39B4FC-22D9-865E-1AE3-5922A508ABE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C408D2F-5A3A-2C0D-65E4-A61312F91940}"/>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FD9E27E-EB29-F905-F55D-18CA5E631E69}"/>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643D05E-281D-B73B-9DD8-D1DF45803A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F9324D1-00C8-CDE5-C1E8-6CAE82DCA8E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9319C3D8-78D2-C420-92E4-E767AC66D5DD}"/>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92CDC2-E817-F79E-DE28-497C81BDFE0B}"/>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7EF33931-BD70-A384-3184-8772401AFAC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C72F20F6-D10D-D4E3-AC5A-08A32D4A2175}"/>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E8493828-42F5-20F9-1AFA-FE9AE9DA24D9}"/>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6C7889C4-728C-9C4D-3FB5-1A492E61D59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DB29020A-A208-5D37-4182-89070EBE5ED7}"/>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50CCAE70-7E0D-C182-6668-BBEB415627C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FEA9FFF7-7DAC-631D-18F5-6047F795207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C96DE7C-39AC-A498-BEA1-B99194728BF2}"/>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1C2689F1-DE34-642F-4481-38737721280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53A00C80-3B28-22F3-B9F0-2550AF97B3D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035C7C0C-A08D-4DFE-EE64-E8A7ED67CBB3}"/>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AC7A9EAD-5837-A60C-52E3-2CF31519020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CDCCCB6-25C7-BB91-9AE3-3C6D0E99652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0B74D8A-CCE9-F956-F385-438F2E6108A3}"/>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F55F73D8-C714-38F3-3F50-50BEE446C568}"/>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B193A4C1-194E-B5DD-F63F-028D6A5AF492}"/>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282CE0A7-7595-625C-8042-898B2FD2E932}"/>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F2B3B20-3E2F-4843-5F75-67C9EDE74AD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37273273-D70E-248A-7F13-EC95E4706DF2}"/>
              </a:ext>
            </a:extLst>
          </p:cNvPr>
          <p:cNvSpPr txBox="1"/>
          <p:nvPr/>
        </p:nvSpPr>
        <p:spPr>
          <a:xfrm>
            <a:off x="3684638"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F5907C0-C77E-7770-5256-3859FCFCBD7F}"/>
              </a:ext>
            </a:extLst>
          </p:cNvPr>
          <p:cNvSpPr txBox="1"/>
          <p:nvPr/>
        </p:nvSpPr>
        <p:spPr>
          <a:xfrm>
            <a:off x="0"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Tree>
    <p:extLst>
      <p:ext uri="{BB962C8B-B14F-4D97-AF65-F5344CB8AC3E}">
        <p14:creationId xmlns:p14="http://schemas.microsoft.com/office/powerpoint/2010/main" val="997158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500"/>
                                        <p:tgtEl>
                                          <p:spTgt spid="1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p:bldP spid="17" grpId="0"/>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3901C-4B4A-D2C7-ADE7-78A584FCC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DB132E-9FCF-9FE2-3320-B2F674E8549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D1A54F9-A943-C719-D38B-FAA1708D3F19}"/>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4E8D589-E2A0-6C19-EEF6-B391ED3D6C9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1B7D0D-D599-493B-ACE4-61185B810ADE}"/>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C1B4E4C-8091-1990-6318-AEE84298B72E}"/>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12A14F1-9E0B-8506-EBB6-A63957DC0E52}"/>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B9691-2526-EA27-58A7-3C571D718E2E}"/>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26A0EFF5-3B66-2F3C-392C-95A16852728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E003076-AE65-4CA3-A644-DD6B4FAEC52B}"/>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28053F7-98BB-5D4F-38A1-9559744938DE}"/>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FF3FCCC7-D361-1D30-F496-635036A3E57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656801EB-62F1-73E7-54E4-C8A4421BB1F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E1434A39-409F-49CD-F621-B1D306E904EC}"/>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AA859E8C-0D42-2667-979C-CE03A4187F81}"/>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E20987E-5794-26D2-B8D0-2672945ABEE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CE15E30-3290-67C1-A60F-ADE979B8724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6021E95-24B7-0BF9-E42C-346E7723668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E4D34517-3280-32E5-B20A-A3A6A86A1639}"/>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7401549-461B-1FC2-15E4-6B8B670F62A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22EE43DB-79B9-AFD4-C990-B5B00170A41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F60CED8-AB12-EBE0-C5CB-8BA1D0942A99}"/>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22015B4-632B-1EB6-1F91-40FB5BC31C0E}"/>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FC103C7C-F620-7831-5632-B7937F4EE9BF}"/>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AAD0394-2427-179E-5806-594C34BB106F}"/>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E117273-2FD0-0DDF-FCEE-BFFD9E4EE94E}"/>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E667374A-DB56-9BD4-634B-FA3D84415076}"/>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4BFF76CD-0FDD-2128-67DE-6042D041542E}"/>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031F119D-D4DC-D135-1A3A-22E4DC124B5D}"/>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7F6BB26-E050-5F8B-0BBD-AEE0C48BCB67}"/>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EC726A30-9C73-1471-9BC1-ADD620E599A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969A8B3C-836D-ED27-9DB6-2FD5AB070804}"/>
              </a:ext>
            </a:extLst>
          </p:cNvPr>
          <p:cNvSpPr txBox="1"/>
          <p:nvPr/>
        </p:nvSpPr>
        <p:spPr>
          <a:xfrm>
            <a:off x="0"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Tree>
    <p:extLst>
      <p:ext uri="{BB962C8B-B14F-4D97-AF65-F5344CB8AC3E}">
        <p14:creationId xmlns:p14="http://schemas.microsoft.com/office/powerpoint/2010/main" val="22968776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500"/>
                                        <p:tgtEl>
                                          <p:spTgt spid="2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500"/>
                                        <p:tgtEl>
                                          <p:spTgt spid="30"/>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500"/>
                                        <p:tgtEl>
                                          <p:spTgt spid="31"/>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P spid="31" grpId="0"/>
      <p:bldP spid="3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6A6D-A600-3575-96AB-36E678845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5C887-09F3-4D47-D9E6-774B3D42C49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BCF74D26-76D1-5241-FB3E-193633F6F02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683BA2C-923F-06D1-B826-C77EE07FFC4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03128C-8C61-038C-859D-0A804B32A14B}"/>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E8C1D5E-B000-DC1D-E46B-98CFBF210F6F}"/>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CB670C00-D6E8-58E6-6E65-5F89B90E0BE0}"/>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689418A-6515-7025-85CE-CF7D6BA2C40D}"/>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0F386333-8A95-7479-1B75-D03EE9D0EF77}"/>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983B07A3-1BD8-7180-AD49-EA87F25CDACF}"/>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47E8A62-2613-B5F7-4599-B1917C2FEEA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801BB71-17A5-157C-E808-088EBFE6D3F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7E61993-5FD2-4E49-D319-780B4D1FE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DB306723-A272-168E-6B51-7161332A007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358A7B65-0EB0-950E-C5D8-BA78B58A2B36}"/>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ADEE7BB-9875-FD2F-228E-0BAB25D1D1B5}"/>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E9DA2DA8-7BFE-C88C-26CA-22BD1C582E8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09B5AF0-29E8-151A-85C7-E4CFF919559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C4CDF98E-19B0-5C3C-9E70-03EA6A96D412}"/>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3FBC26BD-708F-C937-3EE5-7C75257B2E5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B21D62D-9F97-F65B-9E00-706F952FBB58}"/>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7EC320B-88E9-5E7C-9134-606F32935434}"/>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7BE27BC-AFA9-FE99-95F4-874DCC4B9C8F}"/>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6F504ED-9B9D-2B4D-AF21-1C65D92B5C6A}"/>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6993EAF8-FA82-CD0D-655F-AFFF52D69ABA}"/>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EE270A8-686A-F72F-41D3-4BE9D4F81918}"/>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23EB7E54-7B61-015C-916C-517DE522BDB0}"/>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D4B67FA-12EA-E3D5-47A4-0B35EF50664B}"/>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16592C76-24AE-39E8-3B57-5619394C54E4}"/>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A6B8D13-9FEF-4009-1260-B0BDD9F6D9AC}"/>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8333DCAA-F47D-7424-C73A-302DA884A3E2}"/>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EEB1248-4822-D606-A436-3875B453E910}"/>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29B485A-D6D7-7E9C-DDBE-26DBD2D7619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8D1CF4BB-24AF-072D-14DC-08A59270E0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5B29DF37-189B-56D6-2F98-F5BD2B69631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D9DB708F-0F8B-443F-B647-44501DE6DDCF}"/>
              </a:ext>
            </a:extLst>
          </p:cNvPr>
          <p:cNvSpPr txBox="1"/>
          <p:nvPr/>
        </p:nvSpPr>
        <p:spPr>
          <a:xfrm>
            <a:off x="0"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Tree>
    <p:extLst>
      <p:ext uri="{BB962C8B-B14F-4D97-AF65-F5344CB8AC3E}">
        <p14:creationId xmlns:p14="http://schemas.microsoft.com/office/powerpoint/2010/main" val="3097900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ipe(down)">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fade">
                                      <p:cBhvr>
                                        <p:cTn id="10" dur="500"/>
                                        <p:tgtEl>
                                          <p:spTgt spid="3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P spid="35" grpId="0"/>
      <p:bldP spid="36"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4498-2A1A-8037-BC4A-E25FC5BBA7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46D1FB-98E7-2758-DB8C-D52CA706F3BC}"/>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BE4F692-045E-BDFF-B1EE-B81C9B9CCD5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5FEC275-350E-DFCC-7C3E-1AE4B90F42F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4F415A-CDE0-2E1F-FE5A-EB90984C77A5}"/>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329CB68-0C75-7184-9C0D-E960D234A48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E50098B7-9DCE-DF14-3567-98A2168EF8D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FCBB469-33D6-3271-E787-88FC4CB3C9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4FCE6008-EF9E-5B52-51DD-BCF5D10B2AC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2B1E0DDC-6751-DBA4-33CF-F7ABF73291A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133B44B0-3D2A-FFF7-E1A2-5491272C105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C3C69198-A6F9-985E-7665-FFDE798034E5}"/>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5F4470B-0F21-3965-3C2E-2C080DC9E5AD}"/>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861674A1-47A3-02CA-BB76-3D72A5194F81}"/>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5A66AF82-12FD-F66F-CFAF-5809C1BF5162}"/>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BCF8781-BF03-F258-5427-88CE78BCEE0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95CABA5-9ED5-E932-1710-4A98F08E034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3AFE7AD4-45BC-3F14-83B1-F463F54495A9}"/>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107A42-92AA-EC76-1341-118D37BFDB31}"/>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F075FEC-F915-2AB1-DAB0-46F98F9C9F21}"/>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010A339-72FD-6022-787B-82815B6D6DAB}"/>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338C287-E91A-7CC9-1B99-CFE881FDD86F}"/>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B63266CF-AAEB-B327-F554-A252836B6E31}"/>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4DEEF324-7245-3028-A421-C060A07A0D20}"/>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1C68EB93-BD3E-5976-CA67-80D301F31F8E}"/>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4D8EE6-7050-332B-A94B-5F4590D6874C}"/>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CAE1C256-3279-2A3E-4DBE-1F943D526E5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CB932774-DD1D-1389-0C54-0494C617D449}"/>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8FD639EF-0849-A34A-6CF7-6CBDDA22317B}"/>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102D85A2-3B04-DEC7-1DD6-F33D127039D2}"/>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A43BC6E-3242-CB86-7E84-C4368E85F269}"/>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53F192F-AE3D-7392-6AF6-3473C286CD4C}"/>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642C3010-267B-EDF0-7E52-B6CAE54DD1F0}"/>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CBF71B9-68EB-E1C3-3BF7-7DB6399D98BD}"/>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2FB38431-EABD-4027-CB3C-A8D7880693DE}"/>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598EDC63-12AE-8648-0BD4-D9853602137B}"/>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70C94B34-615B-35AF-99E8-BA22B2FB4D0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28250C8F-A56E-1C2D-23D8-DE1E8C0685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B8BFA7A2-7303-897D-D68C-C468C9F21AE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19A7864C-DC15-0DAF-9E22-88BC7481FE75}"/>
              </a:ext>
            </a:extLst>
          </p:cNvPr>
          <p:cNvSpPr txBox="1"/>
          <p:nvPr/>
        </p:nvSpPr>
        <p:spPr>
          <a:xfrm>
            <a:off x="0"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Tree>
    <p:extLst>
      <p:ext uri="{BB962C8B-B14F-4D97-AF65-F5344CB8AC3E}">
        <p14:creationId xmlns:p14="http://schemas.microsoft.com/office/powerpoint/2010/main" val="1307203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down)">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500"/>
                                        <p:tgtEl>
                                          <p:spTgt spid="39"/>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p:bldP spid="39" grpId="0"/>
      <p:bldP spid="4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90B12-149E-2E17-02C9-44F6371A32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7D686-0312-5F8E-C9EC-FECB1676F19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6DAD5AF-C6C2-2A6E-B0DE-578ADFF11686}"/>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5251661-3D6E-5709-4ED4-45254786921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EAC9CE2-34C3-BBF6-DE13-8E71D3833A4F}"/>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59CAC431-3CF7-3FB0-04E1-4BA1D5200B9B}"/>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3F86CAE-020D-5982-A435-B1C8CB4AF2C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E0A1AA-EA73-F880-13D0-3A770CA3161F}"/>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BAB5A26-0800-5233-9CA2-807CE9E5634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13971DAF-24ED-DC6F-CA10-CE27A1612916}"/>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B79E03D-BCDA-7A86-90CC-041D6058D054}"/>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DA240082-9C9F-091B-119D-EB7E931739EC}"/>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15851216-9BCE-A801-0DE2-0E0DFF17814C}"/>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A7F44A4D-F23B-8C7C-9648-6ADF844716B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0399CCCF-940F-69E4-85BA-5BAADF56220E}"/>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26A83963-FF78-2B47-8B2E-14474047F806}"/>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CBE7686-3A91-9CA8-5C86-CA80150C185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8FBBA7B9-BDD4-3142-98B9-B304491F1048}"/>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6F5EBA8-8EE5-F5A0-F219-B3300FD7DE38}"/>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91F6A3A-FE98-5A85-0987-36552B1EBF28}"/>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56C109A5-C9BD-40BB-8201-14FE35A2F7F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B05783C-4960-795A-D0AB-F03765F3F4A8}"/>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6792F0F-FFB5-F779-9E8E-A2070D743E60}"/>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9C498B0-6592-9CA9-EA70-C797982EF93B}"/>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8D45A132-1EC7-6133-3491-AE5CAA83F07C}"/>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A423FD2-1768-A389-FB64-02FF36C6F7AB}"/>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C7EEA23-9ED5-A04D-6A99-254A96527102}"/>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13730CEA-B4D7-F709-09E2-F66AC23D43FC}"/>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5F2CF551-50AE-99CD-A295-5A29EAA79199}"/>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B527BB0-E827-A9FF-3404-E04820EC38FF}"/>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EA8A7FA-6D66-EDAE-B9F9-914F502577FC}"/>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785647EC-1720-9655-BEC2-2F9CC1D45B66}"/>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0FB9B8A-6B1A-4529-5C88-4897081630CC}"/>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2DF7E60D-6DC5-CC8C-5E00-EB5AF0A0B462}"/>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2B2DD82-1B9E-0B94-54D9-CFC15831450A}"/>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9C3C3C8B-09BD-5C81-5D50-1698ACA36926}"/>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E3AD2B06-135B-22FA-A58C-DC1202B31F22}"/>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7B5B6AE2-AF17-39EB-47A6-36A783058F3B}"/>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68627350-9C66-21D9-B0D4-694B9B05D4C3}"/>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70768860-595F-F046-FF35-C83CB2C4BEA6}"/>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F3FF5944-373F-4C3F-D087-ED7713E68BB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D93CAA66-CD84-2978-2FD9-0ACF02A62ABC}"/>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E4BDC8A0-C4CC-ADC7-1562-E0B663488539}"/>
              </a:ext>
            </a:extLst>
          </p:cNvPr>
          <p:cNvSpPr txBox="1"/>
          <p:nvPr/>
        </p:nvSpPr>
        <p:spPr>
          <a:xfrm>
            <a:off x="3684638"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ECB92A00-CBB5-575D-0035-8E8C608664B6}"/>
              </a:ext>
            </a:extLst>
          </p:cNvPr>
          <p:cNvSpPr txBox="1"/>
          <p:nvPr/>
        </p:nvSpPr>
        <p:spPr>
          <a:xfrm>
            <a:off x="0"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Tree>
    <p:extLst>
      <p:ext uri="{BB962C8B-B14F-4D97-AF65-F5344CB8AC3E}">
        <p14:creationId xmlns:p14="http://schemas.microsoft.com/office/powerpoint/2010/main" val="3872493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wipe(down)">
                                      <p:cBhvr>
                                        <p:cTn id="7" dur="500"/>
                                        <p:tgtEl>
                                          <p:spTgt spid="4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fade">
                                      <p:cBhvr>
                                        <p:cTn id="10" dur="500"/>
                                        <p:tgtEl>
                                          <p:spTgt spid="42"/>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4"/>
                                        </p:tgtEl>
                                        <p:attrNameLst>
                                          <p:attrName>style.visibility</p:attrName>
                                        </p:attrNameLst>
                                      </p:cBhvr>
                                      <p:to>
                                        <p:strVal val="visible"/>
                                      </p:to>
                                    </p:set>
                                    <p:animEffect transition="in" filter="fade">
                                      <p:cBhvr>
                                        <p:cTn id="18"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p:bldP spid="43" grpId="0"/>
      <p:bldP spid="44"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6EA36-1E76-C346-7EDC-39AB3367C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146634-9AFA-FD0C-255E-57162AEA5BB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FF1CDA8-BE49-892F-A73C-E9416CA948DC}"/>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467659E-277D-8BDC-506D-58E163FFC9B6}"/>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8A61E0B-4EBC-B91F-8522-892EA07E43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D8CA5A4-97FD-5D40-27DB-ACA0A950A206}"/>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80ADB8D-5FDA-709B-C8B1-F8954A8B71E3}"/>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131E0B6B-ADE7-F768-5D3D-0A7288238E82}"/>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459153A-F115-FE2F-CB00-412CFAB44C6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690AED7-BB88-946C-2E3E-4CB85CD5A56A}"/>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3D69A0DE-02A1-AA08-3089-F712CD3AB16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61804FA-A204-303B-6BA2-6FA72BB4E49A}"/>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E636958B-ED9A-3CCD-C5B3-77752BEFE83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CA684118-3812-B03C-CA00-2E6364461859}"/>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2BE6B613-FF47-367E-1509-49E6B942546F}"/>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5C7E3E5-C2BF-3F53-4BF7-7F6A39588BF3}"/>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2180FF30-61F0-FCEB-D98F-29D2C4AF09B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42E1CABE-3CD8-9EFC-51FE-C5D005F9E336}"/>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771F57D9-B1D4-9200-ACF4-A9251F7D7C06}"/>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34E9344-D02B-1C13-A64C-5BC7427783CD}"/>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D7E7756-AAD7-854C-4670-A8F8E189D94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93EB2662-F25E-6814-2C0A-698F6251254B}"/>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6D549DFE-8DEA-1055-0E01-2B4D6DC12229}"/>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4F3610A-2D62-B287-636F-2EBD01A26241}"/>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382D89E8-CF16-7A81-06EA-B4AE4925C436}"/>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254EB1F-2C48-B7F3-EE1C-58AF28C39F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5895F210-0678-82B2-8392-0ADE74E5F5B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75E576A-E59D-62C1-EDF7-C48D42F31978}"/>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A8BC5C56-7D3A-A00A-A8C2-E98D97FF1732}"/>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5725AD0-4997-51A4-0294-1FFCB905C8C7}"/>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1E80F67C-1C59-7092-0A15-E698E8A04FBA}"/>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81C88A78-87D0-EAFC-8B32-FDD35422C277}"/>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55E8FE37-8960-C16C-F11E-1783CE1ED188}"/>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E6E86058-568B-97BA-8FB0-94AAFF445F61}"/>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EBBBCCA6-870E-8023-116F-351D252EA2F0}"/>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59C1B84-8FB1-EC93-4A0E-9EDF6B896869}"/>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94B696F3-D6AD-D884-8C55-0767D7700A11}"/>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6AF7D7F-4705-F8FF-08DD-E0558452C456}"/>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38BB9FE6-1584-C6D4-0048-4040CBAF9251}"/>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926B0744-7F40-ACAE-2A13-EC97473E60D4}"/>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3DA422BB-DA7D-0E8F-B764-BB2F61AFA833}"/>
              </a:ext>
            </a:extLst>
          </p:cNvPr>
          <p:cNvSpPr/>
          <p:nvPr/>
        </p:nvSpPr>
        <p:spPr>
          <a:xfrm rot="16200000">
            <a:off x="-665283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5427FAA9-AA56-FB8D-DC5E-F947F05D3A5A}"/>
              </a:ext>
            </a:extLst>
          </p:cNvPr>
          <p:cNvSpPr txBox="1"/>
          <p:nvPr/>
        </p:nvSpPr>
        <p:spPr>
          <a:xfrm>
            <a:off x="-9595141"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D4A8562C-C60A-0586-774A-BB63A0950344}"/>
              </a:ext>
            </a:extLst>
          </p:cNvPr>
          <p:cNvSpPr txBox="1"/>
          <p:nvPr/>
        </p:nvSpPr>
        <p:spPr>
          <a:xfrm>
            <a:off x="-8835600"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F261C5FB-5D1F-96EF-13F7-11AC571CDF21}"/>
              </a:ext>
            </a:extLst>
          </p:cNvPr>
          <p:cNvSpPr txBox="1"/>
          <p:nvPr/>
        </p:nvSpPr>
        <p:spPr>
          <a:xfrm>
            <a:off x="-12520238"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246B8B09-AB67-9004-2310-03291258FE4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C8530C7-8323-9D58-206A-8BA60AFDE6D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24EB2246-FC39-A7EF-A65E-2D118E08BAC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A9F03C9E-C49F-19DB-D1FD-8E1E43B09407}"/>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3001902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down)">
                                      <p:cBhvr>
                                        <p:cTn id="7" dur="500"/>
                                        <p:tgtEl>
                                          <p:spTgt spid="4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fade">
                                      <p:cBhvr>
                                        <p:cTn id="10" dur="500"/>
                                        <p:tgtEl>
                                          <p:spTgt spid="46"/>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7"/>
                                        </p:tgtEl>
                                        <p:attrNameLst>
                                          <p:attrName>style.visibility</p:attrName>
                                        </p:attrNameLst>
                                      </p:cBhvr>
                                      <p:to>
                                        <p:strVal val="visible"/>
                                      </p:to>
                                    </p:set>
                                    <p:animEffect transition="in" filter="fade">
                                      <p:cBhvr>
                                        <p:cTn id="14" dur="500"/>
                                        <p:tgtEl>
                                          <p:spTgt spid="4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47" grpId="0"/>
      <p:bldP spid="4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40DD9-D945-BFDA-23DF-9052C1EC7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2FF3B-41B6-8AB5-7BCB-2DE2B6E4C80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56E9F437-BE63-5615-62E2-98E81EC2A52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EB37C28-F1C3-8071-3F70-E339D3934114}"/>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53BF1BA-3D77-E7D5-0CCB-8C98E7A866D6}"/>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E17359F-D208-6F71-9905-72C4F625CCFD}"/>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603915FC-593F-379F-7BAA-B3F37CF6098A}"/>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678F489-70F9-2297-E7A4-00C01B5791A9}"/>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5F00F1AA-F4F9-C5F9-4D62-76848CDFCE55}"/>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411A96CA-F15A-B27D-9420-649CB4199712}"/>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03AB5A85-F8CB-9D5C-145F-068121DC4DFB}"/>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9B005A67-A11C-DE44-FBD4-340173A3B0FD}"/>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45CD780-A3C3-237B-673A-8F8359E7E68F}"/>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325788D0-60AB-BC00-BE42-3F2AB1FEB73A}"/>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650ECAF-55E8-3E8F-8824-FC0E46450E24}"/>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26DCA1A-B171-7C3D-8C53-1742CF5F4985}"/>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A571E3A-53B2-0C65-BC4D-6B8CC0729C5B}"/>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5CE07BE-2AC7-A904-0430-33EC1B640ACC}"/>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3C8F6E31-473B-37C8-3CFC-0936AA7EB647}"/>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21B1F595-7F17-591B-3E8D-5C7E1D8E6197}"/>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04700C4A-3CCE-A5D8-F7BA-ACFFE8B4D173}"/>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3569255-86EA-6AF3-E432-CDD4A8FE84CB}"/>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2F8D0329-B7F0-F664-DA08-23D98CE844E4}"/>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CD2F6B8-E54F-129E-A847-BAA4157C2341}"/>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4C458947-E65F-8C8C-957E-845E3B6C5664}"/>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F7C82F4-D3F3-9733-121B-69652D53AB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D18507C5-BE1F-854F-81F2-973B5E203A5D}"/>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8BFF7B1B-1E6F-C7B9-6A04-2AD9A41731E3}"/>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32216B8A-14D2-0F2F-E45B-0A8C7E7D286B}"/>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7234B0E-D461-C77C-4070-091BC524A280}"/>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C893BF91-1416-82AF-BDDC-BCCEAE7F030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CE37BA7C-F7DA-F599-B288-EBA4987C5365}"/>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20B2DF89-28E2-2EF8-98B6-C0ADC37C388C}"/>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A555489-7CC7-B696-3758-6E7925E1C546}"/>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0FEBAEB-D09C-864E-9970-CC2BFCB48B3A}"/>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1A8AF19-F42F-5F25-15EF-2A3F16F64D63}"/>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6D93369C-8E72-9E21-2962-49C5D57B3464}"/>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4541465-5A86-863E-54A2-13B7A592A627}"/>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2EC8E293-2180-2BFA-FE29-1A3375F680C0}"/>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26C6845E-A946-78E4-7FB1-05831323D83A}"/>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034EA254-7751-4430-47E9-3803BF9CE167}"/>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C5630AF8-2391-D7BC-C260-D6EF15B0ED88}"/>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3FE6D3A2-7C0D-1304-5016-978761CFBFD6}"/>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7BC6E4D7-4412-341D-3F4F-B68041BDF3B5}"/>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FF5735E8-A050-EF24-434A-2A734533DF22}"/>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3C4D426-815F-4822-5E4E-3A4BC3BDB45C}"/>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4C9309A6-B6AA-F9EE-7205-F8805283EFA1}"/>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30A8503E-77C8-D23E-0FFA-89D7E67C5C60}"/>
              </a:ext>
            </a:extLst>
          </p:cNvPr>
          <p:cNvSpPr txBox="1"/>
          <p:nvPr/>
        </p:nvSpPr>
        <p:spPr>
          <a:xfrm>
            <a:off x="0" y="4199916"/>
            <a:ext cx="6096000" cy="2677656"/>
          </a:xfrm>
          <a:prstGeom prst="rect">
            <a:avLst/>
          </a:prstGeom>
          <a:noFill/>
        </p:spPr>
        <p:txBody>
          <a:bodyPr wrap="square" rtlCol="0">
            <a:spAutoFit/>
          </a:bodyPr>
          <a:lstStyle/>
          <a:p>
            <a:pPr algn="ctr"/>
            <a:r>
              <a:rPr lang="en-US" sz="2800" dirty="0"/>
              <a:t>“Understood [the canon] as a collection of books possessing authority, but he did not insist that this authority should be based on the thesis that ‘the New Testament is holy Scripture’” (p. 24)</a:t>
            </a:r>
          </a:p>
        </p:txBody>
      </p:sp>
    </p:spTree>
    <p:extLst>
      <p:ext uri="{BB962C8B-B14F-4D97-AF65-F5344CB8AC3E}">
        <p14:creationId xmlns:p14="http://schemas.microsoft.com/office/powerpoint/2010/main" val="1333608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FF48D-2FE2-2898-FC05-E096F08D0B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F44200-9C8B-DCE5-BB2D-01203BBAE6D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15D1F4E-5764-4E57-C59B-FA663B01718E}"/>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F196D04-269A-B527-AABB-9F4BFB435E89}"/>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36AA455-A58D-890D-91A7-4D7937EE541A}"/>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1A0D9F0-F981-A768-A966-01F3B047F93E}"/>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46A85A90-9CDA-0356-1F56-1FF4DB1D3338}"/>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31D48DA-5A88-3891-C8AF-8B78BAA5A0CE}"/>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99562A9-4FE1-9C87-2122-19E34F3E2781}"/>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81B4F3FB-8033-8A74-7F43-156C6358AB0B}"/>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F327FEC-C20C-60BC-CC84-F0E69A13C80F}"/>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143D108-C067-88D8-4BEF-E9CBAD7523A0}"/>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0BDF11C-1BE0-A002-4A57-E31FB539AD21}"/>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9F05AA85-E1F0-90DE-EDD7-6BB576C1E6AE}"/>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C2CE683-2CA5-C38B-6786-79A2D899FC85}"/>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9E54785E-57F6-BEA9-8412-47763AAF24CA}"/>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A1607B5-3FB4-83CA-FD5E-520D90C82335}"/>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366C1FF-D601-3A6A-454D-B73ACEF2657A}"/>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AEED144E-B623-5F34-1352-1DB84F1584FE}"/>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E01ABA0-58F8-3705-F01A-569FAC7497DE}"/>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B6F0C78-0D09-B93B-E064-78CA29C9AAD5}"/>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F1914C9-BB36-E4CB-7C37-15F0CA66B293}"/>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B775DE8-9027-0499-CA33-A21EA77E51C7}"/>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20750E62-DBA8-06F3-7D05-33327E1EB3FF}"/>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164AC86-9720-3466-BA87-E44619E8C177}"/>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C2D8924-A2B7-41D9-0487-0C5962CEC8A0}"/>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6492DC9-4711-7C40-9CB8-C5FCBB32C49C}"/>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988056DD-56E7-C60C-A522-49B3EF419B9A}"/>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EECA638A-5660-92E7-11C0-D21CD9229A09}"/>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80C077E2-EBDA-DDEC-FC11-D4A43CD15C2E}"/>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DC251847-712C-451C-B0D6-58C8900B5FB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95A8367-49F0-74A9-4DBF-7CC920ACF7F3}"/>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F69E61B7-BF20-34E0-B8F7-348A4D141CD7}"/>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ABBEF3DB-90C5-9F79-F175-5881520CBFE0}"/>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8D97C1A0-1FD7-5770-75EA-9198D9C4F293}"/>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6C8FC7C8-19DB-FDC3-504B-AFA7063D867B}"/>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29442885-6184-772C-FAD5-73E946151EE9}"/>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099ACE2-8FB8-1DBF-F593-BD08B234A11A}"/>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FBFE9798-9976-1F21-E117-3340C683CDB7}"/>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49E605E5-E217-D39A-4E2D-376F6A5B7313}"/>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5302CE01-03CC-06BD-FC33-115174F87134}"/>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09EC037C-8B7C-E8D5-C001-BB457424DF63}"/>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00F06215-DFEE-602D-4A71-09E83EC4D22C}"/>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C12DF96F-E237-7FA6-B28D-E417D75E3FA0}"/>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AC2F2156-62EA-8A69-70AB-39A2EBA74EA7}"/>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1AEB023-0DC1-9ED0-75A8-F3821D77F55E}"/>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078DD136-C213-29BC-927A-00217183D830}"/>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9B51197A-42A2-EAF0-EFCF-67DAF9935802}"/>
              </a:ext>
            </a:extLst>
          </p:cNvPr>
          <p:cNvSpPr txBox="1"/>
          <p:nvPr/>
        </p:nvSpPr>
        <p:spPr>
          <a:xfrm>
            <a:off x="-1" y="4199916"/>
            <a:ext cx="6127007" cy="2677656"/>
          </a:xfrm>
          <a:prstGeom prst="rect">
            <a:avLst/>
          </a:prstGeom>
          <a:noFill/>
        </p:spPr>
        <p:txBody>
          <a:bodyPr wrap="square" rtlCol="0">
            <a:spAutoFit/>
          </a:bodyPr>
          <a:lstStyle/>
          <a:p>
            <a:pPr algn="ctr"/>
            <a:r>
              <a:rPr lang="en-US" sz="2800" dirty="0"/>
              <a:t>“He was satisfied if, for instance, the four Gospels are an authority because of the authority of the Lord’s sayings which they contain. He could…speak of the existence of a NT ‘canon’ [at the close of the 1st century]” (p. 24)</a:t>
            </a:r>
          </a:p>
        </p:txBody>
      </p:sp>
      <p:sp>
        <p:nvSpPr>
          <p:cNvPr id="50" name="TextBox 49">
            <a:extLst>
              <a:ext uri="{FF2B5EF4-FFF2-40B4-BE49-F238E27FC236}">
                <a16:creationId xmlns:a16="http://schemas.microsoft.com/office/drawing/2014/main" id="{39E944AF-EBA5-0367-1162-84E1CB06AB3D}"/>
              </a:ext>
            </a:extLst>
          </p:cNvPr>
          <p:cNvSpPr txBox="1"/>
          <p:nvPr/>
        </p:nvSpPr>
        <p:spPr>
          <a:xfrm>
            <a:off x="6092653" y="4207794"/>
            <a:ext cx="6096000" cy="2677656"/>
          </a:xfrm>
          <a:prstGeom prst="rect">
            <a:avLst/>
          </a:prstGeom>
          <a:noFill/>
        </p:spPr>
        <p:txBody>
          <a:bodyPr wrap="square" rtlCol="0">
            <a:spAutoFit/>
          </a:bodyPr>
          <a:lstStyle/>
          <a:p>
            <a:pPr algn="ctr"/>
            <a:r>
              <a:rPr lang="en-US" sz="2800" dirty="0"/>
              <a:t>“New Testament canon is a collection of books that possessed authority </a:t>
            </a:r>
            <a:r>
              <a:rPr lang="en-US" sz="2800" i="1" dirty="0"/>
              <a:t>because</a:t>
            </a:r>
            <a:r>
              <a:rPr lang="en-US" sz="2800" dirty="0"/>
              <a:t> they were regarded as holy Scripture. Accordingly he placed the rise of the New Testament canon at the close of the 2</a:t>
            </a:r>
            <a:r>
              <a:rPr lang="en-US" sz="2800" baseline="30000" dirty="0"/>
              <a:t>nd</a:t>
            </a:r>
            <a:r>
              <a:rPr lang="en-US" sz="2800" dirty="0"/>
              <a:t>  century” (p. 24)</a:t>
            </a:r>
          </a:p>
        </p:txBody>
      </p:sp>
    </p:spTree>
    <p:extLst>
      <p:ext uri="{BB962C8B-B14F-4D97-AF65-F5344CB8AC3E}">
        <p14:creationId xmlns:p14="http://schemas.microsoft.com/office/powerpoint/2010/main" val="304986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fade">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50"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C37D4-0D15-F842-8EC9-FE03792C5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E7D60-BBA3-5E8E-1EFA-5AB4B8065C05}"/>
              </a:ext>
            </a:extLst>
          </p:cNvPr>
          <p:cNvSpPr>
            <a:spLocks noGrp="1"/>
          </p:cNvSpPr>
          <p:nvPr>
            <p:ph type="ctrTitle"/>
          </p:nvPr>
        </p:nvSpPr>
        <p:spPr>
          <a:xfrm>
            <a:off x="0" y="1435100"/>
            <a:ext cx="12192000" cy="2387600"/>
          </a:xfrm>
        </p:spPr>
        <p:txBody>
          <a:bodyPr>
            <a:normAutofit fontScale="90000"/>
          </a:bodyPr>
          <a:lstStyle/>
          <a:p>
            <a:pPr algn="ctr"/>
            <a:r>
              <a:rPr lang="en-US" b="1" dirty="0"/>
              <a:t>Class 3:</a:t>
            </a:r>
            <a:br>
              <a:rPr lang="en-US" b="1" dirty="0"/>
            </a:br>
            <a:r>
              <a:rPr lang="en-US" dirty="0"/>
              <a:t>History of Canon Discussion (20</a:t>
            </a:r>
            <a:r>
              <a:rPr lang="en-US" baseline="30000" dirty="0"/>
              <a:t>th</a:t>
            </a:r>
            <a:r>
              <a:rPr lang="en-US" dirty="0"/>
              <a:t> century)</a:t>
            </a:r>
          </a:p>
        </p:txBody>
      </p:sp>
      <p:sp>
        <p:nvSpPr>
          <p:cNvPr id="3" name="Subtitle 2">
            <a:extLst>
              <a:ext uri="{FF2B5EF4-FFF2-40B4-BE49-F238E27FC236}">
                <a16:creationId xmlns:a16="http://schemas.microsoft.com/office/drawing/2014/main" id="{A8AD341C-DB6A-BD06-914A-6E0B5BC262F4}"/>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28654004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4EEDE-DBB9-683A-C053-9D293CEF8F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631CED-9346-5CE7-68B4-0856F10474B3}"/>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D10565E1-46C2-2D40-A036-BC3DFA2E51B2}"/>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85D1BBE1-7216-334E-1DCD-0DF6F0B7C2C4}"/>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25549120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43B76-8A7B-9F52-DA67-CC18C4C37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2EE7F-41AC-375C-8B95-2F9F1B10A98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7502F2B-BAA0-62CE-3451-3C6FC1F640B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BBAC2EE-C07B-049E-93B1-5C37D3C87F7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AF8F8ECE-5B56-1C80-91E9-17768D830F1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7220F52E-A39C-6159-A6DF-E89E9E0CC451}"/>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63EEA6B1-4AA9-94F3-5B21-EE14A2C49538}"/>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211914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F1BCE-2498-2B88-EC3A-79CD78933F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ED1993-B9F8-62A1-DA7B-B0DF1E43BAB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A2FF3CC-C159-1BC2-A2AD-8FE798650BD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B5B734BA-4569-5FA5-FD72-1EA1CAFDDF55}"/>
              </a:ext>
            </a:extLst>
          </p:cNvPr>
          <p:cNvSpPr/>
          <p:nvPr/>
        </p:nvSpPr>
        <p:spPr>
          <a:xfrm rot="16200000">
            <a:off x="-643825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172078D6-0843-6F7F-69EF-5ABD3608D1D7}"/>
              </a:ext>
            </a:extLst>
          </p:cNvPr>
          <p:cNvSpPr txBox="1"/>
          <p:nvPr/>
        </p:nvSpPr>
        <p:spPr>
          <a:xfrm>
            <a:off x="-9380554"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94788DEA-8521-3888-856F-4C4A29BC074B}"/>
              </a:ext>
            </a:extLst>
          </p:cNvPr>
          <p:cNvSpPr txBox="1"/>
          <p:nvPr/>
        </p:nvSpPr>
        <p:spPr>
          <a:xfrm>
            <a:off x="-8621013"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3494B2DB-AAA6-6755-CC2F-2B0580CD69D8}"/>
              </a:ext>
            </a:extLst>
          </p:cNvPr>
          <p:cNvSpPr txBox="1"/>
          <p:nvPr/>
        </p:nvSpPr>
        <p:spPr>
          <a:xfrm>
            <a:off x="-12305651"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
        <p:nvSpPr>
          <p:cNvPr id="3" name="Rectangle 2">
            <a:extLst>
              <a:ext uri="{FF2B5EF4-FFF2-40B4-BE49-F238E27FC236}">
                <a16:creationId xmlns:a16="http://schemas.microsoft.com/office/drawing/2014/main" id="{B51A10D6-92CA-A945-18B9-234E9E375D7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32AFAE3-910A-D991-C1B8-CA20BE9AF800}"/>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a:t>
            </a:r>
          </a:p>
        </p:txBody>
      </p:sp>
      <p:sp>
        <p:nvSpPr>
          <p:cNvPr id="5" name="TextBox 4">
            <a:extLst>
              <a:ext uri="{FF2B5EF4-FFF2-40B4-BE49-F238E27FC236}">
                <a16:creationId xmlns:a16="http://schemas.microsoft.com/office/drawing/2014/main" id="{A9B9A53E-E6FF-B50C-471C-B680F394251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t>
            </a:r>
          </a:p>
        </p:txBody>
      </p:sp>
      <p:sp>
        <p:nvSpPr>
          <p:cNvPr id="7" name="TextBox 6">
            <a:extLst>
              <a:ext uri="{FF2B5EF4-FFF2-40B4-BE49-F238E27FC236}">
                <a16:creationId xmlns:a16="http://schemas.microsoft.com/office/drawing/2014/main" id="{EE324419-DBD8-7421-0275-A6850CE4E0D0}"/>
              </a:ext>
            </a:extLst>
          </p:cNvPr>
          <p:cNvSpPr txBox="1"/>
          <p:nvPr/>
        </p:nvSpPr>
        <p:spPr>
          <a:xfrm>
            <a:off x="0" y="4348065"/>
            <a:ext cx="12192000" cy="523220"/>
          </a:xfrm>
          <a:prstGeom prst="rect">
            <a:avLst/>
          </a:prstGeom>
          <a:noFill/>
        </p:spPr>
        <p:txBody>
          <a:bodyPr wrap="square" rtlCol="0">
            <a:spAutoFit/>
          </a:bodyPr>
          <a:lstStyle/>
          <a:p>
            <a:pPr algn="ctr"/>
            <a:r>
              <a:rPr lang="en-US" sz="2800" dirty="0"/>
              <a:t>?</a:t>
            </a:r>
          </a:p>
        </p:txBody>
      </p:sp>
    </p:spTree>
    <p:extLst>
      <p:ext uri="{BB962C8B-B14F-4D97-AF65-F5344CB8AC3E}">
        <p14:creationId xmlns:p14="http://schemas.microsoft.com/office/powerpoint/2010/main" val="2327353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0887-E245-799F-11CC-0CDCED848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09190-ABDF-7546-EB90-246D72D20F4B}"/>
              </a:ext>
            </a:extLst>
          </p:cNvPr>
          <p:cNvSpPr>
            <a:spLocks noGrp="1"/>
          </p:cNvSpPr>
          <p:nvPr>
            <p:ph type="ctrTitle"/>
          </p:nvPr>
        </p:nvSpPr>
        <p:spPr>
          <a:xfrm>
            <a:off x="0" y="1435100"/>
            <a:ext cx="12192000" cy="2387600"/>
          </a:xfrm>
        </p:spPr>
        <p:txBody>
          <a:bodyPr>
            <a:normAutofit/>
          </a:bodyPr>
          <a:lstStyle/>
          <a:p>
            <a:pPr algn="ctr"/>
            <a:r>
              <a:rPr lang="en-US" b="1" dirty="0"/>
              <a:t>Class 4:</a:t>
            </a:r>
            <a:br>
              <a:rPr lang="en-US" b="1" dirty="0"/>
            </a:br>
            <a:r>
              <a:rPr lang="en-US" dirty="0"/>
              <a:t>Modern Canonical Models</a:t>
            </a:r>
          </a:p>
        </p:txBody>
      </p:sp>
      <p:sp>
        <p:nvSpPr>
          <p:cNvPr id="3" name="Subtitle 2">
            <a:extLst>
              <a:ext uri="{FF2B5EF4-FFF2-40B4-BE49-F238E27FC236}">
                <a16:creationId xmlns:a16="http://schemas.microsoft.com/office/drawing/2014/main" id="{BE6B83D2-9B63-E9C3-1B6F-260C43EDFA02}"/>
              </a:ext>
            </a:extLst>
          </p:cNvPr>
          <p:cNvSpPr>
            <a:spLocks noGrp="1"/>
          </p:cNvSpPr>
          <p:nvPr>
            <p:ph type="subTitle" idx="1"/>
          </p:nvPr>
        </p:nvSpPr>
        <p:spPr>
          <a:xfrm>
            <a:off x="1524000" y="3924300"/>
            <a:ext cx="9144000" cy="1651000"/>
          </a:xfrm>
        </p:spPr>
        <p:txBody>
          <a:bodyPr wrap="square" bIns="365760">
            <a:normAutofit fontScale="85000" lnSpcReduction="20000"/>
          </a:bodyPr>
          <a:lstStyle/>
          <a:p>
            <a:pPr algn="ctr">
              <a:lnSpc>
                <a:spcPct val="100000"/>
              </a:lnSpc>
            </a:pPr>
            <a:r>
              <a:rPr lang="en-US" dirty="0"/>
              <a:t>Based on:</a:t>
            </a:r>
          </a:p>
          <a:p>
            <a:pPr algn="ctr">
              <a:lnSpc>
                <a:spcPct val="100000"/>
              </a:lnSpc>
              <a:spcBef>
                <a:spcPts val="0"/>
              </a:spcBef>
            </a:pPr>
            <a:r>
              <a:rPr lang="en-US" dirty="0"/>
              <a:t>(1) M. Kruger, </a:t>
            </a:r>
            <a:r>
              <a:rPr lang="en-US" i="1" dirty="0"/>
              <a:t>Canon Revisited: Establishing the Origins and Authority of the New Testament Books</a:t>
            </a:r>
            <a:r>
              <a:rPr lang="en-US" dirty="0"/>
              <a:t>, Crossway (2012)</a:t>
            </a:r>
          </a:p>
          <a:p>
            <a:pPr algn="ctr">
              <a:lnSpc>
                <a:spcPct val="100000"/>
              </a:lnSpc>
              <a:spcBef>
                <a:spcPts val="0"/>
              </a:spcBef>
            </a:pPr>
            <a:r>
              <a:rPr lang="en-US" dirty="0"/>
              <a:t>(2) M. Kruger, </a:t>
            </a:r>
            <a:r>
              <a:rPr lang="en-US" i="1" dirty="0"/>
              <a:t>The Origin &amp; Authority of New Testament Canon</a:t>
            </a:r>
            <a:r>
              <a:rPr lang="en-US" dirty="0"/>
              <a:t>, YouTube Lecture Series</a:t>
            </a:r>
          </a:p>
        </p:txBody>
      </p:sp>
      <p:sp>
        <p:nvSpPr>
          <p:cNvPr id="4" name="TextBox 3">
            <a:extLst>
              <a:ext uri="{FF2B5EF4-FFF2-40B4-BE49-F238E27FC236}">
                <a16:creationId xmlns:a16="http://schemas.microsoft.com/office/drawing/2014/main" id="{6DA32EFD-1CD0-EB09-C2C5-683F503168EB}"/>
              </a:ext>
            </a:extLst>
          </p:cNvPr>
          <p:cNvSpPr txBox="1"/>
          <p:nvPr/>
        </p:nvSpPr>
        <p:spPr>
          <a:xfrm>
            <a:off x="4683512" y="5084956"/>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3468512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3708-8485-1580-6301-0D79EB413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6FC612-37CB-C5B8-F397-642D4C2C97B4}"/>
              </a:ext>
            </a:extLst>
          </p:cNvPr>
          <p:cNvSpPr>
            <a:spLocks noGrp="1"/>
          </p:cNvSpPr>
          <p:nvPr>
            <p:ph type="title"/>
          </p:nvPr>
        </p:nvSpPr>
        <p:spPr/>
        <p:txBody>
          <a:bodyPr/>
          <a:lstStyle/>
          <a:p>
            <a:r>
              <a:rPr lang="en-US" dirty="0"/>
              <a:t>Download Slides</a:t>
            </a:r>
          </a:p>
        </p:txBody>
      </p:sp>
      <p:sp>
        <p:nvSpPr>
          <p:cNvPr id="3" name="Content Placeholder 2">
            <a:extLst>
              <a:ext uri="{FF2B5EF4-FFF2-40B4-BE49-F238E27FC236}">
                <a16:creationId xmlns:a16="http://schemas.microsoft.com/office/drawing/2014/main" id="{1196C7F5-9192-1860-2097-C19567A8A37A}"/>
              </a:ext>
            </a:extLst>
          </p:cNvPr>
          <p:cNvSpPr>
            <a:spLocks noGrp="1"/>
          </p:cNvSpPr>
          <p:nvPr>
            <p:ph idx="1"/>
          </p:nvPr>
        </p:nvSpPr>
        <p:spPr>
          <a:xfrm>
            <a:off x="838200" y="1825625"/>
            <a:ext cx="9906000" cy="803275"/>
          </a:xfrm>
        </p:spPr>
        <p:txBody>
          <a:bodyPr>
            <a:normAutofit fontScale="92500"/>
          </a:bodyPr>
          <a:lstStyle/>
          <a:p>
            <a:r>
              <a:rPr lang="en-US" sz="4400" dirty="0"/>
              <a:t>https://</a:t>
            </a:r>
            <a:r>
              <a:rPr lang="en-US" sz="4400" dirty="0" err="1"/>
              <a:t>joshuahaub.com</a:t>
            </a:r>
            <a:r>
              <a:rPr lang="en-US" sz="4400" dirty="0"/>
              <a:t>/notes/</a:t>
            </a:r>
            <a:r>
              <a:rPr lang="en-US" sz="4400" dirty="0" err="1"/>
              <a:t>nt</a:t>
            </a:r>
            <a:r>
              <a:rPr lang="en-US" sz="4400" dirty="0"/>
              <a:t>-canon/</a:t>
            </a:r>
          </a:p>
        </p:txBody>
      </p:sp>
      <p:pic>
        <p:nvPicPr>
          <p:cNvPr id="4" name="Picture 3">
            <a:extLst>
              <a:ext uri="{FF2B5EF4-FFF2-40B4-BE49-F238E27FC236}">
                <a16:creationId xmlns:a16="http://schemas.microsoft.com/office/drawing/2014/main" id="{09C6DFDB-8098-5C64-9593-5D4C5E7E2154}"/>
              </a:ext>
            </a:extLst>
          </p:cNvPr>
          <p:cNvPicPr>
            <a:picLocks noChangeAspect="1"/>
          </p:cNvPicPr>
          <p:nvPr/>
        </p:nvPicPr>
        <p:blipFill>
          <a:blip r:embed="rId2"/>
          <a:stretch>
            <a:fillRect/>
          </a:stretch>
        </p:blipFill>
        <p:spPr>
          <a:xfrm>
            <a:off x="7962900" y="2628900"/>
            <a:ext cx="4229100" cy="4229100"/>
          </a:xfrm>
          <a:prstGeom prst="rect">
            <a:avLst/>
          </a:prstGeom>
        </p:spPr>
      </p:pic>
    </p:spTree>
    <p:extLst>
      <p:ext uri="{BB962C8B-B14F-4D97-AF65-F5344CB8AC3E}">
        <p14:creationId xmlns:p14="http://schemas.microsoft.com/office/powerpoint/2010/main" val="6780337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C58D-4B44-39EC-3079-822415AE64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0AB5D-93C6-F68A-F211-465BB1262584}"/>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D84C8526-4CCC-C20E-FB71-285D6821F55D}"/>
              </a:ext>
            </a:extLst>
          </p:cNvPr>
          <p:cNvSpPr>
            <a:spLocks noGrp="1"/>
          </p:cNvSpPr>
          <p:nvPr>
            <p:ph idx="1"/>
          </p:nvPr>
        </p:nvSpPr>
        <p:spPr>
          <a:xfrm>
            <a:off x="838200" y="1825624"/>
            <a:ext cx="6808049" cy="4841393"/>
          </a:xfrm>
        </p:spPr>
        <p:txBody>
          <a:bodyPr>
            <a:noAutofit/>
          </a:bodyPr>
          <a:lstStyle/>
          <a:p>
            <a:r>
              <a:rPr lang="en-US" sz="2500" i="1" dirty="0"/>
              <a:t>Canon Revisited</a:t>
            </a:r>
            <a:r>
              <a:rPr lang="en-US" sz="2500" dirty="0"/>
              <a:t> by Michael J. Kruger</a:t>
            </a:r>
          </a:p>
          <a:p>
            <a:endParaRPr lang="en-US" sz="2500" dirty="0"/>
          </a:p>
          <a:p>
            <a:r>
              <a:rPr lang="en-US" sz="2500" dirty="0"/>
              <a:t>Canon discussed for a Christian audience, not for debating skeptics</a:t>
            </a:r>
          </a:p>
          <a:p>
            <a:pPr lvl="1"/>
            <a:r>
              <a:rPr lang="en-US" sz="2500" dirty="0"/>
              <a:t>“Nor, as we discussed in the introduction, are we attempting to somehow “prove” to the skeptic (in a way that would satisfy him) that these books are indeed from God. Rather, the question before us is whether the Christian faith, with its twenty-seven-book New Testament, can give an adequate account for how it can be known that these books are canonical” (p. 92)</a:t>
            </a:r>
          </a:p>
        </p:txBody>
      </p:sp>
      <p:pic>
        <p:nvPicPr>
          <p:cNvPr id="7" name="Picture 6">
            <a:extLst>
              <a:ext uri="{FF2B5EF4-FFF2-40B4-BE49-F238E27FC236}">
                <a16:creationId xmlns:a16="http://schemas.microsoft.com/office/drawing/2014/main" id="{2F79549D-DF2E-3A03-A6B4-608C39040576}"/>
              </a:ext>
            </a:extLst>
          </p:cNvPr>
          <p:cNvPicPr>
            <a:picLocks noChangeAspect="1"/>
          </p:cNvPicPr>
          <p:nvPr/>
        </p:nvPicPr>
        <p:blipFill>
          <a:blip r:embed="rId2"/>
          <a:stretch>
            <a:fillRect/>
          </a:stretch>
        </p:blipFill>
        <p:spPr>
          <a:xfrm>
            <a:off x="7825421" y="354012"/>
            <a:ext cx="4079624" cy="6138863"/>
          </a:xfrm>
          <a:prstGeom prst="rect">
            <a:avLst/>
          </a:prstGeom>
        </p:spPr>
      </p:pic>
    </p:spTree>
    <p:extLst>
      <p:ext uri="{BB962C8B-B14F-4D97-AF65-F5344CB8AC3E}">
        <p14:creationId xmlns:p14="http://schemas.microsoft.com/office/powerpoint/2010/main" val="1881874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F31FA-CCB2-8E68-5BF4-ECCB30836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476B4A-4083-BD09-539B-B96D2C24FC83}"/>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92D385BC-70AD-AA43-F36D-B1BA3361F61F}"/>
              </a:ext>
            </a:extLst>
          </p:cNvPr>
          <p:cNvSpPr>
            <a:spLocks noGrp="1"/>
          </p:cNvSpPr>
          <p:nvPr>
            <p:ph idx="1"/>
          </p:nvPr>
        </p:nvSpPr>
        <p:spPr>
          <a:xfrm>
            <a:off x="838200" y="1825624"/>
            <a:ext cx="6808049" cy="4841393"/>
          </a:xfrm>
        </p:spPr>
        <p:txBody>
          <a:bodyPr>
            <a:noAutofit/>
          </a:bodyPr>
          <a:lstStyle/>
          <a:p>
            <a:r>
              <a:rPr lang="en-US" sz="2500" i="1" dirty="0"/>
              <a:t>Canon Revisited</a:t>
            </a:r>
            <a:r>
              <a:rPr lang="en-US" sz="2500" dirty="0"/>
              <a:t> by Michael J. Kruger</a:t>
            </a:r>
          </a:p>
          <a:p>
            <a:endParaRPr lang="en-US" sz="2500" dirty="0"/>
          </a:p>
          <a:p>
            <a:r>
              <a:rPr lang="en-US" sz="2500" dirty="0"/>
              <a:t>YouTube Lecture Series from Michael J. Kruger: </a:t>
            </a:r>
            <a:r>
              <a:rPr lang="en-US" sz="2500" dirty="0">
                <a:hlinkClick r:id="rId2"/>
              </a:rPr>
              <a:t>https://www.youtube.com/watch?v=SUvJQmduAdA&amp;list=PLzytIUBlFDMN62nZiv6cPVBYoBaCPJjQM</a:t>
            </a:r>
            <a:endParaRPr lang="en-US" sz="2500" dirty="0"/>
          </a:p>
        </p:txBody>
      </p:sp>
      <p:pic>
        <p:nvPicPr>
          <p:cNvPr id="7" name="Picture 6">
            <a:extLst>
              <a:ext uri="{FF2B5EF4-FFF2-40B4-BE49-F238E27FC236}">
                <a16:creationId xmlns:a16="http://schemas.microsoft.com/office/drawing/2014/main" id="{DCCFEDFD-623A-8E2E-098D-CE10F98D91C0}"/>
              </a:ext>
            </a:extLst>
          </p:cNvPr>
          <p:cNvPicPr>
            <a:picLocks noChangeAspect="1"/>
          </p:cNvPicPr>
          <p:nvPr/>
        </p:nvPicPr>
        <p:blipFill>
          <a:blip r:embed="rId3"/>
          <a:stretch>
            <a:fillRect/>
          </a:stretch>
        </p:blipFill>
        <p:spPr>
          <a:xfrm>
            <a:off x="7825421" y="354012"/>
            <a:ext cx="4079624" cy="6138863"/>
          </a:xfrm>
          <a:prstGeom prst="rect">
            <a:avLst/>
          </a:prstGeom>
        </p:spPr>
      </p:pic>
      <p:pic>
        <p:nvPicPr>
          <p:cNvPr id="6" name="Picture 5">
            <a:extLst>
              <a:ext uri="{FF2B5EF4-FFF2-40B4-BE49-F238E27FC236}">
                <a16:creationId xmlns:a16="http://schemas.microsoft.com/office/drawing/2014/main" id="{D78F624F-CB8D-5FB3-7240-2A9E2075CF56}"/>
              </a:ext>
            </a:extLst>
          </p:cNvPr>
          <p:cNvPicPr>
            <a:picLocks noChangeAspect="1"/>
          </p:cNvPicPr>
          <p:nvPr/>
        </p:nvPicPr>
        <p:blipFill>
          <a:blip r:embed="rId4"/>
          <a:stretch>
            <a:fillRect/>
          </a:stretch>
        </p:blipFill>
        <p:spPr>
          <a:xfrm>
            <a:off x="4927599" y="3904131"/>
            <a:ext cx="2897821" cy="2897821"/>
          </a:xfrm>
          <a:prstGeom prst="rect">
            <a:avLst/>
          </a:prstGeom>
        </p:spPr>
      </p:pic>
    </p:spTree>
    <p:extLst>
      <p:ext uri="{BB962C8B-B14F-4D97-AF65-F5344CB8AC3E}">
        <p14:creationId xmlns:p14="http://schemas.microsoft.com/office/powerpoint/2010/main" val="2153664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50C122E-6D42-07A4-B2A9-66444AAB6AF6}"/>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127" name="Professor line 1"/>
          <p:cNvSpPr/>
          <p:nvPr/>
        </p:nvSpPr>
        <p:spPr>
          <a:xfrm>
            <a:off x="63500" y="1625600"/>
            <a:ext cx="4013200" cy="2616200"/>
          </a:xfrm>
          <a:prstGeom prst="wedgeEllipseCallout">
            <a:avLst>
              <a:gd name="adj1" fmla="val 51266"/>
              <a:gd name="adj2" fmla="val -54854"/>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Alright, class, today we are going to discuss the NT canon models.</a:t>
            </a:r>
          </a:p>
        </p:txBody>
      </p:sp>
      <p:sp>
        <p:nvSpPr>
          <p:cNvPr id="128" name="Student line 1"/>
          <p:cNvSpPr/>
          <p:nvPr/>
        </p:nvSpPr>
        <p:spPr>
          <a:xfrm>
            <a:off x="7835900" y="1511300"/>
            <a:ext cx="4292600" cy="2235200"/>
          </a:xfrm>
          <a:prstGeom prst="wedgeEllipseCallout">
            <a:avLst>
              <a:gd name="adj1" fmla="val -76627"/>
              <a:gd name="adj2" fmla="val 97727"/>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Oh cool, I have been wondering when the canon was finalized!</a:t>
            </a:r>
          </a:p>
        </p:txBody>
      </p:sp>
      <p:sp>
        <p:nvSpPr>
          <p:cNvPr id="129" name="Professor line 2"/>
          <p:cNvSpPr/>
          <p:nvPr/>
        </p:nvSpPr>
        <p:spPr>
          <a:xfrm>
            <a:off x="0" y="2933700"/>
            <a:ext cx="5638800" cy="3949700"/>
          </a:xfrm>
          <a:prstGeom prst="wedgeEllipseCallout">
            <a:avLst>
              <a:gd name="adj1" fmla="val 24764"/>
              <a:gd name="adj2" fmla="val -79893"/>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No, that’s not what we are going to be discussing today. Today we are discussing canonical </a:t>
            </a:r>
            <a:r>
              <a:rPr lang="en-US" sz="2800" i="1" dirty="0">
                <a:solidFill>
                  <a:srgbClr val="1A1A1A"/>
                </a:solidFill>
              </a:rPr>
              <a:t>models</a:t>
            </a:r>
            <a:r>
              <a:rPr lang="en-US" sz="2800" dirty="0">
                <a:solidFill>
                  <a:srgbClr val="1A1A1A"/>
                </a:solidFill>
              </a:rPr>
              <a:t>. Think “Worldview”</a:t>
            </a:r>
          </a:p>
        </p:txBody>
      </p:sp>
      <p:sp>
        <p:nvSpPr>
          <p:cNvPr id="130" name="Student line 2"/>
          <p:cNvSpPr/>
          <p:nvPr/>
        </p:nvSpPr>
        <p:spPr>
          <a:xfrm>
            <a:off x="7569200" y="1524000"/>
            <a:ext cx="4559300" cy="2235200"/>
          </a:xfrm>
          <a:prstGeom prst="wedgeEllipseCallout">
            <a:avLst>
              <a:gd name="adj1" fmla="val -69942"/>
              <a:gd name="adj2" fmla="val 96591"/>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Oh I see. So this class is more about how people </a:t>
            </a:r>
            <a:r>
              <a:rPr lang="en-US" sz="2800" i="1" dirty="0">
                <a:solidFill>
                  <a:srgbClr val="1A1A1A"/>
                </a:solidFill>
              </a:rPr>
              <a:t>interpret</a:t>
            </a:r>
            <a:r>
              <a:rPr lang="en-US" sz="2800" dirty="0">
                <a:solidFill>
                  <a:srgbClr val="1A1A1A"/>
                </a:solidFill>
              </a:rPr>
              <a:t> the data?</a:t>
            </a:r>
          </a:p>
        </p:txBody>
      </p:sp>
      <p:sp>
        <p:nvSpPr>
          <p:cNvPr id="131" name="Professor line 3"/>
          <p:cNvSpPr/>
          <p:nvPr/>
        </p:nvSpPr>
        <p:spPr>
          <a:xfrm>
            <a:off x="0" y="1562099"/>
            <a:ext cx="4108451" cy="2974731"/>
          </a:xfrm>
          <a:prstGeom prst="wedgeEllipseCallout">
            <a:avLst>
              <a:gd name="adj1" fmla="val 50633"/>
              <a:gd name="adj2" fmla="val -49029"/>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Yes, that is correct. We are not discussing “conclusions” about the history</a:t>
            </a:r>
          </a:p>
        </p:txBody>
      </p:sp>
      <p:sp>
        <p:nvSpPr>
          <p:cNvPr id="4" name="Professor line 3">
            <a:extLst>
              <a:ext uri="{FF2B5EF4-FFF2-40B4-BE49-F238E27FC236}">
                <a16:creationId xmlns:a16="http://schemas.microsoft.com/office/drawing/2014/main" id="{46C50AC8-3DC1-10E5-FF2D-CABB2D20AC65}"/>
              </a:ext>
            </a:extLst>
          </p:cNvPr>
          <p:cNvSpPr/>
          <p:nvPr/>
        </p:nvSpPr>
        <p:spPr>
          <a:xfrm>
            <a:off x="-15876" y="1569028"/>
            <a:ext cx="4108451" cy="2974731"/>
          </a:xfrm>
          <a:prstGeom prst="wedgeEllipseCallout">
            <a:avLst>
              <a:gd name="adj1" fmla="val 50633"/>
              <a:gd name="adj2" fmla="val -49029"/>
            </a:avLst>
          </a:prstGeom>
          <a:solidFill>
            <a:srgbClr val="FFFFFF"/>
          </a:solidFill>
          <a:ln w="25400">
            <a:solidFill>
              <a:srgbClr val="404040"/>
            </a:solidFill>
          </a:ln>
        </p:spPr>
        <p:txBody>
          <a:bodyPr wrap="square" lIns="127000" tIns="76200" rIns="127000" bIns="76200" rtlCol="0" anchor="ctr">
            <a:noAutofit/>
          </a:bodyPr>
          <a:lstStyle/>
          <a:p>
            <a:pPr algn="ctr">
              <a:lnSpc>
                <a:spcPct val="95000"/>
              </a:lnSpc>
            </a:pPr>
            <a:r>
              <a:rPr lang="en-US" sz="2800" dirty="0">
                <a:solidFill>
                  <a:srgbClr val="1A1A1A"/>
                </a:solidFill>
              </a:rPr>
              <a:t>Instead, we are discussing “how you get to” your conclusions about canon</a:t>
            </a:r>
          </a:p>
        </p:txBody>
      </p:sp>
    </p:spTree>
    <p:extLst>
      <p:ext uri="{BB962C8B-B14F-4D97-AF65-F5344CB8AC3E}">
        <p14:creationId xmlns:p14="http://schemas.microsoft.com/office/powerpoint/2010/main" val="2349409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27"/>
                                        </p:tgtEl>
                                        <p:attrNameLst>
                                          <p:attrName>style.visibility</p:attrName>
                                        </p:attrNameLst>
                                      </p:cBhvr>
                                      <p:to>
                                        <p:strVal val="visible"/>
                                      </p:to>
                                    </p:set>
                                    <p:animEffect transition="in" filter="wipe(up)">
                                      <p:cBhvr>
                                        <p:cTn id="7" dur="500"/>
                                        <p:tgtEl>
                                          <p:spTgt spid="1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28"/>
                                        </p:tgtEl>
                                        <p:attrNameLst>
                                          <p:attrName>style.visibility</p:attrName>
                                        </p:attrNameLst>
                                      </p:cBhvr>
                                      <p:to>
                                        <p:strVal val="visible"/>
                                      </p:to>
                                    </p:set>
                                    <p:animEffect transition="in" filter="wipe(down)">
                                      <p:cBhvr>
                                        <p:cTn id="12" dur="500"/>
                                        <p:tgtEl>
                                          <p:spTgt spid="128"/>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27"/>
                                        </p:tgtEl>
                                        <p:attrNameLst>
                                          <p:attrName>style.visibility</p:attrName>
                                        </p:attrNameLst>
                                      </p:cBhvr>
                                      <p:to>
                                        <p:strVal val="hidden"/>
                                      </p:to>
                                    </p:set>
                                  </p:childTnLst>
                                </p:cTn>
                              </p:par>
                              <p:par>
                                <p:cTn id="17" presetID="22" presetClass="entr" presetSubtype="1" fill="hold" grpId="0" nodeType="withEffect">
                                  <p:stCondLst>
                                    <p:cond delay="0"/>
                                  </p:stCondLst>
                                  <p:childTnLst>
                                    <p:set>
                                      <p:cBhvr>
                                        <p:cTn id="18" dur="1" fill="hold">
                                          <p:stCondLst>
                                            <p:cond delay="0"/>
                                          </p:stCondLst>
                                        </p:cTn>
                                        <p:tgtEl>
                                          <p:spTgt spid="129"/>
                                        </p:tgtEl>
                                        <p:attrNameLst>
                                          <p:attrName>style.visibility</p:attrName>
                                        </p:attrNameLst>
                                      </p:cBhvr>
                                      <p:to>
                                        <p:strVal val="visible"/>
                                      </p:to>
                                    </p:set>
                                    <p:animEffect transition="in" filter="wipe(up)">
                                      <p:cBhvr>
                                        <p:cTn id="19" dur="500"/>
                                        <p:tgtEl>
                                          <p:spTgt spid="129"/>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128"/>
                                        </p:tgtEl>
                                        <p:attrNameLst>
                                          <p:attrName>style.visibility</p:attrName>
                                        </p:attrNameLst>
                                      </p:cBhvr>
                                      <p:to>
                                        <p:strVal val="hidden"/>
                                      </p:to>
                                    </p:set>
                                  </p:childTnLst>
                                </p:cTn>
                              </p:par>
                              <p:par>
                                <p:cTn id="24" presetID="22" presetClass="entr" presetSubtype="4" fill="hold" grpId="0" nodeType="with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wipe(down)">
                                      <p:cBhvr>
                                        <p:cTn id="26" dur="500"/>
                                        <p:tgtEl>
                                          <p:spTgt spid="130"/>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129"/>
                                        </p:tgtEl>
                                        <p:attrNameLst>
                                          <p:attrName>style.visibility</p:attrName>
                                        </p:attrNameLst>
                                      </p:cBhvr>
                                      <p:to>
                                        <p:strVal val="hidden"/>
                                      </p:to>
                                    </p:set>
                                  </p:childTnLst>
                                </p:cTn>
                              </p:par>
                              <p:par>
                                <p:cTn id="31" presetID="22" presetClass="entr" presetSubtype="1" fill="hold" grpId="0"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wipe(up)">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7" grpId="0" animBg="1"/>
      <p:bldP spid="127" grpId="1" animBg="1"/>
      <p:bldP spid="128" grpId="0" animBg="1"/>
      <p:bldP spid="128" grpId="1" animBg="1"/>
      <p:bldP spid="129" grpId="0" animBg="1"/>
      <p:bldP spid="129" grpId="1" animBg="1"/>
      <p:bldP spid="130" grpId="0" animBg="1"/>
      <p:bldP spid="130" grpId="1" animBg="1"/>
      <p:bldP spid="131" grpId="0" animBg="1"/>
      <p:bldP spid="4"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7CF71-2D30-AE7C-1276-AECCC7D0DBE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F159FBC-38A4-0C00-9F89-103C25597F12}"/>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a:extLst>
              <a:ext uri="{FF2B5EF4-FFF2-40B4-BE49-F238E27FC236}">
                <a16:creationId xmlns:a16="http://schemas.microsoft.com/office/drawing/2014/main" id="{234BFC35-461B-A819-96C4-AF9AFCF2DFE0}"/>
              </a:ext>
            </a:extLst>
          </p:cNvP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a:extLst>
              <a:ext uri="{FF2B5EF4-FFF2-40B4-BE49-F238E27FC236}">
                <a16:creationId xmlns:a16="http://schemas.microsoft.com/office/drawing/2014/main" id="{CCEF0845-B276-8254-4E77-5DACCDDBD946}"/>
              </a:ext>
            </a:extLst>
          </p:cNvPr>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9" name="TextBox 8">
            <a:extLst>
              <a:ext uri="{FF2B5EF4-FFF2-40B4-BE49-F238E27FC236}">
                <a16:creationId xmlns:a16="http://schemas.microsoft.com/office/drawing/2014/main" id="{16260587-3F02-23C5-AA85-E14391121722}"/>
              </a:ext>
            </a:extLst>
          </p:cNvPr>
          <p:cNvSpPr txBox="1"/>
          <p:nvPr/>
        </p:nvSpPr>
        <p:spPr>
          <a:xfrm>
            <a:off x="4916613" y="660381"/>
            <a:ext cx="4425373" cy="954107"/>
          </a:xfrm>
          <a:prstGeom prst="rect">
            <a:avLst/>
          </a:prstGeom>
          <a:noFill/>
        </p:spPr>
        <p:txBody>
          <a:bodyPr wrap="square" rtlCol="0">
            <a:spAutoFit/>
          </a:bodyPr>
          <a:lstStyle/>
          <a:p>
            <a:pPr algn="ctr"/>
            <a:r>
              <a:rPr lang="en-US" sz="2800" dirty="0">
                <a:solidFill>
                  <a:srgbClr val="FF0000"/>
                </a:solidFill>
              </a:rPr>
              <a:t>(1) </a:t>
            </a:r>
            <a:r>
              <a:rPr lang="en-US" sz="2800" u="sng" dirty="0">
                <a:solidFill>
                  <a:srgbClr val="FF0000"/>
                </a:solidFill>
              </a:rPr>
              <a:t>Organize</a:t>
            </a:r>
            <a:r>
              <a:rPr lang="en-US" sz="2800" dirty="0">
                <a:solidFill>
                  <a:srgbClr val="FF0000"/>
                </a:solidFill>
              </a:rPr>
              <a:t> historical data</a:t>
            </a:r>
            <a:br>
              <a:rPr lang="en-US" sz="2800" dirty="0">
                <a:solidFill>
                  <a:srgbClr val="FF0000"/>
                </a:solidFill>
              </a:rPr>
            </a:br>
            <a:r>
              <a:rPr lang="en-US" sz="2800" dirty="0">
                <a:solidFill>
                  <a:srgbClr val="FF0000"/>
                </a:solidFill>
              </a:rPr>
              <a:t>(2) </a:t>
            </a:r>
            <a:r>
              <a:rPr lang="en-US" sz="2800" u="sng" dirty="0">
                <a:solidFill>
                  <a:srgbClr val="FF0000"/>
                </a:solidFill>
              </a:rPr>
              <a:t>Interpret</a:t>
            </a:r>
            <a:r>
              <a:rPr lang="en-US" sz="2800" dirty="0">
                <a:solidFill>
                  <a:srgbClr val="FF0000"/>
                </a:solidFill>
              </a:rPr>
              <a:t> historical data</a:t>
            </a:r>
          </a:p>
        </p:txBody>
      </p:sp>
    </p:spTree>
    <p:extLst>
      <p:ext uri="{BB962C8B-B14F-4D97-AF65-F5344CB8AC3E}">
        <p14:creationId xmlns:p14="http://schemas.microsoft.com/office/powerpoint/2010/main" val="31456621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36943-BD07-4E9F-8BFD-4ED60FDE5A8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90C8A8A-CA97-8457-8C4F-1A52F1BE9B10}"/>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a:extLst>
              <a:ext uri="{FF2B5EF4-FFF2-40B4-BE49-F238E27FC236}">
                <a16:creationId xmlns:a16="http://schemas.microsoft.com/office/drawing/2014/main" id="{911E6E58-0E05-4EFA-1A0E-B0682DF280BA}"/>
              </a:ext>
            </a:extLst>
          </p:cNvP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a:extLst>
              <a:ext uri="{FF2B5EF4-FFF2-40B4-BE49-F238E27FC236}">
                <a16:creationId xmlns:a16="http://schemas.microsoft.com/office/drawing/2014/main" id="{A5EDE6E6-D5EC-3D9D-816A-9BD4C55AB9E8}"/>
              </a:ext>
            </a:extLst>
          </p:cNvPr>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9" name="TextBox 8">
            <a:extLst>
              <a:ext uri="{FF2B5EF4-FFF2-40B4-BE49-F238E27FC236}">
                <a16:creationId xmlns:a16="http://schemas.microsoft.com/office/drawing/2014/main" id="{D4807C33-B520-E223-0F42-8136F5D824BA}"/>
              </a:ext>
            </a:extLst>
          </p:cNvPr>
          <p:cNvSpPr txBox="1"/>
          <p:nvPr/>
        </p:nvSpPr>
        <p:spPr>
          <a:xfrm>
            <a:off x="4916613" y="660381"/>
            <a:ext cx="4425373" cy="954107"/>
          </a:xfrm>
          <a:prstGeom prst="rect">
            <a:avLst/>
          </a:prstGeom>
          <a:noFill/>
        </p:spPr>
        <p:txBody>
          <a:bodyPr wrap="square" rtlCol="0">
            <a:spAutoFit/>
          </a:bodyPr>
          <a:lstStyle/>
          <a:p>
            <a:pPr algn="ctr"/>
            <a:r>
              <a:rPr lang="en-US" sz="2800" dirty="0">
                <a:solidFill>
                  <a:srgbClr val="FF0000"/>
                </a:solidFill>
              </a:rPr>
              <a:t>Helps Explain (Dis)agreements</a:t>
            </a:r>
          </a:p>
        </p:txBody>
      </p:sp>
    </p:spTree>
    <p:extLst>
      <p:ext uri="{BB962C8B-B14F-4D97-AF65-F5344CB8AC3E}">
        <p14:creationId xmlns:p14="http://schemas.microsoft.com/office/powerpoint/2010/main" val="24119290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0F9F8-CFD7-0AC5-EFBD-D6E9FF84C68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ECC8B95-062E-176D-B888-02B25769EB0F}"/>
              </a:ext>
            </a:extLst>
          </p:cNvPr>
          <p:cNvPicPr>
            <a:picLocks noChangeAspect="1"/>
          </p:cNvPicPr>
          <p:nvPr/>
        </p:nvPicPr>
        <p:blipFill>
          <a:blip r:embed="rId2"/>
          <a:srcRect t="6250" b="9375"/>
          <a:stretch>
            <a:fillRect/>
          </a:stretch>
        </p:blipFill>
        <p:spPr>
          <a:xfrm>
            <a:off x="0" y="0"/>
            <a:ext cx="12192000" cy="6858000"/>
          </a:xfrm>
          <a:prstGeom prst="rect">
            <a:avLst/>
          </a:prstGeom>
        </p:spPr>
      </p:pic>
      <p:sp>
        <p:nvSpPr>
          <p:cNvPr id="140" name="Whiteboard cover">
            <a:extLst>
              <a:ext uri="{FF2B5EF4-FFF2-40B4-BE49-F238E27FC236}">
                <a16:creationId xmlns:a16="http://schemas.microsoft.com/office/drawing/2014/main" id="{84DCE25A-978F-17BB-CA9B-F321F03751F0}"/>
              </a:ext>
            </a:extLst>
          </p:cNvPr>
          <p:cNvSpPr/>
          <p:nvPr/>
        </p:nvSpPr>
        <p:spPr>
          <a:xfrm>
            <a:off x="5638800" y="812800"/>
            <a:ext cx="2921000" cy="1244600"/>
          </a:xfrm>
          <a:prstGeom prst="rect">
            <a:avLst/>
          </a:prstGeom>
          <a:solidFill>
            <a:srgbClr val="FFFFFF"/>
          </a:solidFill>
          <a:ln>
            <a:noFill/>
          </a:ln>
        </p:spPr>
        <p:txBody>
          <a:bodyPr wrap="none" lIns="0" tIns="0" rIns="0" bIns="0" anchor="ctr">
            <a:noAutofit/>
          </a:bodyPr>
          <a:lstStyle/>
          <a:p>
            <a:endParaRPr lang="en-US" dirty="0"/>
          </a:p>
        </p:txBody>
      </p:sp>
      <p:sp>
        <p:nvSpPr>
          <p:cNvPr id="141" name="Whiteboard title">
            <a:extLst>
              <a:ext uri="{FF2B5EF4-FFF2-40B4-BE49-F238E27FC236}">
                <a16:creationId xmlns:a16="http://schemas.microsoft.com/office/drawing/2014/main" id="{B2484ED7-B2D8-846B-51D4-A755216C1AC6}"/>
              </a:ext>
            </a:extLst>
          </p:cNvPr>
          <p:cNvSpPr/>
          <p:nvPr/>
        </p:nvSpPr>
        <p:spPr>
          <a:xfrm>
            <a:off x="4940300" y="254000"/>
            <a:ext cx="3124200" cy="533400"/>
          </a:xfrm>
          <a:prstGeom prst="rect">
            <a:avLst/>
          </a:prstGeom>
          <a:solidFill>
            <a:srgbClr val="FFFFFF"/>
          </a:solidFill>
          <a:ln>
            <a:noFill/>
          </a:ln>
        </p:spPr>
        <p:txBody>
          <a:bodyPr wrap="none" lIns="0" tIns="0" rIns="0" bIns="0" anchor="ctr">
            <a:noAutofit/>
          </a:bodyPr>
          <a:lstStyle/>
          <a:p>
            <a:pPr algn="ctr"/>
            <a:r>
              <a:rPr lang="en-US" sz="2900" b="1" dirty="0">
                <a:solidFill>
                  <a:srgbClr val="1A1A1A"/>
                </a:solidFill>
              </a:rPr>
              <a:t>NT Canon Models</a:t>
            </a:r>
          </a:p>
        </p:txBody>
      </p:sp>
      <p:sp>
        <p:nvSpPr>
          <p:cNvPr id="9" name="TextBox 8">
            <a:extLst>
              <a:ext uri="{FF2B5EF4-FFF2-40B4-BE49-F238E27FC236}">
                <a16:creationId xmlns:a16="http://schemas.microsoft.com/office/drawing/2014/main" id="{D41196CE-2BEB-E41F-4A4E-7869656B2C3F}"/>
              </a:ext>
            </a:extLst>
          </p:cNvPr>
          <p:cNvSpPr txBox="1"/>
          <p:nvPr/>
        </p:nvSpPr>
        <p:spPr>
          <a:xfrm>
            <a:off x="4601977" y="585431"/>
            <a:ext cx="5024819" cy="954107"/>
          </a:xfrm>
          <a:prstGeom prst="rect">
            <a:avLst/>
          </a:prstGeom>
          <a:noFill/>
        </p:spPr>
        <p:txBody>
          <a:bodyPr wrap="square" rtlCol="0">
            <a:spAutoFit/>
          </a:bodyPr>
          <a:lstStyle/>
          <a:p>
            <a:pPr algn="ctr"/>
            <a:r>
              <a:rPr lang="en-US" sz="2800" dirty="0">
                <a:solidFill>
                  <a:srgbClr val="FF0000"/>
                </a:solidFill>
              </a:rPr>
              <a:t>Answering:</a:t>
            </a:r>
            <a:br>
              <a:rPr lang="en-US" sz="2800" dirty="0">
                <a:solidFill>
                  <a:srgbClr val="FF0000"/>
                </a:solidFill>
              </a:rPr>
            </a:br>
            <a:r>
              <a:rPr lang="en-US" sz="2800" dirty="0">
                <a:solidFill>
                  <a:srgbClr val="FF0000"/>
                </a:solidFill>
              </a:rPr>
              <a:t>“What does the data </a:t>
            </a:r>
            <a:r>
              <a:rPr lang="en-US" sz="2800" i="1" dirty="0">
                <a:solidFill>
                  <a:srgbClr val="FF0000"/>
                </a:solidFill>
              </a:rPr>
              <a:t>mean</a:t>
            </a:r>
            <a:r>
              <a:rPr lang="en-US" sz="2800" dirty="0">
                <a:solidFill>
                  <a:srgbClr val="FF0000"/>
                </a:solidFill>
              </a:rPr>
              <a:t>?”</a:t>
            </a:r>
          </a:p>
        </p:txBody>
      </p:sp>
    </p:spTree>
    <p:extLst>
      <p:ext uri="{BB962C8B-B14F-4D97-AF65-F5344CB8AC3E}">
        <p14:creationId xmlns:p14="http://schemas.microsoft.com/office/powerpoint/2010/main" val="21955490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51D26-78C4-9BD8-B70F-5F580478DD29}"/>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416D625F-F53C-0590-411F-2333FC54FAA7}"/>
              </a:ext>
            </a:extLst>
          </p:cNvPr>
          <p:cNvSpPr>
            <a:spLocks noGrp="1"/>
          </p:cNvSpPr>
          <p:nvPr>
            <p:ph idx="1"/>
          </p:nvPr>
        </p:nvSpPr>
        <p:spPr>
          <a:xfrm>
            <a:off x="901700" y="682624"/>
            <a:ext cx="9671232" cy="695602"/>
          </a:xfrm>
        </p:spPr>
        <p:txBody>
          <a:bodyPr>
            <a:noAutofit/>
          </a:bodyPr>
          <a:lstStyle/>
          <a:p>
            <a:pPr marL="0" indent="0">
              <a:buNone/>
            </a:pPr>
            <a:r>
              <a:rPr lang="en-US" sz="4400" dirty="0"/>
              <a:t>Historical-Critical Model</a:t>
            </a:r>
          </a:p>
        </p:txBody>
      </p:sp>
      <p:sp>
        <p:nvSpPr>
          <p:cNvPr id="7" name="Number 1">
            <a:extLst>
              <a:ext uri="{FF2B5EF4-FFF2-40B4-BE49-F238E27FC236}">
                <a16:creationId xmlns:a16="http://schemas.microsoft.com/office/drawing/2014/main" id="{5F6E1811-A376-A85A-00DB-E121E15F04DF}"/>
              </a:ext>
            </a:extLst>
          </p:cNvPr>
          <p:cNvSpPr txBox="1"/>
          <p:nvPr/>
        </p:nvSpPr>
        <p:spPr>
          <a:xfrm>
            <a:off x="332015"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Tree>
    <p:extLst>
      <p:ext uri="{BB962C8B-B14F-4D97-AF65-F5344CB8AC3E}">
        <p14:creationId xmlns:p14="http://schemas.microsoft.com/office/powerpoint/2010/main" val="25015520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58002-66FA-8BCC-8FE5-E000E54288A9}"/>
              </a:ext>
            </a:extLst>
          </p:cNvPr>
          <p:cNvSpPr>
            <a:spLocks noGrp="1"/>
          </p:cNvSpPr>
          <p:nvPr>
            <p:ph type="title"/>
          </p:nvPr>
        </p:nvSpPr>
        <p:spPr/>
        <p:txBody>
          <a:bodyPr/>
          <a:lstStyle/>
          <a:p>
            <a:r>
              <a:rPr lang="en-US" sz="4400" dirty="0">
                <a:latin typeface="+mn-lt"/>
              </a:rPr>
              <a:t>Historical-Critical Model</a:t>
            </a:r>
          </a:p>
        </p:txBody>
      </p:sp>
      <p:sp>
        <p:nvSpPr>
          <p:cNvPr id="3" name="Content Placeholder 2">
            <a:extLst>
              <a:ext uri="{FF2B5EF4-FFF2-40B4-BE49-F238E27FC236}">
                <a16:creationId xmlns:a16="http://schemas.microsoft.com/office/drawing/2014/main" id="{AEEA0C7E-52AB-CB32-EFC5-8E4C15C55639}"/>
              </a:ext>
            </a:extLst>
          </p:cNvPr>
          <p:cNvSpPr>
            <a:spLocks noGrp="1"/>
          </p:cNvSpPr>
          <p:nvPr>
            <p:ph idx="1"/>
          </p:nvPr>
        </p:nvSpPr>
        <p:spPr/>
        <p:txBody>
          <a:bodyPr>
            <a:normAutofit lnSpcReduction="10000"/>
          </a:bodyPr>
          <a:lstStyle/>
          <a:p>
            <a:r>
              <a:rPr lang="en-US" dirty="0"/>
              <a:t>“Scholars have argued that the idea of a canon, with its particular boundaries, is simply (or largely) the product of human activities within the church during the early centuries of Christianity” (p. 30)</a:t>
            </a:r>
          </a:p>
          <a:p>
            <a:r>
              <a:rPr lang="en-US" dirty="0"/>
              <a:t>“Thus, canon is just a social phenomenon that arises when a community desires to express its identity” (p. 31)</a:t>
            </a:r>
          </a:p>
          <a:p>
            <a:r>
              <a:rPr lang="en-US" dirty="0"/>
              <a:t>“Bauer argues that there was no “orthodoxy” or “heresy” within earliest Christianity, but rather there were various “</a:t>
            </a:r>
            <a:r>
              <a:rPr lang="en-US" dirty="0" err="1"/>
              <a:t>Christianities</a:t>
            </a:r>
            <a:r>
              <a:rPr lang="en-US" dirty="0"/>
              <a:t>,” each competing for dominance. Thus, says Bauer, </a:t>
            </a:r>
            <a:r>
              <a:rPr lang="en-US" dirty="0">
                <a:solidFill>
                  <a:srgbClr val="FF0000"/>
                </a:solidFill>
              </a:rPr>
              <a:t>the New Testament canon we possess is nothing more than the books chosen by the eventual theological winners—a historical accident, so to speak</a:t>
            </a:r>
            <a:r>
              <a:rPr lang="en-US" dirty="0"/>
              <a:t>”</a:t>
            </a:r>
            <a:r>
              <a:rPr lang="en-US" dirty="0">
                <a:solidFill>
                  <a:srgbClr val="FF0000"/>
                </a:solidFill>
              </a:rPr>
              <a:t> </a:t>
            </a:r>
            <a:r>
              <a:rPr lang="en-US" dirty="0"/>
              <a:t>(p. 32)</a:t>
            </a:r>
          </a:p>
        </p:txBody>
      </p:sp>
      <p:sp>
        <p:nvSpPr>
          <p:cNvPr id="4" name="Number 1">
            <a:extLst>
              <a:ext uri="{FF2B5EF4-FFF2-40B4-BE49-F238E27FC236}">
                <a16:creationId xmlns:a16="http://schemas.microsoft.com/office/drawing/2014/main" id="{C8792901-57BD-77E9-8A98-04D24E102C91}"/>
              </a:ext>
            </a:extLst>
          </p:cNvPr>
          <p:cNvSpPr txBox="1"/>
          <p:nvPr/>
        </p:nvSpPr>
        <p:spPr>
          <a:xfrm>
            <a:off x="-979951"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Tree>
    <p:extLst>
      <p:ext uri="{BB962C8B-B14F-4D97-AF65-F5344CB8AC3E}">
        <p14:creationId xmlns:p14="http://schemas.microsoft.com/office/powerpoint/2010/main" val="23199580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F63E6-BC97-8B77-E997-FC3CAA479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AB7EE0-7464-F70E-A275-F8DA34B00EE1}"/>
              </a:ext>
            </a:extLst>
          </p:cNvPr>
          <p:cNvSpPr>
            <a:spLocks noGrp="1"/>
          </p:cNvSpPr>
          <p:nvPr>
            <p:ph type="title"/>
          </p:nvPr>
        </p:nvSpPr>
        <p:spPr/>
        <p:txBody>
          <a:bodyPr/>
          <a:lstStyle/>
          <a:p>
            <a:r>
              <a:rPr lang="en-US" sz="4400" dirty="0">
                <a:latin typeface="+mn-lt"/>
              </a:rPr>
              <a:t>Historical-Critical Model</a:t>
            </a:r>
          </a:p>
        </p:txBody>
      </p:sp>
      <p:pic>
        <p:nvPicPr>
          <p:cNvPr id="5" name="Picture 4">
            <a:extLst>
              <a:ext uri="{FF2B5EF4-FFF2-40B4-BE49-F238E27FC236}">
                <a16:creationId xmlns:a16="http://schemas.microsoft.com/office/drawing/2014/main" id="{E1D7A4BE-C546-15E2-272C-20B2531369AE}"/>
              </a:ext>
            </a:extLst>
          </p:cNvPr>
          <p:cNvPicPr>
            <a:picLocks noChangeAspect="1"/>
          </p:cNvPicPr>
          <p:nvPr/>
        </p:nvPicPr>
        <p:blipFill>
          <a:blip r:embed="rId2"/>
          <a:srcRect/>
          <a:stretch>
            <a:fillRect/>
          </a:stretch>
        </p:blipFill>
        <p:spPr>
          <a:xfrm>
            <a:off x="-647700" y="1863445"/>
            <a:ext cx="7392692" cy="4032376"/>
          </a:xfrm>
          <a:prstGeom prst="rect">
            <a:avLst/>
          </a:prstGeom>
        </p:spPr>
      </p:pic>
      <p:pic>
        <p:nvPicPr>
          <p:cNvPr id="7" name="Picture 6">
            <a:extLst>
              <a:ext uri="{FF2B5EF4-FFF2-40B4-BE49-F238E27FC236}">
                <a16:creationId xmlns:a16="http://schemas.microsoft.com/office/drawing/2014/main" id="{B4051814-537F-625E-423B-4462E9CAEB3C}"/>
              </a:ext>
            </a:extLst>
          </p:cNvPr>
          <p:cNvPicPr>
            <a:picLocks noChangeAspect="1"/>
          </p:cNvPicPr>
          <p:nvPr/>
        </p:nvPicPr>
        <p:blipFill>
          <a:blip r:embed="rId3"/>
          <a:srcRect/>
          <a:stretch>
            <a:fillRect/>
          </a:stretch>
        </p:blipFill>
        <p:spPr>
          <a:xfrm>
            <a:off x="5447653" y="1863445"/>
            <a:ext cx="7392692" cy="4032376"/>
          </a:xfrm>
          <a:prstGeom prst="rect">
            <a:avLst/>
          </a:prstGeom>
        </p:spPr>
      </p:pic>
      <p:pic>
        <p:nvPicPr>
          <p:cNvPr id="10" name="Graphic 9" descr="Boxing Glove with solid fill">
            <a:extLst>
              <a:ext uri="{FF2B5EF4-FFF2-40B4-BE49-F238E27FC236}">
                <a16:creationId xmlns:a16="http://schemas.microsoft.com/office/drawing/2014/main" id="{A03BAE87-6C70-2AC1-0FD8-066DD09218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5400000">
            <a:off x="3733800" y="2330824"/>
            <a:ext cx="2702859" cy="2702859"/>
          </a:xfrm>
          <a:prstGeom prst="rect">
            <a:avLst/>
          </a:prstGeom>
        </p:spPr>
      </p:pic>
      <p:pic>
        <p:nvPicPr>
          <p:cNvPr id="11" name="Graphic 10" descr="Boxing Glove with solid fill">
            <a:extLst>
              <a:ext uri="{FF2B5EF4-FFF2-40B4-BE49-F238E27FC236}">
                <a16:creationId xmlns:a16="http://schemas.microsoft.com/office/drawing/2014/main" id="{DAD2C5CE-D056-F2ED-3984-F548E5B9606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5400000" flipV="1">
            <a:off x="5753100" y="2330824"/>
            <a:ext cx="2702859" cy="2702860"/>
          </a:xfrm>
          <a:prstGeom prst="rect">
            <a:avLst/>
          </a:prstGeom>
        </p:spPr>
      </p:pic>
      <p:pic>
        <p:nvPicPr>
          <p:cNvPr id="12" name="Graphic 12" descr="Crow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0" y="-127000"/>
            <a:ext cx="3048000" cy="3048000"/>
          </a:xfrm>
          <a:prstGeom prst="rect">
            <a:avLst/>
          </a:prstGeom>
        </p:spPr>
      </p:pic>
      <p:sp>
        <p:nvSpPr>
          <p:cNvPr id="3" name="Crown Label">
            <a:extLst>
              <a:ext uri="{FF2B5EF4-FFF2-40B4-BE49-F238E27FC236}">
                <a16:creationId xmlns:a16="http://schemas.microsoft.com/office/drawing/2014/main" id="{7A5445B5-7FFF-4646-89E9-B1FB8D320E6F}"/>
              </a:ext>
            </a:extLst>
          </p:cNvPr>
          <p:cNvSpPr txBox="1"/>
          <p:nvPr/>
        </p:nvSpPr>
        <p:spPr>
          <a:xfrm>
            <a:off x="5011420" y="1612900"/>
            <a:ext cx="2169160" cy="698500"/>
          </a:xfrm>
          <a:prstGeom prst="rect">
            <a:avLst/>
          </a:prstGeom>
          <a:solidFill>
            <a:srgbClr val="F5C518"/>
          </a:solidFill>
          <a:ln>
            <a:noFill/>
          </a:ln>
        </p:spPr>
        <p:txBody>
          <a:bodyPr vertOverflow="overflow" vert="horz" wrap="none" rtlCol="0" anchor="ctr" anchorCtr="0">
            <a:noAutofit/>
          </a:bodyPr>
          <a:lstStyle/>
          <a:p>
            <a:pPr algn="ctr"/>
            <a:r>
              <a:rPr lang="en-US" sz="2800" b="1" dirty="0">
                <a:solidFill>
                  <a:srgbClr val="4A2511"/>
                </a:solidFill>
              </a:rPr>
              <a:t>Canonical</a:t>
            </a:r>
          </a:p>
        </p:txBody>
      </p:sp>
    </p:spTree>
    <p:extLst>
      <p:ext uri="{BB962C8B-B14F-4D97-AF65-F5344CB8AC3E}">
        <p14:creationId xmlns:p14="http://schemas.microsoft.com/office/powerpoint/2010/main" val="2464161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fill="hold" nodeType="clickEffect">
                                  <p:stCondLst>
                                    <p:cond delay="0"/>
                                  </p:stCondLst>
                                  <p:childTnLst>
                                    <p:animMotion origin="layout" path="M 2.70833E-6 4.44444E-6 L 0.025 4.44444E-6 " pathEditMode="relative" rAng="0" ptsTypes="AA">
                                      <p:cBhvr>
                                        <p:cTn id="6" dur="180" autoRev="1" fill="hold"/>
                                        <p:tgtEl>
                                          <p:spTgt spid="10"/>
                                        </p:tgtEl>
                                        <p:attrNameLst>
                                          <p:attrName>ppt_x</p:attrName>
                                          <p:attrName>ppt_y</p:attrName>
                                        </p:attrNameLst>
                                      </p:cBhvr>
                                      <p:rCtr x="1250" y="0"/>
                                    </p:animMotion>
                                  </p:childTnLst>
                                </p:cTn>
                              </p:par>
                            </p:childTnLst>
                          </p:cTn>
                        </p:par>
                        <p:par>
                          <p:cTn id="7" fill="hold">
                            <p:stCondLst>
                              <p:cond delay="40"/>
                            </p:stCondLst>
                            <p:childTnLst>
                              <p:par>
                                <p:cTn id="8" presetID="0" presetClass="path" presetSubtype="0" fill="hold" nodeType="withEffect">
                                  <p:stCondLst>
                                    <p:cond delay="0"/>
                                  </p:stCondLst>
                                  <p:childTnLst>
                                    <p:animMotion origin="layout" path="M -2.29167E-6 4.44444E-6 L 0.03998 4.44444E-6 " pathEditMode="relative" rAng="0" ptsTypes="AA">
                                      <p:cBhvr>
                                        <p:cTn id="9" dur="180" autoRev="1" fill="hold"/>
                                        <p:tgtEl>
                                          <p:spTgt spid="11"/>
                                        </p:tgtEl>
                                        <p:attrNameLst>
                                          <p:attrName>ppt_x</p:attrName>
                                          <p:attrName>ppt_y</p:attrName>
                                        </p:attrNameLst>
                                      </p:cBhvr>
                                      <p:rCtr x="1992" y="0"/>
                                    </p:animMotion>
                                  </p:childTnLst>
                                </p:cTn>
                              </p:par>
                            </p:childTnLst>
                          </p:cTn>
                        </p:par>
                        <p:par>
                          <p:cTn id="10" fill="hold">
                            <p:stCondLst>
                              <p:cond delay="40"/>
                            </p:stCondLst>
                            <p:childTnLst>
                              <p:par>
                                <p:cTn id="11" presetID="0" presetClass="path" presetSubtype="0" fill="hold" nodeType="withEffect">
                                  <p:stCondLst>
                                    <p:cond delay="0"/>
                                  </p:stCondLst>
                                  <p:childTnLst>
                                    <p:animMotion origin="layout" path="M 0 0 L 0.015 0 E" pathEditMode="relative" rAng="0">
                                      <p:cBhvr>
                                        <p:cTn id="12" dur="180" autoRev="1" fill="hold"/>
                                        <p:tgtEl>
                                          <p:spTgt spid="7"/>
                                        </p:tgtEl>
                                        <p:attrNameLst>
                                          <p:attrName>ppt_x</p:attrName>
                                          <p:attrName>ppt_y</p:attrName>
                                        </p:attrNameLst>
                                      </p:cBhvr>
                                      <p:rCtr x="0" y="0"/>
                                    </p:animMotion>
                                  </p:childTnLst>
                                </p:cTn>
                              </p:par>
                            </p:childTnLst>
                          </p:cTn>
                        </p:par>
                        <p:par>
                          <p:cTn id="13" fill="hold">
                            <p:stCondLst>
                              <p:cond delay="450"/>
                            </p:stCondLst>
                            <p:childTnLst>
                              <p:par>
                                <p:cTn id="14" presetID="0" presetClass="path" presetSubtype="0" accel="50000" fill="hold" nodeType="withEffect">
                                  <p:stCondLst>
                                    <p:cond delay="0"/>
                                  </p:stCondLst>
                                  <p:childTnLst>
                                    <p:animMotion origin="layout" path="M -2.29167E-6 4.44444E-6 L -0.025 4.44444E-6 " pathEditMode="relative" rAng="0" ptsTypes="AA">
                                      <p:cBhvr>
                                        <p:cTn id="15" dur="180" autoRev="1" fill="hold"/>
                                        <p:tgtEl>
                                          <p:spTgt spid="11"/>
                                        </p:tgtEl>
                                        <p:attrNameLst>
                                          <p:attrName>ppt_x</p:attrName>
                                          <p:attrName>ppt_y</p:attrName>
                                        </p:attrNameLst>
                                      </p:cBhvr>
                                      <p:rCtr x="-1250" y="0"/>
                                    </p:animMotion>
                                  </p:childTnLst>
                                </p:cTn>
                              </p:par>
                            </p:childTnLst>
                          </p:cTn>
                        </p:par>
                        <p:par>
                          <p:cTn id="16" fill="hold">
                            <p:stCondLst>
                              <p:cond delay="490"/>
                            </p:stCondLst>
                            <p:childTnLst>
                              <p:par>
                                <p:cTn id="17" presetID="0" presetClass="path" presetSubtype="0" fill="hold" nodeType="withEffect">
                                  <p:stCondLst>
                                    <p:cond delay="0"/>
                                  </p:stCondLst>
                                  <p:childTnLst>
                                    <p:animMotion origin="layout" path="M 2.70833E-6 4.44444E-6 L -0.03998 4.44444E-6 " pathEditMode="relative" rAng="0" ptsTypes="AA">
                                      <p:cBhvr>
                                        <p:cTn id="18" dur="180" autoRev="1" fill="hold"/>
                                        <p:tgtEl>
                                          <p:spTgt spid="10"/>
                                        </p:tgtEl>
                                        <p:attrNameLst>
                                          <p:attrName>ppt_x</p:attrName>
                                          <p:attrName>ppt_y</p:attrName>
                                        </p:attrNameLst>
                                      </p:cBhvr>
                                      <p:rCtr x="-2005" y="0"/>
                                    </p:animMotion>
                                  </p:childTnLst>
                                </p:cTn>
                              </p:par>
                            </p:childTnLst>
                          </p:cTn>
                        </p:par>
                        <p:par>
                          <p:cTn id="19" fill="hold">
                            <p:stCondLst>
                              <p:cond delay="490"/>
                            </p:stCondLst>
                            <p:childTnLst>
                              <p:par>
                                <p:cTn id="20" presetID="0" presetClass="path" presetSubtype="0" fill="hold" nodeType="withEffect">
                                  <p:stCondLst>
                                    <p:cond delay="0"/>
                                  </p:stCondLst>
                                  <p:childTnLst>
                                    <p:animMotion origin="layout" path="M 0 -7.40741E-7 L -0.01497 -7.40741E-7 " pathEditMode="relative" rAng="0" ptsTypes="AA">
                                      <p:cBhvr>
                                        <p:cTn id="21" dur="180" autoRev="1" fill="hold"/>
                                        <p:tgtEl>
                                          <p:spTgt spid="5"/>
                                        </p:tgtEl>
                                        <p:attrNameLst>
                                          <p:attrName>ppt_x</p:attrName>
                                          <p:attrName>ppt_y</p:attrName>
                                        </p:attrNameLst>
                                      </p:cBhvr>
                                      <p:rCtr x="-755" y="0"/>
                                    </p:animMotion>
                                  </p:childTnLst>
                                </p:cTn>
                              </p:par>
                            </p:childTnLst>
                          </p:cTn>
                        </p:par>
                        <p:par>
                          <p:cTn id="22" fill="hold">
                            <p:stCondLst>
                              <p:cond delay="950"/>
                            </p:stCondLst>
                            <p:childTnLst>
                              <p:par>
                                <p:cTn id="23" presetID="0" presetClass="path" presetSubtype="0" decel="50000" fill="hold" nodeType="withEffect">
                                  <p:stCondLst>
                                    <p:cond delay="0"/>
                                  </p:stCondLst>
                                  <p:childTnLst>
                                    <p:animMotion origin="layout" path="M -2.29167E-6 4.44444E-6 L 0.00495 -0.1 " pathEditMode="relative" rAng="0" ptsTypes="AA">
                                      <p:cBhvr>
                                        <p:cTn id="24" dur="300" autoRev="1" fill="hold"/>
                                        <p:tgtEl>
                                          <p:spTgt spid="11"/>
                                        </p:tgtEl>
                                        <p:attrNameLst>
                                          <p:attrName>ppt_x</p:attrName>
                                          <p:attrName>ppt_y</p:attrName>
                                        </p:attrNameLst>
                                      </p:cBhvr>
                                      <p:rCtr x="247" y="-5000"/>
                                    </p:animMotion>
                                  </p:childTnLst>
                                </p:cTn>
                              </p:par>
                            </p:childTnLst>
                          </p:cTn>
                        </p:par>
                        <p:par>
                          <p:cTn id="25" fill="hold">
                            <p:stCondLst>
                              <p:cond delay="950"/>
                            </p:stCondLst>
                            <p:childTnLst>
                              <p:par>
                                <p:cTn id="26" presetID="8" presetClass="emph" presetSubtype="0" fill="hold" nodeType="withEffect">
                                  <p:stCondLst>
                                    <p:cond delay="0"/>
                                  </p:stCondLst>
                                  <p:childTnLst>
                                    <p:animRot by="-900000">
                                      <p:cBhvr>
                                        <p:cTn id="27" dur="300" autoRev="1" fill="hold"/>
                                        <p:tgtEl>
                                          <p:spTgt spid="11"/>
                                        </p:tgtEl>
                                        <p:attrNameLst>
                                          <p:attrName>r</p:attrName>
                                        </p:attrNameLst>
                                      </p:cBhvr>
                                    </p:animRot>
                                  </p:childTnLst>
                                </p:cTn>
                              </p:par>
                            </p:childTnLst>
                          </p:cTn>
                        </p:par>
                        <p:par>
                          <p:cTn id="28" fill="hold">
                            <p:stCondLst>
                              <p:cond delay="1070"/>
                            </p:stCondLst>
                            <p:childTnLst>
                              <p:par>
                                <p:cTn id="29" presetID="0" presetClass="path" presetSubtype="0" accel="60000" fill="hold" nodeType="withEffect">
                                  <p:stCondLst>
                                    <p:cond delay="0"/>
                                  </p:stCondLst>
                                  <p:childTnLst>
                                    <p:animMotion origin="layout" path="M 2.70833E-6 4.44444E-6 L 0.02005 -0.1 " pathEditMode="relative" rAng="0" ptsTypes="AA">
                                      <p:cBhvr>
                                        <p:cTn id="30" dur="200" autoRev="1" fill="hold"/>
                                        <p:tgtEl>
                                          <p:spTgt spid="10"/>
                                        </p:tgtEl>
                                        <p:attrNameLst>
                                          <p:attrName>ppt_x</p:attrName>
                                          <p:attrName>ppt_y</p:attrName>
                                        </p:attrNameLst>
                                      </p:cBhvr>
                                      <p:rCtr x="1003" y="-5000"/>
                                    </p:animMotion>
                                  </p:childTnLst>
                                </p:cTn>
                              </p:par>
                            </p:childTnLst>
                          </p:cTn>
                        </p:par>
                        <p:par>
                          <p:cTn id="31" fill="hold">
                            <p:stCondLst>
                              <p:cond delay="1750"/>
                            </p:stCondLst>
                            <p:childTnLst>
                              <p:par>
                                <p:cTn id="32" presetID="0" presetClass="path" presetSubtype="0" accel="40000" fill="hold" nodeType="withEffect">
                                  <p:stCondLst>
                                    <p:cond delay="0"/>
                                  </p:stCondLst>
                                  <p:childTnLst>
                                    <p:animMotion origin="layout" path="M -2.29167E-6 4.44444E-6 C 0.02005 -0.09005 -0.02995 -0.10996 -0.04505 -0.01991 " pathEditMode="relative" rAng="0" ptsTypes="AA">
                                      <p:cBhvr>
                                        <p:cTn id="33" dur="250" autoRev="1" fill="hold"/>
                                        <p:tgtEl>
                                          <p:spTgt spid="11"/>
                                        </p:tgtEl>
                                        <p:attrNameLst>
                                          <p:attrName>ppt_x</p:attrName>
                                          <p:attrName>ppt_y</p:attrName>
                                        </p:attrNameLst>
                                      </p:cBhvr>
                                      <p:rCtr x="-2031" y="-3935"/>
                                    </p:animMotion>
                                  </p:childTnLst>
                                </p:cTn>
                              </p:par>
                            </p:childTnLst>
                          </p:cTn>
                        </p:par>
                        <p:par>
                          <p:cTn id="34" fill="hold">
                            <p:stCondLst>
                              <p:cond delay="1750"/>
                            </p:stCondLst>
                            <p:childTnLst>
                              <p:par>
                                <p:cTn id="35" presetID="8" presetClass="emph" presetSubtype="0" fill="hold" nodeType="withEffect">
                                  <p:stCondLst>
                                    <p:cond delay="0"/>
                                  </p:stCondLst>
                                  <p:childTnLst>
                                    <p:animRot by="-1500000">
                                      <p:cBhvr>
                                        <p:cTn id="36" dur="250" autoRev="1" fill="hold"/>
                                        <p:tgtEl>
                                          <p:spTgt spid="11"/>
                                        </p:tgtEl>
                                        <p:attrNameLst>
                                          <p:attrName>r</p:attrName>
                                        </p:attrNameLst>
                                      </p:cBhvr>
                                    </p:animRot>
                                  </p:childTnLst>
                                </p:cTn>
                              </p:par>
                            </p:childTnLst>
                          </p:cTn>
                        </p:par>
                        <p:par>
                          <p:cTn id="37" fill="hold">
                            <p:stCondLst>
                              <p:cond delay="1930"/>
                            </p:stCondLst>
                            <p:childTnLst>
                              <p:par>
                                <p:cTn id="38" presetID="0" presetClass="path" presetSubtype="0" fill="hold" nodeType="withEffect">
                                  <p:stCondLst>
                                    <p:cond delay="0"/>
                                  </p:stCondLst>
                                  <p:childTnLst>
                                    <p:animMotion origin="layout" path="M 2.70833E-6 4.44444E-6 L -0.04505 0.00995 " pathEditMode="relative" rAng="0" ptsTypes="AA">
                                      <p:cBhvr>
                                        <p:cTn id="39" dur="200" autoRev="1" fill="hold"/>
                                        <p:tgtEl>
                                          <p:spTgt spid="10"/>
                                        </p:tgtEl>
                                        <p:attrNameLst>
                                          <p:attrName>ppt_x</p:attrName>
                                          <p:attrName>ppt_y</p:attrName>
                                        </p:attrNameLst>
                                      </p:cBhvr>
                                      <p:rCtr x="-2253" y="486"/>
                                    </p:animMotion>
                                  </p:childTnLst>
                                </p:cTn>
                              </p:par>
                            </p:childTnLst>
                          </p:cTn>
                        </p:par>
                        <p:par>
                          <p:cTn id="40" fill="hold">
                            <p:stCondLst>
                              <p:cond delay="1930"/>
                            </p:stCondLst>
                            <p:childTnLst>
                              <p:par>
                                <p:cTn id="41" presetID="8" presetClass="emph" presetSubtype="0" fill="hold" nodeType="withEffect">
                                  <p:stCondLst>
                                    <p:cond delay="0"/>
                                  </p:stCondLst>
                                  <p:childTnLst>
                                    <p:animRot by="-1200000">
                                      <p:cBhvr>
                                        <p:cTn id="42" dur="200" autoRev="1" fill="hold"/>
                                        <p:tgtEl>
                                          <p:spTgt spid="10"/>
                                        </p:tgtEl>
                                        <p:attrNameLst>
                                          <p:attrName>r</p:attrName>
                                        </p:attrNameLst>
                                      </p:cBhvr>
                                    </p:animRot>
                                  </p:childTnLst>
                                </p:cTn>
                              </p:par>
                            </p:childTnLst>
                          </p:cTn>
                        </p:par>
                        <p:par>
                          <p:cTn id="43" fill="hold">
                            <p:stCondLst>
                              <p:cond delay="1930"/>
                            </p:stCondLst>
                            <p:childTnLst>
                              <p:par>
                                <p:cTn id="44" presetID="0" presetClass="path" presetSubtype="0" fill="hold" nodeType="withEffect">
                                  <p:stCondLst>
                                    <p:cond delay="0"/>
                                  </p:stCondLst>
                                  <p:childTnLst>
                                    <p:animMotion origin="layout" path="M 0 -7.40741E-7 L -0.02005 -7.40741E-7 " pathEditMode="relative" rAng="0" ptsTypes="AA">
                                      <p:cBhvr>
                                        <p:cTn id="45" dur="200" autoRev="1" fill="hold"/>
                                        <p:tgtEl>
                                          <p:spTgt spid="5"/>
                                        </p:tgtEl>
                                        <p:attrNameLst>
                                          <p:attrName>ppt_x</p:attrName>
                                          <p:attrName>ppt_y</p:attrName>
                                        </p:attrNameLst>
                                      </p:cBhvr>
                                      <p:rCtr x="-1003" y="0"/>
                                    </p:animMotion>
                                  </p:childTnLst>
                                </p:cTn>
                              </p:par>
                            </p:childTnLst>
                          </p:cTn>
                        </p:par>
                        <p:par>
                          <p:cTn id="46" fill="hold">
                            <p:stCondLst>
                              <p:cond delay="1930"/>
                            </p:stCondLst>
                            <p:childTnLst>
                              <p:par>
                                <p:cTn id="47" presetID="8" presetClass="emph" presetSubtype="0" fill="hold" nodeType="withEffect">
                                  <p:stCondLst>
                                    <p:cond delay="0"/>
                                  </p:stCondLst>
                                  <p:childTnLst>
                                    <p:animRot by="-240000">
                                      <p:cBhvr>
                                        <p:cTn id="48" dur="200" autoRev="1" fill="hold"/>
                                        <p:tgtEl>
                                          <p:spTgt spid="5"/>
                                        </p:tgtEl>
                                        <p:attrNameLst>
                                          <p:attrName>r</p:attrName>
                                        </p:attrNameLst>
                                      </p:cBhvr>
                                    </p:animRot>
                                  </p:childTnLst>
                                </p:cTn>
                              </p:par>
                            </p:childTnLst>
                          </p:cTn>
                        </p:par>
                        <p:par>
                          <p:cTn id="49" fill="hold">
                            <p:stCondLst>
                              <p:cond delay="2600"/>
                            </p:stCondLst>
                            <p:childTnLst>
                              <p:par>
                                <p:cTn id="50" presetID="0" presetClass="path" presetSubtype="0" decel="50000" fill="hold" nodeType="withEffect">
                                  <p:stCondLst>
                                    <p:cond delay="0"/>
                                  </p:stCondLst>
                                  <p:childTnLst>
                                    <p:animMotion origin="layout" path="M 2.70833E-6 4.44444E-6 L -0.01003 0.09004 " pathEditMode="relative" rAng="0" ptsTypes="AA">
                                      <p:cBhvr>
                                        <p:cTn id="51" dur="280" autoRev="1" fill="hold"/>
                                        <p:tgtEl>
                                          <p:spTgt spid="10"/>
                                        </p:tgtEl>
                                        <p:attrNameLst>
                                          <p:attrName>ppt_x</p:attrName>
                                          <p:attrName>ppt_y</p:attrName>
                                        </p:attrNameLst>
                                      </p:cBhvr>
                                      <p:rCtr x="-508" y="4491"/>
                                    </p:animMotion>
                                  </p:childTnLst>
                                </p:cTn>
                              </p:par>
                            </p:childTnLst>
                          </p:cTn>
                        </p:par>
                        <p:par>
                          <p:cTn id="52" fill="hold">
                            <p:stCondLst>
                              <p:cond delay="2600"/>
                            </p:stCondLst>
                            <p:childTnLst>
                              <p:par>
                                <p:cTn id="53" presetID="0" presetClass="path" presetSubtype="0" decel="50000" fill="hold" nodeType="withEffect">
                                  <p:stCondLst>
                                    <p:cond delay="0"/>
                                  </p:stCondLst>
                                  <p:childTnLst>
                                    <p:animMotion origin="layout" path="M 0 -7.40741E-7 L 0 0.05995 " pathEditMode="relative" rAng="0" ptsTypes="AA">
                                      <p:cBhvr>
                                        <p:cTn id="54" dur="280" autoRev="1" fill="hold"/>
                                        <p:tgtEl>
                                          <p:spTgt spid="5"/>
                                        </p:tgtEl>
                                        <p:attrNameLst>
                                          <p:attrName>ppt_x</p:attrName>
                                          <p:attrName>ppt_y</p:attrName>
                                        </p:attrNameLst>
                                      </p:cBhvr>
                                      <p:rCtr x="0" y="2986"/>
                                    </p:animMotion>
                                  </p:childTnLst>
                                </p:cTn>
                              </p:par>
                            </p:childTnLst>
                          </p:cTn>
                        </p:par>
                        <p:par>
                          <p:cTn id="55" fill="hold">
                            <p:stCondLst>
                              <p:cond delay="2660"/>
                            </p:stCondLst>
                            <p:childTnLst>
                              <p:par>
                                <p:cTn id="56" presetID="0" presetClass="path" presetSubtype="0" fill="hold" nodeType="withEffect">
                                  <p:stCondLst>
                                    <p:cond delay="0"/>
                                  </p:stCondLst>
                                  <p:childTnLst>
                                    <p:animMotion origin="layout" path="M -2.29167E-6 4.44444E-6 C -0.02995 -0.05996 -0.07005 -0.05996 -0.08997 -0.01991 " pathEditMode="relative" rAng="0" ptsTypes="AA">
                                      <p:cBhvr>
                                        <p:cTn id="57" dur="280" autoRev="1" fill="hold"/>
                                        <p:tgtEl>
                                          <p:spTgt spid="11"/>
                                        </p:tgtEl>
                                        <p:attrNameLst>
                                          <p:attrName>ppt_x</p:attrName>
                                          <p:attrName>ppt_y</p:attrName>
                                        </p:attrNameLst>
                                      </p:cBhvr>
                                      <p:rCtr x="-4505" y="-2407"/>
                                    </p:animMotion>
                                  </p:childTnLst>
                                </p:cTn>
                              </p:par>
                            </p:childTnLst>
                          </p:cTn>
                        </p:par>
                        <p:par>
                          <p:cTn id="58" fill="hold">
                            <p:stCondLst>
                              <p:cond delay="2660"/>
                            </p:stCondLst>
                            <p:childTnLst>
                              <p:par>
                                <p:cTn id="59" presetID="8" presetClass="emph" presetSubtype="0" fill="hold" nodeType="withEffect">
                                  <p:stCondLst>
                                    <p:cond delay="0"/>
                                  </p:stCondLst>
                                  <p:childTnLst>
                                    <p:animRot by="-1800000">
                                      <p:cBhvr>
                                        <p:cTn id="60" dur="280" autoRev="1" fill="hold"/>
                                        <p:tgtEl>
                                          <p:spTgt spid="11"/>
                                        </p:tgtEl>
                                        <p:attrNameLst>
                                          <p:attrName>r</p:attrName>
                                        </p:attrNameLst>
                                      </p:cBhvr>
                                    </p:animRot>
                                  </p:childTnLst>
                                </p:cTn>
                              </p:par>
                            </p:childTnLst>
                          </p:cTn>
                        </p:par>
                        <p:par>
                          <p:cTn id="61" fill="hold">
                            <p:stCondLst>
                              <p:cond delay="3400"/>
                            </p:stCondLst>
                            <p:childTnLst>
                              <p:par>
                                <p:cTn id="62" presetID="0" presetClass="path" presetSubtype="0" fill="hold" nodeType="withEffect">
                                  <p:stCondLst>
                                    <p:cond delay="0"/>
                                  </p:stCondLst>
                                  <p:childTnLst>
                                    <p:animMotion origin="layout" path="M -2.29167E-6 4.44444E-6 L 0.01498 0.25 C -0.00495 0.2 -0.04505 0.0199 -0.06002 -0.2 L -2.29167E-6 4.44444E-6 " pathEditMode="relative" rAng="0" ptsTypes="AAAA">
                                      <p:cBhvr>
                                        <p:cTn id="63" dur="1000" fill="hold"/>
                                        <p:tgtEl>
                                          <p:spTgt spid="11"/>
                                        </p:tgtEl>
                                        <p:attrNameLst>
                                          <p:attrName>ppt_x</p:attrName>
                                          <p:attrName>ppt_y</p:attrName>
                                        </p:attrNameLst>
                                      </p:cBhvr>
                                      <p:rCtr x="-2253" y="2500"/>
                                    </p:animMotion>
                                  </p:childTnLst>
                                </p:cTn>
                              </p:par>
                            </p:childTnLst>
                          </p:cTn>
                        </p:par>
                        <p:par>
                          <p:cTn id="64" fill="hold">
                            <p:stCondLst>
                              <p:cond delay="3820"/>
                            </p:stCondLst>
                            <p:childTnLst>
                              <p:par>
                                <p:cTn id="65" presetID="8" presetClass="emph" presetSubtype="0" fill="hold" nodeType="withEffect">
                                  <p:stCondLst>
                                    <p:cond delay="0"/>
                                  </p:stCondLst>
                                  <p:childTnLst>
                                    <p:animRot by="2100000">
                                      <p:cBhvr>
                                        <p:cTn id="66" dur="220" autoRev="1" fill="hold"/>
                                        <p:tgtEl>
                                          <p:spTgt spid="11"/>
                                        </p:tgtEl>
                                        <p:attrNameLst>
                                          <p:attrName>r</p:attrName>
                                        </p:attrNameLst>
                                      </p:cBhvr>
                                    </p:animRot>
                                  </p:childTnLst>
                                </p:cTn>
                              </p:par>
                            </p:childTnLst>
                          </p:cTn>
                        </p:par>
                        <p:par>
                          <p:cTn id="67" fill="hold">
                            <p:stCondLst>
                              <p:cond delay="4180"/>
                            </p:stCondLst>
                            <p:childTnLst>
                              <p:par>
                                <p:cTn id="68" presetID="0" presetClass="path" presetSubtype="0" decel="50000" fill="hold" nodeType="withEffect">
                                  <p:stCondLst>
                                    <p:cond delay="0"/>
                                  </p:stCondLst>
                                  <p:childTnLst>
                                    <p:animMotion origin="layout" path="M 2.70833E-6 4.44444E-6 L -0.06003 -0.2 " pathEditMode="relative" rAng="0" ptsTypes="AA">
                                      <p:cBhvr>
                                        <p:cTn id="69" dur="280" autoRev="1" fill="hold"/>
                                        <p:tgtEl>
                                          <p:spTgt spid="10"/>
                                        </p:tgtEl>
                                        <p:attrNameLst>
                                          <p:attrName>ppt_x</p:attrName>
                                          <p:attrName>ppt_y</p:attrName>
                                        </p:attrNameLst>
                                      </p:cBhvr>
                                      <p:rCtr x="-3008" y="-10000"/>
                                    </p:animMotion>
                                  </p:childTnLst>
                                </p:cTn>
                              </p:par>
                            </p:childTnLst>
                          </p:cTn>
                        </p:par>
                        <p:par>
                          <p:cTn id="70" fill="hold">
                            <p:stCondLst>
                              <p:cond delay="4180"/>
                            </p:stCondLst>
                            <p:childTnLst>
                              <p:par>
                                <p:cTn id="71" presetID="8" presetClass="emph" presetSubtype="0" fill="hold" nodeType="withEffect">
                                  <p:stCondLst>
                                    <p:cond delay="0"/>
                                  </p:stCondLst>
                                  <p:childTnLst>
                                    <p:animRot by="-1800000">
                                      <p:cBhvr>
                                        <p:cTn id="72" dur="280" autoRev="1" fill="hold"/>
                                        <p:tgtEl>
                                          <p:spTgt spid="10"/>
                                        </p:tgtEl>
                                        <p:attrNameLst>
                                          <p:attrName>r</p:attrName>
                                        </p:attrNameLst>
                                      </p:cBhvr>
                                    </p:animRot>
                                  </p:childTnLst>
                                </p:cTn>
                              </p:par>
                            </p:childTnLst>
                          </p:cTn>
                        </p:par>
                        <p:par>
                          <p:cTn id="73" fill="hold">
                            <p:stCondLst>
                              <p:cond delay="4180"/>
                            </p:stCondLst>
                            <p:childTnLst>
                              <p:par>
                                <p:cTn id="74" presetID="0" presetClass="path" presetSubtype="0" decel="50000" fill="hold" nodeType="withEffect">
                                  <p:stCondLst>
                                    <p:cond delay="0"/>
                                  </p:stCondLst>
                                  <p:childTnLst>
                                    <p:animMotion origin="layout" path="M 0 -7.40741E-7 L -0.02995 -0.09005 " pathEditMode="relative" rAng="0" ptsTypes="AA">
                                      <p:cBhvr>
                                        <p:cTn id="75" dur="280" autoRev="1" fill="hold"/>
                                        <p:tgtEl>
                                          <p:spTgt spid="5"/>
                                        </p:tgtEl>
                                        <p:attrNameLst>
                                          <p:attrName>ppt_x</p:attrName>
                                          <p:attrName>ppt_y</p:attrName>
                                        </p:attrNameLst>
                                      </p:cBhvr>
                                      <p:rCtr x="-1497" y="-4514"/>
                                    </p:animMotion>
                                  </p:childTnLst>
                                </p:cTn>
                              </p:par>
                            </p:childTnLst>
                          </p:cTn>
                        </p:par>
                        <p:par>
                          <p:cTn id="76" fill="hold">
                            <p:stCondLst>
                              <p:cond delay="4180"/>
                            </p:stCondLst>
                            <p:childTnLst>
                              <p:par>
                                <p:cTn id="77" presetID="8" presetClass="emph" presetSubtype="0" fill="hold" nodeType="withEffect">
                                  <p:stCondLst>
                                    <p:cond delay="0"/>
                                  </p:stCondLst>
                                  <p:childTnLst>
                                    <p:animRot by="-600000">
                                      <p:cBhvr>
                                        <p:cTn id="78" dur="280" autoRev="1" fill="hold"/>
                                        <p:tgtEl>
                                          <p:spTgt spid="5"/>
                                        </p:tgtEl>
                                        <p:attrNameLst>
                                          <p:attrName>r</p:attrName>
                                        </p:attrNameLst>
                                      </p:cBhvr>
                                    </p:animRot>
                                  </p:childTnLst>
                                </p:cTn>
                              </p:par>
                            </p:childTnLst>
                          </p:cTn>
                        </p:par>
                        <p:par>
                          <p:cTn id="79" fill="hold">
                            <p:stCondLst>
                              <p:cond delay="4650"/>
                            </p:stCondLst>
                            <p:childTnLst>
                              <p:par>
                                <p:cTn id="80" presetID="0" presetClass="path" presetSubtype="0" fill="hold" nodeType="withEffect">
                                  <p:stCondLst>
                                    <p:cond delay="0"/>
                                  </p:stCondLst>
                                  <p:childTnLst>
                                    <p:animMotion origin="layout" path="M 2.70833E-6 4.44444E-6 L -0.01498 0.25 C 0.00495 0.2 0.04505 0.0199 0.06002 -0.2 L 2.70833E-6 4.44444E-6 " pathEditMode="relative" rAng="0" ptsTypes="AAAA">
                                      <p:cBhvr>
                                        <p:cTn id="81" dur="1000" fill="hold"/>
                                        <p:tgtEl>
                                          <p:spTgt spid="10"/>
                                        </p:tgtEl>
                                        <p:attrNameLst>
                                          <p:attrName>ppt_x</p:attrName>
                                          <p:attrName>ppt_y</p:attrName>
                                        </p:attrNameLst>
                                      </p:cBhvr>
                                      <p:rCtr x="2253" y="2500"/>
                                    </p:animMotion>
                                  </p:childTnLst>
                                </p:cTn>
                              </p:par>
                            </p:childTnLst>
                          </p:cTn>
                        </p:par>
                        <p:par>
                          <p:cTn id="82" fill="hold">
                            <p:stCondLst>
                              <p:cond delay="5070"/>
                            </p:stCondLst>
                            <p:childTnLst>
                              <p:par>
                                <p:cTn id="83" presetID="8" presetClass="emph" presetSubtype="0" fill="hold" nodeType="withEffect">
                                  <p:stCondLst>
                                    <p:cond delay="0"/>
                                  </p:stCondLst>
                                  <p:childTnLst>
                                    <p:animRot by="-2100000">
                                      <p:cBhvr>
                                        <p:cTn id="84" dur="220" autoRev="1" fill="hold"/>
                                        <p:tgtEl>
                                          <p:spTgt spid="10"/>
                                        </p:tgtEl>
                                        <p:attrNameLst>
                                          <p:attrName>r</p:attrName>
                                        </p:attrNameLst>
                                      </p:cBhvr>
                                    </p:animRot>
                                  </p:childTnLst>
                                </p:cTn>
                              </p:par>
                            </p:childTnLst>
                          </p:cTn>
                        </p:par>
                        <p:par>
                          <p:cTn id="85" fill="hold">
                            <p:stCondLst>
                              <p:cond delay="5430"/>
                            </p:stCondLst>
                            <p:childTnLst>
                              <p:par>
                                <p:cTn id="86" presetID="0" presetClass="path" presetSubtype="0" decel="50000" fill="hold" nodeType="withEffect">
                                  <p:stCondLst>
                                    <p:cond delay="0"/>
                                  </p:stCondLst>
                                  <p:childTnLst>
                                    <p:animMotion origin="layout" path="M -2.29167E-6 4.44444E-6 L 0.06003 -0.2 " pathEditMode="relative" rAng="0" ptsTypes="AA">
                                      <p:cBhvr>
                                        <p:cTn id="87" dur="280" autoRev="1" fill="hold"/>
                                        <p:tgtEl>
                                          <p:spTgt spid="11"/>
                                        </p:tgtEl>
                                        <p:attrNameLst>
                                          <p:attrName>ppt_x</p:attrName>
                                          <p:attrName>ppt_y</p:attrName>
                                        </p:attrNameLst>
                                      </p:cBhvr>
                                      <p:rCtr x="2995" y="-10000"/>
                                    </p:animMotion>
                                  </p:childTnLst>
                                </p:cTn>
                              </p:par>
                            </p:childTnLst>
                          </p:cTn>
                        </p:par>
                        <p:par>
                          <p:cTn id="88" fill="hold">
                            <p:stCondLst>
                              <p:cond delay="5430"/>
                            </p:stCondLst>
                            <p:childTnLst>
                              <p:par>
                                <p:cTn id="89" presetID="8" presetClass="emph" presetSubtype="0" fill="hold" nodeType="withEffect">
                                  <p:stCondLst>
                                    <p:cond delay="0"/>
                                  </p:stCondLst>
                                  <p:childTnLst>
                                    <p:animRot by="1800000">
                                      <p:cBhvr>
                                        <p:cTn id="90" dur="280" autoRev="1" fill="hold"/>
                                        <p:tgtEl>
                                          <p:spTgt spid="11"/>
                                        </p:tgtEl>
                                        <p:attrNameLst>
                                          <p:attrName>r</p:attrName>
                                        </p:attrNameLst>
                                      </p:cBhvr>
                                    </p:animRot>
                                  </p:childTnLst>
                                </p:cTn>
                              </p:par>
                            </p:childTnLst>
                          </p:cTn>
                        </p:par>
                        <p:par>
                          <p:cTn id="91" fill="hold">
                            <p:stCondLst>
                              <p:cond delay="5430"/>
                            </p:stCondLst>
                            <p:childTnLst>
                              <p:par>
                                <p:cTn id="92" presetID="0" presetClass="path" presetSubtype="0" decel="50000" fill="hold" nodeType="withEffect">
                                  <p:stCondLst>
                                    <p:cond delay="0"/>
                                  </p:stCondLst>
                                  <p:childTnLst>
                                    <p:animMotion origin="layout" path="M 0 0 L 0.030 -0.09 E" pathEditMode="relative" rAng="0">
                                      <p:cBhvr>
                                        <p:cTn id="93" dur="280" autoRev="1" fill="hold"/>
                                        <p:tgtEl>
                                          <p:spTgt spid="7"/>
                                        </p:tgtEl>
                                        <p:attrNameLst>
                                          <p:attrName>ppt_x</p:attrName>
                                          <p:attrName>ppt_y</p:attrName>
                                        </p:attrNameLst>
                                      </p:cBhvr>
                                      <p:rCtr x="0" y="0"/>
                                    </p:animMotion>
                                  </p:childTnLst>
                                </p:cTn>
                              </p:par>
                            </p:childTnLst>
                          </p:cTn>
                        </p:par>
                        <p:par>
                          <p:cTn id="94" fill="hold">
                            <p:stCondLst>
                              <p:cond delay="5430"/>
                            </p:stCondLst>
                            <p:childTnLst>
                              <p:par>
                                <p:cTn id="95" presetID="8" presetClass="emph" presetSubtype="0" fill="hold" nodeType="withEffect">
                                  <p:stCondLst>
                                    <p:cond delay="0"/>
                                  </p:stCondLst>
                                  <p:childTnLst>
                                    <p:animRot by="600000">
                                      <p:cBhvr>
                                        <p:cTn id="96" dur="280" autoRev="1" fill="hold"/>
                                        <p:tgtEl>
                                          <p:spTgt spid="7"/>
                                        </p:tgtEl>
                                        <p:attrNameLst>
                                          <p:attrName>r</p:attrName>
                                        </p:attrNameLst>
                                      </p:cBhvr>
                                    </p:animRot>
                                  </p:childTnLst>
                                </p:cTn>
                              </p:par>
                            </p:childTnLst>
                          </p:cTn>
                        </p:par>
                        <p:par>
                          <p:cTn id="97" fill="hold">
                            <p:stCondLst>
                              <p:cond delay="5900"/>
                            </p:stCondLst>
                            <p:childTnLst>
                              <p:par>
                                <p:cTn id="98" presetID="0" presetClass="path" presetSubtype="0" accel="60000" fill="hold" nodeType="withEffect">
                                  <p:stCondLst>
                                    <p:cond delay="0"/>
                                  </p:stCondLst>
                                  <p:childTnLst>
                                    <p:animMotion origin="layout" path="M 2.70833E-6 4.44444E-6 L 0.06002 4.44444E-6 " pathEditMode="relative" rAng="0" ptsTypes="AA">
                                      <p:cBhvr>
                                        <p:cTn id="99" dur="150" autoRev="1" fill="hold"/>
                                        <p:tgtEl>
                                          <p:spTgt spid="10"/>
                                        </p:tgtEl>
                                        <p:attrNameLst>
                                          <p:attrName>ppt_x</p:attrName>
                                          <p:attrName>ppt_y</p:attrName>
                                        </p:attrNameLst>
                                      </p:cBhvr>
                                      <p:rCtr x="2995" y="0"/>
                                    </p:animMotion>
                                  </p:childTnLst>
                                </p:cTn>
                              </p:par>
                            </p:childTnLst>
                          </p:cTn>
                        </p:par>
                        <p:par>
                          <p:cTn id="100" fill="hold">
                            <p:stCondLst>
                              <p:cond delay="5900"/>
                            </p:stCondLst>
                            <p:childTnLst>
                              <p:par>
                                <p:cTn id="101" presetID="0" presetClass="path" presetSubtype="0" accel="60000" fill="hold" nodeType="withEffect">
                                  <p:stCondLst>
                                    <p:cond delay="0"/>
                                  </p:stCondLst>
                                  <p:childTnLst>
                                    <p:animMotion origin="layout" path="M 0 -7.40741E-7 L 0.02995 -7.40741E-7 " pathEditMode="relative" rAng="0" ptsTypes="AA">
                                      <p:cBhvr>
                                        <p:cTn id="102" dur="150" autoRev="1" fill="hold"/>
                                        <p:tgtEl>
                                          <p:spTgt spid="5"/>
                                        </p:tgtEl>
                                        <p:attrNameLst>
                                          <p:attrName>ppt_x</p:attrName>
                                          <p:attrName>ppt_y</p:attrName>
                                        </p:attrNameLst>
                                      </p:cBhvr>
                                      <p:rCtr x="1497" y="0"/>
                                    </p:animMotion>
                                  </p:childTnLst>
                                </p:cTn>
                              </p:par>
                            </p:childTnLst>
                          </p:cTn>
                        </p:par>
                        <p:par>
                          <p:cTn id="103" fill="hold">
                            <p:stCondLst>
                              <p:cond delay="6050"/>
                            </p:stCondLst>
                            <p:childTnLst>
                              <p:par>
                                <p:cTn id="104" presetID="0" presetClass="path" presetSubtype="0" accel="40000" fill="hold" nodeType="withEffect">
                                  <p:stCondLst>
                                    <p:cond delay="0"/>
                                  </p:stCondLst>
                                  <p:childTnLst>
                                    <p:animMotion origin="layout" path="M 0 0 C 0.05 -0.12 0.12 -0.12 0.18 1.0 E" pathEditMode="relative" rAng="0">
                                      <p:cBhvr>
                                        <p:cTn id="105" dur="1300" fill="hold"/>
                                        <p:tgtEl>
                                          <p:spTgt spid="7"/>
                                        </p:tgtEl>
                                        <p:attrNameLst>
                                          <p:attrName>ppt_x</p:attrName>
                                          <p:attrName>ppt_y</p:attrName>
                                        </p:attrNameLst>
                                      </p:cBhvr>
                                      <p:rCtr x="0" y="0"/>
                                    </p:animMotion>
                                  </p:childTnLst>
                                </p:cTn>
                              </p:par>
                            </p:childTnLst>
                          </p:cTn>
                        </p:par>
                        <p:par>
                          <p:cTn id="106" fill="hold">
                            <p:stCondLst>
                              <p:cond delay="6050"/>
                            </p:stCondLst>
                            <p:childTnLst>
                              <p:par>
                                <p:cTn id="107" presetID="8" presetClass="emph" presetSubtype="0" accel="50000" fill="hold" nodeType="withEffect">
                                  <p:stCondLst>
                                    <p:cond delay="0"/>
                                  </p:stCondLst>
                                  <p:childTnLst>
                                    <p:animRot by="5400000">
                                      <p:cBhvr>
                                        <p:cTn id="108" dur="1300" fill="hold"/>
                                        <p:tgtEl>
                                          <p:spTgt spid="7"/>
                                        </p:tgtEl>
                                        <p:attrNameLst>
                                          <p:attrName>r</p:attrName>
                                        </p:attrNameLst>
                                      </p:cBhvr>
                                    </p:animRot>
                                  </p:childTnLst>
                                </p:cTn>
                              </p:par>
                            </p:childTnLst>
                          </p:cTn>
                        </p:par>
                        <p:par>
                          <p:cTn id="109" fill="hold">
                            <p:stCondLst>
                              <p:cond delay="6050"/>
                            </p:stCondLst>
                            <p:childTnLst>
                              <p:par>
                                <p:cTn id="110" presetID="0" presetClass="path" presetSubtype="0" accel="40000" fill="hold" nodeType="withEffect">
                                  <p:stCondLst>
                                    <p:cond delay="0"/>
                                  </p:stCondLst>
                                  <p:childTnLst>
                                    <p:animMotion origin="layout" path="M -2.29167E-6 4.44444E-6 C 0.05 -0.11991 0.12005 -0.11991 0.17995 1 " pathEditMode="relative" rAng="0" ptsTypes="AA">
                                      <p:cBhvr>
                                        <p:cTn id="111" dur="1300" fill="hold"/>
                                        <p:tgtEl>
                                          <p:spTgt spid="11"/>
                                        </p:tgtEl>
                                        <p:attrNameLst>
                                          <p:attrName>ppt_x</p:attrName>
                                          <p:attrName>ppt_y</p:attrName>
                                        </p:attrNameLst>
                                      </p:cBhvr>
                                      <p:rCtr x="8997" y="47407"/>
                                    </p:animMotion>
                                  </p:childTnLst>
                                </p:cTn>
                              </p:par>
                            </p:childTnLst>
                          </p:cTn>
                        </p:par>
                        <p:par>
                          <p:cTn id="112" fill="hold">
                            <p:stCondLst>
                              <p:cond delay="6050"/>
                            </p:stCondLst>
                            <p:childTnLst>
                              <p:par>
                                <p:cTn id="113" presetID="8" presetClass="emph" presetSubtype="0" accel="50000" fill="hold" nodeType="withEffect">
                                  <p:stCondLst>
                                    <p:cond delay="0"/>
                                  </p:stCondLst>
                                  <p:childTnLst>
                                    <p:animRot by="10800000">
                                      <p:cBhvr>
                                        <p:cTn id="114" dur="1300" fill="hold"/>
                                        <p:tgtEl>
                                          <p:spTgt spid="11"/>
                                        </p:tgtEl>
                                        <p:attrNameLst>
                                          <p:attrName>r</p:attrName>
                                        </p:attrNameLst>
                                      </p:cBhvr>
                                    </p:animRot>
                                  </p:childTnLst>
                                </p:cTn>
                              </p:par>
                            </p:childTnLst>
                          </p:cTn>
                        </p:par>
                        <p:par>
                          <p:cTn id="115" fill="hold">
                            <p:stCondLst>
                              <p:cond delay="7600"/>
                            </p:stCondLst>
                            <p:childTnLst>
                              <p:par>
                                <p:cTn id="116" presetID="0" presetClass="path" presetSubtype="0" decel="60000" fill="hold" nodeType="withEffect">
                                  <p:stCondLst>
                                    <p:cond delay="0"/>
                                  </p:stCondLst>
                                  <p:childTnLst>
                                    <p:animMotion origin="layout" path="M 0 -7.40741E-7 L 0.25 -7.40741E-7 " pathEditMode="relative" rAng="0" ptsTypes="AA">
                                      <p:cBhvr>
                                        <p:cTn id="117" dur="1000" fill="hold"/>
                                        <p:tgtEl>
                                          <p:spTgt spid="5"/>
                                        </p:tgtEl>
                                        <p:attrNameLst>
                                          <p:attrName>ppt_x</p:attrName>
                                          <p:attrName>ppt_y</p:attrName>
                                        </p:attrNameLst>
                                      </p:cBhvr>
                                      <p:rCtr x="12500" y="0"/>
                                    </p:animMotion>
                                  </p:childTnLst>
                                </p:cTn>
                              </p:par>
                            </p:childTnLst>
                          </p:cTn>
                        </p:par>
                        <p:par>
                          <p:cTn id="118" fill="hold">
                            <p:stCondLst>
                              <p:cond delay="7600"/>
                            </p:stCondLst>
                            <p:childTnLst>
                              <p:par>
                                <p:cTn id="119" presetID="0" presetClass="path" presetSubtype="0" decel="60000" fill="hold" nodeType="withEffect">
                                  <p:stCondLst>
                                    <p:cond delay="0"/>
                                  </p:stCondLst>
                                  <p:childTnLst>
                                    <p:animMotion origin="layout" path="M 2.70833E-6 4.44444E-6 L 0.25 4.44444E-6 " pathEditMode="relative" rAng="0" ptsTypes="AA">
                                      <p:cBhvr>
                                        <p:cTn id="120" dur="1000" fill="hold"/>
                                        <p:tgtEl>
                                          <p:spTgt spid="10"/>
                                        </p:tgtEl>
                                        <p:attrNameLst>
                                          <p:attrName>ppt_x</p:attrName>
                                          <p:attrName>ppt_y</p:attrName>
                                        </p:attrNameLst>
                                      </p:cBhvr>
                                      <p:rCtr x="12500" y="0"/>
                                    </p:animMotion>
                                  </p:childTnLst>
                                </p:cTn>
                              </p:par>
                            </p:childTnLst>
                          </p:cTn>
                        </p:par>
                        <p:par>
                          <p:cTn id="121" fill="hold">
                            <p:stCondLst>
                              <p:cond delay="8800"/>
                            </p:stCondLst>
                            <p:childTnLst>
                              <p:par>
                                <p:cTn id="122" presetID="10" presetClass="exit" presetSubtype="0" fill="hold" nodeType="withEffect">
                                  <p:stCondLst>
                                    <p:cond delay="0"/>
                                  </p:stCondLst>
                                  <p:childTnLst>
                                    <p:animEffect transition="out" filter="fade">
                                      <p:cBhvr>
                                        <p:cTn id="123" dur="600"/>
                                        <p:tgtEl>
                                          <p:spTgt spid="10"/>
                                        </p:tgtEl>
                                      </p:cBhvr>
                                    </p:animEffect>
                                    <p:set>
                                      <p:cBhvr>
                                        <p:cTn id="124" dur="1" fill="hold">
                                          <p:stCondLst>
                                            <p:cond delay="599"/>
                                          </p:stCondLst>
                                        </p:cTn>
                                        <p:tgtEl>
                                          <p:spTgt spid="10"/>
                                        </p:tgtEl>
                                        <p:attrNameLst>
                                          <p:attrName>style.visibility</p:attrName>
                                        </p:attrNameLst>
                                      </p:cBhvr>
                                      <p:to>
                                        <p:strVal val="hidden"/>
                                      </p:to>
                                    </p:set>
                                  </p:childTnLst>
                                </p:cTn>
                              </p:par>
                            </p:childTnLst>
                          </p:cTn>
                        </p:par>
                        <p:par>
                          <p:cTn id="125" fill="hold">
                            <p:stCondLst>
                              <p:cond delay="8900"/>
                            </p:stCondLst>
                            <p:childTnLst>
                              <p:par>
                                <p:cTn id="126" presetID="1" presetClass="entr" presetSubtype="0" decel="70000" fill="hold" nodeType="withEffect">
                                  <p:stCondLst>
                                    <p:cond delay="0"/>
                                  </p:stCondLst>
                                  <p:childTnLst>
                                    <p:set>
                                      <p:cBhvr>
                                        <p:cTn id="127" dur="1" fill="hold">
                                          <p:stCondLst>
                                            <p:cond delay="0"/>
                                          </p:stCondLst>
                                        </p:cTn>
                                        <p:tgtEl>
                                          <p:spTgt spid="12"/>
                                        </p:tgtEl>
                                        <p:attrNameLst>
                                          <p:attrName>style.visibility</p:attrName>
                                        </p:attrNameLst>
                                      </p:cBhvr>
                                      <p:to>
                                        <p:strVal val="visible"/>
                                      </p:to>
                                    </p:set>
                                    <p:animMotion origin="layout" path="M 0 -0.6 L 0 0 E" pathEditMode="relative" rAng="0">
                                      <p:cBhvr>
                                        <p:cTn id="128" dur="1100" fill="hold"/>
                                        <p:tgtEl>
                                          <p:spTgt spid="12"/>
                                        </p:tgtEl>
                                        <p:attrNameLst>
                                          <p:attrName>ppt_x</p:attrName>
                                          <p:attrName>ppt_y</p:attrName>
                                        </p:attrNameLst>
                                      </p:cBhvr>
                                      <p:rCtr x="0" y="0"/>
                                    </p:animMotion>
                                  </p:childTnLst>
                                </p:cTn>
                              </p:par>
                            </p:childTnLst>
                          </p:cTn>
                        </p:par>
                        <p:par>
                          <p:cTn id="129" fill="hold">
                            <p:stCondLst>
                              <p:cond delay="8900"/>
                            </p:stCondLst>
                            <p:childTnLst>
                              <p:par>
                                <p:cTn id="130" presetID="1" presetClass="entr" presetSubtype="0" decel="70000" fill="hold" grpId="0" nodeType="withEffect">
                                  <p:stCondLst>
                                    <p:cond delay="0"/>
                                  </p:stCondLst>
                                  <p:childTnLst>
                                    <p:set>
                                      <p:cBhvr>
                                        <p:cTn id="131" dur="1" fill="hold">
                                          <p:stCondLst>
                                            <p:cond delay="0"/>
                                          </p:stCondLst>
                                        </p:cTn>
                                        <p:tgtEl>
                                          <p:spTgt spid="3"/>
                                        </p:tgtEl>
                                        <p:attrNameLst>
                                          <p:attrName>style.visibility</p:attrName>
                                        </p:attrNameLst>
                                      </p:cBhvr>
                                      <p:to>
                                        <p:strVal val="visible"/>
                                      </p:to>
                                    </p:set>
                                    <p:animMotion origin="layout" path="M 0 -0.6 L 0 0 E" pathEditMode="relative" rAng="0">
                                      <p:cBhvr>
                                        <p:cTn id="132" dur="1100" fill="hold"/>
                                        <p:tgtEl>
                                          <p:spTgt spid="3"/>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F6D84-879F-B4C3-0D7B-61A05072B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982DBF-EF0D-32CD-B1B8-6AFDA4C44153}"/>
              </a:ext>
            </a:extLst>
          </p:cNvPr>
          <p:cNvSpPr>
            <a:spLocks noGrp="1"/>
          </p:cNvSpPr>
          <p:nvPr>
            <p:ph type="title"/>
          </p:nvPr>
        </p:nvSpPr>
        <p:spPr/>
        <p:txBody>
          <a:bodyPr/>
          <a:lstStyle/>
          <a:p>
            <a:r>
              <a:rPr lang="en-US" sz="4400" dirty="0">
                <a:latin typeface="+mn-lt"/>
              </a:rPr>
              <a:t>Historical-Critical Model</a:t>
            </a:r>
          </a:p>
        </p:txBody>
      </p:sp>
      <p:sp>
        <p:nvSpPr>
          <p:cNvPr id="3" name="Content Placeholder 2">
            <a:extLst>
              <a:ext uri="{FF2B5EF4-FFF2-40B4-BE49-F238E27FC236}">
                <a16:creationId xmlns:a16="http://schemas.microsoft.com/office/drawing/2014/main" id="{779D96E9-A424-E511-0AFC-430CFAFE14A7}"/>
              </a:ext>
            </a:extLst>
          </p:cNvPr>
          <p:cNvSpPr>
            <a:spLocks noGrp="1"/>
          </p:cNvSpPr>
          <p:nvPr>
            <p:ph idx="1"/>
          </p:nvPr>
        </p:nvSpPr>
        <p:spPr>
          <a:xfrm>
            <a:off x="838200" y="1825625"/>
            <a:ext cx="11074052" cy="4925904"/>
          </a:xfrm>
        </p:spPr>
        <p:txBody>
          <a:bodyPr>
            <a:noAutofit/>
          </a:bodyPr>
          <a:lstStyle/>
          <a:p>
            <a:pPr>
              <a:spcAft>
                <a:spcPts val="1200"/>
              </a:spcAft>
            </a:pPr>
            <a:r>
              <a:rPr lang="en-US" sz="2600" dirty="0"/>
              <a:t>“the historical-critical model is correct to remind us of the role of the Christian community in the formation of the New Testament canon…. That being said, however, </a:t>
            </a:r>
            <a:r>
              <a:rPr lang="en-US" sz="2600" dirty="0">
                <a:solidFill>
                  <a:schemeClr val="accent2"/>
                </a:solidFill>
              </a:rPr>
              <a:t>the fundamental problem with the historical-critical model is not its affirmation that the church played a role, but rather its insistence that the church played the determinative and decisive role</a:t>
            </a:r>
            <a:r>
              <a:rPr lang="en-US" sz="2600" dirty="0"/>
              <a:t>. Quickly swept aside are any claims that these books contain any intrinsic authority that might have been a factor in their reception” (pp. 34-35)</a:t>
            </a:r>
          </a:p>
          <a:p>
            <a:r>
              <a:rPr lang="en-US" sz="2600" dirty="0"/>
              <a:t>“simply demonstrating some human involvement in the canonical process is not sufficient to demonstrate </a:t>
            </a:r>
            <a:r>
              <a:rPr lang="en-US" sz="2600" i="1" dirty="0"/>
              <a:t>sole</a:t>
            </a:r>
            <a:r>
              <a:rPr lang="en-US" sz="2600" dirty="0"/>
              <a:t> human involvement. The fact that proximate, human decisions played a role in the development of the canon does not rule out the possibility that ultimate, divine activity also played a role. The two are not mutually exclusive” (p. 35)</a:t>
            </a:r>
          </a:p>
        </p:txBody>
      </p:sp>
      <p:sp>
        <p:nvSpPr>
          <p:cNvPr id="4" name="Number 1">
            <a:extLst>
              <a:ext uri="{FF2B5EF4-FFF2-40B4-BE49-F238E27FC236}">
                <a16:creationId xmlns:a16="http://schemas.microsoft.com/office/drawing/2014/main" id="{6ACF6522-78EF-BE6F-9F67-49452DF9FBA6}"/>
              </a:ext>
            </a:extLst>
          </p:cNvPr>
          <p:cNvSpPr txBox="1"/>
          <p:nvPr/>
        </p:nvSpPr>
        <p:spPr>
          <a:xfrm>
            <a:off x="-979951"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
        <p:nvSpPr>
          <p:cNvPr id="6" name="TextBox 5">
            <a:extLst>
              <a:ext uri="{FF2B5EF4-FFF2-40B4-BE49-F238E27FC236}">
                <a16:creationId xmlns:a16="http://schemas.microsoft.com/office/drawing/2014/main" id="{908876A8-4B7F-C692-5481-29B376524FED}"/>
              </a:ext>
            </a:extLst>
          </p:cNvPr>
          <p:cNvSpPr txBox="1"/>
          <p:nvPr/>
        </p:nvSpPr>
        <p:spPr>
          <a:xfrm>
            <a:off x="6845300" y="368300"/>
            <a:ext cx="4889500" cy="1320800"/>
          </a:xfrm>
          <a:prstGeom prst="rect">
            <a:avLst/>
          </a:prstGeom>
          <a:noFill/>
        </p:spPr>
        <p:txBody>
          <a:bodyPr wrap="none" anchor="ctr">
            <a:noAutofit/>
          </a:bodyPr>
          <a:lstStyle/>
          <a:p>
            <a:pPr>
              <a:lnSpc>
                <a:spcPct val="90000"/>
              </a:lnSpc>
            </a:pPr>
            <a:r>
              <a:rPr lang="en-US" sz="4400" dirty="0">
                <a:latin typeface="+mn-lt"/>
              </a:rPr>
              <a:t>Evaluation</a:t>
            </a:r>
          </a:p>
        </p:txBody>
      </p:sp>
    </p:spTree>
    <p:extLst>
      <p:ext uri="{BB962C8B-B14F-4D97-AF65-F5344CB8AC3E}">
        <p14:creationId xmlns:p14="http://schemas.microsoft.com/office/powerpoint/2010/main" val="795984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65BCB-5D32-5C9B-B740-747CB21D2F5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FDC3BC-07EA-9B28-B34E-DC8BD61EFC01}"/>
              </a:ext>
            </a:extLst>
          </p:cNvPr>
          <p:cNvSpPr>
            <a:spLocks noGrp="1"/>
          </p:cNvSpPr>
          <p:nvPr>
            <p:ph idx="1"/>
          </p:nvPr>
        </p:nvSpPr>
        <p:spPr>
          <a:xfrm>
            <a:off x="901700" y="682624"/>
            <a:ext cx="9671232" cy="695602"/>
          </a:xfrm>
        </p:spPr>
        <p:txBody>
          <a:bodyPr>
            <a:noAutofit/>
          </a:bodyPr>
          <a:lstStyle/>
          <a:p>
            <a:pPr marL="0" indent="0">
              <a:buNone/>
            </a:pPr>
            <a:r>
              <a:rPr lang="en-US" sz="4400" dirty="0"/>
              <a:t>Historical-Critical Model</a:t>
            </a:r>
          </a:p>
        </p:txBody>
      </p:sp>
      <p:sp>
        <p:nvSpPr>
          <p:cNvPr id="2" name="Number 1">
            <a:extLst>
              <a:ext uri="{FF2B5EF4-FFF2-40B4-BE49-F238E27FC236}">
                <a16:creationId xmlns:a16="http://schemas.microsoft.com/office/drawing/2014/main" id="{AE554792-8A4B-2AD0-D7F8-4E83C7630388}"/>
              </a:ext>
            </a:extLst>
          </p:cNvPr>
          <p:cNvSpPr txBox="1"/>
          <p:nvPr/>
        </p:nvSpPr>
        <p:spPr>
          <a:xfrm>
            <a:off x="332015" y="682624"/>
            <a:ext cx="850900" cy="695602"/>
          </a:xfrm>
          <a:prstGeom prst="rect">
            <a:avLst/>
          </a:prstGeom>
          <a:noFill/>
        </p:spPr>
        <p:txBody>
          <a:bodyPr wrap="square">
            <a:noAutofit/>
          </a:bodyPr>
          <a:lstStyle/>
          <a:p>
            <a:pPr marL="0" indent="0">
              <a:lnSpc>
                <a:spcPct val="90000"/>
              </a:lnSpc>
              <a:spcBef>
                <a:spcPts val="1000"/>
              </a:spcBef>
              <a:buNone/>
            </a:pPr>
            <a:r>
              <a:rPr lang="en-US" sz="4400" dirty="0"/>
              <a:t>1.</a:t>
            </a:r>
          </a:p>
        </p:txBody>
      </p:sp>
      <p:sp>
        <p:nvSpPr>
          <p:cNvPr id="7" name="TextBox 6">
            <a:extLst>
              <a:ext uri="{FF2B5EF4-FFF2-40B4-BE49-F238E27FC236}">
                <a16:creationId xmlns:a16="http://schemas.microsoft.com/office/drawing/2014/main" id="{07D4E5B6-211C-EE8A-DEBA-09734B967590}"/>
              </a:ext>
            </a:extLst>
          </p:cNvPr>
          <p:cNvSpPr txBox="1"/>
          <p:nvPr/>
        </p:nvSpPr>
        <p:spPr>
          <a:xfrm>
            <a:off x="6936015" y="682624"/>
            <a:ext cx="4064000" cy="695602"/>
          </a:xfrm>
          <a:prstGeom prst="rect">
            <a:avLst/>
          </a:prstGeom>
          <a:noFill/>
        </p:spPr>
        <p:txBody>
          <a:bodyPr wrap="square">
            <a:noAutofit/>
          </a:bodyPr>
          <a:lstStyle/>
          <a:p>
            <a:pPr marL="0" indent="0">
              <a:lnSpc>
                <a:spcPct val="90000"/>
              </a:lnSpc>
              <a:spcBef>
                <a:spcPts val="1000"/>
              </a:spcBef>
              <a:buNone/>
            </a:pPr>
            <a:r>
              <a:rPr lang="en-US" sz="4400" dirty="0"/>
              <a:t>= Boxing Match</a:t>
            </a:r>
            <a:endParaRPr lang="en-US" dirty="0"/>
          </a:p>
        </p:txBody>
      </p:sp>
      <p:sp>
        <p:nvSpPr>
          <p:cNvPr id="4" name="Content Placeholder 2">
            <a:extLst>
              <a:ext uri="{FF2B5EF4-FFF2-40B4-BE49-F238E27FC236}">
                <a16:creationId xmlns:a16="http://schemas.microsoft.com/office/drawing/2014/main" id="{70B45A14-4F41-4175-A840-C275B0E79600}"/>
              </a:ext>
            </a:extLst>
          </p:cNvPr>
          <p:cNvSpPr txBox="1">
            <a:spLocks/>
          </p:cNvSpPr>
          <p:nvPr/>
        </p:nvSpPr>
        <p:spPr>
          <a:xfrm>
            <a:off x="903355" y="1378226"/>
            <a:ext cx="1012466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5" name="Content Placeholder 2">
            <a:extLst>
              <a:ext uri="{FF2B5EF4-FFF2-40B4-BE49-F238E27FC236}">
                <a16:creationId xmlns:a16="http://schemas.microsoft.com/office/drawing/2014/main" id="{0E3842B6-5157-40BC-4619-230FA6F506CC}"/>
              </a:ext>
            </a:extLst>
          </p:cNvPr>
          <p:cNvSpPr txBox="1">
            <a:spLocks/>
          </p:cNvSpPr>
          <p:nvPr/>
        </p:nvSpPr>
        <p:spPr>
          <a:xfrm>
            <a:off x="332015" y="1378226"/>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Tree>
    <p:extLst>
      <p:ext uri="{BB962C8B-B14F-4D97-AF65-F5344CB8AC3E}">
        <p14:creationId xmlns:p14="http://schemas.microsoft.com/office/powerpoint/2010/main" val="32753944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DA751-FA2D-9422-DCC2-C34E5FF8F9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628843-308A-577F-2356-6A1AB1E6ECEF}"/>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064B23DD-8EE6-3E02-5DA5-92F6F509E43F}"/>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84CB4682-2FF9-5497-5B4A-C1236768C283}"/>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Content Placeholder 2">
            <a:extLst>
              <a:ext uri="{FF2B5EF4-FFF2-40B4-BE49-F238E27FC236}">
                <a16:creationId xmlns:a16="http://schemas.microsoft.com/office/drawing/2014/main" id="{CB4B7E6B-46F6-0E2F-C169-253EAA71310A}"/>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 “At the core of the Roman Catholic view of canon is Rome’s view of the authority of Scripture. Roman Catholicism denies that ultimate authority exists in the Scriptures alone (</a:t>
            </a:r>
            <a:r>
              <a:rPr lang="en-US" i="1" dirty="0"/>
              <a:t>sola scriptura</a:t>
            </a:r>
            <a:r>
              <a:rPr lang="en-US" dirty="0"/>
              <a:t>) and has consequently adopted the well-known trifold authority structure that includes Scripture, tradition, and the Magisterium (the church’s teaching authority)” (pp. 38–39)</a:t>
            </a:r>
          </a:p>
          <a:p>
            <a:endParaRPr lang="en-US" dirty="0"/>
          </a:p>
        </p:txBody>
      </p:sp>
    </p:spTree>
    <p:extLst>
      <p:ext uri="{BB962C8B-B14F-4D97-AF65-F5344CB8AC3E}">
        <p14:creationId xmlns:p14="http://schemas.microsoft.com/office/powerpoint/2010/main" val="2673208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82549-6677-CAB2-BA62-72903CAF4FB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9C5522-1CF3-7CF9-8046-C8F802B1A272}"/>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17C139D-198E-EC64-D30E-971318CC964F}"/>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14569907-F6D0-39B0-F7AB-D356E73100C2}"/>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4" name="Triangle 3">
            <a:extLst>
              <a:ext uri="{FF2B5EF4-FFF2-40B4-BE49-F238E27FC236}">
                <a16:creationId xmlns:a16="http://schemas.microsoft.com/office/drawing/2014/main" id="{9B0FD893-B68B-7595-7711-A10EA65814D4}"/>
              </a:ext>
            </a:extLst>
          </p:cNvPr>
          <p:cNvSpPr/>
          <p:nvPr/>
        </p:nvSpPr>
        <p:spPr>
          <a:xfrm>
            <a:off x="3219450" y="2378074"/>
            <a:ext cx="5753100" cy="329565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4F5277A7-138A-9C86-5528-84749041E8E9}"/>
              </a:ext>
            </a:extLst>
          </p:cNvPr>
          <p:cNvSpPr txBox="1"/>
          <p:nvPr/>
        </p:nvSpPr>
        <p:spPr>
          <a:xfrm>
            <a:off x="1496667" y="5673724"/>
            <a:ext cx="1722783" cy="553998"/>
          </a:xfrm>
          <a:prstGeom prst="rect">
            <a:avLst/>
          </a:prstGeom>
          <a:noFill/>
        </p:spPr>
        <p:txBody>
          <a:bodyPr wrap="square" rtlCol="0">
            <a:spAutoFit/>
          </a:bodyPr>
          <a:lstStyle/>
          <a:p>
            <a:pPr algn="ctr"/>
            <a:r>
              <a:rPr lang="en-US" sz="3000" dirty="0"/>
              <a:t>Scripture</a:t>
            </a:r>
          </a:p>
        </p:txBody>
      </p:sp>
      <p:sp>
        <p:nvSpPr>
          <p:cNvPr id="8" name="TextBox 7">
            <a:extLst>
              <a:ext uri="{FF2B5EF4-FFF2-40B4-BE49-F238E27FC236}">
                <a16:creationId xmlns:a16="http://schemas.microsoft.com/office/drawing/2014/main" id="{A2F3493A-01A9-93E5-3E13-344C1885C4BC}"/>
              </a:ext>
            </a:extLst>
          </p:cNvPr>
          <p:cNvSpPr txBox="1"/>
          <p:nvPr/>
        </p:nvSpPr>
        <p:spPr>
          <a:xfrm>
            <a:off x="8972550" y="5673724"/>
            <a:ext cx="1722783" cy="553998"/>
          </a:xfrm>
          <a:prstGeom prst="rect">
            <a:avLst/>
          </a:prstGeom>
          <a:noFill/>
        </p:spPr>
        <p:txBody>
          <a:bodyPr wrap="square" rtlCol="0">
            <a:spAutoFit/>
          </a:bodyPr>
          <a:lstStyle/>
          <a:p>
            <a:pPr algn="ctr"/>
            <a:r>
              <a:rPr lang="en-US" sz="3000" dirty="0"/>
              <a:t>Tradition</a:t>
            </a:r>
          </a:p>
        </p:txBody>
      </p:sp>
      <p:sp>
        <p:nvSpPr>
          <p:cNvPr id="9" name="TextBox 8">
            <a:extLst>
              <a:ext uri="{FF2B5EF4-FFF2-40B4-BE49-F238E27FC236}">
                <a16:creationId xmlns:a16="http://schemas.microsoft.com/office/drawing/2014/main" id="{79BF54EA-46D6-938F-15F9-5BD6FBD4C6B2}"/>
              </a:ext>
            </a:extLst>
          </p:cNvPr>
          <p:cNvSpPr txBox="1"/>
          <p:nvPr/>
        </p:nvSpPr>
        <p:spPr>
          <a:xfrm>
            <a:off x="4982817" y="1824076"/>
            <a:ext cx="2226366" cy="553998"/>
          </a:xfrm>
          <a:prstGeom prst="rect">
            <a:avLst/>
          </a:prstGeom>
          <a:noFill/>
        </p:spPr>
        <p:txBody>
          <a:bodyPr wrap="square" rtlCol="0">
            <a:spAutoFit/>
          </a:bodyPr>
          <a:lstStyle/>
          <a:p>
            <a:pPr algn="ctr"/>
            <a:r>
              <a:rPr lang="en-US" sz="3000" dirty="0"/>
              <a:t>Magisterium</a:t>
            </a:r>
          </a:p>
        </p:txBody>
      </p:sp>
      <p:sp>
        <p:nvSpPr>
          <p:cNvPr id="11" name="TextBox 10">
            <a:extLst>
              <a:ext uri="{FF2B5EF4-FFF2-40B4-BE49-F238E27FC236}">
                <a16:creationId xmlns:a16="http://schemas.microsoft.com/office/drawing/2014/main" id="{8FF82694-EC26-A346-9F08-0BDD17FD8215}"/>
              </a:ext>
            </a:extLst>
          </p:cNvPr>
          <p:cNvSpPr txBox="1"/>
          <p:nvPr/>
        </p:nvSpPr>
        <p:spPr>
          <a:xfrm>
            <a:off x="7173504" y="1856174"/>
            <a:ext cx="5592417" cy="1938992"/>
          </a:xfrm>
          <a:prstGeom prst="rect">
            <a:avLst/>
          </a:prstGeom>
          <a:noFill/>
        </p:spPr>
        <p:txBody>
          <a:bodyPr wrap="square" rtlCol="0">
            <a:spAutoFit/>
          </a:bodyPr>
          <a:lstStyle/>
          <a:p>
            <a:r>
              <a:rPr lang="en-US" sz="3000" dirty="0"/>
              <a:t>= 1. Interprets Scripture and Tradition</a:t>
            </a:r>
          </a:p>
          <a:p>
            <a:r>
              <a:rPr lang="en-US" sz="3000" dirty="0"/>
              <a:t>    2. Sole authority to define “Scripture” and “Tradition”</a:t>
            </a:r>
          </a:p>
        </p:txBody>
      </p:sp>
    </p:spTree>
    <p:extLst>
      <p:ext uri="{BB962C8B-B14F-4D97-AF65-F5344CB8AC3E}">
        <p14:creationId xmlns:p14="http://schemas.microsoft.com/office/powerpoint/2010/main" val="2067983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C9BE6-FA2C-38C9-A0BE-398CD5FCD41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832F56-7DF6-1DCB-23F1-D61EC302C416}"/>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FDE6359-01C3-EA6A-2D40-80F24007BBB3}"/>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FA010CCC-B3C9-2162-F49B-07F2C3C808D4}"/>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pic>
        <p:nvPicPr>
          <p:cNvPr id="10" name="Picture 9">
            <a:extLst>
              <a:ext uri="{FF2B5EF4-FFF2-40B4-BE49-F238E27FC236}">
                <a16:creationId xmlns:a16="http://schemas.microsoft.com/office/drawing/2014/main" id="{C0FA87B9-583F-A9D5-C35E-2AA031A1DC63}"/>
              </a:ext>
            </a:extLst>
          </p:cNvPr>
          <p:cNvPicPr>
            <a:picLocks noChangeAspect="1"/>
          </p:cNvPicPr>
          <p:nvPr/>
        </p:nvPicPr>
        <p:blipFill>
          <a:blip r:embed="rId2"/>
          <a:srcRect/>
          <a:stretch>
            <a:fillRect/>
          </a:stretch>
        </p:blipFill>
        <p:spPr>
          <a:xfrm>
            <a:off x="-104329" y="2378074"/>
            <a:ext cx="6200329" cy="3460649"/>
          </a:xfrm>
          <a:prstGeom prst="rect">
            <a:avLst/>
          </a:prstGeom>
        </p:spPr>
      </p:pic>
      <p:pic>
        <p:nvPicPr>
          <p:cNvPr id="12" name="Picture 11" descr=", AI generated">
            <a:extLst>
              <a:ext uri="{FF2B5EF4-FFF2-40B4-BE49-F238E27FC236}">
                <a16:creationId xmlns:a16="http://schemas.microsoft.com/office/drawing/2014/main" id="{669D68C1-AD15-A7F1-C6C0-EFCDFC19B4FD}"/>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pic>
        <p:nvPicPr>
          <p:cNvPr id="13" name="Picture 12" descr="Generated image: Stick Figure Presenting an Ancient Scroll">
            <a:extLst>
              <a:ext uri="{FF2B5EF4-FFF2-40B4-BE49-F238E27FC236}">
                <a16:creationId xmlns:a16="http://schemas.microsoft.com/office/drawing/2014/main" id="{386E38D8-0B86-AFDE-D3A4-CC6DD887B489}"/>
              </a:ext>
            </a:extLst>
          </p:cNvPr>
          <p:cNvPicPr>
            <a:picLocks noChangeAspect="1"/>
          </p:cNvPicPr>
          <p:nvPr/>
        </p:nvPicPr>
        <p:blipFill>
          <a:blip r:embed="rId4"/>
          <a:stretch>
            <a:fillRect/>
          </a:stretch>
        </p:blipFill>
        <p:spPr>
          <a:xfrm flipH="1">
            <a:off x="11890512" y="3181350"/>
            <a:ext cx="2488049" cy="2373637"/>
          </a:xfrm>
          <a:prstGeom prst="rect">
            <a:avLst/>
          </a:prstGeom>
        </p:spPr>
      </p:pic>
      <p:sp>
        <p:nvSpPr>
          <p:cNvPr id="14" name="Oval Callout 13">
            <a:extLst>
              <a:ext uri="{FF2B5EF4-FFF2-40B4-BE49-F238E27FC236}">
                <a16:creationId xmlns:a16="http://schemas.microsoft.com/office/drawing/2014/main" id="{B794B124-41F0-E5AD-7239-90514D8E1D44}"/>
              </a:ext>
            </a:extLst>
          </p:cNvPr>
          <p:cNvSpPr/>
          <p:nvPr/>
        </p:nvSpPr>
        <p:spPr>
          <a:xfrm flipH="1">
            <a:off x="3541106" y="981177"/>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“Is the </a:t>
            </a:r>
            <a:r>
              <a:rPr lang="en-US" sz="3600" i="1" dirty="0"/>
              <a:t>Gospel of Thomas</a:t>
            </a:r>
            <a:r>
              <a:rPr lang="en-US" sz="3600" dirty="0"/>
              <a:t> ‘Scripture’?”</a:t>
            </a:r>
          </a:p>
        </p:txBody>
      </p:sp>
      <p:sp>
        <p:nvSpPr>
          <p:cNvPr id="15" name="Oval Callout 14">
            <a:extLst>
              <a:ext uri="{FF2B5EF4-FFF2-40B4-BE49-F238E27FC236}">
                <a16:creationId xmlns:a16="http://schemas.microsoft.com/office/drawing/2014/main" id="{BAEA4A57-8919-ABF5-9F51-7A2364E15C02}"/>
              </a:ext>
            </a:extLst>
          </p:cNvPr>
          <p:cNvSpPr/>
          <p:nvPr/>
        </p:nvSpPr>
        <p:spPr>
          <a:xfrm flipH="1">
            <a:off x="3693506" y="1676779"/>
            <a:ext cx="3050194" cy="1765066"/>
          </a:xfrm>
          <a:prstGeom prst="wedgeEllipseCallout">
            <a:avLst>
              <a:gd name="adj1" fmla="val 55805"/>
              <a:gd name="adj2" fmla="val 37981"/>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“Nope!”</a:t>
            </a:r>
          </a:p>
        </p:txBody>
      </p:sp>
      <p:sp>
        <p:nvSpPr>
          <p:cNvPr id="16" name="Oval Callout 15">
            <a:extLst>
              <a:ext uri="{FF2B5EF4-FFF2-40B4-BE49-F238E27FC236}">
                <a16:creationId xmlns:a16="http://schemas.microsoft.com/office/drawing/2014/main" id="{5548F260-0321-8A80-54C5-86B0E4C1FDB0}"/>
              </a:ext>
            </a:extLst>
          </p:cNvPr>
          <p:cNvSpPr/>
          <p:nvPr/>
        </p:nvSpPr>
        <p:spPr>
          <a:xfrm flipH="1">
            <a:off x="3541106" y="968543"/>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“Why?”</a:t>
            </a:r>
          </a:p>
        </p:txBody>
      </p:sp>
      <p:sp>
        <p:nvSpPr>
          <p:cNvPr id="17" name="Oval Callout 16">
            <a:extLst>
              <a:ext uri="{FF2B5EF4-FFF2-40B4-BE49-F238E27FC236}">
                <a16:creationId xmlns:a16="http://schemas.microsoft.com/office/drawing/2014/main" id="{CFF62C41-ADE4-C15A-9DD6-03C205F8AE25}"/>
              </a:ext>
            </a:extLst>
          </p:cNvPr>
          <p:cNvSpPr/>
          <p:nvPr/>
        </p:nvSpPr>
        <p:spPr>
          <a:xfrm flipH="1">
            <a:off x="3693506" y="1390860"/>
            <a:ext cx="3670658" cy="2050985"/>
          </a:xfrm>
          <a:prstGeom prst="wedgeEllipseCallout">
            <a:avLst>
              <a:gd name="adj1" fmla="val 55805"/>
              <a:gd name="adj2" fmla="val 37981"/>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“Because we said so”</a:t>
            </a:r>
          </a:p>
        </p:txBody>
      </p:sp>
    </p:spTree>
    <p:extLst>
      <p:ext uri="{BB962C8B-B14F-4D97-AF65-F5344CB8AC3E}">
        <p14:creationId xmlns:p14="http://schemas.microsoft.com/office/powerpoint/2010/main" val="392753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5248 0.00138 L -0.3681 0.00138 " pathEditMode="relative" rAng="0" ptsTypes="AA">
                                      <p:cBhvr>
                                        <p:cTn id="6" dur="2000" fill="hold"/>
                                        <p:tgtEl>
                                          <p:spTgt spid="13"/>
                                        </p:tgtEl>
                                        <p:attrNameLst>
                                          <p:attrName>ppt_x</p:attrName>
                                          <p:attrName>ppt_y</p:attrName>
                                        </p:attrNameLst>
                                      </p:cBhvr>
                                      <p:rCtr x="-21029" y="0"/>
                                    </p:animMotion>
                                  </p:childTnLst>
                                </p:cTn>
                              </p:par>
                            </p:childTnLst>
                          </p:cTn>
                        </p:par>
                        <p:par>
                          <p:cTn id="7" fill="hold">
                            <p:stCondLst>
                              <p:cond delay="2000"/>
                            </p:stCondLst>
                            <p:childTnLst>
                              <p:par>
                                <p:cTn id="8" presetID="1" presetClass="entr" presetSubtype="0" fill="hold" nodeType="after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0" presetID="1" presetClass="exit" presetSubtype="0" fill="hold" nodeType="with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par>
                          <p:cTn id="12" fill="hold">
                            <p:stCondLst>
                              <p:cond delay="2000"/>
                            </p:stCondLst>
                            <p:childTnLst>
                              <p:par>
                                <p:cTn id="13" presetID="22" presetClass="entr" presetSubtype="4"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down)">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wipe(down)">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down)">
                                      <p:cBhvr>
                                        <p:cTn id="25" dur="5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wipe(down)">
                                      <p:cBhvr>
                                        <p:cTn id="3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288EF-C02E-C569-1811-9E2A24F66D8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38BB14-FCBF-5727-F4AE-BBDD435BFECA}"/>
              </a:ext>
            </a:extLst>
          </p:cNvPr>
          <p:cNvSpPr>
            <a:spLocks noGrp="1"/>
          </p:cNvSpPr>
          <p:nvPr>
            <p:ph idx="1"/>
          </p:nvPr>
        </p:nvSpPr>
        <p:spPr>
          <a:xfrm>
            <a:off x="281213" y="-1012826"/>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E0D39E6C-6E6C-5871-D8AB-1CD9AEEADE55}"/>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EE8430CE-4AC2-A151-FFF8-FA4228E17521}"/>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Content Placeholder 2">
            <a:extLst>
              <a:ext uri="{FF2B5EF4-FFF2-40B4-BE49-F238E27FC236}">
                <a16:creationId xmlns:a16="http://schemas.microsoft.com/office/drawing/2014/main" id="{0D85D0C6-5BF2-D76C-548B-15078C02E5B4}"/>
              </a:ext>
            </a:extLst>
          </p:cNvPr>
          <p:cNvSpPr txBox="1">
            <a:spLocks/>
          </p:cNvSpPr>
          <p:nvPr/>
        </p:nvSpPr>
        <p:spPr>
          <a:xfrm>
            <a:off x="838200" y="1825624"/>
            <a:ext cx="10991850" cy="50323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300" dirty="0"/>
              <a:t>“H. J. Adriaanse observes, ‘Catholic Theology … has solved the canon problem with a plea to the authority of the Church’” (p. 39)</a:t>
            </a:r>
          </a:p>
          <a:p>
            <a:r>
              <a:rPr lang="en-US" sz="2300" dirty="0"/>
              <a:t>“Thus, the canon is ultimately community determined. </a:t>
            </a:r>
            <a:r>
              <a:rPr lang="en-US" sz="2300" dirty="0">
                <a:solidFill>
                  <a:schemeClr val="accent2"/>
                </a:solidFill>
              </a:rPr>
              <a:t>The fundamental challenge from Roman Catholicism is that in order to have an infallible Scripture, we need to have an infallible guide (namely, the church) to tell us what is, and what is not, Scripture</a:t>
            </a:r>
            <a:r>
              <a:rPr lang="en-US" sz="2300" dirty="0"/>
              <a:t>” (pp. 39–40)</a:t>
            </a:r>
          </a:p>
          <a:p>
            <a:r>
              <a:rPr lang="en-US" sz="2300" dirty="0"/>
              <a:t>“Karl Rahner asserts, ‘[Scripture] exists because the church exists’” (p. 40)</a:t>
            </a:r>
          </a:p>
          <a:p>
            <a:r>
              <a:rPr lang="en-US" sz="2300" dirty="0"/>
              <a:t>“the term </a:t>
            </a:r>
            <a:r>
              <a:rPr lang="en-US" sz="2300" i="1" dirty="0"/>
              <a:t>canon</a:t>
            </a:r>
            <a:r>
              <a:rPr lang="en-US" sz="2300" dirty="0"/>
              <a:t> is often used simply to refer to the books that functioned as an authoritative ‘norm’ or standard for the Christian community, that is, as Scripture” (p. 40)</a:t>
            </a:r>
          </a:p>
          <a:p>
            <a:r>
              <a:rPr lang="en-US" sz="2300" dirty="0"/>
              <a:t>Belief the NT books are inspired and ”Thus, Joseph Lienhard… [declares] that ‘about 180 [AD], there is a New Testament’ and ‘a New Testament exists when a collection of Christian writings is generally accepted in the church as equal in authority to the Jewish Scriptures” (p. 40)</a:t>
            </a:r>
          </a:p>
        </p:txBody>
      </p:sp>
    </p:spTree>
    <p:extLst>
      <p:ext uri="{BB962C8B-B14F-4D97-AF65-F5344CB8AC3E}">
        <p14:creationId xmlns:p14="http://schemas.microsoft.com/office/powerpoint/2010/main" val="32372684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EBB15-093C-B223-2418-F736A2AA46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052BEA-44EA-A1A0-E485-A07E20476E44}"/>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9F86772-76CC-A3E7-BC24-49CB542A2EFC}"/>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62799C1B-62F0-0A31-C835-F1F66446E41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Intro Line">
            <a:extLst>
              <a:ext uri="{FF2B5EF4-FFF2-40B4-BE49-F238E27FC236}">
                <a16:creationId xmlns:a16="http://schemas.microsoft.com/office/drawing/2014/main" id="{ED8118F7-BC7A-794A-34CD-357B444D55AF}"/>
              </a:ext>
            </a:extLst>
          </p:cNvPr>
          <p:cNvSpPr txBox="1">
            <a:spLocks/>
          </p:cNvSpPr>
          <p:nvPr/>
        </p:nvSpPr>
        <p:spPr>
          <a:xfrm>
            <a:off x="838200" y="1825624"/>
            <a:ext cx="10991850" cy="609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Different conceptions in this model:</a:t>
            </a:r>
          </a:p>
        </p:txBody>
      </p:sp>
      <p:sp>
        <p:nvSpPr>
          <p:cNvPr id="20" name="!!Point1"/>
          <p:cNvSpPr txBox="1">
            <a:spLocks/>
          </p:cNvSpPr>
          <p:nvPr/>
        </p:nvSpPr>
        <p:spPr>
          <a:xfrm>
            <a:off x="838200" y="2339340"/>
            <a:ext cx="10991850" cy="8128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2100" dirty="0"/>
              <a:t>“The church not as creating or constituting the canon, but merely as recognizing the authority of the canon that was already there” (p. 41)</a:t>
            </a:r>
          </a:p>
        </p:txBody>
      </p:sp>
      <p:sp>
        <p:nvSpPr>
          <p:cNvPr id="21" name="!!Body"/>
          <p:cNvSpPr txBox="1">
            <a:spLocks/>
          </p:cNvSpPr>
          <p:nvPr/>
        </p:nvSpPr>
        <p:spPr>
          <a:xfrm>
            <a:off x="838200" y="2941320"/>
            <a:ext cx="10991850" cy="3810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r>
              <a:rPr lang="en-US" sz="2100" dirty="0"/>
              <a:t>“The church’s role is primarily epistemological—it is the sole and fundamental means by which we infallibly </a:t>
            </a:r>
            <a:r>
              <a:rPr lang="en-US" sz="2100" i="1" dirty="0"/>
              <a:t>know</a:t>
            </a:r>
            <a:r>
              <a:rPr lang="en-US" sz="2100" dirty="0"/>
              <a:t> which books belong in the canon” (p. 41)</a:t>
            </a:r>
          </a:p>
          <a:p>
            <a:pPr marL="914400" lvl="1" indent="-457200">
              <a:buFont typeface="Arial"/>
              <a:buChar char="•"/>
            </a:pPr>
            <a:r>
              <a:rPr lang="en-US" sz="2100" dirty="0"/>
              <a:t>“The Bible is in the Church, but </a:t>
            </a:r>
            <a:r>
              <a:rPr lang="en-US" sz="2100" i="1" dirty="0"/>
              <a:t>not from the Church</a:t>
            </a:r>
            <a:r>
              <a:rPr lang="en-US" sz="2100" dirty="0"/>
              <a:t>” (Lienhard as qtd on p. 41)</a:t>
            </a:r>
          </a:p>
          <a:p>
            <a:pPr marL="457200" indent="-457200">
              <a:buAutoNum type="arabicPeriod" startAt="2"/>
            </a:pPr>
            <a:r>
              <a:rPr lang="en-US" sz="2100" dirty="0"/>
              <a:t>“The church not simply as the means by which the canon is infallibly recognized (although it does affirm this), but as, in some sense, the foundation or the grounds for the canon” (p. 42)</a:t>
            </a:r>
          </a:p>
          <a:p>
            <a:pPr marL="914400" lvl="1" indent="-457200">
              <a:buFont typeface="Arial"/>
              <a:buChar char="•"/>
            </a:pPr>
            <a:r>
              <a:rPr lang="en-US" sz="2100" dirty="0"/>
              <a:t>“We ‘derive the essence of the Scripture from the essence of the church’ and therefore the Scripture is ‘derivative’ from the church and ‘</a:t>
            </a:r>
            <a:r>
              <a:rPr lang="en-US" sz="2100" dirty="0">
                <a:solidFill>
                  <a:srgbClr val="FF0000"/>
                </a:solidFill>
              </a:rPr>
              <a:t>an act of the Church</a:t>
            </a:r>
            <a:r>
              <a:rPr lang="en-US" sz="2100" dirty="0"/>
              <a:t>’” (Rahner as qtd on p. 42)</a:t>
            </a:r>
          </a:p>
          <a:p>
            <a:pPr marL="914400" lvl="1" indent="-457200">
              <a:buFont typeface="Arial"/>
              <a:buChar char="•"/>
            </a:pPr>
            <a:r>
              <a:rPr lang="en-US" sz="2100" dirty="0"/>
              <a:t>“Peter Kreeft…argues that the church ‘caused’ the canon because it preceded the canon” (p. 42)</a:t>
            </a:r>
          </a:p>
          <a:p>
            <a:pPr marL="914400" lvl="1" indent="-457200">
              <a:buFont typeface="Arial"/>
              <a:buChar char="•"/>
            </a:pPr>
            <a:r>
              <a:rPr lang="en-US" sz="2100" dirty="0"/>
              <a:t>“Hans Küng…: ’Without the Church there would be no New Testament” (p. 42)</a:t>
            </a:r>
          </a:p>
        </p:txBody>
      </p:sp>
    </p:spTree>
    <p:extLst>
      <p:ext uri="{BB962C8B-B14F-4D97-AF65-F5344CB8AC3E}">
        <p14:creationId xmlns:p14="http://schemas.microsoft.com/office/powerpoint/2010/main" val="28982459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34716-C24C-1CF6-78D7-AA03E4CBBC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D3E907-BC13-3642-6D0E-9C9C2431689A}"/>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C1F9F73-27CE-D021-5599-6794AE0AA12C}"/>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A649F53A-D972-C204-17CB-A29CE60252EA}"/>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p:cNvSpPr txBox="1">
            <a:spLocks/>
          </p:cNvSpPr>
          <p:nvPr/>
        </p:nvSpPr>
        <p:spPr>
          <a:xfrm>
            <a:off x="838200" y="1828800"/>
            <a:ext cx="10991850" cy="14732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3000" dirty="0"/>
              <a:t>“The church not as creating or constituting the canon, but merely as recognizing the authority of the canon that was already there” (p. 41)</a:t>
            </a:r>
          </a:p>
        </p:txBody>
      </p:sp>
      <p:sp>
        <p:nvSpPr>
          <p:cNvPr id="2" name="!!Body">
            <a:extLst>
              <a:ext uri="{FF2B5EF4-FFF2-40B4-BE49-F238E27FC236}">
                <a16:creationId xmlns:a16="http://schemas.microsoft.com/office/drawing/2014/main" id="{4A0E1802-50FB-18D0-87A3-4DDAAA0BC9A9}"/>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r>
              <a:rPr lang="en-US" sz="3000" dirty="0"/>
              <a:t>Claims that without the RCC, there is </a:t>
            </a:r>
            <a:r>
              <a:rPr lang="en-US" sz="3000" i="1" dirty="0"/>
              <a:t>no way of knowing</a:t>
            </a:r>
            <a:r>
              <a:rPr lang="en-US" sz="3000" dirty="0"/>
              <a:t> which books belong in the canon</a:t>
            </a:r>
          </a:p>
          <a:p>
            <a:pPr marL="914400" lvl="1" indent="-457200">
              <a:buFont typeface="Arial"/>
              <a:buChar char="•"/>
            </a:pPr>
            <a:r>
              <a:rPr lang="en-US" sz="3000" dirty="0"/>
              <a:t>“If only Christians had…[an] inspired table of contents, then we would not need the authoritative rulings of the Roman Catholic Church to authenticate the canon” (p. 42)</a:t>
            </a:r>
          </a:p>
          <a:p>
            <a:pPr marL="457200" indent="-457200">
              <a:buFont typeface="Arial"/>
              <a:buChar char="•"/>
            </a:pPr>
            <a:r>
              <a:rPr lang="en-US" sz="3000" dirty="0"/>
              <a:t>The issue here:</a:t>
            </a:r>
          </a:p>
          <a:p>
            <a:pPr marL="914400" lvl="1" indent="-457200">
              <a:buFont typeface="Arial"/>
              <a:buChar char="•"/>
            </a:pPr>
            <a:r>
              <a:rPr lang="en-US" sz="3000" dirty="0"/>
              <a:t>How does one know that this “inspired table of contents” is really inspired? Wouldn’t the RCC need to confirm that too!</a:t>
            </a:r>
          </a:p>
        </p:txBody>
      </p:sp>
    </p:spTree>
    <p:extLst>
      <p:ext uri="{BB962C8B-B14F-4D97-AF65-F5344CB8AC3E}">
        <p14:creationId xmlns:p14="http://schemas.microsoft.com/office/powerpoint/2010/main" val="27759968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251D1-AC9C-A132-89F3-AC2DFC39FE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6D856A-B13A-7BC0-2FC9-C83C057D61C8}"/>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A18F93E-6234-E48F-6034-180F6DA59BA2}"/>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4B64B908-87A2-9EED-B6A7-AFC1C56329EA}"/>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7FE862B5-8429-7AFF-E688-F9BDB3F9539D}"/>
              </a:ext>
            </a:extLst>
          </p:cNvPr>
          <p:cNvSpPr txBox="1">
            <a:spLocks/>
          </p:cNvSpPr>
          <p:nvPr/>
        </p:nvSpPr>
        <p:spPr>
          <a:xfrm>
            <a:off x="838200" y="1828800"/>
            <a:ext cx="10991850" cy="14732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US" sz="3000" dirty="0"/>
              <a:t>“The church not as creating or constituting the canon, but merely as recognizing the authority of the canon that was already there” (p. 41)</a:t>
            </a:r>
          </a:p>
        </p:txBody>
      </p:sp>
      <p:sp>
        <p:nvSpPr>
          <p:cNvPr id="2" name="!!Body">
            <a:extLst>
              <a:ext uri="{FF2B5EF4-FFF2-40B4-BE49-F238E27FC236}">
                <a16:creationId xmlns:a16="http://schemas.microsoft.com/office/drawing/2014/main" id="{AB040B94-93AE-59A0-D364-59693D380C0E}"/>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3000" dirty="0"/>
              <a:t>“The problem, then, is not that the church plays a role in identifying canonical books (Protestants would agree with this), but the Catholic insistence that it plays the </a:t>
            </a:r>
            <a:r>
              <a:rPr lang="en-US" sz="3000" i="1" dirty="0"/>
              <a:t>only</a:t>
            </a:r>
            <a:r>
              <a:rPr lang="en-US" sz="3000" dirty="0"/>
              <a:t> and </a:t>
            </a:r>
            <a:r>
              <a:rPr lang="en-US" sz="3000" i="1" dirty="0"/>
              <a:t>definitive</a:t>
            </a:r>
            <a:r>
              <a:rPr lang="en-US" sz="3000" dirty="0"/>
              <a:t> role” (p. 44)</a:t>
            </a:r>
          </a:p>
          <a:p>
            <a:pPr marL="914400" lvl="1" indent="-457200">
              <a:buFont typeface="Arial"/>
              <a:buChar char="•"/>
            </a:pPr>
            <a:endParaRPr lang="en-US" sz="3000" dirty="0"/>
          </a:p>
        </p:txBody>
      </p:sp>
    </p:spTree>
    <p:extLst>
      <p:ext uri="{BB962C8B-B14F-4D97-AF65-F5344CB8AC3E}">
        <p14:creationId xmlns:p14="http://schemas.microsoft.com/office/powerpoint/2010/main" val="15677958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7DD7B-02D9-DC13-B94C-F9520240F7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5D20C3-B83D-417F-543E-7E1CB0A46B49}"/>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FAF8561D-7045-CFA5-68B7-9178C605F504}"/>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23BF3154-EB78-720C-A947-5619106E5E6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4A7CFB91-72B0-29E5-211F-34673F88D6A6}"/>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2"/>
            </a:pPr>
            <a:r>
              <a:rPr lang="en-US" sz="3200" dirty="0"/>
              <a:t>“The church not simply as the means by which the canon is infallibly recognized (although it does affirm this), but as, in some sense, the foundation or the grounds for the canon” (p. 42)</a:t>
            </a:r>
          </a:p>
          <a:p>
            <a:pPr marL="971550" lvl="1" indent="-514350">
              <a:buFont typeface="Arial"/>
              <a:buChar char="•"/>
            </a:pPr>
            <a:r>
              <a:rPr lang="en-US" sz="2800" dirty="0"/>
              <a:t>But the apostolic teachings are the foundation of the church, not the other way around (cf. Eph 2:20)!</a:t>
            </a:r>
          </a:p>
          <a:p>
            <a:pPr marL="971550" lvl="1" indent="-514350">
              <a:buFont typeface="Arial"/>
              <a:buChar char="•"/>
            </a:pPr>
            <a:r>
              <a:rPr lang="en-US" sz="2800" dirty="0"/>
              <a:t>Chapman: “The biblical canon is not a creation of the church, the church is instead a creation of the biblical canon” (qtd on p. 44)</a:t>
            </a:r>
          </a:p>
          <a:p>
            <a:pPr marL="971550" lvl="1" indent="-514350">
              <a:buFont typeface="Arial"/>
              <a:buChar char="•"/>
            </a:pPr>
            <a:r>
              <a:rPr lang="en-US" sz="2800" dirty="0"/>
              <a:t>Paul’s writings were authoritative before the RCC! (cf. 1 Thess 2:13, Gal 1:1-24, 2 Peter 3:16)</a:t>
            </a:r>
          </a:p>
          <a:p>
            <a:pPr marL="971550" lvl="1" indent="-514350">
              <a:buFont typeface="Arial"/>
              <a:buChar char="•"/>
            </a:pPr>
            <a:r>
              <a:rPr lang="en-US" sz="2800" dirty="0"/>
              <a:t>The Council of Trent (1546) was the RCC’s official declaration of the canon. No canon before that?</a:t>
            </a:r>
          </a:p>
        </p:txBody>
      </p:sp>
      <p:sp>
        <p:nvSpPr>
          <p:cNvPr id="2" name="!!Body">
            <a:extLst>
              <a:ext uri="{FF2B5EF4-FFF2-40B4-BE49-F238E27FC236}">
                <a16:creationId xmlns:a16="http://schemas.microsoft.com/office/drawing/2014/main" id="{852CB914-68C9-4128-0A16-8C6175805B6C}"/>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114217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FB7BF-0A82-CC3F-8C33-25641D272B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789DAA7-2FC3-A73D-444D-75D1382B9E5A}"/>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9CCAC2C-1AE3-0C61-22AD-45C088A1DA5D}"/>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C6E1E810-5A47-C4A9-BBB9-EA1F077EAB98}"/>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9A3531B1-8D0D-3F5C-148F-EDEE81D216B0}"/>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2"/>
            </a:pPr>
            <a:r>
              <a:rPr lang="en-US" sz="3200" dirty="0"/>
              <a:t>“The church not simply as the means by which the canon is infallibly recognized (although it does affirm this), but as, in some sense, the foundation or the grounds for the canon” (p. 42)</a:t>
            </a:r>
          </a:p>
          <a:p>
            <a:pPr marL="971550" lvl="1" indent="-514350">
              <a:buFont typeface="Arial"/>
              <a:buChar char="•"/>
            </a:pPr>
            <a:r>
              <a:rPr lang="en-US" sz="2800" dirty="0"/>
              <a:t>J. I. Parker: “The Church no more gave us the New Testament canon than Sir Isaac Newton gave us the force of gravity. God gave us gravity … Newton did not create gravity but recognized it” (qtd on p. 45)</a:t>
            </a:r>
          </a:p>
        </p:txBody>
      </p:sp>
      <p:sp>
        <p:nvSpPr>
          <p:cNvPr id="2" name="!!Body">
            <a:extLst>
              <a:ext uri="{FF2B5EF4-FFF2-40B4-BE49-F238E27FC236}">
                <a16:creationId xmlns:a16="http://schemas.microsoft.com/office/drawing/2014/main" id="{A5A19F1F-3341-1DF2-830F-6F4A3DD3AB76}"/>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9648805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B06CE-58B1-D63B-0A92-3D01B9886E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4A3AB-34F8-BF3F-4AA8-D4651CCC30A2}"/>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EA52B45-3090-0046-B87A-09577C32D951}"/>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4351F9D6-04BF-A545-2179-2950533F04CB}"/>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D6E53372-8063-B980-787B-7404945177D8}"/>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400" dirty="0"/>
              <a:t>The problem with RCM: confuses the instruments God used to produce the Bible (humans) and God’s work to make the canon</a:t>
            </a:r>
          </a:p>
          <a:p>
            <a:r>
              <a:rPr lang="en-US" sz="3400" dirty="0"/>
              <a:t>The NT canon is not the production of the church but of God, recognized by the church</a:t>
            </a:r>
          </a:p>
        </p:txBody>
      </p:sp>
      <p:sp>
        <p:nvSpPr>
          <p:cNvPr id="2" name="!!Body">
            <a:extLst>
              <a:ext uri="{FF2B5EF4-FFF2-40B4-BE49-F238E27FC236}">
                <a16:creationId xmlns:a16="http://schemas.microsoft.com/office/drawing/2014/main" id="{A834B9C4-D830-76D4-0134-D857C212732B}"/>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1931745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FE6D-CDD3-6B1A-FE74-2CD08C8CD6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9BB2B4-D4CD-07F1-5D88-70027F6ADE3E}"/>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AECF0E76-9FD2-1CDF-9E32-D9C46A9B7F01}"/>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 Evaluation</a:t>
            </a:r>
          </a:p>
        </p:txBody>
      </p:sp>
      <p:sp>
        <p:nvSpPr>
          <p:cNvPr id="7" name="Content Placeholder 2">
            <a:extLst>
              <a:ext uri="{FF2B5EF4-FFF2-40B4-BE49-F238E27FC236}">
                <a16:creationId xmlns:a16="http://schemas.microsoft.com/office/drawing/2014/main" id="{795AA45A-330C-FAED-6378-B97094CE20B5}"/>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0" name="!!Point1">
            <a:extLst>
              <a:ext uri="{FF2B5EF4-FFF2-40B4-BE49-F238E27FC236}">
                <a16:creationId xmlns:a16="http://schemas.microsoft.com/office/drawing/2014/main" id="{D57C648E-3728-44F5-0121-5B9368490777}"/>
              </a:ext>
            </a:extLst>
          </p:cNvPr>
          <p:cNvSpPr txBox="1">
            <a:spLocks/>
          </p:cNvSpPr>
          <p:nvPr/>
        </p:nvSpPr>
        <p:spPr>
          <a:xfrm>
            <a:off x="838200" y="1670538"/>
            <a:ext cx="11353800" cy="51874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4000" dirty="0"/>
              <a:t>Where does RCC get its authority from?</a:t>
            </a:r>
          </a:p>
          <a:p>
            <a:pPr marL="1028700" lvl="1" indent="-571500">
              <a:buAutoNum type="arabicPeriod"/>
            </a:pPr>
            <a:r>
              <a:rPr lang="en-US" sz="4000" dirty="0"/>
              <a:t>From the Scriptures? That is circular reasoning!</a:t>
            </a:r>
          </a:p>
          <a:p>
            <a:pPr marL="1028700" lvl="1" indent="-571500">
              <a:buAutoNum type="arabicPeriod"/>
            </a:pPr>
            <a:r>
              <a:rPr lang="en-US" sz="4000" dirty="0"/>
              <a:t>From history? But those aren’t </a:t>
            </a:r>
            <a:r>
              <a:rPr lang="en-US" sz="4000" i="1" dirty="0"/>
              <a:t>infallible</a:t>
            </a:r>
            <a:r>
              <a:rPr lang="en-US" sz="4000" dirty="0"/>
              <a:t> grounds</a:t>
            </a:r>
          </a:p>
          <a:p>
            <a:pPr marL="1028700" lvl="1" indent="-571500">
              <a:buAutoNum type="arabicPeriod"/>
            </a:pPr>
            <a:r>
              <a:rPr lang="en-US" sz="4000" dirty="0"/>
              <a:t>Only logical answer: ”the church’s authority is self-authenticating and needs no external authority to validate it” (p. 47)</a:t>
            </a:r>
          </a:p>
        </p:txBody>
      </p:sp>
      <p:sp>
        <p:nvSpPr>
          <p:cNvPr id="2" name="!!Body">
            <a:extLst>
              <a:ext uri="{FF2B5EF4-FFF2-40B4-BE49-F238E27FC236}">
                <a16:creationId xmlns:a16="http://schemas.microsoft.com/office/drawing/2014/main" id="{027842DE-2A75-F996-AE27-F46F617C98E0}"/>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spTree>
    <p:extLst>
      <p:ext uri="{BB962C8B-B14F-4D97-AF65-F5344CB8AC3E}">
        <p14:creationId xmlns:p14="http://schemas.microsoft.com/office/powerpoint/2010/main" val="211640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759D-A945-3B94-F1B9-C1A6835881B1}"/>
            </a:ext>
          </a:extLst>
        </p:cNvPr>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A717330-8020-4D25-43C2-B912643114FC}"/>
              </a:ext>
            </a:extLst>
          </p:cNvPr>
          <p:cNvSpPr txBox="1">
            <a:spLocks/>
          </p:cNvSpPr>
          <p:nvPr/>
        </p:nvSpPr>
        <p:spPr>
          <a:xfrm>
            <a:off x="838200" y="68947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Evaluation</a:t>
            </a:r>
          </a:p>
        </p:txBody>
      </p:sp>
      <p:sp>
        <p:nvSpPr>
          <p:cNvPr id="3" name="Content Placeholder 2">
            <a:extLst>
              <a:ext uri="{FF2B5EF4-FFF2-40B4-BE49-F238E27FC236}">
                <a16:creationId xmlns:a16="http://schemas.microsoft.com/office/drawing/2014/main" id="{B9B0BE02-8299-11E5-D186-C1940722BAC0}"/>
              </a:ext>
            </a:extLst>
          </p:cNvPr>
          <p:cNvSpPr>
            <a:spLocks noGrp="1"/>
          </p:cNvSpPr>
          <p:nvPr>
            <p:ph idx="1"/>
          </p:nvPr>
        </p:nvSpPr>
        <p:spPr>
          <a:xfrm>
            <a:off x="265715" y="-695602"/>
            <a:ext cx="10746802" cy="695602"/>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4076AF6-5914-A00E-DB88-10FC3A368DE9}"/>
              </a:ext>
            </a:extLst>
          </p:cNvPr>
          <p:cNvSpPr txBox="1">
            <a:spLocks/>
          </p:cNvSpPr>
          <p:nvPr/>
        </p:nvSpPr>
        <p:spPr>
          <a:xfrm>
            <a:off x="838200" y="682624"/>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393AEC1A-6909-698F-A312-E799B47F1779}"/>
              </a:ext>
            </a:extLst>
          </p:cNvPr>
          <p:cNvSpPr txBox="1">
            <a:spLocks/>
          </p:cNvSpPr>
          <p:nvPr/>
        </p:nvSpPr>
        <p:spPr>
          <a:xfrm>
            <a:off x="-1611085" y="334823"/>
            <a:ext cx="847428"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Body">
            <a:extLst>
              <a:ext uri="{FF2B5EF4-FFF2-40B4-BE49-F238E27FC236}">
                <a16:creationId xmlns:a16="http://schemas.microsoft.com/office/drawing/2014/main" id="{B71BEE0C-B4B9-FB93-2611-FB52377A507E}"/>
              </a:ext>
            </a:extLst>
          </p:cNvPr>
          <p:cNvSpPr txBox="1">
            <a:spLocks/>
          </p:cNvSpPr>
          <p:nvPr/>
        </p:nvSpPr>
        <p:spPr>
          <a:xfrm>
            <a:off x="838200" y="312674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pic>
        <p:nvPicPr>
          <p:cNvPr id="4" name="Picture 3">
            <a:extLst>
              <a:ext uri="{FF2B5EF4-FFF2-40B4-BE49-F238E27FC236}">
                <a16:creationId xmlns:a16="http://schemas.microsoft.com/office/drawing/2014/main" id="{75EBD999-537B-30DF-82D5-C49444E5C592}"/>
              </a:ext>
            </a:extLst>
          </p:cNvPr>
          <p:cNvPicPr>
            <a:picLocks noChangeAspect="1"/>
          </p:cNvPicPr>
          <p:nvPr/>
        </p:nvPicPr>
        <p:blipFill>
          <a:blip r:embed="rId2"/>
          <a:srcRect/>
          <a:stretch>
            <a:fillRect/>
          </a:stretch>
        </p:blipFill>
        <p:spPr>
          <a:xfrm>
            <a:off x="-104329" y="2378074"/>
            <a:ext cx="6200329" cy="3460649"/>
          </a:xfrm>
          <a:prstGeom prst="rect">
            <a:avLst/>
          </a:prstGeom>
        </p:spPr>
      </p:pic>
      <p:grpSp>
        <p:nvGrpSpPr>
          <p:cNvPr id="9" name="Stick Figure">
            <a:extLst>
              <a:ext uri="{FF2B5EF4-FFF2-40B4-BE49-F238E27FC236}">
                <a16:creationId xmlns:a16="http://schemas.microsoft.com/office/drawing/2014/main" id="{BB6B92DF-46AC-30CC-5A78-90CB9F3DF6D0}"/>
              </a:ext>
            </a:extLst>
          </p:cNvPr>
          <p:cNvGrpSpPr/>
          <p:nvPr/>
        </p:nvGrpSpPr>
        <p:grpSpPr>
          <a:xfrm>
            <a:off x="12017539" y="3429000"/>
            <a:ext cx="2542850" cy="2423653"/>
            <a:chOff x="7364164" y="3159788"/>
            <a:chExt cx="2542851" cy="2423654"/>
          </a:xfrm>
        </p:grpSpPr>
        <p:pic>
          <p:nvPicPr>
            <p:cNvPr id="5" name="Picture 4" descr=", AI generated">
              <a:extLst>
                <a:ext uri="{FF2B5EF4-FFF2-40B4-BE49-F238E27FC236}">
                  <a16:creationId xmlns:a16="http://schemas.microsoft.com/office/drawing/2014/main" id="{D9D11BDE-4907-A28E-F060-43EB51AD96E9}"/>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sp>
          <p:nvSpPr>
            <p:cNvPr id="8" name="Scroll Cover">
              <a:extLst>
                <a:ext uri="{FF2B5EF4-FFF2-40B4-BE49-F238E27FC236}">
                  <a16:creationId xmlns:a16="http://schemas.microsoft.com/office/drawing/2014/main" id="{B50E607B-8B3B-2946-BCCB-09BDEBD6707C}"/>
                </a:ext>
              </a:extLst>
            </p:cNvPr>
            <p:cNvSpPr/>
            <p:nvPr/>
          </p:nvSpPr>
          <p:spPr>
            <a:xfrm>
              <a:off x="7696200" y="3843020"/>
              <a:ext cx="704850" cy="74549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Arm Cover"/>
            <p:cNvSpPr/>
            <p:nvPr/>
          </p:nvSpPr>
          <p:spPr>
            <a:xfrm>
              <a:off x="8191500" y="3855720"/>
              <a:ext cx="532130" cy="18415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Left Hand">
              <a:extLst>
                <a:ext uri="{FF2B5EF4-FFF2-40B4-BE49-F238E27FC236}">
                  <a16:creationId xmlns:a16="http://schemas.microsoft.com/office/drawing/2014/main" id="{4D0181B4-D2E8-2549-85D9-BBFBF6E78E59}"/>
                </a:ext>
              </a:extLst>
            </p:cNvPr>
            <p:cNvSpPr/>
            <p:nvPr/>
          </p:nvSpPr>
          <p:spPr>
            <a:xfrm>
              <a:off x="8394700" y="4470400"/>
              <a:ext cx="95250" cy="152400"/>
            </a:xfrm>
            <a:prstGeom prst="ellipse">
              <a:avLst/>
            </a:prstGeom>
            <a:solidFill>
              <a:srgbClr val="0000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Left Arm"/>
            <p:cNvSpPr/>
            <p:nvPr/>
          </p:nvSpPr>
          <p:spPr>
            <a:xfrm>
              <a:off x="8449310" y="3873500"/>
              <a:ext cx="295910" cy="615950"/>
            </a:xfrm>
            <a:custGeom>
              <a:avLst/>
              <a:gdLst/>
              <a:ahLst/>
              <a:cxnLst/>
              <a:rect l="0" t="0" r="r" b="b"/>
              <a:pathLst>
                <a:path w="295910" h="615950" fill="none">
                  <a:moveTo>
                    <a:pt x="295910" y="0"/>
                  </a:moveTo>
                  <a:quadBezTo>
                    <a:pt x="63500" y="203200"/>
                    <a:pt x="12700" y="615950"/>
                  </a:quadBezTo>
                </a:path>
              </a:pathLst>
            </a:custGeom>
            <a:noFill/>
            <a:ln w="57150" cap="rnd">
              <a:solidFill>
                <a:srgbClr val="000000"/>
              </a:solidFill>
              <a:round/>
            </a:ln>
          </p:spPr>
          <p:txBody>
            <a:bodyPr/>
            <a:lstStyle/>
            <a:p>
              <a:endParaRPr lang="en-US"/>
            </a:p>
          </p:txBody>
        </p:sp>
      </p:grpSp>
      <p:sp>
        <p:nvSpPr>
          <p:cNvPr id="10" name="Oval Callout 9">
            <a:extLst>
              <a:ext uri="{FF2B5EF4-FFF2-40B4-BE49-F238E27FC236}">
                <a16:creationId xmlns:a16="http://schemas.microsoft.com/office/drawing/2014/main" id="{A4A71393-34B2-7AB3-EF2A-F7EE1A726D46}"/>
              </a:ext>
            </a:extLst>
          </p:cNvPr>
          <p:cNvSpPr/>
          <p:nvPr/>
        </p:nvSpPr>
        <p:spPr>
          <a:xfrm flipH="1">
            <a:off x="3900622" y="116245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“Who decides what is 'Scripture’”?</a:t>
            </a:r>
          </a:p>
        </p:txBody>
      </p:sp>
      <p:sp>
        <p:nvSpPr>
          <p:cNvPr id="12" name="Oval Callout 11">
            <a:extLst>
              <a:ext uri="{FF2B5EF4-FFF2-40B4-BE49-F238E27FC236}">
                <a16:creationId xmlns:a16="http://schemas.microsoft.com/office/drawing/2014/main" id="{06ACC894-8E37-4BB1-3368-E2F75F23F2CA}"/>
              </a:ext>
            </a:extLst>
          </p:cNvPr>
          <p:cNvSpPr/>
          <p:nvPr/>
        </p:nvSpPr>
        <p:spPr>
          <a:xfrm flipH="1">
            <a:off x="3994365" y="1162450"/>
            <a:ext cx="4867005" cy="2308268"/>
          </a:xfrm>
          <a:prstGeom prst="wedgeEllipseCallout">
            <a:avLst>
              <a:gd name="adj1" fmla="val 59484"/>
              <a:gd name="adj2" fmla="val 34878"/>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“We do!”</a:t>
            </a:r>
          </a:p>
        </p:txBody>
      </p:sp>
      <p:sp>
        <p:nvSpPr>
          <p:cNvPr id="13" name="Oval Callout 12">
            <a:extLst>
              <a:ext uri="{FF2B5EF4-FFF2-40B4-BE49-F238E27FC236}">
                <a16:creationId xmlns:a16="http://schemas.microsoft.com/office/drawing/2014/main" id="{12138D12-4D4D-3213-F19F-9CD6712B3071}"/>
              </a:ext>
            </a:extLst>
          </p:cNvPr>
          <p:cNvSpPr/>
          <p:nvPr/>
        </p:nvSpPr>
        <p:spPr>
          <a:xfrm flipH="1">
            <a:off x="3947493" y="122394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“By what authority?”</a:t>
            </a:r>
          </a:p>
        </p:txBody>
      </p:sp>
      <p:sp>
        <p:nvSpPr>
          <p:cNvPr id="14" name="Oval Callout 13">
            <a:extLst>
              <a:ext uri="{FF2B5EF4-FFF2-40B4-BE49-F238E27FC236}">
                <a16:creationId xmlns:a16="http://schemas.microsoft.com/office/drawing/2014/main" id="{119D979F-8714-BC61-B229-8C57737DF852}"/>
              </a:ext>
            </a:extLst>
          </p:cNvPr>
          <p:cNvSpPr/>
          <p:nvPr/>
        </p:nvSpPr>
        <p:spPr>
          <a:xfrm flipH="1">
            <a:off x="4181854" y="1272402"/>
            <a:ext cx="4867005" cy="2308268"/>
          </a:xfrm>
          <a:prstGeom prst="wedgeEllipseCallout">
            <a:avLst>
              <a:gd name="adj1" fmla="val 63617"/>
              <a:gd name="adj2" fmla="val 29332"/>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“Ours!”</a:t>
            </a:r>
          </a:p>
        </p:txBody>
      </p:sp>
    </p:spTree>
    <p:extLst>
      <p:ext uri="{BB962C8B-B14F-4D97-AF65-F5344CB8AC3E}">
        <p14:creationId xmlns:p14="http://schemas.microsoft.com/office/powerpoint/2010/main" val="4012819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651 -0.0206 L -0.34596 -0.0206 " pathEditMode="relative" ptsTypes="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22" presetClass="entr" presetSubtype="4"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down)">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wipe(down)">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wipe(down)">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down)">
                                      <p:cBhvr>
                                        <p:cTn id="2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3" grpId="0" animBg="1"/>
      <p:bldP spid="1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F4A5C-47A3-67B7-AB3B-FBB0F1E07B9A}"/>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4B4CE573-FEA0-9E92-D91C-3D33D8132FEC}"/>
              </a:ext>
            </a:extLst>
          </p:cNvPr>
          <p:cNvSpPr txBox="1">
            <a:spLocks/>
          </p:cNvSpPr>
          <p:nvPr/>
        </p:nvSpPr>
        <p:spPr>
          <a:xfrm>
            <a:off x="906780" y="13808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15" name="Content Placeholder 2">
            <a:extLst>
              <a:ext uri="{FF2B5EF4-FFF2-40B4-BE49-F238E27FC236}">
                <a16:creationId xmlns:a16="http://schemas.microsoft.com/office/drawing/2014/main" id="{61C80DD6-6D53-0D87-37BE-F833327AEB28}"/>
              </a:ext>
            </a:extLst>
          </p:cNvPr>
          <p:cNvSpPr txBox="1">
            <a:spLocks/>
          </p:cNvSpPr>
          <p:nvPr/>
        </p:nvSpPr>
        <p:spPr>
          <a:xfrm>
            <a:off x="6615356" y="658117"/>
            <a:ext cx="10515600" cy="69560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Evaluation</a:t>
            </a:r>
          </a:p>
        </p:txBody>
      </p:sp>
      <p:sp>
        <p:nvSpPr>
          <p:cNvPr id="3" name="Content Placeholder 2">
            <a:extLst>
              <a:ext uri="{FF2B5EF4-FFF2-40B4-BE49-F238E27FC236}">
                <a16:creationId xmlns:a16="http://schemas.microsoft.com/office/drawing/2014/main" id="{5A3B97C1-A279-4DCD-9228-5D8683C83197}"/>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C33546E-18B6-96C1-CFED-42983E455646}"/>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38909916-F8D9-FF10-5E53-BC81E05E4B33}"/>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2" name="!!Body">
            <a:extLst>
              <a:ext uri="{FF2B5EF4-FFF2-40B4-BE49-F238E27FC236}">
                <a16:creationId xmlns:a16="http://schemas.microsoft.com/office/drawing/2014/main" id="{225F1061-B8F3-E485-9A16-64654C081542}"/>
              </a:ext>
            </a:extLst>
          </p:cNvPr>
          <p:cNvSpPr txBox="1">
            <a:spLocks/>
          </p:cNvSpPr>
          <p:nvPr/>
        </p:nvSpPr>
        <p:spPr>
          <a:xfrm>
            <a:off x="838200" y="9436100"/>
            <a:ext cx="10991850" cy="36576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1" indent="-457200">
              <a:buFont typeface="Arial"/>
              <a:buChar char="•"/>
            </a:pPr>
            <a:endParaRPr lang="en-US" sz="3000" dirty="0"/>
          </a:p>
        </p:txBody>
      </p:sp>
      <p:pic>
        <p:nvPicPr>
          <p:cNvPr id="4" name="Picture 3">
            <a:extLst>
              <a:ext uri="{FF2B5EF4-FFF2-40B4-BE49-F238E27FC236}">
                <a16:creationId xmlns:a16="http://schemas.microsoft.com/office/drawing/2014/main" id="{3016A173-2FE3-5D5D-1327-30669DB45583}"/>
              </a:ext>
            </a:extLst>
          </p:cNvPr>
          <p:cNvPicPr>
            <a:picLocks noChangeAspect="1"/>
          </p:cNvPicPr>
          <p:nvPr/>
        </p:nvPicPr>
        <p:blipFill>
          <a:blip r:embed="rId2"/>
          <a:srcRect/>
          <a:stretch>
            <a:fillRect/>
          </a:stretch>
        </p:blipFill>
        <p:spPr>
          <a:xfrm>
            <a:off x="-104329" y="8687434"/>
            <a:ext cx="6200329" cy="3460649"/>
          </a:xfrm>
          <a:prstGeom prst="rect">
            <a:avLst/>
          </a:prstGeom>
        </p:spPr>
      </p:pic>
      <p:grpSp>
        <p:nvGrpSpPr>
          <p:cNvPr id="9" name="Stick Figure">
            <a:extLst>
              <a:ext uri="{FF2B5EF4-FFF2-40B4-BE49-F238E27FC236}">
                <a16:creationId xmlns:a16="http://schemas.microsoft.com/office/drawing/2014/main" id="{0F8F3FEC-FD03-5011-0682-A115B0D44097}"/>
              </a:ext>
            </a:extLst>
          </p:cNvPr>
          <p:cNvGrpSpPr/>
          <p:nvPr/>
        </p:nvGrpSpPr>
        <p:grpSpPr>
          <a:xfrm>
            <a:off x="12017539" y="9738360"/>
            <a:ext cx="2542850" cy="2423653"/>
            <a:chOff x="7364164" y="3159788"/>
            <a:chExt cx="2542851" cy="2423654"/>
          </a:xfrm>
        </p:grpSpPr>
        <p:pic>
          <p:nvPicPr>
            <p:cNvPr id="5" name="Picture 4" descr=", AI generated">
              <a:extLst>
                <a:ext uri="{FF2B5EF4-FFF2-40B4-BE49-F238E27FC236}">
                  <a16:creationId xmlns:a16="http://schemas.microsoft.com/office/drawing/2014/main" id="{3A6C1811-601B-5546-05D6-39CF32918C86}"/>
                </a:ext>
              </a:extLst>
            </p:cNvPr>
            <p:cNvPicPr>
              <a:picLocks noChangeAspect="1"/>
            </p:cNvPicPr>
            <p:nvPr/>
          </p:nvPicPr>
          <p:blipFill>
            <a:blip r:embed="rId3"/>
            <a:srcRect/>
            <a:stretch>
              <a:fillRect/>
            </a:stretch>
          </p:blipFill>
          <p:spPr>
            <a:xfrm>
              <a:off x="7364164" y="3159788"/>
              <a:ext cx="2542851" cy="2423654"/>
            </a:xfrm>
            <a:prstGeom prst="rect">
              <a:avLst/>
            </a:prstGeom>
            <a:ln>
              <a:solidFill>
                <a:schemeClr val="bg1"/>
              </a:solidFill>
            </a:ln>
          </p:spPr>
        </p:pic>
        <p:sp>
          <p:nvSpPr>
            <p:cNvPr id="8" name="Scroll Cover">
              <a:extLst>
                <a:ext uri="{FF2B5EF4-FFF2-40B4-BE49-F238E27FC236}">
                  <a16:creationId xmlns:a16="http://schemas.microsoft.com/office/drawing/2014/main" id="{430427C9-FF6F-6B3A-074A-4B4AA6637761}"/>
                </a:ext>
              </a:extLst>
            </p:cNvPr>
            <p:cNvSpPr/>
            <p:nvPr/>
          </p:nvSpPr>
          <p:spPr>
            <a:xfrm>
              <a:off x="7696200" y="3843020"/>
              <a:ext cx="704850" cy="74549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Arm Cover">
              <a:extLst>
                <a:ext uri="{FF2B5EF4-FFF2-40B4-BE49-F238E27FC236}">
                  <a16:creationId xmlns:a16="http://schemas.microsoft.com/office/drawing/2014/main" id="{67CB6039-58FF-E4E2-2A45-7ECECE081B00}"/>
                </a:ext>
              </a:extLst>
            </p:cNvPr>
            <p:cNvSpPr/>
            <p:nvPr/>
          </p:nvSpPr>
          <p:spPr>
            <a:xfrm>
              <a:off x="8191500" y="3855720"/>
              <a:ext cx="532130" cy="18415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Left Hand">
              <a:extLst>
                <a:ext uri="{FF2B5EF4-FFF2-40B4-BE49-F238E27FC236}">
                  <a16:creationId xmlns:a16="http://schemas.microsoft.com/office/drawing/2014/main" id="{70F06834-19A4-C267-F115-E7BC2F85BD07}"/>
                </a:ext>
              </a:extLst>
            </p:cNvPr>
            <p:cNvSpPr/>
            <p:nvPr/>
          </p:nvSpPr>
          <p:spPr>
            <a:xfrm>
              <a:off x="8394700" y="4470400"/>
              <a:ext cx="95250" cy="152400"/>
            </a:xfrm>
            <a:prstGeom prst="ellipse">
              <a:avLst/>
            </a:prstGeom>
            <a:solidFill>
              <a:srgbClr val="0000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Left Arm">
              <a:extLst>
                <a:ext uri="{FF2B5EF4-FFF2-40B4-BE49-F238E27FC236}">
                  <a16:creationId xmlns:a16="http://schemas.microsoft.com/office/drawing/2014/main" id="{4C8C6D11-D8FA-BAA4-A436-61BAD18066D2}"/>
                </a:ext>
              </a:extLst>
            </p:cNvPr>
            <p:cNvSpPr/>
            <p:nvPr/>
          </p:nvSpPr>
          <p:spPr>
            <a:xfrm>
              <a:off x="8449310" y="3873500"/>
              <a:ext cx="295910" cy="615950"/>
            </a:xfrm>
            <a:custGeom>
              <a:avLst/>
              <a:gdLst/>
              <a:ahLst/>
              <a:cxnLst/>
              <a:rect l="0" t="0" r="r" b="b"/>
              <a:pathLst>
                <a:path w="295910" h="615950" fill="none">
                  <a:moveTo>
                    <a:pt x="295910" y="0"/>
                  </a:moveTo>
                  <a:quadBezTo>
                    <a:pt x="63500" y="203200"/>
                    <a:pt x="12700" y="615950"/>
                  </a:quadBezTo>
                </a:path>
              </a:pathLst>
            </a:custGeom>
            <a:noFill/>
            <a:ln w="57150" cap="rnd">
              <a:solidFill>
                <a:srgbClr val="000000"/>
              </a:solidFill>
              <a:round/>
            </a:ln>
          </p:spPr>
          <p:txBody>
            <a:bodyPr/>
            <a:lstStyle/>
            <a:p>
              <a:endParaRPr lang="en-US"/>
            </a:p>
          </p:txBody>
        </p:sp>
      </p:grpSp>
      <p:sp>
        <p:nvSpPr>
          <p:cNvPr id="10" name="Oval Callout 9">
            <a:extLst>
              <a:ext uri="{FF2B5EF4-FFF2-40B4-BE49-F238E27FC236}">
                <a16:creationId xmlns:a16="http://schemas.microsoft.com/office/drawing/2014/main" id="{77523D90-608A-5E5E-CC43-ACF71F55D804}"/>
              </a:ext>
            </a:extLst>
          </p:cNvPr>
          <p:cNvSpPr/>
          <p:nvPr/>
        </p:nvSpPr>
        <p:spPr>
          <a:xfrm flipH="1">
            <a:off x="3900622" y="747181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“Who decides what is 'Scripture’”?</a:t>
            </a:r>
          </a:p>
        </p:txBody>
      </p:sp>
      <p:sp>
        <p:nvSpPr>
          <p:cNvPr id="12" name="Oval Callout 11">
            <a:extLst>
              <a:ext uri="{FF2B5EF4-FFF2-40B4-BE49-F238E27FC236}">
                <a16:creationId xmlns:a16="http://schemas.microsoft.com/office/drawing/2014/main" id="{FACC246B-1D77-C45B-7CEF-EFEB106D146F}"/>
              </a:ext>
            </a:extLst>
          </p:cNvPr>
          <p:cNvSpPr/>
          <p:nvPr/>
        </p:nvSpPr>
        <p:spPr>
          <a:xfrm flipH="1">
            <a:off x="3994365" y="7471810"/>
            <a:ext cx="4867005" cy="2308268"/>
          </a:xfrm>
          <a:prstGeom prst="wedgeEllipseCallout">
            <a:avLst>
              <a:gd name="adj1" fmla="val 59484"/>
              <a:gd name="adj2" fmla="val 34878"/>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“We do!”</a:t>
            </a:r>
          </a:p>
        </p:txBody>
      </p:sp>
      <p:sp>
        <p:nvSpPr>
          <p:cNvPr id="13" name="Oval Callout 12">
            <a:extLst>
              <a:ext uri="{FF2B5EF4-FFF2-40B4-BE49-F238E27FC236}">
                <a16:creationId xmlns:a16="http://schemas.microsoft.com/office/drawing/2014/main" id="{0C7154D5-1903-9ED1-59DA-105C325A6105}"/>
              </a:ext>
            </a:extLst>
          </p:cNvPr>
          <p:cNvSpPr/>
          <p:nvPr/>
        </p:nvSpPr>
        <p:spPr>
          <a:xfrm flipH="1">
            <a:off x="3947493" y="753330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“By what authority?”</a:t>
            </a:r>
          </a:p>
        </p:txBody>
      </p:sp>
      <p:sp>
        <p:nvSpPr>
          <p:cNvPr id="14" name="Oval Callout 13">
            <a:extLst>
              <a:ext uri="{FF2B5EF4-FFF2-40B4-BE49-F238E27FC236}">
                <a16:creationId xmlns:a16="http://schemas.microsoft.com/office/drawing/2014/main" id="{364D03BA-B922-3E7D-D488-78D7A4675443}"/>
              </a:ext>
            </a:extLst>
          </p:cNvPr>
          <p:cNvSpPr/>
          <p:nvPr/>
        </p:nvSpPr>
        <p:spPr>
          <a:xfrm flipH="1">
            <a:off x="4181854" y="7581762"/>
            <a:ext cx="4867005" cy="2308268"/>
          </a:xfrm>
          <a:prstGeom prst="wedgeEllipseCallout">
            <a:avLst>
              <a:gd name="adj1" fmla="val 63617"/>
              <a:gd name="adj2" fmla="val 29332"/>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“Ours!”</a:t>
            </a:r>
          </a:p>
        </p:txBody>
      </p:sp>
      <p:sp>
        <p:nvSpPr>
          <p:cNvPr id="19" name="Content Placeholder 2">
            <a:extLst>
              <a:ext uri="{FF2B5EF4-FFF2-40B4-BE49-F238E27FC236}">
                <a16:creationId xmlns:a16="http://schemas.microsoft.com/office/drawing/2014/main" id="{B7E245B0-366B-CE35-6059-4E4B1E7E4B3B}"/>
              </a:ext>
            </a:extLst>
          </p:cNvPr>
          <p:cNvSpPr txBox="1">
            <a:spLocks/>
          </p:cNvSpPr>
          <p:nvPr/>
        </p:nvSpPr>
        <p:spPr>
          <a:xfrm>
            <a:off x="902969" y="212950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5852F08-6E0A-C2B8-E873-25FD19DDE8EA}"/>
              </a:ext>
            </a:extLst>
          </p:cNvPr>
          <p:cNvSpPr txBox="1">
            <a:spLocks/>
          </p:cNvSpPr>
          <p:nvPr/>
        </p:nvSpPr>
        <p:spPr>
          <a:xfrm>
            <a:off x="899158" y="212661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767B7D4-4745-001E-8929-1A16D01A1D82}"/>
              </a:ext>
            </a:extLst>
          </p:cNvPr>
          <p:cNvSpPr txBox="1">
            <a:spLocks/>
          </p:cNvSpPr>
          <p:nvPr/>
        </p:nvSpPr>
        <p:spPr>
          <a:xfrm>
            <a:off x="327659" y="212661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Tree>
    <p:extLst>
      <p:ext uri="{BB962C8B-B14F-4D97-AF65-F5344CB8AC3E}">
        <p14:creationId xmlns:p14="http://schemas.microsoft.com/office/powerpoint/2010/main" val="2452629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D6E4B-ECD0-3E5C-F332-255AB74C89E3}"/>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C0BC4E43-6981-491C-354E-6191ECDF005C}"/>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FCB5F3DE-7F92-B7A2-A3DF-E7AEA640438E}"/>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8D3C280-3825-BFC9-6E88-CFC5513B7350}"/>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3071613-64FF-3B32-BC18-32620E16CED7}"/>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4B278B5-C8E7-53F0-1D92-C844CF819B4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385EF7D-B0E3-88A9-A7A1-509A99D0FBA7}"/>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9B39A3F0-58A3-A072-1328-586AD19BB2ED}"/>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2BDEACF1-2CAA-774E-1AB6-2BD02B6FAE43}"/>
              </a:ext>
            </a:extLst>
          </p:cNvPr>
          <p:cNvSpPr txBox="1">
            <a:spLocks/>
          </p:cNvSpPr>
          <p:nvPr/>
        </p:nvSpPr>
        <p:spPr>
          <a:xfrm>
            <a:off x="838200" y="1825624"/>
            <a:ext cx="11099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600" dirty="0"/>
              <a:t>Started with OT scholars Brevard Childs and James Sanders (then expanded to NT)</a:t>
            </a:r>
          </a:p>
          <a:p>
            <a:r>
              <a:rPr lang="en-US" sz="2600" dirty="0"/>
              <a:t>“Childs argues that the meaning of the biblical text is not best found by trying to discover its earliest ‘layer’ via form criticism, source criticism, or redaction criticism—the standard tools of modern critical scholarship—but the meaning of a text is bound up with how the text functions within its larger canonical context. In other words, contrary to popular perceptions, the text is best understood not at its earliest stage of literary development (after the scholar peels back the various layers), but in its latest stage of literary development, when it has taken its final shape…. Thus, </a:t>
            </a:r>
            <a:r>
              <a:rPr lang="en-US" sz="2600" dirty="0">
                <a:solidFill>
                  <a:schemeClr val="accent2"/>
                </a:solidFill>
              </a:rPr>
              <a:t>the central tenet of canonical criticism (at least according to Childs) is that only the final canonical form of the text embraced by the early church is the proper ground for biblical theology and exegesis</a:t>
            </a:r>
            <a:r>
              <a:rPr lang="en-US" sz="2600" dirty="0"/>
              <a:t>” (p. 49)</a:t>
            </a:r>
          </a:p>
        </p:txBody>
      </p:sp>
    </p:spTree>
    <p:extLst>
      <p:ext uri="{BB962C8B-B14F-4D97-AF65-F5344CB8AC3E}">
        <p14:creationId xmlns:p14="http://schemas.microsoft.com/office/powerpoint/2010/main" val="3256654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90875-A071-075E-7D81-D4C345292DDE}"/>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494A5113-AC12-CED4-0F8B-D5A6E4CB72E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D0B090DB-F84A-59C8-02A7-5814E585E402}"/>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3D20780B-9C1E-5D1C-368D-F1B44E4A301B}"/>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13D06B3-9F13-2A3B-6E8E-FF02FAA008B6}"/>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E1AB656B-45A8-73FD-96B4-91540BD0E86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5AF4B494-BBE8-E5C4-FECC-851E6B97458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D4E4BB7D-99E6-3385-E999-E3568127DC81}"/>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AE38BAC7-5D52-6907-7E41-42B29E8BC4B2}"/>
              </a:ext>
            </a:extLst>
          </p:cNvPr>
          <p:cNvSpPr txBox="1">
            <a:spLocks/>
          </p:cNvSpPr>
          <p:nvPr/>
        </p:nvSpPr>
        <p:spPr>
          <a:xfrm>
            <a:off x="838200" y="1825624"/>
            <a:ext cx="11099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a:r>
            <a:r>
              <a:rPr lang="en-US" dirty="0">
                <a:solidFill>
                  <a:schemeClr val="accent2"/>
                </a:solidFill>
              </a:rPr>
              <a:t>Childs has argued that our canonical texts have undergone significant development throughout the canonical process as successive Christian generations not only chose writings, but have shaped, modified, and redacted these writings</a:t>
            </a:r>
            <a:r>
              <a:rPr lang="en-US" dirty="0"/>
              <a:t>. Such a view broadens the activity of inspiration by moving it beyond its traditional locale—in the ‘apostles and prophets’—and expanding it to include the overall ecclesiastical community” (pp. 52-53)</a:t>
            </a:r>
          </a:p>
        </p:txBody>
      </p:sp>
    </p:spTree>
    <p:extLst>
      <p:ext uri="{BB962C8B-B14F-4D97-AF65-F5344CB8AC3E}">
        <p14:creationId xmlns:p14="http://schemas.microsoft.com/office/powerpoint/2010/main" val="65543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9A742-5DFC-E0F9-8A89-2E25B384CBAA}"/>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51F675F4-555E-FD26-E1CB-873966E97FA3}"/>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7AC6D08F-547A-8B81-5E0D-48FE1FF8FF6F}"/>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FC8E0BEA-A706-F0AC-63BC-B30DA014235C}"/>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9ADD5092-4E51-BDF7-7D3E-7BF8E71F5102}"/>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A2C9558F-F931-A903-0132-08BC02B5F7A0}"/>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3A5699F-068D-587B-A98A-7289EF5429A9}"/>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6D6AFC1-B4A7-20A3-FDA5-F312C4CF53F0}"/>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FB002315-A890-BD62-1E2E-614162ED208C}"/>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00" b="1" dirty="0"/>
              <a:t>2 factors driving this theory:</a:t>
            </a:r>
          </a:p>
          <a:p>
            <a:pPr marL="685800" lvl="1" indent="-342900">
              <a:buFont typeface="+mj-lt"/>
              <a:buAutoNum type="arabicPeriod"/>
            </a:pPr>
            <a:r>
              <a:rPr lang="en-US" dirty="0"/>
              <a:t>“Childs argues that it is only the final form of the New Testament canon that </a:t>
            </a:r>
            <a:r>
              <a:rPr lang="en-US" sz="2500" dirty="0"/>
              <a:t>brings together the divergent (and often contradictory) streams of early Christianity and provides a larger framework in which they can be understood and even harmonized” (p. 50)</a:t>
            </a:r>
          </a:p>
          <a:p>
            <a:pPr lvl="2"/>
            <a:r>
              <a:rPr lang="en-US" sz="2500" dirty="0"/>
              <a:t>“In other words, the theological struggle among the early factions of Christianity is what shaped, formed, and molded the canon as we know it; to ignore the final form of the canon in favor of its earliest layer is to ignore all the factors that went into shaping it and thus is to ignore the real ‘historical’ aspect of canon” (p. 50)</a:t>
            </a:r>
          </a:p>
          <a:p>
            <a:pPr marL="685800" lvl="1" indent="-342900">
              <a:buFont typeface="+mj-lt"/>
              <a:buAutoNum type="arabicPeriod" startAt="2"/>
            </a:pPr>
            <a:r>
              <a:rPr lang="en-US" sz="2500" dirty="0"/>
              <a:t>“The final form of the New Testament should be normative because the final redactors who put the New Testament together intentionally shaped the material into a medium that would allow it to be transmitted to future generations” (p. 50)</a:t>
            </a:r>
          </a:p>
        </p:txBody>
      </p:sp>
    </p:spTree>
    <p:extLst>
      <p:ext uri="{BB962C8B-B14F-4D97-AF65-F5344CB8AC3E}">
        <p14:creationId xmlns:p14="http://schemas.microsoft.com/office/powerpoint/2010/main" val="4151528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1B1E0-359E-E2A9-C871-8F445E831020}"/>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5C584C37-4C5D-EF4D-2C0A-BCC591DA420B}"/>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C2F0212C-1DFC-7EA5-EF64-AB1D6519A604}"/>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5D603D1-C1B8-473A-90E4-1850318DD60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89513BF3-55ED-D3DD-3C6C-93DBBB1E038E}"/>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F8A7610F-751F-A766-11E3-29866B90456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358D01AC-DBAF-12C5-6DE1-B4F944814714}"/>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F7919EE-A162-3618-F09C-7969972FFB61}"/>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5D401369-72E8-5691-85AE-A3C024DE936A}"/>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00" b="1" dirty="0"/>
              <a:t>2 factors driving this theory:</a:t>
            </a:r>
          </a:p>
          <a:p>
            <a:endParaRPr lang="en-US" sz="2700" b="1" dirty="0"/>
          </a:p>
          <a:p>
            <a:pPr marL="923925" lvl="1" indent="-581025">
              <a:buFont typeface="+mj-lt"/>
              <a:buAutoNum type="arabicPeriod"/>
            </a:pPr>
            <a:r>
              <a:rPr lang="en-US" sz="4000" dirty="0"/>
              <a:t>Final form = the final, official form shaped by the struggles during pre-canonical state</a:t>
            </a:r>
          </a:p>
          <a:p>
            <a:pPr marL="923925" lvl="1" indent="-581025">
              <a:buFont typeface="+mj-lt"/>
              <a:buAutoNum type="arabicPeriod"/>
            </a:pPr>
            <a:endParaRPr lang="en-US" sz="4000" dirty="0"/>
          </a:p>
          <a:p>
            <a:pPr marL="923925" lvl="1" indent="-581025">
              <a:buFont typeface="+mj-lt"/>
              <a:buAutoNum type="arabicPeriod"/>
            </a:pPr>
            <a:r>
              <a:rPr lang="en-US" sz="4000" dirty="0"/>
              <a:t>Final form = form redactors made for future generations</a:t>
            </a:r>
          </a:p>
        </p:txBody>
      </p:sp>
    </p:spTree>
    <p:extLst>
      <p:ext uri="{BB962C8B-B14F-4D97-AF65-F5344CB8AC3E}">
        <p14:creationId xmlns:p14="http://schemas.microsoft.com/office/powerpoint/2010/main" val="31950184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8EFF9-734B-20B9-04DF-423B46B6CC4B}"/>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E48020CA-6C72-5373-BDD5-94E9DB048B4C}"/>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0F1E20B-AB18-AE2F-8489-B75705AC8EA4}"/>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9715B6E-396A-0DD0-5451-7C33F051C0E6}"/>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722DC53A-BE62-5E88-96DD-459F847B8F0A}"/>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B7015A26-A6DD-CF7F-A84D-BA7B06A6F3DB}"/>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74CA5C3B-C9D1-7B84-272D-67E79742F84D}"/>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A630FE00-3E4F-EE6E-CE37-3820036756D0}"/>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3C734B37-0884-7DE4-27C5-A80193236D3A}"/>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“Childs’s approach, then, would reject the historical-critical notion that the idea of a canon is merely ‘a late, ecclesiastical activity, external to the biblical literature itself, which was subsequently imposed on those writings.’ On the contrary, Childs would affirm that the church’s ‘canonical consciousness’ was there from the beginning and ‘lies deep within the New Testament literature itself’” (p. 51)</a:t>
            </a:r>
          </a:p>
          <a:p>
            <a:r>
              <a:rPr lang="en-US" dirty="0"/>
              <a:t>“By now it is clear how Childs’s canonical-criticism model determines which books should be included in the canon. It consists of the books (and the shape of those books) finally settled upon and received by the early church as the basis for their understanding of the gospel. Even so, Childs does not restrict the technical term </a:t>
            </a:r>
            <a:r>
              <a:rPr lang="en-US" i="1" dirty="0"/>
              <a:t>canon</a:t>
            </a:r>
            <a:r>
              <a:rPr lang="en-US" dirty="0"/>
              <a:t> to only this final stage” (p. 51)</a:t>
            </a:r>
          </a:p>
        </p:txBody>
      </p:sp>
    </p:spTree>
    <p:extLst>
      <p:ext uri="{BB962C8B-B14F-4D97-AF65-F5344CB8AC3E}">
        <p14:creationId xmlns:p14="http://schemas.microsoft.com/office/powerpoint/2010/main" val="3910535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F41E-A63B-BC6B-4D71-9A282C9507E5}"/>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6594F546-C150-E9D0-72CA-7464A18084C3}"/>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734F293E-8716-4B4F-33B4-FD7ECC5703AB}"/>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2354B4A6-92FC-9BB5-320A-B606194E7612}"/>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2DD6E681-713D-B2FE-C923-45E1F9A8C0FB}"/>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3E1C63E-AB09-B7A8-26EC-BC8CCCBA4021}"/>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1736F65A-828A-6504-C0C2-11E0EB8F949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6AAB16AC-7540-C98A-D745-BCC0BBAB2F6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CA7C4DF0-59B6-258B-4820-3A735ED62965}"/>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“Instead of merely denoting a closed list, Childs and others have suggested that the term can refer to a collection of books that constitutes a religious norm for a community (regardless of whether the collection is ‘open’ or ‘closed’). A canon would exist, on this definition, when there is evidence that books are functioning as Scripture. James Sanders agrees: “Canon as </a:t>
            </a:r>
            <a:r>
              <a:rPr lang="en-US" i="1" dirty="0"/>
              <a:t>function</a:t>
            </a:r>
            <a:r>
              <a:rPr lang="en-US" dirty="0"/>
              <a:t> antedates canon as </a:t>
            </a:r>
            <a:r>
              <a:rPr lang="en-US" i="1" dirty="0"/>
              <a:t>shape</a:t>
            </a:r>
            <a:r>
              <a:rPr lang="en-US" dirty="0"/>
              <a:t>” (p. 52)</a:t>
            </a:r>
          </a:p>
        </p:txBody>
      </p:sp>
    </p:spTree>
    <p:extLst>
      <p:ext uri="{BB962C8B-B14F-4D97-AF65-F5344CB8AC3E}">
        <p14:creationId xmlns:p14="http://schemas.microsoft.com/office/powerpoint/2010/main" val="37609976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15C4F-7479-844F-661F-BA4F272C646F}"/>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7B601A17-7D92-D9F5-A82C-9D42A5A2CF92}"/>
              </a:ext>
            </a:extLst>
          </p:cNvPr>
          <p:cNvPicPr>
            <a:picLocks noChangeAspect="1"/>
          </p:cNvPicPr>
          <p:nvPr/>
        </p:nvPicPr>
        <p:blipFill>
          <a:blip r:embed="rId2"/>
          <a:stretch>
            <a:fillRect/>
          </a:stretch>
        </p:blipFill>
        <p:spPr>
          <a:xfrm>
            <a:off x="324319" y="2605046"/>
            <a:ext cx="4093219" cy="4252954"/>
          </a:xfrm>
          <a:prstGeom prst="rect">
            <a:avLst/>
          </a:prstGeom>
        </p:spPr>
      </p:pic>
      <p:sp>
        <p:nvSpPr>
          <p:cNvPr id="17" name="Content Placeholder 2">
            <a:extLst>
              <a:ext uri="{FF2B5EF4-FFF2-40B4-BE49-F238E27FC236}">
                <a16:creationId xmlns:a16="http://schemas.microsoft.com/office/drawing/2014/main" id="{8C36186F-28E6-F83B-6091-D2AB5DB25638}"/>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0DB05B0-8081-7A6B-32ED-FA7CCB01AA01}"/>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AEF5D6DD-EC18-0BE1-A4CF-609DBA436B5D}"/>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CB0B91F-35DC-4D9C-C04A-5A397EBB9674}"/>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EE7255AE-F67B-04C3-D13E-9898F68ADE60}"/>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768FBEA-E44F-E732-C1AF-EC8BB724A3F6}"/>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60E1B69-3097-8511-1D29-6D70672DD8D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1" name="TextBox 10">
            <a:extLst>
              <a:ext uri="{FF2B5EF4-FFF2-40B4-BE49-F238E27FC236}">
                <a16:creationId xmlns:a16="http://schemas.microsoft.com/office/drawing/2014/main" id="{52BF53EC-7478-E08E-0924-3349692DA160}"/>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Childs</a:t>
            </a:r>
          </a:p>
        </p:txBody>
      </p:sp>
      <p:pic>
        <p:nvPicPr>
          <p:cNvPr id="14" name="Picture 13">
            <a:extLst>
              <a:ext uri="{FF2B5EF4-FFF2-40B4-BE49-F238E27FC236}">
                <a16:creationId xmlns:a16="http://schemas.microsoft.com/office/drawing/2014/main" id="{D9757CB0-F12A-76B5-0123-B7E370FD820B}"/>
              </a:ext>
            </a:extLst>
          </p:cNvPr>
          <p:cNvPicPr>
            <a:picLocks noChangeAspect="1"/>
          </p:cNvPicPr>
          <p:nvPr/>
        </p:nvPicPr>
        <p:blipFill>
          <a:blip r:embed="rId3"/>
          <a:stretch>
            <a:fillRect/>
          </a:stretch>
        </p:blipFill>
        <p:spPr>
          <a:xfrm>
            <a:off x="7807065" y="3437475"/>
            <a:ext cx="3155576" cy="3155576"/>
          </a:xfrm>
          <a:prstGeom prst="rect">
            <a:avLst/>
          </a:prstGeom>
        </p:spPr>
      </p:pic>
      <p:pic>
        <p:nvPicPr>
          <p:cNvPr id="16" name="Picture 15">
            <a:extLst>
              <a:ext uri="{FF2B5EF4-FFF2-40B4-BE49-F238E27FC236}">
                <a16:creationId xmlns:a16="http://schemas.microsoft.com/office/drawing/2014/main" id="{77C62A1F-583F-AFA1-C003-5D993FA0BDD9}"/>
              </a:ext>
            </a:extLst>
          </p:cNvPr>
          <p:cNvPicPr>
            <a:picLocks noChangeAspect="1"/>
          </p:cNvPicPr>
          <p:nvPr/>
        </p:nvPicPr>
        <p:blipFill rotWithShape="1">
          <a:blip r:embed="rId4"/>
          <a:srcRect l="16636" t="4648" r="24536" b="1010"/>
          <a:stretch>
            <a:fillRect/>
          </a:stretch>
        </p:blipFill>
        <p:spPr>
          <a:xfrm>
            <a:off x="12310994" y="3443358"/>
            <a:ext cx="3155576" cy="3373702"/>
          </a:xfrm>
          <a:prstGeom prst="rect">
            <a:avLst/>
          </a:prstGeom>
        </p:spPr>
      </p:pic>
      <p:sp>
        <p:nvSpPr>
          <p:cNvPr id="24" name="Oval Callout 23">
            <a:extLst>
              <a:ext uri="{FF2B5EF4-FFF2-40B4-BE49-F238E27FC236}">
                <a16:creationId xmlns:a16="http://schemas.microsoft.com/office/drawing/2014/main" id="{3B021F6B-4105-F797-E9DD-248428D57D79}"/>
              </a:ext>
            </a:extLst>
          </p:cNvPr>
          <p:cNvSpPr/>
          <p:nvPr/>
        </p:nvSpPr>
        <p:spPr>
          <a:xfrm flipH="1">
            <a:off x="3947493" y="122394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is the canon?”</a:t>
            </a:r>
          </a:p>
        </p:txBody>
      </p:sp>
      <p:sp>
        <p:nvSpPr>
          <p:cNvPr id="8" name="Oval Callout 7">
            <a:extLst>
              <a:ext uri="{FF2B5EF4-FFF2-40B4-BE49-F238E27FC236}">
                <a16:creationId xmlns:a16="http://schemas.microsoft.com/office/drawing/2014/main" id="{A865F22A-4099-218D-5711-80823FF9A54B}"/>
              </a:ext>
            </a:extLst>
          </p:cNvPr>
          <p:cNvSpPr/>
          <p:nvPr/>
        </p:nvSpPr>
        <p:spPr>
          <a:xfrm>
            <a:off x="2734189" y="353244"/>
            <a:ext cx="4612542" cy="286252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“All the books that the church uses as Scripture”</a:t>
            </a:r>
          </a:p>
        </p:txBody>
      </p:sp>
      <p:sp>
        <p:nvSpPr>
          <p:cNvPr id="29" name="Oval Callout 28">
            <a:extLst>
              <a:ext uri="{FF2B5EF4-FFF2-40B4-BE49-F238E27FC236}">
                <a16:creationId xmlns:a16="http://schemas.microsoft.com/office/drawing/2014/main" id="{77C75AF4-D459-AEC0-2F5A-FE592ED93659}"/>
              </a:ext>
            </a:extLst>
          </p:cNvPr>
          <p:cNvSpPr/>
          <p:nvPr/>
        </p:nvSpPr>
        <p:spPr>
          <a:xfrm flipH="1">
            <a:off x="3389526" y="353244"/>
            <a:ext cx="5419715" cy="31737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“Okay, so how do we know that these are the </a:t>
            </a:r>
            <a:r>
              <a:rPr lang="en-US" sz="3600" i="1" dirty="0"/>
              <a:t>right</a:t>
            </a:r>
            <a:r>
              <a:rPr lang="en-US" sz="3600" dirty="0"/>
              <a:t> books?”</a:t>
            </a:r>
          </a:p>
        </p:txBody>
      </p:sp>
      <p:sp>
        <p:nvSpPr>
          <p:cNvPr id="30" name="Oval Callout 29">
            <a:extLst>
              <a:ext uri="{FF2B5EF4-FFF2-40B4-BE49-F238E27FC236}">
                <a16:creationId xmlns:a16="http://schemas.microsoft.com/office/drawing/2014/main" id="{4A3698B8-D2CC-F4FD-6FAB-150D375B85DE}"/>
              </a:ext>
            </a:extLst>
          </p:cNvPr>
          <p:cNvSpPr/>
          <p:nvPr/>
        </p:nvSpPr>
        <p:spPr>
          <a:xfrm>
            <a:off x="2750808" y="347984"/>
            <a:ext cx="4612542" cy="286252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“Because they were received by the church!”</a:t>
            </a:r>
          </a:p>
        </p:txBody>
      </p:sp>
    </p:spTree>
    <p:extLst>
      <p:ext uri="{BB962C8B-B14F-4D97-AF65-F5344CB8AC3E}">
        <p14:creationId xmlns:p14="http://schemas.microsoft.com/office/powerpoint/2010/main" val="880998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2.70833E-6 -0.01042 L -0.35495 -0.01042 " pathEditMode="relative" rAng="0" ptsTypes="AA">
                                      <p:cBhvr>
                                        <p:cTn id="6" dur="2000" fill="hold"/>
                                        <p:tgtEl>
                                          <p:spTgt spid="16"/>
                                        </p:tgtEl>
                                        <p:attrNameLst>
                                          <p:attrName>ppt_x</p:attrName>
                                          <p:attrName>ppt_y</p:attrName>
                                        </p:attrNameLst>
                                      </p:cBhvr>
                                      <p:rCtr x="-17747" y="0"/>
                                    </p:animMotion>
                                  </p:childTnLst>
                                </p:cTn>
                              </p:par>
                            </p:childTnLst>
                          </p:cTn>
                        </p:par>
                        <p:par>
                          <p:cTn id="7" fill="hold">
                            <p:stCondLst>
                              <p:cond delay="2000"/>
                            </p:stCondLst>
                            <p:childTnLst>
                              <p:par>
                                <p:cTn id="8" presetID="1" presetClass="exit" presetSubtype="0" fill="hold" nodeType="afterEffect">
                                  <p:stCondLst>
                                    <p:cond delay="0"/>
                                  </p:stCondLst>
                                  <p:childTnLst>
                                    <p:set>
                                      <p:cBhvr>
                                        <p:cTn id="9" dur="1" fill="hold">
                                          <p:stCondLst>
                                            <p:cond delay="0"/>
                                          </p:stCondLst>
                                        </p:cTn>
                                        <p:tgtEl>
                                          <p:spTgt spid="16"/>
                                        </p:tgtEl>
                                        <p:attrNameLst>
                                          <p:attrName>style.visibility</p:attrName>
                                        </p:attrNameLst>
                                      </p:cBhvr>
                                      <p:to>
                                        <p:strVal val="hidden"/>
                                      </p:to>
                                    </p:set>
                                  </p:childTnLst>
                                </p:cTn>
                              </p:par>
                            </p:childTnLst>
                          </p:cTn>
                        </p:par>
                        <p:par>
                          <p:cTn id="10" fill="hold">
                            <p:stCondLst>
                              <p:cond delay="2000"/>
                            </p:stCondLst>
                            <p:childTnLst>
                              <p:par>
                                <p:cTn id="11" presetID="1" presetClass="entr" presetSubtype="0" fill="hold" nodeType="after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2000"/>
                            </p:stCondLst>
                            <p:childTnLst>
                              <p:par>
                                <p:cTn id="14" presetID="22" presetClass="entr" presetSubtype="4" fill="hold" grpId="0" nodeType="after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wipe(down)">
                                      <p:cBhvr>
                                        <p:cTn id="16" dur="50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down)">
                                      <p:cBhvr>
                                        <p:cTn id="21" dur="5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wipe(down)">
                                      <p:cBhvr>
                                        <p:cTn id="31"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8" grpId="0" animBg="1"/>
      <p:bldP spid="29" grpId="0" animBg="1"/>
      <p:bldP spid="30"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C974D-DAAD-D562-FB57-052512696B0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36C2702-C6A0-5665-7D1E-33E110804D0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B9BC840-D31A-E6FA-BDBE-FE0332960A02}"/>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9401B3A-5076-A995-3714-B8BF85C464A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CD656333-E5C6-9888-17E7-77964A5A25BC}"/>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69EC2C1-4825-E37E-F018-13D514622BBE}"/>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519C952-78C3-5838-04CC-55745F70D8DB}"/>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74C283F1-C774-7987-65FD-0F700376519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C0BFC87-3A5B-AA1E-B4E7-C0F750AA7C11}"/>
              </a:ext>
            </a:extLst>
          </p:cNvPr>
          <p:cNvSpPr txBox="1">
            <a:spLocks/>
          </p:cNvSpPr>
          <p:nvPr/>
        </p:nvSpPr>
        <p:spPr>
          <a:xfrm>
            <a:off x="38100" y="1636103"/>
            <a:ext cx="1219200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dirty="0"/>
              <a:t>Historical-Critical Method</a:t>
            </a:r>
          </a:p>
        </p:txBody>
      </p:sp>
      <p:sp>
        <p:nvSpPr>
          <p:cNvPr id="9" name="Rectangle 8">
            <a:extLst>
              <a:ext uri="{FF2B5EF4-FFF2-40B4-BE49-F238E27FC236}">
                <a16:creationId xmlns:a16="http://schemas.microsoft.com/office/drawing/2014/main" id="{2C903D57-0DA6-051F-DE5E-68F6CD800DBE}"/>
              </a:ext>
            </a:extLst>
          </p:cNvPr>
          <p:cNvSpPr/>
          <p:nvPr/>
        </p:nvSpPr>
        <p:spPr>
          <a:xfrm>
            <a:off x="887730"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8116AB8-F8BE-4E49-839D-5BB6E857BE1C}"/>
              </a:ext>
            </a:extLst>
          </p:cNvPr>
          <p:cNvSpPr/>
          <p:nvPr/>
        </p:nvSpPr>
        <p:spPr>
          <a:xfrm rot="16200000">
            <a:off x="796873"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32CC101-020A-B8BE-BCDF-0C0EE49AD15C}"/>
              </a:ext>
            </a:extLst>
          </p:cNvPr>
          <p:cNvSpPr/>
          <p:nvPr/>
        </p:nvSpPr>
        <p:spPr>
          <a:xfrm rot="16200000">
            <a:off x="11160238"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22" name="Picture 21" descr="Generated image: Stick Figure Presenting an Ancient Scroll">
            <a:extLst>
              <a:ext uri="{FF2B5EF4-FFF2-40B4-BE49-F238E27FC236}">
                <a16:creationId xmlns:a16="http://schemas.microsoft.com/office/drawing/2014/main" id="{DAB1FE0A-2C48-B6AE-4A55-65CBC0D3019E}"/>
              </a:ext>
            </a:extLst>
          </p:cNvPr>
          <p:cNvPicPr>
            <a:picLocks noChangeAspect="1"/>
          </p:cNvPicPr>
          <p:nvPr/>
        </p:nvPicPr>
        <p:blipFill rotWithShape="1">
          <a:blip r:embed="rId2"/>
          <a:srcRect l="36294" t="13897" r="20000" b="34902"/>
          <a:stretch>
            <a:fillRect/>
          </a:stretch>
        </p:blipFill>
        <p:spPr>
          <a:xfrm flipH="1">
            <a:off x="-256205" y="4440109"/>
            <a:ext cx="2418438" cy="2833173"/>
          </a:xfrm>
          <a:prstGeom prst="rect">
            <a:avLst/>
          </a:prstGeom>
        </p:spPr>
      </p:pic>
      <p:pic>
        <p:nvPicPr>
          <p:cNvPr id="23" name="Picture 22" descr="Generated image: Stick Figure Presenting an Ancient Scroll">
            <a:extLst>
              <a:ext uri="{FF2B5EF4-FFF2-40B4-BE49-F238E27FC236}">
                <a16:creationId xmlns:a16="http://schemas.microsoft.com/office/drawing/2014/main" id="{6668DFE2-5A29-5FF2-681F-BEE7093BBC6B}"/>
              </a:ext>
            </a:extLst>
          </p:cNvPr>
          <p:cNvPicPr>
            <a:picLocks noChangeAspect="1"/>
          </p:cNvPicPr>
          <p:nvPr/>
        </p:nvPicPr>
        <p:blipFill rotWithShape="1">
          <a:blip r:embed="rId2"/>
          <a:srcRect l="36294" t="13897" r="20000" b="34902"/>
          <a:stretch>
            <a:fillRect/>
          </a:stretch>
        </p:blipFill>
        <p:spPr>
          <a:xfrm flipH="1">
            <a:off x="10107159" y="4440109"/>
            <a:ext cx="2418439" cy="2833174"/>
          </a:xfrm>
          <a:prstGeom prst="rect">
            <a:avLst/>
          </a:prstGeom>
        </p:spPr>
      </p:pic>
      <p:sp>
        <p:nvSpPr>
          <p:cNvPr id="25" name="TextBox 24">
            <a:extLst>
              <a:ext uri="{FF2B5EF4-FFF2-40B4-BE49-F238E27FC236}">
                <a16:creationId xmlns:a16="http://schemas.microsoft.com/office/drawing/2014/main" id="{C12D59F0-2154-E4A5-59F9-BAD6807081BA}"/>
              </a:ext>
            </a:extLst>
          </p:cNvPr>
          <p:cNvSpPr txBox="1"/>
          <p:nvPr/>
        </p:nvSpPr>
        <p:spPr>
          <a:xfrm>
            <a:off x="-34893" y="4713809"/>
            <a:ext cx="2197126" cy="369332"/>
          </a:xfrm>
          <a:prstGeom prst="rect">
            <a:avLst/>
          </a:prstGeom>
          <a:noFill/>
        </p:spPr>
        <p:txBody>
          <a:bodyPr wrap="square" rtlCol="0">
            <a:spAutoFit/>
          </a:bodyPr>
          <a:lstStyle/>
          <a:p>
            <a:pPr algn="ctr"/>
            <a:r>
              <a:rPr lang="en-US" b="1" dirty="0"/>
              <a:t>First, Original Form</a:t>
            </a:r>
          </a:p>
        </p:txBody>
      </p:sp>
      <p:sp>
        <p:nvSpPr>
          <p:cNvPr id="26" name="TextBox 25">
            <a:extLst>
              <a:ext uri="{FF2B5EF4-FFF2-40B4-BE49-F238E27FC236}">
                <a16:creationId xmlns:a16="http://schemas.microsoft.com/office/drawing/2014/main" id="{BE4B91E1-FC66-1C39-77D2-F34233D559A3}"/>
              </a:ext>
            </a:extLst>
          </p:cNvPr>
          <p:cNvSpPr txBox="1"/>
          <p:nvPr/>
        </p:nvSpPr>
        <p:spPr>
          <a:xfrm>
            <a:off x="10217815" y="4710600"/>
            <a:ext cx="2197126" cy="369332"/>
          </a:xfrm>
          <a:prstGeom prst="rect">
            <a:avLst/>
          </a:prstGeom>
          <a:noFill/>
        </p:spPr>
        <p:txBody>
          <a:bodyPr wrap="square" rtlCol="0">
            <a:spAutoFit/>
          </a:bodyPr>
          <a:lstStyle/>
          <a:p>
            <a:pPr algn="ctr"/>
            <a:r>
              <a:rPr lang="en-US" b="1" dirty="0"/>
              <a:t>Final Form</a:t>
            </a:r>
          </a:p>
        </p:txBody>
      </p:sp>
      <p:sp>
        <p:nvSpPr>
          <p:cNvPr id="27" name="TextBox 26">
            <a:extLst>
              <a:ext uri="{FF2B5EF4-FFF2-40B4-BE49-F238E27FC236}">
                <a16:creationId xmlns:a16="http://schemas.microsoft.com/office/drawing/2014/main" id="{97D69C0B-362E-4193-5B73-F5FBADE76BD7}"/>
              </a:ext>
            </a:extLst>
          </p:cNvPr>
          <p:cNvSpPr txBox="1"/>
          <p:nvPr/>
        </p:nvSpPr>
        <p:spPr>
          <a:xfrm>
            <a:off x="0"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28" name="TextBox 27">
            <a:extLst>
              <a:ext uri="{FF2B5EF4-FFF2-40B4-BE49-F238E27FC236}">
                <a16:creationId xmlns:a16="http://schemas.microsoft.com/office/drawing/2014/main" id="{4B883986-FF75-6FF3-766E-FB9F6F928364}"/>
              </a:ext>
            </a:extLst>
          </p:cNvPr>
          <p:cNvSpPr txBox="1"/>
          <p:nvPr/>
        </p:nvSpPr>
        <p:spPr>
          <a:xfrm>
            <a:off x="9979647"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31" name="Rectangle 30">
            <a:extLst>
              <a:ext uri="{FF2B5EF4-FFF2-40B4-BE49-F238E27FC236}">
                <a16:creationId xmlns:a16="http://schemas.microsoft.com/office/drawing/2014/main" id="{8728AE64-5763-831A-D163-CA00BD0D876E}"/>
              </a:ext>
            </a:extLst>
          </p:cNvPr>
          <p:cNvSpPr/>
          <p:nvPr/>
        </p:nvSpPr>
        <p:spPr>
          <a:xfrm rot="16200000">
            <a:off x="3750224" y="437686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1E473A2-4C27-BBE2-CDDB-6A2A08B82F0D}"/>
              </a:ext>
            </a:extLst>
          </p:cNvPr>
          <p:cNvSpPr/>
          <p:nvPr/>
        </p:nvSpPr>
        <p:spPr>
          <a:xfrm rot="16200000">
            <a:off x="5468534" y="436924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A8054BA-E446-3B28-DC23-0B90D871BD87}"/>
              </a:ext>
            </a:extLst>
          </p:cNvPr>
          <p:cNvSpPr txBox="1"/>
          <p:nvPr/>
        </p:nvSpPr>
        <p:spPr>
          <a:xfrm>
            <a:off x="2807802" y="4637841"/>
            <a:ext cx="2197126" cy="369332"/>
          </a:xfrm>
          <a:prstGeom prst="rect">
            <a:avLst/>
          </a:prstGeom>
          <a:noFill/>
        </p:spPr>
        <p:txBody>
          <a:bodyPr wrap="square" rtlCol="0">
            <a:spAutoFit/>
          </a:bodyPr>
          <a:lstStyle/>
          <a:p>
            <a:pPr algn="ctr"/>
            <a:r>
              <a:rPr lang="en-US" b="1" dirty="0"/>
              <a:t>Edited</a:t>
            </a:r>
          </a:p>
        </p:txBody>
      </p:sp>
      <p:sp>
        <p:nvSpPr>
          <p:cNvPr id="35" name="TextBox 34">
            <a:extLst>
              <a:ext uri="{FF2B5EF4-FFF2-40B4-BE49-F238E27FC236}">
                <a16:creationId xmlns:a16="http://schemas.microsoft.com/office/drawing/2014/main" id="{5E5C2091-1DE6-B16F-0BCC-6EBB80FBC743}"/>
              </a:ext>
            </a:extLst>
          </p:cNvPr>
          <p:cNvSpPr txBox="1"/>
          <p:nvPr/>
        </p:nvSpPr>
        <p:spPr>
          <a:xfrm>
            <a:off x="4526112" y="4637841"/>
            <a:ext cx="2197126" cy="369332"/>
          </a:xfrm>
          <a:prstGeom prst="rect">
            <a:avLst/>
          </a:prstGeom>
          <a:noFill/>
        </p:spPr>
        <p:txBody>
          <a:bodyPr wrap="square" rtlCol="0">
            <a:spAutoFit/>
          </a:bodyPr>
          <a:lstStyle/>
          <a:p>
            <a:pPr algn="ctr"/>
            <a:r>
              <a:rPr lang="en-US" b="1" dirty="0"/>
              <a:t>Revised</a:t>
            </a:r>
          </a:p>
        </p:txBody>
      </p:sp>
      <p:sp>
        <p:nvSpPr>
          <p:cNvPr id="36" name="Rectangle 35">
            <a:extLst>
              <a:ext uri="{FF2B5EF4-FFF2-40B4-BE49-F238E27FC236}">
                <a16:creationId xmlns:a16="http://schemas.microsoft.com/office/drawing/2014/main" id="{33D3EBF0-A36D-BADD-328C-842E70730325}"/>
              </a:ext>
            </a:extLst>
          </p:cNvPr>
          <p:cNvSpPr/>
          <p:nvPr/>
        </p:nvSpPr>
        <p:spPr>
          <a:xfrm rot="16200000">
            <a:off x="6592484" y="437305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F483C884-072E-9475-D11A-90CA57042C3B}"/>
              </a:ext>
            </a:extLst>
          </p:cNvPr>
          <p:cNvSpPr txBox="1"/>
          <p:nvPr/>
        </p:nvSpPr>
        <p:spPr>
          <a:xfrm>
            <a:off x="5624675" y="4643982"/>
            <a:ext cx="2197126" cy="369332"/>
          </a:xfrm>
          <a:prstGeom prst="rect">
            <a:avLst/>
          </a:prstGeom>
          <a:noFill/>
        </p:spPr>
        <p:txBody>
          <a:bodyPr wrap="square" rtlCol="0">
            <a:spAutoFit/>
          </a:bodyPr>
          <a:lstStyle/>
          <a:p>
            <a:pPr algn="ctr"/>
            <a:r>
              <a:rPr lang="en-US" b="1" dirty="0"/>
              <a:t>Changed</a:t>
            </a:r>
          </a:p>
        </p:txBody>
      </p:sp>
      <p:sp>
        <p:nvSpPr>
          <p:cNvPr id="39" name="Rectangle 38">
            <a:extLst>
              <a:ext uri="{FF2B5EF4-FFF2-40B4-BE49-F238E27FC236}">
                <a16:creationId xmlns:a16="http://schemas.microsoft.com/office/drawing/2014/main" id="{888027E2-E85D-BB76-762A-671E2EBCED90}"/>
              </a:ext>
            </a:extLst>
          </p:cNvPr>
          <p:cNvSpPr/>
          <p:nvPr/>
        </p:nvSpPr>
        <p:spPr>
          <a:xfrm rot="16200000">
            <a:off x="7932754" y="4376864"/>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78CA2768-3A5E-915A-2C93-66D2EB30E9BF}"/>
              </a:ext>
            </a:extLst>
          </p:cNvPr>
          <p:cNvSpPr txBox="1"/>
          <p:nvPr/>
        </p:nvSpPr>
        <p:spPr>
          <a:xfrm>
            <a:off x="6990332" y="4603978"/>
            <a:ext cx="2197126" cy="369332"/>
          </a:xfrm>
          <a:prstGeom prst="rect">
            <a:avLst/>
          </a:prstGeom>
          <a:noFill/>
        </p:spPr>
        <p:txBody>
          <a:bodyPr wrap="square" rtlCol="0">
            <a:spAutoFit/>
          </a:bodyPr>
          <a:lstStyle/>
          <a:p>
            <a:pPr algn="ctr"/>
            <a:r>
              <a:rPr lang="en-US" b="1" dirty="0"/>
              <a:t>Edited</a:t>
            </a:r>
          </a:p>
        </p:txBody>
      </p:sp>
      <p:sp>
        <p:nvSpPr>
          <p:cNvPr id="44" name="Circular Arrow 43">
            <a:extLst>
              <a:ext uri="{FF2B5EF4-FFF2-40B4-BE49-F238E27FC236}">
                <a16:creationId xmlns:a16="http://schemas.microsoft.com/office/drawing/2014/main" id="{9F520B87-3D8A-176D-91E6-44C65A797D63}"/>
              </a:ext>
            </a:extLst>
          </p:cNvPr>
          <p:cNvSpPr/>
          <p:nvPr/>
        </p:nvSpPr>
        <p:spPr>
          <a:xfrm>
            <a:off x="1270000" y="2438400"/>
            <a:ext cx="9875520" cy="1181100"/>
          </a:xfrm>
          <a:custGeom>
            <a:avLst/>
            <a:gdLst/>
            <a:ahLst/>
            <a:cxnLst/>
            <a:rect l="0" t="0" r="r" b="b"/>
            <a:pathLst>
              <a:path w="9715500" h="1270000" fill="none">
                <a:moveTo>
                  <a:pt x="9715500" y="1270000"/>
                </a:moveTo>
                <a:cubicBezTo>
                  <a:pt x="8743950" y="-423333"/>
                  <a:pt x="971550" y="-423333"/>
                  <a:pt x="0" y="1270000"/>
                </a:cubicBezTo>
              </a:path>
            </a:pathLst>
          </a:custGeom>
          <a:noFill/>
          <a:ln w="101600" cap="rnd" cmpd="sng" algn="ctr">
            <a:solidFill>
              <a:srgbClr val="000000"/>
            </a:solidFill>
            <a:prstDash val="solid"/>
            <a:round/>
            <a:tailEnd type="triangle"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 name="TextBox 3">
            <a:extLst>
              <a:ext uri="{FF2B5EF4-FFF2-40B4-BE49-F238E27FC236}">
                <a16:creationId xmlns:a16="http://schemas.microsoft.com/office/drawing/2014/main" id="{E5EF0A14-8940-0C3F-C0B6-D986E10D7A1A}"/>
              </a:ext>
            </a:extLst>
          </p:cNvPr>
          <p:cNvSpPr txBox="1"/>
          <p:nvPr/>
        </p:nvSpPr>
        <p:spPr>
          <a:xfrm>
            <a:off x="2440145" y="2908509"/>
            <a:ext cx="7387909" cy="1077218"/>
          </a:xfrm>
          <a:prstGeom prst="rect">
            <a:avLst/>
          </a:prstGeom>
          <a:noFill/>
        </p:spPr>
        <p:txBody>
          <a:bodyPr wrap="square" rtlCol="0">
            <a:spAutoFit/>
          </a:bodyPr>
          <a:lstStyle/>
          <a:p>
            <a:pPr algn="ctr"/>
            <a:r>
              <a:rPr lang="en-US" sz="3200" b="1" dirty="0"/>
              <a:t>“We want to figure out this!”</a:t>
            </a:r>
            <a:br>
              <a:rPr lang="en-US" sz="3200" b="1" dirty="0"/>
            </a:br>
            <a:r>
              <a:rPr lang="en-US" sz="3200" b="1" dirty="0"/>
              <a:t>“What is the </a:t>
            </a:r>
            <a:r>
              <a:rPr lang="en-US" sz="3200" b="1" i="1" dirty="0"/>
              <a:t>earliest</a:t>
            </a:r>
            <a:r>
              <a:rPr lang="en-US" sz="3200" b="1" dirty="0"/>
              <a:t> layer of the text?”</a:t>
            </a:r>
          </a:p>
        </p:txBody>
      </p:sp>
      <p:pic>
        <p:nvPicPr>
          <p:cNvPr id="8" name="Picture 7">
            <a:extLst>
              <a:ext uri="{FF2B5EF4-FFF2-40B4-BE49-F238E27FC236}">
                <a16:creationId xmlns:a16="http://schemas.microsoft.com/office/drawing/2014/main" id="{C80E0751-EE7D-E295-CC74-AD5FBA90FC8A}"/>
              </a:ext>
            </a:extLst>
          </p:cNvPr>
          <p:cNvPicPr>
            <a:picLocks noChangeAspect="1"/>
          </p:cNvPicPr>
          <p:nvPr/>
        </p:nvPicPr>
        <p:blipFill rotWithShape="1">
          <a:blip r:embed="rId3"/>
          <a:srcRect l="26675" r="22699"/>
          <a:stretch>
            <a:fillRect/>
          </a:stretch>
        </p:blipFill>
        <p:spPr>
          <a:xfrm>
            <a:off x="12479033" y="3110373"/>
            <a:ext cx="3175070" cy="3424267"/>
          </a:xfrm>
          <a:prstGeom prst="rect">
            <a:avLst/>
          </a:prstGeom>
        </p:spPr>
      </p:pic>
      <p:sp>
        <p:nvSpPr>
          <p:cNvPr id="11" name="Head Fill">
            <a:extLst>
              <a:ext uri="{FF2B5EF4-FFF2-40B4-BE49-F238E27FC236}">
                <a16:creationId xmlns:a16="http://schemas.microsoft.com/office/drawing/2014/main" id="{D3E73DDB-B28F-3F44-A834-0AB998248B84}"/>
              </a:ext>
            </a:extLst>
          </p:cNvPr>
          <p:cNvSpPr/>
          <p:nvPr/>
        </p:nvSpPr>
        <p:spPr>
          <a:xfrm>
            <a:off x="13512800" y="3327400"/>
            <a:ext cx="508000" cy="508000"/>
          </a:xfrm>
          <a:prstGeom prst="ellipse">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45" name="Picture 7">
            <a:extLst>
              <a:ext uri="{FF2B5EF4-FFF2-40B4-BE49-F238E27FC236}">
                <a16:creationId xmlns:a16="http://schemas.microsoft.com/office/drawing/2014/main" id="{08BB8A67-D25D-30C1-B17B-AE2D3332C740}"/>
              </a:ext>
            </a:extLst>
          </p:cNvPr>
          <p:cNvPicPr>
            <a:picLocks noChangeAspect="1"/>
          </p:cNvPicPr>
          <p:nvPr/>
        </p:nvPicPr>
        <p:blipFill rotWithShape="1">
          <a:blip r:embed="rId3">
            <a:clrChange>
              <a:clrFrom>
                <a:srgbClr val="FFFFFF"/>
              </a:clrFrom>
              <a:clrTo>
                <a:srgbClr val="FFFFFF">
                  <a:alpha val="0"/>
                </a:srgbClr>
              </a:clrTo>
            </a:clrChange>
          </a:blip>
          <a:srcRect l="26675" r="22699"/>
          <a:stretch>
            <a:fillRect/>
          </a:stretch>
        </p:blipFill>
        <p:spPr>
          <a:xfrm>
            <a:off x="12293600" y="3111500"/>
            <a:ext cx="3175070" cy="3424267"/>
          </a:xfrm>
          <a:prstGeom prst="rect">
            <a:avLst/>
          </a:prstGeom>
        </p:spPr>
      </p:pic>
      <p:sp>
        <p:nvSpPr>
          <p:cNvPr id="5" name="TextBox 4">
            <a:extLst>
              <a:ext uri="{FF2B5EF4-FFF2-40B4-BE49-F238E27FC236}">
                <a16:creationId xmlns:a16="http://schemas.microsoft.com/office/drawing/2014/main" id="{FC3CA501-A4F1-F63F-DCD0-327C1B989FF1}"/>
              </a:ext>
            </a:extLst>
          </p:cNvPr>
          <p:cNvSpPr txBox="1"/>
          <p:nvPr/>
        </p:nvSpPr>
        <p:spPr>
          <a:xfrm>
            <a:off x="13627100" y="2387600"/>
            <a:ext cx="1244600" cy="523220"/>
          </a:xfrm>
          <a:prstGeom prst="rect">
            <a:avLst/>
          </a:prstGeom>
          <a:noFill/>
        </p:spPr>
        <p:txBody>
          <a:bodyPr wrap="none" lIns="0" rIns="0" rtlCol="0">
            <a:spAutoFit/>
          </a:bodyPr>
          <a:lstStyle/>
          <a:p>
            <a:pPr algn="ctr"/>
            <a:r>
              <a:rPr lang="en-US" sz="2800" b="1" dirty="0"/>
              <a:t>Childs</a:t>
            </a:r>
          </a:p>
        </p:txBody>
      </p:sp>
    </p:spTree>
    <p:extLst>
      <p:ext uri="{BB962C8B-B14F-4D97-AF65-F5344CB8AC3E}">
        <p14:creationId xmlns:p14="http://schemas.microsoft.com/office/powerpoint/2010/main" val="3164734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up)">
                                      <p:cBhvr>
                                        <p:cTn id="7" dur="500"/>
                                        <p:tgtEl>
                                          <p:spTgt spid="31"/>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up)">
                                      <p:cBhvr>
                                        <p:cTn id="11" dur="500"/>
                                        <p:tgtEl>
                                          <p:spTgt spid="34"/>
                                        </p:tgtEl>
                                      </p:cBhvr>
                                    </p:animEffect>
                                  </p:childTnLst>
                                </p:cTn>
                              </p:par>
                            </p:childTnLst>
                          </p:cTn>
                        </p:par>
                        <p:par>
                          <p:cTn id="12" fill="hold">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up)">
                                      <p:cBhvr>
                                        <p:cTn id="15" dur="500"/>
                                        <p:tgtEl>
                                          <p:spTgt spid="3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wipe(up)">
                                      <p:cBhvr>
                                        <p:cTn id="19" dur="500"/>
                                        <p:tgtEl>
                                          <p:spTgt spid="35"/>
                                        </p:tgtEl>
                                      </p:cBhvr>
                                    </p:animEffect>
                                  </p:childTnLst>
                                </p:cTn>
                              </p:par>
                            </p:childTnLst>
                          </p:cTn>
                        </p:par>
                        <p:par>
                          <p:cTn id="20" fill="hold">
                            <p:stCondLst>
                              <p:cond delay="2000"/>
                            </p:stCondLst>
                            <p:childTnLst>
                              <p:par>
                                <p:cTn id="21" presetID="22" presetClass="entr" presetSubtype="1" fill="hold" grpId="0" nodeType="after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wipe(up)">
                                      <p:cBhvr>
                                        <p:cTn id="23" dur="500"/>
                                        <p:tgtEl>
                                          <p:spTgt spid="36"/>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ipe(up)">
                                      <p:cBhvr>
                                        <p:cTn id="27" dur="500"/>
                                        <p:tgtEl>
                                          <p:spTgt spid="37"/>
                                        </p:tgtEl>
                                      </p:cBhvr>
                                    </p:animEffect>
                                  </p:childTnLst>
                                </p:cTn>
                              </p:par>
                            </p:childTnLst>
                          </p:cTn>
                        </p:par>
                        <p:par>
                          <p:cTn id="28" fill="hold">
                            <p:stCondLst>
                              <p:cond delay="3000"/>
                            </p:stCondLst>
                            <p:childTnLst>
                              <p:par>
                                <p:cTn id="29" presetID="22" presetClass="entr" presetSubtype="1" fill="hold" grpId="0" nodeType="after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wipe(up)">
                                      <p:cBhvr>
                                        <p:cTn id="31" dur="500"/>
                                        <p:tgtEl>
                                          <p:spTgt spid="39"/>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wipe(up)">
                                      <p:cBhvr>
                                        <p:cTn id="35" dur="500"/>
                                        <p:tgtEl>
                                          <p:spTgt spid="4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2" fill="hold" grpId="0" nodeType="clickEffect">
                                  <p:stCondLst>
                                    <p:cond delay="0"/>
                                  </p:stCondLst>
                                  <p:childTnLst>
                                    <p:set>
                                      <p:cBhvr>
                                        <p:cTn id="39" dur="1" fill="hold">
                                          <p:stCondLst>
                                            <p:cond delay="0"/>
                                          </p:stCondLst>
                                        </p:cTn>
                                        <p:tgtEl>
                                          <p:spTgt spid="44"/>
                                        </p:tgtEl>
                                        <p:attrNameLst>
                                          <p:attrName>style.visibility</p:attrName>
                                        </p:attrNameLst>
                                      </p:cBhvr>
                                      <p:to>
                                        <p:strVal val="visible"/>
                                      </p:to>
                                    </p:set>
                                    <p:animEffect transition="in" filter="wipe(right)">
                                      <p:cBhvr>
                                        <p:cTn id="40" dur="500"/>
                                        <p:tgtEl>
                                          <p:spTgt spid="44"/>
                                        </p:tgtEl>
                                      </p:cBhvr>
                                    </p:animEffect>
                                  </p:childTnLst>
                                </p:cTn>
                              </p:par>
                            </p:childTnLst>
                          </p:cTn>
                        </p:par>
                        <p:par>
                          <p:cTn id="41" fill="hold">
                            <p:stCondLst>
                              <p:cond delay="500"/>
                            </p:stCondLst>
                            <p:childTnLst>
                              <p:par>
                                <p:cTn id="42" presetID="1" presetClass="entr" presetSubtype="0" fill="hold" nodeType="afterEffect">
                                  <p:stCondLst>
                                    <p:cond delay="0"/>
                                  </p:stCondLst>
                                  <p:childTnLst>
                                    <p:set>
                                      <p:cBhvr>
                                        <p:cTn id="43"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3" grpId="0" animBg="1"/>
      <p:bldP spid="34" grpId="0"/>
      <p:bldP spid="35" grpId="0"/>
      <p:bldP spid="36" grpId="0" animBg="1"/>
      <p:bldP spid="37" grpId="0"/>
      <p:bldP spid="39" grpId="0" animBg="1"/>
      <p:bldP spid="40" grpId="0"/>
      <p:bldP spid="44"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C974D-DAAD-D562-FB57-052512696B0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36C2702-C6A0-5665-7D1E-33E110804D0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B9BC840-D31A-E6FA-BDBE-FE0332960A02}"/>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9401B3A-5076-A995-3714-B8BF85C464A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CD656333-E5C6-9888-17E7-77964A5A25BC}"/>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69EC2C1-4825-E37E-F018-13D514622BBE}"/>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519C952-78C3-5838-04CC-55745F70D8DB}"/>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74C283F1-C774-7987-65FD-0F700376519B}"/>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C0BFC87-3A5B-AA1E-B4E7-C0F750AA7C11}"/>
              </a:ext>
            </a:extLst>
          </p:cNvPr>
          <p:cNvSpPr txBox="1">
            <a:spLocks/>
          </p:cNvSpPr>
          <p:nvPr/>
        </p:nvSpPr>
        <p:spPr>
          <a:xfrm>
            <a:off x="38100" y="1636103"/>
            <a:ext cx="1219200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dirty="0"/>
              <a:t>Historical-Critical Method</a:t>
            </a:r>
          </a:p>
        </p:txBody>
      </p:sp>
      <p:sp>
        <p:nvSpPr>
          <p:cNvPr id="9" name="Rectangle 8">
            <a:extLst>
              <a:ext uri="{FF2B5EF4-FFF2-40B4-BE49-F238E27FC236}">
                <a16:creationId xmlns:a16="http://schemas.microsoft.com/office/drawing/2014/main" id="{2C903D57-0DA6-051F-DE5E-68F6CD800DBE}"/>
              </a:ext>
            </a:extLst>
          </p:cNvPr>
          <p:cNvSpPr/>
          <p:nvPr/>
        </p:nvSpPr>
        <p:spPr>
          <a:xfrm>
            <a:off x="887730"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8116AB8-F8BE-4E49-839D-5BB6E857BE1C}"/>
              </a:ext>
            </a:extLst>
          </p:cNvPr>
          <p:cNvSpPr/>
          <p:nvPr/>
        </p:nvSpPr>
        <p:spPr>
          <a:xfrm rot="16200000">
            <a:off x="796873"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32CC101-020A-B8BE-BCDF-0C0EE49AD15C}"/>
              </a:ext>
            </a:extLst>
          </p:cNvPr>
          <p:cNvSpPr/>
          <p:nvPr/>
        </p:nvSpPr>
        <p:spPr>
          <a:xfrm rot="16200000">
            <a:off x="11160238"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22" name="Picture 21" descr="Generated image: Stick Figure Presenting an Ancient Scroll">
            <a:extLst>
              <a:ext uri="{FF2B5EF4-FFF2-40B4-BE49-F238E27FC236}">
                <a16:creationId xmlns:a16="http://schemas.microsoft.com/office/drawing/2014/main" id="{DAB1FE0A-2C48-B6AE-4A55-65CBC0D3019E}"/>
              </a:ext>
            </a:extLst>
          </p:cNvPr>
          <p:cNvPicPr>
            <a:picLocks noChangeAspect="1"/>
          </p:cNvPicPr>
          <p:nvPr/>
        </p:nvPicPr>
        <p:blipFill rotWithShape="1">
          <a:blip r:embed="rId2"/>
          <a:srcRect l="36294" t="13897" r="20000" b="34902"/>
          <a:stretch>
            <a:fillRect/>
          </a:stretch>
        </p:blipFill>
        <p:spPr>
          <a:xfrm flipH="1">
            <a:off x="-256205" y="4440109"/>
            <a:ext cx="2418438" cy="2833173"/>
          </a:xfrm>
          <a:prstGeom prst="rect">
            <a:avLst/>
          </a:prstGeom>
        </p:spPr>
      </p:pic>
      <p:pic>
        <p:nvPicPr>
          <p:cNvPr id="23" name="Picture 22" descr="Generated image: Stick Figure Presenting an Ancient Scroll">
            <a:extLst>
              <a:ext uri="{FF2B5EF4-FFF2-40B4-BE49-F238E27FC236}">
                <a16:creationId xmlns:a16="http://schemas.microsoft.com/office/drawing/2014/main" id="{6668DFE2-5A29-5FF2-681F-BEE7093BBC6B}"/>
              </a:ext>
            </a:extLst>
          </p:cNvPr>
          <p:cNvPicPr>
            <a:picLocks noChangeAspect="1"/>
          </p:cNvPicPr>
          <p:nvPr/>
        </p:nvPicPr>
        <p:blipFill rotWithShape="1">
          <a:blip r:embed="rId2"/>
          <a:srcRect l="36294" t="13897" r="20000" b="34902"/>
          <a:stretch>
            <a:fillRect/>
          </a:stretch>
        </p:blipFill>
        <p:spPr>
          <a:xfrm flipH="1">
            <a:off x="10107159" y="4440109"/>
            <a:ext cx="2418439" cy="2833174"/>
          </a:xfrm>
          <a:prstGeom prst="rect">
            <a:avLst/>
          </a:prstGeom>
        </p:spPr>
      </p:pic>
      <p:sp>
        <p:nvSpPr>
          <p:cNvPr id="25" name="TextBox 24">
            <a:extLst>
              <a:ext uri="{FF2B5EF4-FFF2-40B4-BE49-F238E27FC236}">
                <a16:creationId xmlns:a16="http://schemas.microsoft.com/office/drawing/2014/main" id="{C12D59F0-2154-E4A5-59F9-BAD6807081BA}"/>
              </a:ext>
            </a:extLst>
          </p:cNvPr>
          <p:cNvSpPr txBox="1"/>
          <p:nvPr/>
        </p:nvSpPr>
        <p:spPr>
          <a:xfrm>
            <a:off x="-34893" y="4713809"/>
            <a:ext cx="2197126" cy="369332"/>
          </a:xfrm>
          <a:prstGeom prst="rect">
            <a:avLst/>
          </a:prstGeom>
          <a:noFill/>
        </p:spPr>
        <p:txBody>
          <a:bodyPr wrap="square" rtlCol="0">
            <a:spAutoFit/>
          </a:bodyPr>
          <a:lstStyle/>
          <a:p>
            <a:pPr algn="ctr"/>
            <a:r>
              <a:rPr lang="en-US" b="1" dirty="0"/>
              <a:t>First, Original Form</a:t>
            </a:r>
          </a:p>
        </p:txBody>
      </p:sp>
      <p:sp>
        <p:nvSpPr>
          <p:cNvPr id="26" name="TextBox 25">
            <a:extLst>
              <a:ext uri="{FF2B5EF4-FFF2-40B4-BE49-F238E27FC236}">
                <a16:creationId xmlns:a16="http://schemas.microsoft.com/office/drawing/2014/main" id="{BE4B91E1-FC66-1C39-77D2-F34233D559A3}"/>
              </a:ext>
            </a:extLst>
          </p:cNvPr>
          <p:cNvSpPr txBox="1"/>
          <p:nvPr/>
        </p:nvSpPr>
        <p:spPr>
          <a:xfrm>
            <a:off x="10217815" y="4710600"/>
            <a:ext cx="2197126" cy="369332"/>
          </a:xfrm>
          <a:prstGeom prst="rect">
            <a:avLst/>
          </a:prstGeom>
          <a:noFill/>
        </p:spPr>
        <p:txBody>
          <a:bodyPr wrap="square" rtlCol="0">
            <a:spAutoFit/>
          </a:bodyPr>
          <a:lstStyle/>
          <a:p>
            <a:pPr algn="ctr"/>
            <a:r>
              <a:rPr lang="en-US" b="1" dirty="0"/>
              <a:t>Final Form</a:t>
            </a:r>
          </a:p>
        </p:txBody>
      </p:sp>
      <p:sp>
        <p:nvSpPr>
          <p:cNvPr id="27" name="TextBox 26">
            <a:extLst>
              <a:ext uri="{FF2B5EF4-FFF2-40B4-BE49-F238E27FC236}">
                <a16:creationId xmlns:a16="http://schemas.microsoft.com/office/drawing/2014/main" id="{97D69C0B-362E-4193-5B73-F5FBADE76BD7}"/>
              </a:ext>
            </a:extLst>
          </p:cNvPr>
          <p:cNvSpPr txBox="1"/>
          <p:nvPr/>
        </p:nvSpPr>
        <p:spPr>
          <a:xfrm>
            <a:off x="0"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28" name="TextBox 27">
            <a:extLst>
              <a:ext uri="{FF2B5EF4-FFF2-40B4-BE49-F238E27FC236}">
                <a16:creationId xmlns:a16="http://schemas.microsoft.com/office/drawing/2014/main" id="{4B883986-FF75-6FF3-766E-FB9F6F928364}"/>
              </a:ext>
            </a:extLst>
          </p:cNvPr>
          <p:cNvSpPr txBox="1"/>
          <p:nvPr/>
        </p:nvSpPr>
        <p:spPr>
          <a:xfrm>
            <a:off x="9979647"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31" name="Rectangle 30">
            <a:extLst>
              <a:ext uri="{FF2B5EF4-FFF2-40B4-BE49-F238E27FC236}">
                <a16:creationId xmlns:a16="http://schemas.microsoft.com/office/drawing/2014/main" id="{8728AE64-5763-831A-D163-CA00BD0D876E}"/>
              </a:ext>
            </a:extLst>
          </p:cNvPr>
          <p:cNvSpPr/>
          <p:nvPr/>
        </p:nvSpPr>
        <p:spPr>
          <a:xfrm rot="16200000">
            <a:off x="3750224" y="437686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1E473A2-4C27-BBE2-CDDB-6A2A08B82F0D}"/>
              </a:ext>
            </a:extLst>
          </p:cNvPr>
          <p:cNvSpPr/>
          <p:nvPr/>
        </p:nvSpPr>
        <p:spPr>
          <a:xfrm rot="16200000">
            <a:off x="5468534" y="436924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A8054BA-E446-3B28-DC23-0B90D871BD87}"/>
              </a:ext>
            </a:extLst>
          </p:cNvPr>
          <p:cNvSpPr txBox="1"/>
          <p:nvPr/>
        </p:nvSpPr>
        <p:spPr>
          <a:xfrm>
            <a:off x="2807802" y="4637841"/>
            <a:ext cx="2197126" cy="369332"/>
          </a:xfrm>
          <a:prstGeom prst="rect">
            <a:avLst/>
          </a:prstGeom>
          <a:noFill/>
        </p:spPr>
        <p:txBody>
          <a:bodyPr wrap="square" rtlCol="0">
            <a:spAutoFit/>
          </a:bodyPr>
          <a:lstStyle/>
          <a:p>
            <a:pPr algn="ctr"/>
            <a:r>
              <a:rPr lang="en-US" b="1" dirty="0"/>
              <a:t>Edited</a:t>
            </a:r>
          </a:p>
        </p:txBody>
      </p:sp>
      <p:sp>
        <p:nvSpPr>
          <p:cNvPr id="35" name="TextBox 34">
            <a:extLst>
              <a:ext uri="{FF2B5EF4-FFF2-40B4-BE49-F238E27FC236}">
                <a16:creationId xmlns:a16="http://schemas.microsoft.com/office/drawing/2014/main" id="{5E5C2091-1DE6-B16F-0BCC-6EBB80FBC743}"/>
              </a:ext>
            </a:extLst>
          </p:cNvPr>
          <p:cNvSpPr txBox="1"/>
          <p:nvPr/>
        </p:nvSpPr>
        <p:spPr>
          <a:xfrm>
            <a:off x="4526112" y="4637841"/>
            <a:ext cx="2197126" cy="369332"/>
          </a:xfrm>
          <a:prstGeom prst="rect">
            <a:avLst/>
          </a:prstGeom>
          <a:noFill/>
        </p:spPr>
        <p:txBody>
          <a:bodyPr wrap="square" rtlCol="0">
            <a:spAutoFit/>
          </a:bodyPr>
          <a:lstStyle/>
          <a:p>
            <a:pPr algn="ctr"/>
            <a:r>
              <a:rPr lang="en-US" b="1" dirty="0"/>
              <a:t>Revised</a:t>
            </a:r>
          </a:p>
        </p:txBody>
      </p:sp>
      <p:sp>
        <p:nvSpPr>
          <p:cNvPr id="36" name="Rectangle 35">
            <a:extLst>
              <a:ext uri="{FF2B5EF4-FFF2-40B4-BE49-F238E27FC236}">
                <a16:creationId xmlns:a16="http://schemas.microsoft.com/office/drawing/2014/main" id="{33D3EBF0-A36D-BADD-328C-842E70730325}"/>
              </a:ext>
            </a:extLst>
          </p:cNvPr>
          <p:cNvSpPr/>
          <p:nvPr/>
        </p:nvSpPr>
        <p:spPr>
          <a:xfrm rot="16200000">
            <a:off x="6592484" y="437305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F483C884-072E-9475-D11A-90CA57042C3B}"/>
              </a:ext>
            </a:extLst>
          </p:cNvPr>
          <p:cNvSpPr txBox="1"/>
          <p:nvPr/>
        </p:nvSpPr>
        <p:spPr>
          <a:xfrm>
            <a:off x="5624675" y="4643982"/>
            <a:ext cx="2197126" cy="369332"/>
          </a:xfrm>
          <a:prstGeom prst="rect">
            <a:avLst/>
          </a:prstGeom>
          <a:noFill/>
        </p:spPr>
        <p:txBody>
          <a:bodyPr wrap="square" rtlCol="0">
            <a:spAutoFit/>
          </a:bodyPr>
          <a:lstStyle/>
          <a:p>
            <a:pPr algn="ctr"/>
            <a:r>
              <a:rPr lang="en-US" b="1" dirty="0"/>
              <a:t>Changed</a:t>
            </a:r>
          </a:p>
        </p:txBody>
      </p:sp>
      <p:sp>
        <p:nvSpPr>
          <p:cNvPr id="39" name="Rectangle 38">
            <a:extLst>
              <a:ext uri="{FF2B5EF4-FFF2-40B4-BE49-F238E27FC236}">
                <a16:creationId xmlns:a16="http://schemas.microsoft.com/office/drawing/2014/main" id="{888027E2-E85D-BB76-762A-671E2EBCED90}"/>
              </a:ext>
            </a:extLst>
          </p:cNvPr>
          <p:cNvSpPr/>
          <p:nvPr/>
        </p:nvSpPr>
        <p:spPr>
          <a:xfrm rot="16200000">
            <a:off x="7932754" y="4376864"/>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78CA2768-3A5E-915A-2C93-66D2EB30E9BF}"/>
              </a:ext>
            </a:extLst>
          </p:cNvPr>
          <p:cNvSpPr txBox="1"/>
          <p:nvPr/>
        </p:nvSpPr>
        <p:spPr>
          <a:xfrm>
            <a:off x="6990332" y="4603978"/>
            <a:ext cx="2197126" cy="369332"/>
          </a:xfrm>
          <a:prstGeom prst="rect">
            <a:avLst/>
          </a:prstGeom>
          <a:noFill/>
        </p:spPr>
        <p:txBody>
          <a:bodyPr wrap="square" rtlCol="0">
            <a:spAutoFit/>
          </a:bodyPr>
          <a:lstStyle/>
          <a:p>
            <a:pPr algn="ctr"/>
            <a:r>
              <a:rPr lang="en-US" b="1" dirty="0"/>
              <a:t>Edited</a:t>
            </a:r>
          </a:p>
        </p:txBody>
      </p:sp>
      <p:sp>
        <p:nvSpPr>
          <p:cNvPr id="44" name="Circular Arrow 43">
            <a:extLst>
              <a:ext uri="{FF2B5EF4-FFF2-40B4-BE49-F238E27FC236}">
                <a16:creationId xmlns:a16="http://schemas.microsoft.com/office/drawing/2014/main" id="{9F520B87-3D8A-176D-91E6-44C65A797D63}"/>
              </a:ext>
            </a:extLst>
          </p:cNvPr>
          <p:cNvSpPr/>
          <p:nvPr/>
        </p:nvSpPr>
        <p:spPr>
          <a:xfrm>
            <a:off x="1270000" y="2438400"/>
            <a:ext cx="9875520" cy="1181100"/>
          </a:xfrm>
          <a:custGeom>
            <a:avLst/>
            <a:gdLst/>
            <a:ahLst/>
            <a:cxnLst/>
            <a:rect l="0" t="0" r="r" b="b"/>
            <a:pathLst>
              <a:path w="9715500" h="1270000" fill="none">
                <a:moveTo>
                  <a:pt x="9715500" y="1270000"/>
                </a:moveTo>
                <a:cubicBezTo>
                  <a:pt x="8743950" y="-423333"/>
                  <a:pt x="971550" y="-423333"/>
                  <a:pt x="0" y="1270000"/>
                </a:cubicBezTo>
              </a:path>
            </a:pathLst>
          </a:custGeom>
          <a:noFill/>
          <a:ln w="101600" cap="rnd" cmpd="sng" algn="ctr">
            <a:solidFill>
              <a:srgbClr val="000000"/>
            </a:solidFill>
            <a:prstDash val="solid"/>
            <a:round/>
            <a:tailEnd type="triangle"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 name="TextBox 3">
            <a:extLst>
              <a:ext uri="{FF2B5EF4-FFF2-40B4-BE49-F238E27FC236}">
                <a16:creationId xmlns:a16="http://schemas.microsoft.com/office/drawing/2014/main" id="{E5EF0A14-8940-0C3F-C0B6-D986E10D7A1A}"/>
              </a:ext>
            </a:extLst>
          </p:cNvPr>
          <p:cNvSpPr txBox="1"/>
          <p:nvPr/>
        </p:nvSpPr>
        <p:spPr>
          <a:xfrm>
            <a:off x="2440145" y="2908509"/>
            <a:ext cx="7387909" cy="1077218"/>
          </a:xfrm>
          <a:prstGeom prst="rect">
            <a:avLst/>
          </a:prstGeom>
          <a:noFill/>
        </p:spPr>
        <p:txBody>
          <a:bodyPr wrap="square" rtlCol="0">
            <a:spAutoFit/>
          </a:bodyPr>
          <a:lstStyle/>
          <a:p>
            <a:pPr algn="ctr"/>
            <a:r>
              <a:rPr lang="en-US" sz="3200" b="1" dirty="0"/>
              <a:t>“We want to figure out this!”</a:t>
            </a:r>
            <a:br>
              <a:rPr lang="en-US" sz="3200" b="1" dirty="0"/>
            </a:br>
            <a:r>
              <a:rPr lang="en-US" sz="3200" b="1" dirty="0"/>
              <a:t>“What is the </a:t>
            </a:r>
            <a:r>
              <a:rPr lang="en-US" sz="3200" b="1" i="1" dirty="0"/>
              <a:t>earliest</a:t>
            </a:r>
            <a:r>
              <a:rPr lang="en-US" sz="3200" b="1" dirty="0"/>
              <a:t> layer of the text?”</a:t>
            </a:r>
          </a:p>
        </p:txBody>
      </p:sp>
      <p:pic>
        <p:nvPicPr>
          <p:cNvPr id="8" name="Picture 7">
            <a:extLst>
              <a:ext uri="{FF2B5EF4-FFF2-40B4-BE49-F238E27FC236}">
                <a16:creationId xmlns:a16="http://schemas.microsoft.com/office/drawing/2014/main" id="{C80E0751-EE7D-E295-CC74-AD5FBA90FC8A}"/>
              </a:ext>
            </a:extLst>
          </p:cNvPr>
          <p:cNvPicPr>
            <a:picLocks noChangeAspect="1"/>
          </p:cNvPicPr>
          <p:nvPr/>
        </p:nvPicPr>
        <p:blipFill rotWithShape="1">
          <a:blip r:embed="rId3"/>
          <a:srcRect l="26675" r="22699"/>
          <a:stretch>
            <a:fillRect/>
          </a:stretch>
        </p:blipFill>
        <p:spPr>
          <a:xfrm>
            <a:off x="12479033" y="3110373"/>
            <a:ext cx="3175070" cy="3424267"/>
          </a:xfrm>
          <a:prstGeom prst="rect">
            <a:avLst/>
          </a:prstGeom>
        </p:spPr>
      </p:pic>
      <p:sp>
        <p:nvSpPr>
          <p:cNvPr id="11" name="Head Fill">
            <a:extLst>
              <a:ext uri="{FF2B5EF4-FFF2-40B4-BE49-F238E27FC236}">
                <a16:creationId xmlns:a16="http://schemas.microsoft.com/office/drawing/2014/main" id="{F0A7934A-E8C1-9D48-BC0D-E8FE616B9B65}"/>
              </a:ext>
            </a:extLst>
          </p:cNvPr>
          <p:cNvSpPr/>
          <p:nvPr/>
        </p:nvSpPr>
        <p:spPr>
          <a:xfrm>
            <a:off x="10871200" y="3327400"/>
            <a:ext cx="508000" cy="508000"/>
          </a:xfrm>
          <a:prstGeom prst="ellipse">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45" name="Picture 7">
            <a:extLst>
              <a:ext uri="{FF2B5EF4-FFF2-40B4-BE49-F238E27FC236}">
                <a16:creationId xmlns:a16="http://schemas.microsoft.com/office/drawing/2014/main" id="{08BB8A67-D25D-30C1-B17B-AE2D3332C740}"/>
              </a:ext>
            </a:extLst>
          </p:cNvPr>
          <p:cNvPicPr>
            <a:picLocks noChangeAspect="1"/>
          </p:cNvPicPr>
          <p:nvPr/>
        </p:nvPicPr>
        <p:blipFill rotWithShape="1">
          <a:blip r:embed="rId3">
            <a:clrChange>
              <a:clrFrom>
                <a:srgbClr val="FFFFFF"/>
              </a:clrFrom>
              <a:clrTo>
                <a:srgbClr val="FFFFFF">
                  <a:alpha val="0"/>
                </a:srgbClr>
              </a:clrTo>
            </a:clrChange>
          </a:blip>
          <a:srcRect l="26675" r="22699"/>
          <a:stretch>
            <a:fillRect/>
          </a:stretch>
        </p:blipFill>
        <p:spPr>
          <a:xfrm>
            <a:off x="9652000" y="3111500"/>
            <a:ext cx="3175070" cy="3424267"/>
          </a:xfrm>
          <a:prstGeom prst="rect">
            <a:avLst/>
          </a:prstGeom>
        </p:spPr>
      </p:pic>
      <p:sp>
        <p:nvSpPr>
          <p:cNvPr id="5" name="TextBox 4">
            <a:extLst>
              <a:ext uri="{FF2B5EF4-FFF2-40B4-BE49-F238E27FC236}">
                <a16:creationId xmlns:a16="http://schemas.microsoft.com/office/drawing/2014/main" id="{FC3CA501-A4F1-F63F-DCD0-327C1B989FF1}"/>
              </a:ext>
            </a:extLst>
          </p:cNvPr>
          <p:cNvSpPr txBox="1"/>
          <p:nvPr/>
        </p:nvSpPr>
        <p:spPr>
          <a:xfrm>
            <a:off x="10985500" y="2387600"/>
            <a:ext cx="1244600" cy="523220"/>
          </a:xfrm>
          <a:prstGeom prst="rect">
            <a:avLst/>
          </a:prstGeom>
          <a:noFill/>
        </p:spPr>
        <p:txBody>
          <a:bodyPr wrap="none" lIns="0" rIns="0" rtlCol="0">
            <a:spAutoFit/>
          </a:bodyPr>
          <a:lstStyle/>
          <a:p>
            <a:pPr algn="ctr"/>
            <a:r>
              <a:rPr lang="en-US" sz="2800" b="1" dirty="0"/>
              <a:t>Childs</a:t>
            </a:r>
          </a:p>
        </p:txBody>
      </p:sp>
    </p:spTree>
    <p:extLst>
      <p:ext uri="{BB962C8B-B14F-4D97-AF65-F5344CB8AC3E}">
        <p14:creationId xmlns:p14="http://schemas.microsoft.com/office/powerpoint/2010/main" val="11674624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0">
        <p159:morph option="byObject"/>
      </p:transition>
    </mc:Choice>
    <mc:Fallback xmlns="">
      <p:transition spd="slow" advClick="0" advTm="0">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2AC80-06B7-0E2E-43E0-D017139B79F6}"/>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CF340349-10FF-D220-EC08-15D33A54AAB1}"/>
              </a:ext>
            </a:extLst>
          </p:cNvPr>
          <p:cNvPicPr>
            <a:picLocks noChangeAspect="1"/>
          </p:cNvPicPr>
          <p:nvPr/>
        </p:nvPicPr>
        <p:blipFill>
          <a:blip r:embed="rId2"/>
          <a:stretch>
            <a:fillRect/>
          </a:stretch>
        </p:blipFill>
        <p:spPr>
          <a:xfrm>
            <a:off x="7709790" y="3670935"/>
            <a:ext cx="3155576" cy="3155576"/>
          </a:xfrm>
          <a:prstGeom prst="rect">
            <a:avLst/>
          </a:prstGeom>
        </p:spPr>
      </p:pic>
      <p:pic>
        <p:nvPicPr>
          <p:cNvPr id="15" name="Picture 14">
            <a:extLst>
              <a:ext uri="{FF2B5EF4-FFF2-40B4-BE49-F238E27FC236}">
                <a16:creationId xmlns:a16="http://schemas.microsoft.com/office/drawing/2014/main" id="{5923E2C9-E481-FA1B-411C-F30D9DCE8CDA}"/>
              </a:ext>
            </a:extLst>
          </p:cNvPr>
          <p:cNvPicPr>
            <a:picLocks noChangeAspect="1"/>
          </p:cNvPicPr>
          <p:nvPr/>
        </p:nvPicPr>
        <p:blipFill rotWithShape="1">
          <a:blip r:embed="rId3"/>
          <a:srcRect l="16636" t="4648" r="24536" b="1010"/>
          <a:stretch>
            <a:fillRect/>
          </a:stretch>
        </p:blipFill>
        <p:spPr>
          <a:xfrm>
            <a:off x="12213719" y="3676818"/>
            <a:ext cx="3155576" cy="3373702"/>
          </a:xfrm>
          <a:prstGeom prst="rect">
            <a:avLst/>
          </a:prstGeom>
        </p:spPr>
      </p:pic>
      <p:sp>
        <p:nvSpPr>
          <p:cNvPr id="17" name="Content Placeholder 2">
            <a:extLst>
              <a:ext uri="{FF2B5EF4-FFF2-40B4-BE49-F238E27FC236}">
                <a16:creationId xmlns:a16="http://schemas.microsoft.com/office/drawing/2014/main" id="{D8E59511-9D54-5E8F-9E98-E38A52865574}"/>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D56E92B-DA0D-E088-D18C-E5302DF2783B}"/>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82DF55E-FE1D-8D1B-0D1D-947F94DF2503}"/>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94EFDC9B-56F4-7143-4C2D-58BE19390401}"/>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8E1A97AA-90A8-7839-F414-194FDB7F886A}"/>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6412D810-1950-E056-5F97-79CA857BE26B}"/>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9EE36186-0C34-6CF5-2218-DFC9EDF8F63A}"/>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8AA09549-B5BC-CBA2-CA5C-13BCF1801517}"/>
              </a:ext>
            </a:extLst>
          </p:cNvPr>
          <p:cNvSpPr txBox="1">
            <a:spLocks/>
          </p:cNvSpPr>
          <p:nvPr/>
        </p:nvSpPr>
        <p:spPr>
          <a:xfrm>
            <a:off x="-12357112" y="1636103"/>
            <a:ext cx="1219200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dirty="0"/>
              <a:t>Historical-Critical Method</a:t>
            </a:r>
          </a:p>
        </p:txBody>
      </p:sp>
      <p:sp>
        <p:nvSpPr>
          <p:cNvPr id="9" name="Rectangle 8">
            <a:extLst>
              <a:ext uri="{FF2B5EF4-FFF2-40B4-BE49-F238E27FC236}">
                <a16:creationId xmlns:a16="http://schemas.microsoft.com/office/drawing/2014/main" id="{A0428F79-3763-693F-E9AF-01D7FB8CAD85}"/>
              </a:ext>
            </a:extLst>
          </p:cNvPr>
          <p:cNvSpPr/>
          <p:nvPr/>
        </p:nvSpPr>
        <p:spPr>
          <a:xfrm>
            <a:off x="-11507482" y="4145489"/>
            <a:ext cx="1049274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52CBB7-2BDF-F51A-3361-DDD50FDBC482}"/>
              </a:ext>
            </a:extLst>
          </p:cNvPr>
          <p:cNvSpPr/>
          <p:nvPr/>
        </p:nvSpPr>
        <p:spPr>
          <a:xfrm rot="16200000">
            <a:off x="-11598339" y="4374830"/>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27FFA9E-A76D-5495-33F7-93D45F546C66}"/>
              </a:ext>
            </a:extLst>
          </p:cNvPr>
          <p:cNvSpPr/>
          <p:nvPr/>
        </p:nvSpPr>
        <p:spPr>
          <a:xfrm rot="16200000">
            <a:off x="-1234974" y="4374828"/>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22" name="Picture 21" descr="Generated image: Stick Figure Presenting an Ancient Scroll">
            <a:extLst>
              <a:ext uri="{FF2B5EF4-FFF2-40B4-BE49-F238E27FC236}">
                <a16:creationId xmlns:a16="http://schemas.microsoft.com/office/drawing/2014/main" id="{BF0411C3-7381-C0CE-3BAF-55F69D0A7374}"/>
              </a:ext>
            </a:extLst>
          </p:cNvPr>
          <p:cNvPicPr>
            <a:picLocks noChangeAspect="1"/>
          </p:cNvPicPr>
          <p:nvPr/>
        </p:nvPicPr>
        <p:blipFill rotWithShape="1">
          <a:blip r:embed="rId4"/>
          <a:srcRect l="36294" t="13897" r="20000" b="34902"/>
          <a:stretch>
            <a:fillRect/>
          </a:stretch>
        </p:blipFill>
        <p:spPr>
          <a:xfrm flipH="1">
            <a:off x="-12651417" y="4440109"/>
            <a:ext cx="2418438" cy="2833173"/>
          </a:xfrm>
          <a:prstGeom prst="rect">
            <a:avLst/>
          </a:prstGeom>
        </p:spPr>
      </p:pic>
      <p:pic>
        <p:nvPicPr>
          <p:cNvPr id="23" name="Picture 22" descr="Generated image: Stick Figure Presenting an Ancient Scroll">
            <a:extLst>
              <a:ext uri="{FF2B5EF4-FFF2-40B4-BE49-F238E27FC236}">
                <a16:creationId xmlns:a16="http://schemas.microsoft.com/office/drawing/2014/main" id="{F6EEB9D9-7688-29C0-CA04-B3FC79CEAB21}"/>
              </a:ext>
            </a:extLst>
          </p:cNvPr>
          <p:cNvPicPr>
            <a:picLocks noChangeAspect="1"/>
          </p:cNvPicPr>
          <p:nvPr/>
        </p:nvPicPr>
        <p:blipFill rotWithShape="1">
          <a:blip r:embed="rId4"/>
          <a:srcRect l="36294" t="13897" r="20000" b="34902"/>
          <a:stretch>
            <a:fillRect/>
          </a:stretch>
        </p:blipFill>
        <p:spPr>
          <a:xfrm flipH="1">
            <a:off x="-2288053" y="4440109"/>
            <a:ext cx="2418439" cy="2833174"/>
          </a:xfrm>
          <a:prstGeom prst="rect">
            <a:avLst/>
          </a:prstGeom>
        </p:spPr>
      </p:pic>
      <p:sp>
        <p:nvSpPr>
          <p:cNvPr id="25" name="TextBox 24">
            <a:extLst>
              <a:ext uri="{FF2B5EF4-FFF2-40B4-BE49-F238E27FC236}">
                <a16:creationId xmlns:a16="http://schemas.microsoft.com/office/drawing/2014/main" id="{21619F11-0403-96C0-B133-20321D14E114}"/>
              </a:ext>
            </a:extLst>
          </p:cNvPr>
          <p:cNvSpPr txBox="1"/>
          <p:nvPr/>
        </p:nvSpPr>
        <p:spPr>
          <a:xfrm>
            <a:off x="-12430105" y="4713809"/>
            <a:ext cx="2197126" cy="369332"/>
          </a:xfrm>
          <a:prstGeom prst="rect">
            <a:avLst/>
          </a:prstGeom>
          <a:noFill/>
        </p:spPr>
        <p:txBody>
          <a:bodyPr wrap="square" rtlCol="0">
            <a:spAutoFit/>
          </a:bodyPr>
          <a:lstStyle/>
          <a:p>
            <a:pPr algn="ctr"/>
            <a:r>
              <a:rPr lang="en-US" b="1" dirty="0"/>
              <a:t>First, Original Form</a:t>
            </a:r>
          </a:p>
        </p:txBody>
      </p:sp>
      <p:sp>
        <p:nvSpPr>
          <p:cNvPr id="26" name="TextBox 25">
            <a:extLst>
              <a:ext uri="{FF2B5EF4-FFF2-40B4-BE49-F238E27FC236}">
                <a16:creationId xmlns:a16="http://schemas.microsoft.com/office/drawing/2014/main" id="{C0754DA8-95DC-C6F9-05AB-ED6228CF25AE}"/>
              </a:ext>
            </a:extLst>
          </p:cNvPr>
          <p:cNvSpPr txBox="1"/>
          <p:nvPr/>
        </p:nvSpPr>
        <p:spPr>
          <a:xfrm>
            <a:off x="-2177397" y="4710600"/>
            <a:ext cx="2197126" cy="369332"/>
          </a:xfrm>
          <a:prstGeom prst="rect">
            <a:avLst/>
          </a:prstGeom>
          <a:noFill/>
        </p:spPr>
        <p:txBody>
          <a:bodyPr wrap="square" rtlCol="0">
            <a:spAutoFit/>
          </a:bodyPr>
          <a:lstStyle/>
          <a:p>
            <a:pPr algn="ctr"/>
            <a:r>
              <a:rPr lang="en-US" b="1" dirty="0"/>
              <a:t>Final Form</a:t>
            </a:r>
          </a:p>
        </p:txBody>
      </p:sp>
      <p:sp>
        <p:nvSpPr>
          <p:cNvPr id="27" name="TextBox 26">
            <a:extLst>
              <a:ext uri="{FF2B5EF4-FFF2-40B4-BE49-F238E27FC236}">
                <a16:creationId xmlns:a16="http://schemas.microsoft.com/office/drawing/2014/main" id="{F62A55C1-7AAA-907E-437D-7915AB4A0371}"/>
              </a:ext>
            </a:extLst>
          </p:cNvPr>
          <p:cNvSpPr txBox="1"/>
          <p:nvPr/>
        </p:nvSpPr>
        <p:spPr>
          <a:xfrm>
            <a:off x="-12395212" y="3671194"/>
            <a:ext cx="2197126" cy="369332"/>
          </a:xfrm>
          <a:prstGeom prst="rect">
            <a:avLst/>
          </a:prstGeom>
          <a:noFill/>
        </p:spPr>
        <p:txBody>
          <a:bodyPr wrap="square" rtlCol="0">
            <a:spAutoFit/>
          </a:bodyPr>
          <a:lstStyle/>
          <a:p>
            <a:pPr algn="ctr"/>
            <a:r>
              <a:rPr lang="en-US" b="1" dirty="0"/>
              <a:t>1</a:t>
            </a:r>
            <a:r>
              <a:rPr lang="en-US" b="1" baseline="30000" dirty="0"/>
              <a:t>st</a:t>
            </a:r>
            <a:r>
              <a:rPr lang="en-US" b="1" dirty="0"/>
              <a:t> century AD</a:t>
            </a:r>
          </a:p>
        </p:txBody>
      </p:sp>
      <p:sp>
        <p:nvSpPr>
          <p:cNvPr id="28" name="TextBox 27">
            <a:extLst>
              <a:ext uri="{FF2B5EF4-FFF2-40B4-BE49-F238E27FC236}">
                <a16:creationId xmlns:a16="http://schemas.microsoft.com/office/drawing/2014/main" id="{0B03E3B3-5A57-7CAA-8A79-E6930F954FC3}"/>
              </a:ext>
            </a:extLst>
          </p:cNvPr>
          <p:cNvSpPr txBox="1"/>
          <p:nvPr/>
        </p:nvSpPr>
        <p:spPr>
          <a:xfrm>
            <a:off x="-2415565" y="3671194"/>
            <a:ext cx="2197126" cy="369332"/>
          </a:xfrm>
          <a:prstGeom prst="rect">
            <a:avLst/>
          </a:prstGeom>
          <a:noFill/>
        </p:spPr>
        <p:txBody>
          <a:bodyPr wrap="square" rtlCol="0">
            <a:spAutoFit/>
          </a:bodyPr>
          <a:lstStyle/>
          <a:p>
            <a:pPr algn="ctr"/>
            <a:r>
              <a:rPr lang="en-US" b="1" dirty="0"/>
              <a:t>4</a:t>
            </a:r>
            <a:r>
              <a:rPr lang="en-US" b="1" baseline="30000" dirty="0"/>
              <a:t>th</a:t>
            </a:r>
            <a:r>
              <a:rPr lang="en-US" b="1" dirty="0"/>
              <a:t> century AD</a:t>
            </a:r>
          </a:p>
        </p:txBody>
      </p:sp>
      <p:sp>
        <p:nvSpPr>
          <p:cNvPr id="31" name="Rectangle 30">
            <a:extLst>
              <a:ext uri="{FF2B5EF4-FFF2-40B4-BE49-F238E27FC236}">
                <a16:creationId xmlns:a16="http://schemas.microsoft.com/office/drawing/2014/main" id="{F12D50AC-A843-9293-853C-6F692DDFE340}"/>
              </a:ext>
            </a:extLst>
          </p:cNvPr>
          <p:cNvSpPr/>
          <p:nvPr/>
        </p:nvSpPr>
        <p:spPr>
          <a:xfrm rot="16200000">
            <a:off x="-8644988" y="437686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C16FA4A-B3CF-CAC5-0CF4-9D1159A5BAEF}"/>
              </a:ext>
            </a:extLst>
          </p:cNvPr>
          <p:cNvSpPr/>
          <p:nvPr/>
        </p:nvSpPr>
        <p:spPr>
          <a:xfrm rot="16200000">
            <a:off x="-6926678" y="436924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632384CF-052A-EC87-A201-76E097D0EE17}"/>
              </a:ext>
            </a:extLst>
          </p:cNvPr>
          <p:cNvSpPr txBox="1"/>
          <p:nvPr/>
        </p:nvSpPr>
        <p:spPr>
          <a:xfrm>
            <a:off x="-9587410" y="4637841"/>
            <a:ext cx="2197126" cy="369332"/>
          </a:xfrm>
          <a:prstGeom prst="rect">
            <a:avLst/>
          </a:prstGeom>
          <a:noFill/>
        </p:spPr>
        <p:txBody>
          <a:bodyPr wrap="square" rtlCol="0">
            <a:spAutoFit/>
          </a:bodyPr>
          <a:lstStyle/>
          <a:p>
            <a:pPr algn="ctr"/>
            <a:r>
              <a:rPr lang="en-US" b="1" dirty="0"/>
              <a:t>Edited</a:t>
            </a:r>
          </a:p>
        </p:txBody>
      </p:sp>
      <p:sp>
        <p:nvSpPr>
          <p:cNvPr id="35" name="TextBox 34">
            <a:extLst>
              <a:ext uri="{FF2B5EF4-FFF2-40B4-BE49-F238E27FC236}">
                <a16:creationId xmlns:a16="http://schemas.microsoft.com/office/drawing/2014/main" id="{57F4FB4A-C6D1-865E-028A-E88A719A91C7}"/>
              </a:ext>
            </a:extLst>
          </p:cNvPr>
          <p:cNvSpPr txBox="1"/>
          <p:nvPr/>
        </p:nvSpPr>
        <p:spPr>
          <a:xfrm>
            <a:off x="-7869100" y="4637841"/>
            <a:ext cx="2197126" cy="369332"/>
          </a:xfrm>
          <a:prstGeom prst="rect">
            <a:avLst/>
          </a:prstGeom>
          <a:noFill/>
        </p:spPr>
        <p:txBody>
          <a:bodyPr wrap="square" rtlCol="0">
            <a:spAutoFit/>
          </a:bodyPr>
          <a:lstStyle/>
          <a:p>
            <a:pPr algn="ctr"/>
            <a:r>
              <a:rPr lang="en-US" b="1" dirty="0"/>
              <a:t>Revised</a:t>
            </a:r>
          </a:p>
        </p:txBody>
      </p:sp>
      <p:sp>
        <p:nvSpPr>
          <p:cNvPr id="36" name="Rectangle 35">
            <a:extLst>
              <a:ext uri="{FF2B5EF4-FFF2-40B4-BE49-F238E27FC236}">
                <a16:creationId xmlns:a16="http://schemas.microsoft.com/office/drawing/2014/main" id="{71806F88-5968-5C80-B32D-ED150C769336}"/>
              </a:ext>
            </a:extLst>
          </p:cNvPr>
          <p:cNvSpPr/>
          <p:nvPr/>
        </p:nvSpPr>
        <p:spPr>
          <a:xfrm rot="16200000">
            <a:off x="-5802728" y="4373051"/>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EA325584-B9D5-79E2-1260-03CC5A592C6F}"/>
              </a:ext>
            </a:extLst>
          </p:cNvPr>
          <p:cNvSpPr txBox="1"/>
          <p:nvPr/>
        </p:nvSpPr>
        <p:spPr>
          <a:xfrm>
            <a:off x="-6770537" y="4643982"/>
            <a:ext cx="2197126" cy="369332"/>
          </a:xfrm>
          <a:prstGeom prst="rect">
            <a:avLst/>
          </a:prstGeom>
          <a:noFill/>
        </p:spPr>
        <p:txBody>
          <a:bodyPr wrap="square" rtlCol="0">
            <a:spAutoFit/>
          </a:bodyPr>
          <a:lstStyle/>
          <a:p>
            <a:pPr algn="ctr"/>
            <a:r>
              <a:rPr lang="en-US" b="1" dirty="0"/>
              <a:t>Changed</a:t>
            </a:r>
          </a:p>
        </p:txBody>
      </p:sp>
      <p:sp>
        <p:nvSpPr>
          <p:cNvPr id="39" name="Rectangle 38">
            <a:extLst>
              <a:ext uri="{FF2B5EF4-FFF2-40B4-BE49-F238E27FC236}">
                <a16:creationId xmlns:a16="http://schemas.microsoft.com/office/drawing/2014/main" id="{66776D45-1E01-8E87-E40B-046785C8ED43}"/>
              </a:ext>
            </a:extLst>
          </p:cNvPr>
          <p:cNvSpPr/>
          <p:nvPr/>
        </p:nvSpPr>
        <p:spPr>
          <a:xfrm rot="16200000">
            <a:off x="-4462458" y="4376864"/>
            <a:ext cx="312282" cy="130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F6DFC63-95CD-26E4-6A60-B284F2A9C648}"/>
              </a:ext>
            </a:extLst>
          </p:cNvPr>
          <p:cNvSpPr txBox="1"/>
          <p:nvPr/>
        </p:nvSpPr>
        <p:spPr>
          <a:xfrm>
            <a:off x="-5404880" y="4603978"/>
            <a:ext cx="2197126" cy="369332"/>
          </a:xfrm>
          <a:prstGeom prst="rect">
            <a:avLst/>
          </a:prstGeom>
          <a:noFill/>
        </p:spPr>
        <p:txBody>
          <a:bodyPr wrap="square" rtlCol="0">
            <a:spAutoFit/>
          </a:bodyPr>
          <a:lstStyle/>
          <a:p>
            <a:pPr algn="ctr"/>
            <a:r>
              <a:rPr lang="en-US" b="1" dirty="0"/>
              <a:t>Edited</a:t>
            </a:r>
          </a:p>
        </p:txBody>
      </p:sp>
      <p:sp>
        <p:nvSpPr>
          <p:cNvPr id="44" name="Circular Arrow 43">
            <a:extLst>
              <a:ext uri="{FF2B5EF4-FFF2-40B4-BE49-F238E27FC236}">
                <a16:creationId xmlns:a16="http://schemas.microsoft.com/office/drawing/2014/main" id="{11358D9D-C971-8ED1-D557-0147FD12605E}"/>
              </a:ext>
            </a:extLst>
          </p:cNvPr>
          <p:cNvSpPr/>
          <p:nvPr/>
        </p:nvSpPr>
        <p:spPr>
          <a:xfrm>
            <a:off x="-11125212" y="2438400"/>
            <a:ext cx="9875520" cy="1181100"/>
          </a:xfrm>
          <a:custGeom>
            <a:avLst/>
            <a:gdLst/>
            <a:ahLst/>
            <a:cxnLst/>
            <a:rect l="0" t="0" r="r" b="b"/>
            <a:pathLst>
              <a:path w="9715500" h="1270000" fill="none">
                <a:moveTo>
                  <a:pt x="9715500" y="1270000"/>
                </a:moveTo>
                <a:cubicBezTo>
                  <a:pt x="8743950" y="-423333"/>
                  <a:pt x="971550" y="-423333"/>
                  <a:pt x="0" y="1270000"/>
                </a:cubicBezTo>
              </a:path>
            </a:pathLst>
          </a:custGeom>
          <a:noFill/>
          <a:ln w="101600" cap="rnd" cmpd="sng" algn="ctr">
            <a:solidFill>
              <a:srgbClr val="000000"/>
            </a:solidFill>
            <a:prstDash val="solid"/>
            <a:round/>
            <a:tailEnd type="triangle"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 name="TextBox 3">
            <a:extLst>
              <a:ext uri="{FF2B5EF4-FFF2-40B4-BE49-F238E27FC236}">
                <a16:creationId xmlns:a16="http://schemas.microsoft.com/office/drawing/2014/main" id="{278E2E1A-BBB9-3FF6-07A6-5D69E5AA4E83}"/>
              </a:ext>
            </a:extLst>
          </p:cNvPr>
          <p:cNvSpPr txBox="1"/>
          <p:nvPr/>
        </p:nvSpPr>
        <p:spPr>
          <a:xfrm>
            <a:off x="-9955067" y="2908509"/>
            <a:ext cx="7387909" cy="1077218"/>
          </a:xfrm>
          <a:prstGeom prst="rect">
            <a:avLst/>
          </a:prstGeom>
          <a:noFill/>
        </p:spPr>
        <p:txBody>
          <a:bodyPr wrap="square" rtlCol="0">
            <a:spAutoFit/>
          </a:bodyPr>
          <a:lstStyle/>
          <a:p>
            <a:pPr algn="ctr"/>
            <a:r>
              <a:rPr lang="en-US" sz="3200" b="1" dirty="0"/>
              <a:t>“We want to figure out this!”</a:t>
            </a:r>
            <a:br>
              <a:rPr lang="en-US" sz="3200" b="1" dirty="0"/>
            </a:br>
            <a:r>
              <a:rPr lang="en-US" sz="3200" b="1" dirty="0"/>
              <a:t>“What is the </a:t>
            </a:r>
            <a:r>
              <a:rPr lang="en-US" sz="3200" b="1" i="1" dirty="0"/>
              <a:t>earliest</a:t>
            </a:r>
            <a:r>
              <a:rPr lang="en-US" sz="3200" b="1" dirty="0"/>
              <a:t> layer of the text?”</a:t>
            </a:r>
          </a:p>
        </p:txBody>
      </p:sp>
      <p:sp>
        <p:nvSpPr>
          <p:cNvPr id="11" name="Head Fill">
            <a:extLst>
              <a:ext uri="{FF2B5EF4-FFF2-40B4-BE49-F238E27FC236}">
                <a16:creationId xmlns:a16="http://schemas.microsoft.com/office/drawing/2014/main" id="{5A047F8B-C37C-9941-9149-A12BD75DA6B6}"/>
              </a:ext>
            </a:extLst>
          </p:cNvPr>
          <p:cNvSpPr/>
          <p:nvPr/>
        </p:nvSpPr>
        <p:spPr>
          <a:xfrm>
            <a:off x="1303021" y="3326273"/>
            <a:ext cx="508000" cy="508000"/>
          </a:xfrm>
          <a:prstGeom prst="ellipse">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Picture 7">
            <a:extLst>
              <a:ext uri="{FF2B5EF4-FFF2-40B4-BE49-F238E27FC236}">
                <a16:creationId xmlns:a16="http://schemas.microsoft.com/office/drawing/2014/main" id="{08BB8A67-D25D-30C1-B17B-AE2D3332C740}"/>
              </a:ext>
            </a:extLst>
          </p:cNvPr>
          <p:cNvPicPr>
            <a:picLocks noChangeAspect="1"/>
          </p:cNvPicPr>
          <p:nvPr/>
        </p:nvPicPr>
        <p:blipFill rotWithShape="1">
          <a:blip r:embed="rId5">
            <a:clrChange>
              <a:clrFrom>
                <a:srgbClr val="FFFFFF"/>
              </a:clrFrom>
              <a:clrTo>
                <a:srgbClr val="FFFFFF">
                  <a:alpha val="0"/>
                </a:srgbClr>
              </a:clrTo>
            </a:clrChange>
          </a:blip>
          <a:srcRect l="26675" r="22699"/>
          <a:stretch>
            <a:fillRect/>
          </a:stretch>
        </p:blipFill>
        <p:spPr>
          <a:xfrm>
            <a:off x="-82435" y="3110373"/>
            <a:ext cx="3175070" cy="3424267"/>
          </a:xfrm>
          <a:prstGeom prst="rect">
            <a:avLst/>
          </a:prstGeom>
        </p:spPr>
      </p:pic>
      <p:sp>
        <p:nvSpPr>
          <p:cNvPr id="5" name="TextBox 4">
            <a:extLst>
              <a:ext uri="{FF2B5EF4-FFF2-40B4-BE49-F238E27FC236}">
                <a16:creationId xmlns:a16="http://schemas.microsoft.com/office/drawing/2014/main" id="{FC3CA501-A4F1-F63F-DCD0-327C1B989FF1}"/>
              </a:ext>
            </a:extLst>
          </p:cNvPr>
          <p:cNvSpPr txBox="1"/>
          <p:nvPr/>
        </p:nvSpPr>
        <p:spPr>
          <a:xfrm>
            <a:off x="1256144" y="2387600"/>
            <a:ext cx="1244600" cy="523220"/>
          </a:xfrm>
          <a:prstGeom prst="rect">
            <a:avLst/>
          </a:prstGeom>
          <a:noFill/>
        </p:spPr>
        <p:txBody>
          <a:bodyPr wrap="none" lIns="0" rIns="0" rtlCol="0">
            <a:spAutoFit/>
          </a:bodyPr>
          <a:lstStyle/>
          <a:p>
            <a:pPr algn="ctr"/>
            <a:r>
              <a:rPr lang="en-US" sz="2800" b="1" dirty="0"/>
              <a:t>Childs</a:t>
            </a:r>
          </a:p>
        </p:txBody>
      </p:sp>
      <p:pic>
        <p:nvPicPr>
          <p:cNvPr id="13" name="Picture 12">
            <a:extLst>
              <a:ext uri="{FF2B5EF4-FFF2-40B4-BE49-F238E27FC236}">
                <a16:creationId xmlns:a16="http://schemas.microsoft.com/office/drawing/2014/main" id="{40AAE789-7819-8AF4-BDB0-C48014DF5A44}"/>
              </a:ext>
            </a:extLst>
          </p:cNvPr>
          <p:cNvPicPr>
            <a:picLocks noChangeAspect="1"/>
          </p:cNvPicPr>
          <p:nvPr/>
        </p:nvPicPr>
        <p:blipFill rotWithShape="1">
          <a:blip r:embed="rId6"/>
          <a:srcRect l="27574" r="41106"/>
          <a:stretch>
            <a:fillRect/>
          </a:stretch>
        </p:blipFill>
        <p:spPr>
          <a:xfrm>
            <a:off x="382537" y="3224404"/>
            <a:ext cx="1898907" cy="3310236"/>
          </a:xfrm>
          <a:prstGeom prst="rect">
            <a:avLst/>
          </a:prstGeom>
        </p:spPr>
      </p:pic>
      <p:sp>
        <p:nvSpPr>
          <p:cNvPr id="45" name="Mini Rectangle 8"/>
          <p:cNvSpPr/>
          <p:nvPr/>
        </p:nvSpPr>
        <p:spPr>
          <a:xfrm>
            <a:off x="4190154" y="3006986"/>
            <a:ext cx="6925208"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Mini Rectangle 9"/>
          <p:cNvSpPr/>
          <p:nvPr/>
        </p:nvSpPr>
        <p:spPr>
          <a:xfrm rot="16200000">
            <a:off x="4150049" y="3183078"/>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7" name="Mini Rectangle 17"/>
          <p:cNvSpPr/>
          <p:nvPr/>
        </p:nvSpPr>
        <p:spPr>
          <a:xfrm rot="16200000">
            <a:off x="10905584" y="31778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8" name="Mini Rectangle 30"/>
          <p:cNvSpPr/>
          <p:nvPr/>
        </p:nvSpPr>
        <p:spPr>
          <a:xfrm rot="16200000">
            <a:off x="5891285"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9" name="Mini Rectangle 32"/>
          <p:cNvSpPr/>
          <p:nvPr/>
        </p:nvSpPr>
        <p:spPr>
          <a:xfrm rot="16200000">
            <a:off x="7001620"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0" name="Mini Rectangle 35"/>
          <p:cNvSpPr/>
          <p:nvPr/>
        </p:nvSpPr>
        <p:spPr>
          <a:xfrm rot="16200000">
            <a:off x="8254065"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1" name="Mini Rectangle 38"/>
          <p:cNvSpPr/>
          <p:nvPr/>
        </p:nvSpPr>
        <p:spPr>
          <a:xfrm rot="16200000">
            <a:off x="9227710" y="3121025"/>
            <a:ext cx="249826" cy="16973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2" name="Mini TextBox 24"/>
          <p:cNvSpPr txBox="1"/>
          <p:nvPr/>
        </p:nvSpPr>
        <p:spPr>
          <a:xfrm>
            <a:off x="3054241" y="3389406"/>
            <a:ext cx="2411302" cy="400110"/>
          </a:xfrm>
          <a:prstGeom prst="rect">
            <a:avLst/>
          </a:prstGeom>
          <a:noFill/>
        </p:spPr>
        <p:txBody>
          <a:bodyPr wrap="none" rtlCol="0">
            <a:spAutoFit/>
          </a:bodyPr>
          <a:lstStyle/>
          <a:p>
            <a:pPr algn="ctr"/>
            <a:r>
              <a:rPr lang="en-US" sz="2000" b="1" dirty="0"/>
              <a:t>First, Original Form</a:t>
            </a:r>
          </a:p>
        </p:txBody>
      </p:sp>
      <p:sp>
        <p:nvSpPr>
          <p:cNvPr id="53" name="Mini TextBox 25"/>
          <p:cNvSpPr txBox="1"/>
          <p:nvPr/>
        </p:nvSpPr>
        <p:spPr>
          <a:xfrm>
            <a:off x="10320389" y="3429000"/>
            <a:ext cx="1414040" cy="400110"/>
          </a:xfrm>
          <a:prstGeom prst="rect">
            <a:avLst/>
          </a:prstGeom>
          <a:noFill/>
        </p:spPr>
        <p:txBody>
          <a:bodyPr wrap="none" rtlCol="0">
            <a:spAutoFit/>
          </a:bodyPr>
          <a:lstStyle/>
          <a:p>
            <a:pPr algn="ctr"/>
            <a:r>
              <a:rPr lang="en-US" sz="2000" b="1" dirty="0"/>
              <a:t>Final Form</a:t>
            </a:r>
          </a:p>
        </p:txBody>
      </p:sp>
      <p:sp>
        <p:nvSpPr>
          <p:cNvPr id="54" name="Mini TextBox 26"/>
          <p:cNvSpPr txBox="1"/>
          <p:nvPr/>
        </p:nvSpPr>
        <p:spPr>
          <a:xfrm>
            <a:off x="3422998" y="2578100"/>
            <a:ext cx="1812611" cy="400110"/>
          </a:xfrm>
          <a:prstGeom prst="rect">
            <a:avLst/>
          </a:prstGeom>
          <a:noFill/>
        </p:spPr>
        <p:txBody>
          <a:bodyPr wrap="none" rtlCol="0">
            <a:spAutoFit/>
          </a:bodyPr>
          <a:lstStyle/>
          <a:p>
            <a:pPr algn="ctr"/>
            <a:r>
              <a:rPr lang="en-US" sz="2000" b="1" dirty="0"/>
              <a:t>1</a:t>
            </a:r>
            <a:r>
              <a:rPr lang="en-US" sz="2000" b="1" baseline="30000" dirty="0"/>
              <a:t>st</a:t>
            </a:r>
            <a:r>
              <a:rPr lang="en-US" sz="2000" b="1" dirty="0"/>
              <a:t> century AD</a:t>
            </a:r>
          </a:p>
        </p:txBody>
      </p:sp>
      <p:sp>
        <p:nvSpPr>
          <p:cNvPr id="55" name="Mini TextBox 27"/>
          <p:cNvSpPr txBox="1"/>
          <p:nvPr/>
        </p:nvSpPr>
        <p:spPr>
          <a:xfrm>
            <a:off x="10003249" y="2578100"/>
            <a:ext cx="1825243" cy="400110"/>
          </a:xfrm>
          <a:prstGeom prst="rect">
            <a:avLst/>
          </a:prstGeom>
          <a:noFill/>
        </p:spPr>
        <p:txBody>
          <a:bodyPr wrap="none" rtlCol="0">
            <a:spAutoFit/>
          </a:bodyPr>
          <a:lstStyle/>
          <a:p>
            <a:pPr algn="ctr"/>
            <a:r>
              <a:rPr lang="en-US" sz="2000" b="1" dirty="0"/>
              <a:t>4</a:t>
            </a:r>
            <a:r>
              <a:rPr lang="en-US" sz="2000" b="1" baseline="30000" dirty="0"/>
              <a:t>th</a:t>
            </a:r>
            <a:r>
              <a:rPr lang="en-US" sz="2000" b="1" dirty="0"/>
              <a:t> century AD</a:t>
            </a:r>
          </a:p>
        </p:txBody>
      </p:sp>
      <p:sp>
        <p:nvSpPr>
          <p:cNvPr id="56" name="Mini TextBox 33"/>
          <p:cNvSpPr txBox="1"/>
          <p:nvPr/>
        </p:nvSpPr>
        <p:spPr>
          <a:xfrm>
            <a:off x="5546430" y="3419445"/>
            <a:ext cx="935192" cy="400110"/>
          </a:xfrm>
          <a:prstGeom prst="rect">
            <a:avLst/>
          </a:prstGeom>
          <a:noFill/>
        </p:spPr>
        <p:txBody>
          <a:bodyPr wrap="none" rtlCol="0">
            <a:spAutoFit/>
          </a:bodyPr>
          <a:lstStyle/>
          <a:p>
            <a:pPr algn="ctr"/>
            <a:r>
              <a:rPr lang="en-US" sz="2000" b="1" dirty="0"/>
              <a:t>Edited</a:t>
            </a:r>
          </a:p>
        </p:txBody>
      </p:sp>
      <p:sp>
        <p:nvSpPr>
          <p:cNvPr id="57" name="Mini TextBox 34"/>
          <p:cNvSpPr txBox="1"/>
          <p:nvPr/>
        </p:nvSpPr>
        <p:spPr>
          <a:xfrm>
            <a:off x="6552590" y="3404795"/>
            <a:ext cx="1110304" cy="400110"/>
          </a:xfrm>
          <a:prstGeom prst="rect">
            <a:avLst/>
          </a:prstGeom>
          <a:noFill/>
        </p:spPr>
        <p:txBody>
          <a:bodyPr wrap="none" rtlCol="0">
            <a:spAutoFit/>
          </a:bodyPr>
          <a:lstStyle/>
          <a:p>
            <a:pPr algn="ctr"/>
            <a:r>
              <a:rPr lang="en-US" sz="2000" b="1" dirty="0"/>
              <a:t>Revised</a:t>
            </a:r>
          </a:p>
        </p:txBody>
      </p:sp>
      <p:sp>
        <p:nvSpPr>
          <p:cNvPr id="58" name="Mini TextBox 36"/>
          <p:cNvSpPr txBox="1"/>
          <p:nvPr/>
        </p:nvSpPr>
        <p:spPr>
          <a:xfrm>
            <a:off x="7704196" y="3389406"/>
            <a:ext cx="1226682" cy="400110"/>
          </a:xfrm>
          <a:prstGeom prst="rect">
            <a:avLst/>
          </a:prstGeom>
          <a:noFill/>
        </p:spPr>
        <p:txBody>
          <a:bodyPr wrap="none" rtlCol="0">
            <a:spAutoFit/>
          </a:bodyPr>
          <a:lstStyle/>
          <a:p>
            <a:pPr algn="ctr"/>
            <a:r>
              <a:rPr lang="en-US" sz="2000" b="1" dirty="0"/>
              <a:t>Changed</a:t>
            </a:r>
          </a:p>
        </p:txBody>
      </p:sp>
      <p:sp>
        <p:nvSpPr>
          <p:cNvPr id="59" name="Mini TextBox 39"/>
          <p:cNvSpPr txBox="1"/>
          <p:nvPr/>
        </p:nvSpPr>
        <p:spPr>
          <a:xfrm>
            <a:off x="8889109" y="3419445"/>
            <a:ext cx="935191" cy="400110"/>
          </a:xfrm>
          <a:prstGeom prst="rect">
            <a:avLst/>
          </a:prstGeom>
          <a:noFill/>
        </p:spPr>
        <p:txBody>
          <a:bodyPr wrap="none" rtlCol="0">
            <a:spAutoFit/>
          </a:bodyPr>
          <a:lstStyle/>
          <a:p>
            <a:pPr algn="ctr"/>
            <a:r>
              <a:rPr lang="en-US" sz="2000" b="1" dirty="0"/>
              <a:t>Edited</a:t>
            </a:r>
          </a:p>
        </p:txBody>
      </p:sp>
      <p:pic>
        <p:nvPicPr>
          <p:cNvPr id="60" name="Mini Picture 21" descr="Generated image: Stick Figure Presenting an Ancient Scroll"/>
          <p:cNvPicPr>
            <a:picLocks noChangeAspect="1"/>
          </p:cNvPicPr>
          <p:nvPr/>
        </p:nvPicPr>
        <p:blipFill rotWithShape="1">
          <a:blip r:embed="rId4"/>
          <a:srcRect l="36294" t="13897" r="20000" b="34902"/>
          <a:stretch>
            <a:fillRect/>
          </a:stretch>
        </p:blipFill>
        <p:spPr>
          <a:xfrm flipH="1">
            <a:off x="3117762" y="3162300"/>
            <a:ext cx="2224963" cy="2606519"/>
          </a:xfrm>
          <a:prstGeom prst="rect">
            <a:avLst/>
          </a:prstGeom>
        </p:spPr>
      </p:pic>
      <p:pic>
        <p:nvPicPr>
          <p:cNvPr id="61" name="Mini Picture 22" descr="Generated image: Stick Figure Presenting an Ancient Scroll"/>
          <p:cNvPicPr>
            <a:picLocks noChangeAspect="1"/>
          </p:cNvPicPr>
          <p:nvPr/>
        </p:nvPicPr>
        <p:blipFill rotWithShape="1">
          <a:blip r:embed="rId4"/>
          <a:srcRect l="36294" t="13897" r="20000" b="34902"/>
          <a:stretch>
            <a:fillRect/>
          </a:stretch>
        </p:blipFill>
        <p:spPr>
          <a:xfrm flipH="1">
            <a:off x="9889612" y="3162300"/>
            <a:ext cx="2224964" cy="2606520"/>
          </a:xfrm>
          <a:prstGeom prst="rect">
            <a:avLst/>
          </a:prstGeom>
        </p:spPr>
      </p:pic>
      <p:sp>
        <p:nvSpPr>
          <p:cNvPr id="12" name="Donut 11">
            <a:extLst>
              <a:ext uri="{FF2B5EF4-FFF2-40B4-BE49-F238E27FC236}">
                <a16:creationId xmlns:a16="http://schemas.microsoft.com/office/drawing/2014/main" id="{988E32C0-1356-C250-BCA4-C14D9B23374E}"/>
              </a:ext>
            </a:extLst>
          </p:cNvPr>
          <p:cNvSpPr/>
          <p:nvPr/>
        </p:nvSpPr>
        <p:spPr>
          <a:xfrm>
            <a:off x="9734791" y="1947333"/>
            <a:ext cx="2379785" cy="3892102"/>
          </a:xfrm>
          <a:prstGeom prst="donut">
            <a:avLst>
              <a:gd name="adj" fmla="val 3238"/>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Oval Callout 15">
            <a:extLst>
              <a:ext uri="{FF2B5EF4-FFF2-40B4-BE49-F238E27FC236}">
                <a16:creationId xmlns:a16="http://schemas.microsoft.com/office/drawing/2014/main" id="{9C932712-7760-4704-4E4E-0DDECCFDA42B}"/>
              </a:ext>
            </a:extLst>
          </p:cNvPr>
          <p:cNvSpPr/>
          <p:nvPr/>
        </p:nvSpPr>
        <p:spPr>
          <a:xfrm>
            <a:off x="957101" y="117478"/>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“This is the form we want! We don’t need to look for the ‘first form’”</a:t>
            </a:r>
          </a:p>
        </p:txBody>
      </p:sp>
      <p:sp>
        <p:nvSpPr>
          <p:cNvPr id="24" name="Oval Callout 23">
            <a:extLst>
              <a:ext uri="{FF2B5EF4-FFF2-40B4-BE49-F238E27FC236}">
                <a16:creationId xmlns:a16="http://schemas.microsoft.com/office/drawing/2014/main" id="{13577845-9864-2112-143F-7E91A587D77A}"/>
              </a:ext>
            </a:extLst>
          </p:cNvPr>
          <p:cNvSpPr/>
          <p:nvPr/>
        </p:nvSpPr>
        <p:spPr>
          <a:xfrm>
            <a:off x="3509612" y="4973310"/>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“Okay but wait, what about…”</a:t>
            </a:r>
          </a:p>
        </p:txBody>
      </p:sp>
      <p:sp>
        <p:nvSpPr>
          <p:cNvPr id="62" name="Pointer Edited (1)"/>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766865" y="818196"/>
                </a:lnTo>
                <a:moveTo>
                  <a:pt x="1574800" y="1041400"/>
                </a:moveTo>
                <a:lnTo>
                  <a:pt x="1993900" y="1778000"/>
                </a:lnTo>
              </a:path>
            </a:pathLst>
          </a:custGeom>
          <a:solidFill>
            <a:srgbClr val="FFFFFF"/>
          </a:solidFill>
          <a:ln w="88900" cap="rnd">
            <a:solidFill>
              <a:srgbClr val="000000"/>
            </a:solidFill>
            <a:round/>
          </a:ln>
        </p:spPr>
        <p:txBody>
          <a:bodyPr/>
          <a:lstStyle/>
          <a:p>
            <a:endParaRPr lang="en-US"/>
          </a:p>
        </p:txBody>
      </p:sp>
      <p:sp>
        <p:nvSpPr>
          <p:cNvPr id="63" name="Gold Circle Edited (1)"/>
          <p:cNvSpPr/>
          <p:nvPr/>
        </p:nvSpPr>
        <p:spPr>
          <a:xfrm>
            <a:off x="5397500" y="3327400"/>
            <a:ext cx="12446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ointer Revised"/>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800344" y="720780"/>
                </a:lnTo>
                <a:moveTo>
                  <a:pt x="1574800" y="1041400"/>
                </a:moveTo>
                <a:lnTo>
                  <a:pt x="1993900" y="1778000"/>
                </a:lnTo>
              </a:path>
            </a:pathLst>
          </a:custGeom>
          <a:solidFill>
            <a:srgbClr val="FFFFFF"/>
          </a:solidFill>
          <a:ln w="88900" cap="rnd">
            <a:solidFill>
              <a:srgbClr val="000000"/>
            </a:solidFill>
            <a:round/>
          </a:ln>
        </p:spPr>
        <p:txBody>
          <a:bodyPr/>
          <a:lstStyle/>
          <a:p>
            <a:endParaRPr lang="en-US"/>
          </a:p>
        </p:txBody>
      </p:sp>
      <p:sp>
        <p:nvSpPr>
          <p:cNvPr id="65" name="Gold Circle Revised"/>
          <p:cNvSpPr/>
          <p:nvPr/>
        </p:nvSpPr>
        <p:spPr>
          <a:xfrm>
            <a:off x="6400800" y="3327400"/>
            <a:ext cx="14097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Pointer Changed"/>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964185" y="467180"/>
                </a:lnTo>
                <a:moveTo>
                  <a:pt x="1574800" y="1041400"/>
                </a:moveTo>
                <a:lnTo>
                  <a:pt x="1993900" y="1778000"/>
                </a:lnTo>
              </a:path>
            </a:pathLst>
          </a:custGeom>
          <a:solidFill>
            <a:srgbClr val="FFFFFF"/>
          </a:solidFill>
          <a:ln w="88900" cap="rnd">
            <a:solidFill>
              <a:srgbClr val="000000"/>
            </a:solidFill>
            <a:round/>
          </a:ln>
        </p:spPr>
        <p:txBody>
          <a:bodyPr/>
          <a:lstStyle/>
          <a:p>
            <a:endParaRPr lang="en-US"/>
          </a:p>
        </p:txBody>
      </p:sp>
      <p:sp>
        <p:nvSpPr>
          <p:cNvPr id="67" name="Gold Circle Changed"/>
          <p:cNvSpPr/>
          <p:nvPr/>
        </p:nvSpPr>
        <p:spPr>
          <a:xfrm>
            <a:off x="7556500" y="3327400"/>
            <a:ext cx="15367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Pointer Edited (2)"/>
          <p:cNvSpPr/>
          <p:nvPr/>
        </p:nvSpPr>
        <p:spPr>
          <a:xfrm>
            <a:off x="7708900" y="3670300"/>
            <a:ext cx="3149600" cy="3149600"/>
          </a:xfrm>
          <a:custGeom>
            <a:avLst/>
            <a:gdLst/>
            <a:ahLst/>
            <a:cxnLst/>
            <a:rect l="0" t="0" r="r" b="b"/>
            <a:pathLst>
              <a:path w="3149600" h="3149600">
                <a:moveTo>
                  <a:pt x="1917700" y="571500"/>
                </a:moveTo>
                <a:arcTo wR="342900" hR="342900" stAng="0" swAng="21600000"/>
                <a:close/>
              </a:path>
              <a:path w="3149600" h="3149600" fill="none">
                <a:moveTo>
                  <a:pt x="1574800" y="914400"/>
                </a:moveTo>
                <a:lnTo>
                  <a:pt x="1574800" y="1905000"/>
                </a:lnTo>
                <a:moveTo>
                  <a:pt x="1270000" y="2946400"/>
                </a:moveTo>
                <a:lnTo>
                  <a:pt x="1574800" y="1905000"/>
                </a:lnTo>
                <a:lnTo>
                  <a:pt x="1905000" y="2946400"/>
                </a:lnTo>
                <a:moveTo>
                  <a:pt x="1574800" y="1041400"/>
                </a:moveTo>
                <a:lnTo>
                  <a:pt x="2235200" y="381000"/>
                </a:lnTo>
                <a:moveTo>
                  <a:pt x="1574800" y="1041400"/>
                </a:moveTo>
                <a:lnTo>
                  <a:pt x="1168400" y="1778000"/>
                </a:lnTo>
              </a:path>
            </a:pathLst>
          </a:custGeom>
          <a:solidFill>
            <a:srgbClr val="FFFFFF"/>
          </a:solidFill>
          <a:ln w="88900" cap="rnd">
            <a:solidFill>
              <a:srgbClr val="000000"/>
            </a:solidFill>
            <a:round/>
          </a:ln>
        </p:spPr>
        <p:txBody>
          <a:bodyPr/>
          <a:lstStyle/>
          <a:p>
            <a:endParaRPr lang="en-US"/>
          </a:p>
        </p:txBody>
      </p:sp>
      <p:sp>
        <p:nvSpPr>
          <p:cNvPr id="69" name="Gold Circle Edited (2)"/>
          <p:cNvSpPr/>
          <p:nvPr/>
        </p:nvSpPr>
        <p:spPr>
          <a:xfrm>
            <a:off x="8801100" y="3327400"/>
            <a:ext cx="1244600" cy="584200"/>
          </a:xfrm>
          <a:prstGeom prst="donut">
            <a:avLst>
              <a:gd name="adj" fmla="val 13043"/>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Callout 28">
            <a:extLst>
              <a:ext uri="{FF2B5EF4-FFF2-40B4-BE49-F238E27FC236}">
                <a16:creationId xmlns:a16="http://schemas.microsoft.com/office/drawing/2014/main" id="{C1CD7F24-5EDB-491B-632A-D1126805B43C}"/>
              </a:ext>
            </a:extLst>
          </p:cNvPr>
          <p:cNvSpPr/>
          <p:nvPr/>
        </p:nvSpPr>
        <p:spPr>
          <a:xfrm>
            <a:off x="3513202" y="4976615"/>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“All the edits?”</a:t>
            </a:r>
          </a:p>
        </p:txBody>
      </p:sp>
      <p:sp>
        <p:nvSpPr>
          <p:cNvPr id="32" name="Oval Callout 31">
            <a:extLst>
              <a:ext uri="{FF2B5EF4-FFF2-40B4-BE49-F238E27FC236}">
                <a16:creationId xmlns:a16="http://schemas.microsoft.com/office/drawing/2014/main" id="{19B973AD-49CC-BF8C-3B60-5C128CFDB555}"/>
              </a:ext>
            </a:extLst>
          </p:cNvPr>
          <p:cNvSpPr/>
          <p:nvPr/>
        </p:nvSpPr>
        <p:spPr>
          <a:xfrm>
            <a:off x="959623" y="119436"/>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“They are inspired edits!”</a:t>
            </a:r>
          </a:p>
        </p:txBody>
      </p:sp>
      <p:sp>
        <p:nvSpPr>
          <p:cNvPr id="38" name="Oval Callout 37">
            <a:extLst>
              <a:ext uri="{FF2B5EF4-FFF2-40B4-BE49-F238E27FC236}">
                <a16:creationId xmlns:a16="http://schemas.microsoft.com/office/drawing/2014/main" id="{923B749E-4E1E-3E8F-299C-C87826201AF7}"/>
              </a:ext>
            </a:extLst>
          </p:cNvPr>
          <p:cNvSpPr/>
          <p:nvPr/>
        </p:nvSpPr>
        <p:spPr>
          <a:xfrm>
            <a:off x="3516792" y="4958009"/>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the revisions?”</a:t>
            </a:r>
          </a:p>
        </p:txBody>
      </p:sp>
      <p:sp>
        <p:nvSpPr>
          <p:cNvPr id="41" name="Oval Callout 40">
            <a:extLst>
              <a:ext uri="{FF2B5EF4-FFF2-40B4-BE49-F238E27FC236}">
                <a16:creationId xmlns:a16="http://schemas.microsoft.com/office/drawing/2014/main" id="{FFA3EFE0-4CC9-7649-33E2-4FBD5D9822EC}"/>
              </a:ext>
            </a:extLst>
          </p:cNvPr>
          <p:cNvSpPr/>
          <p:nvPr/>
        </p:nvSpPr>
        <p:spPr>
          <a:xfrm>
            <a:off x="933691" y="123781"/>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“They are inspired revisions!”</a:t>
            </a:r>
          </a:p>
        </p:txBody>
      </p:sp>
      <p:sp>
        <p:nvSpPr>
          <p:cNvPr id="42" name="Oval Callout 41">
            <a:extLst>
              <a:ext uri="{FF2B5EF4-FFF2-40B4-BE49-F238E27FC236}">
                <a16:creationId xmlns:a16="http://schemas.microsoft.com/office/drawing/2014/main" id="{BEFE8E57-AFE6-1E4B-048D-12854E15D93A}"/>
              </a:ext>
            </a:extLst>
          </p:cNvPr>
          <p:cNvSpPr/>
          <p:nvPr/>
        </p:nvSpPr>
        <p:spPr>
          <a:xfrm>
            <a:off x="3519290" y="4962000"/>
            <a:ext cx="4857934" cy="1853201"/>
          </a:xfrm>
          <a:prstGeom prst="wedgeEllipseCallout">
            <a:avLst>
              <a:gd name="adj1" fmla="val 57910"/>
              <a:gd name="adj2" fmla="val -8778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the changes?”</a:t>
            </a:r>
          </a:p>
        </p:txBody>
      </p:sp>
      <p:sp>
        <p:nvSpPr>
          <p:cNvPr id="43" name="Oval Callout 42">
            <a:extLst>
              <a:ext uri="{FF2B5EF4-FFF2-40B4-BE49-F238E27FC236}">
                <a16:creationId xmlns:a16="http://schemas.microsoft.com/office/drawing/2014/main" id="{382435DB-B4CC-16B5-97CE-CAFB82FAD704}"/>
              </a:ext>
            </a:extLst>
          </p:cNvPr>
          <p:cNvSpPr/>
          <p:nvPr/>
        </p:nvSpPr>
        <p:spPr>
          <a:xfrm>
            <a:off x="957101" y="105729"/>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“They are inspired changes!”</a:t>
            </a:r>
          </a:p>
        </p:txBody>
      </p:sp>
      <p:sp>
        <p:nvSpPr>
          <p:cNvPr id="70" name="Oval Callout 69">
            <a:extLst>
              <a:ext uri="{FF2B5EF4-FFF2-40B4-BE49-F238E27FC236}">
                <a16:creationId xmlns:a16="http://schemas.microsoft.com/office/drawing/2014/main" id="{44EDAD26-9171-F5B7-B685-A788C74A74F4}"/>
              </a:ext>
            </a:extLst>
          </p:cNvPr>
          <p:cNvSpPr/>
          <p:nvPr/>
        </p:nvSpPr>
        <p:spPr>
          <a:xfrm>
            <a:off x="3344786" y="4710600"/>
            <a:ext cx="5292486" cy="2147399"/>
          </a:xfrm>
          <a:prstGeom prst="wedgeEllipseCallout">
            <a:avLst>
              <a:gd name="adj1" fmla="val 50678"/>
              <a:gd name="adj2" fmla="val -69964"/>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these edits </a:t>
            </a:r>
            <a:r>
              <a:rPr lang="en-US" sz="3600" i="1" dirty="0"/>
              <a:t>centuries</a:t>
            </a:r>
            <a:r>
              <a:rPr lang="en-US" sz="3600" dirty="0"/>
              <a:t> later??”</a:t>
            </a:r>
          </a:p>
        </p:txBody>
      </p:sp>
      <p:sp>
        <p:nvSpPr>
          <p:cNvPr id="71" name="Oval Callout 70">
            <a:extLst>
              <a:ext uri="{FF2B5EF4-FFF2-40B4-BE49-F238E27FC236}">
                <a16:creationId xmlns:a16="http://schemas.microsoft.com/office/drawing/2014/main" id="{CD9313CB-81A6-A20E-2AD1-272AD06DA226}"/>
              </a:ext>
            </a:extLst>
          </p:cNvPr>
          <p:cNvSpPr/>
          <p:nvPr/>
        </p:nvSpPr>
        <p:spPr>
          <a:xfrm>
            <a:off x="950289" y="110024"/>
            <a:ext cx="6982976" cy="2224856"/>
          </a:xfrm>
          <a:prstGeom prst="wedgeEllipseCallout">
            <a:avLst>
              <a:gd name="adj1" fmla="val -33247"/>
              <a:gd name="adj2" fmla="val 9682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“Didn’t you hear me the first time? They are </a:t>
            </a:r>
            <a:r>
              <a:rPr lang="en-US" sz="3600" i="1" dirty="0"/>
              <a:t>all</a:t>
            </a:r>
            <a:r>
              <a:rPr lang="en-US" sz="3600" dirty="0"/>
              <a:t> inspired!”</a:t>
            </a:r>
          </a:p>
        </p:txBody>
      </p:sp>
    </p:spTree>
    <p:extLst>
      <p:ext uri="{BB962C8B-B14F-4D97-AF65-F5344CB8AC3E}">
        <p14:creationId xmlns:p14="http://schemas.microsoft.com/office/powerpoint/2010/main" val="2134121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afterEffect">
                                  <p:stCondLst>
                                    <p:cond delay="0"/>
                                  </p:stCondLst>
                                  <p:childTnLst>
                                    <p:set>
                                      <p:cBhvr>
                                        <p:cTn id="6" dur="1" fill="hold">
                                          <p:stCondLst>
                                            <p:cond delay="0"/>
                                          </p:stCondLst>
                                        </p:cTn>
                                        <p:tgtEl>
                                          <p:spTgt spid="8"/>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3"/>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45"/>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46"/>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47"/>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48"/>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49"/>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50"/>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51"/>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52"/>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53"/>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54"/>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5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5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8"/>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9"/>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60"/>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61"/>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wipe(left)">
                                      <p:cBhvr>
                                        <p:cTn id="50" dur="500"/>
                                        <p:tgtEl>
                                          <p:spTgt spid="12"/>
                                        </p:tgtEl>
                                      </p:cBhvr>
                                    </p:animEffect>
                                  </p:childTnLst>
                                </p:cTn>
                              </p:par>
                            </p:childTnLst>
                          </p:cTn>
                        </p:par>
                        <p:par>
                          <p:cTn id="51" fill="hold">
                            <p:stCondLst>
                              <p:cond delay="500"/>
                            </p:stCondLst>
                            <p:childTnLst>
                              <p:par>
                                <p:cTn id="52" presetID="22" presetClass="entr" presetSubtype="4" fill="hold" grpId="0" nodeType="after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down)">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0" presetClass="path" presetSubtype="0" accel="50000" decel="50000" fill="hold" nodeType="clickEffect">
                                  <p:stCondLst>
                                    <p:cond delay="0"/>
                                  </p:stCondLst>
                                  <p:childTnLst>
                                    <p:animMotion origin="layout" path="M 2.08333E-7 -0.01041 L -0.35495 -0.01041 " pathEditMode="relative" rAng="0" ptsTypes="AA">
                                      <p:cBhvr>
                                        <p:cTn id="58" dur="2000" fill="hold"/>
                                        <p:tgtEl>
                                          <p:spTgt spid="15"/>
                                        </p:tgtEl>
                                        <p:attrNameLst>
                                          <p:attrName>ppt_x</p:attrName>
                                          <p:attrName>ppt_y</p:attrName>
                                        </p:attrNameLst>
                                      </p:cBhvr>
                                      <p:rCtr x="-17747" y="0"/>
                                    </p:animMotion>
                                  </p:childTnLst>
                                </p:cTn>
                              </p:par>
                              <p:par>
                                <p:cTn id="59" presetID="1" presetClass="exit" presetSubtype="0" fill="hold" grpId="1" nodeType="withEffect">
                                  <p:stCondLst>
                                    <p:cond delay="0"/>
                                  </p:stCondLst>
                                  <p:childTnLst>
                                    <p:set>
                                      <p:cBhvr>
                                        <p:cTn id="60" dur="1" fill="hold">
                                          <p:stCondLst>
                                            <p:cond delay="0"/>
                                          </p:stCondLst>
                                        </p:cTn>
                                        <p:tgtEl>
                                          <p:spTgt spid="12"/>
                                        </p:tgtEl>
                                        <p:attrNameLst>
                                          <p:attrName>style.visibility</p:attrName>
                                        </p:attrNameLst>
                                      </p:cBhvr>
                                      <p:to>
                                        <p:strVal val="hidden"/>
                                      </p:to>
                                    </p:set>
                                  </p:childTnLst>
                                </p:cTn>
                              </p:par>
                            </p:childTnLst>
                          </p:cTn>
                        </p:par>
                        <p:par>
                          <p:cTn id="61" fill="hold">
                            <p:stCondLst>
                              <p:cond delay="2000"/>
                            </p:stCondLst>
                            <p:childTnLst>
                              <p:par>
                                <p:cTn id="62" presetID="1" presetClass="exit" presetSubtype="0" fill="hold" nodeType="afterEffect">
                                  <p:stCondLst>
                                    <p:cond delay="0"/>
                                  </p:stCondLst>
                                  <p:childTnLst>
                                    <p:set>
                                      <p:cBhvr>
                                        <p:cTn id="63" dur="1" fill="hold">
                                          <p:stCondLst>
                                            <p:cond delay="0"/>
                                          </p:stCondLst>
                                        </p:cTn>
                                        <p:tgtEl>
                                          <p:spTgt spid="15"/>
                                        </p:tgtEl>
                                        <p:attrNameLst>
                                          <p:attrName>style.visibility</p:attrName>
                                        </p:attrNameLst>
                                      </p:cBhvr>
                                      <p:to>
                                        <p:strVal val="hidden"/>
                                      </p:to>
                                    </p:set>
                                  </p:childTnLst>
                                </p:cTn>
                              </p:par>
                            </p:childTnLst>
                          </p:cTn>
                        </p:par>
                        <p:par>
                          <p:cTn id="64" fill="hold">
                            <p:stCondLst>
                              <p:cond delay="2000"/>
                            </p:stCondLst>
                            <p:childTnLst>
                              <p:par>
                                <p:cTn id="65" presetID="1" presetClass="entr" presetSubtype="0" fill="hold" nodeType="afterEffect">
                                  <p:stCondLst>
                                    <p:cond delay="0"/>
                                  </p:stCondLst>
                                  <p:childTnLst>
                                    <p:set>
                                      <p:cBhvr>
                                        <p:cTn id="66" dur="1" fill="hold">
                                          <p:stCondLst>
                                            <p:cond delay="0"/>
                                          </p:stCondLst>
                                        </p:cTn>
                                        <p:tgtEl>
                                          <p:spTgt spid="14"/>
                                        </p:tgtEl>
                                        <p:attrNameLst>
                                          <p:attrName>style.visibility</p:attrName>
                                        </p:attrNameLst>
                                      </p:cBhvr>
                                      <p:to>
                                        <p:strVal val="visible"/>
                                      </p:to>
                                    </p:set>
                                  </p:childTnLst>
                                </p:cTn>
                              </p:par>
                            </p:childTnLst>
                          </p:cTn>
                        </p:par>
                        <p:par>
                          <p:cTn id="67" fill="hold">
                            <p:stCondLst>
                              <p:cond delay="2000"/>
                            </p:stCondLst>
                            <p:childTnLst>
                              <p:par>
                                <p:cTn id="68" presetID="22" presetClass="entr" presetSubtype="1"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wipe(up)">
                                      <p:cBhvr>
                                        <p:cTn id="70" dur="5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nodeType="clickEffect">
                                  <p:stCondLst>
                                    <p:cond delay="0"/>
                                  </p:stCondLst>
                                  <p:childTnLst>
                                    <p:set>
                                      <p:cBhvr>
                                        <p:cTn id="74" dur="1" fill="hold">
                                          <p:stCondLst>
                                            <p:cond delay="0"/>
                                          </p:stCondLst>
                                        </p:cTn>
                                        <p:tgtEl>
                                          <p:spTgt spid="14"/>
                                        </p:tgtEl>
                                        <p:attrNameLst>
                                          <p:attrName>style.visibility</p:attrName>
                                        </p:attrNameLst>
                                      </p:cBhvr>
                                      <p:to>
                                        <p:strVal val="hidden"/>
                                      </p:to>
                                    </p:set>
                                  </p:childTnLst>
                                </p:cTn>
                              </p:par>
                              <p:par>
                                <p:cTn id="75" presetID="1" presetClass="entr" presetSubtype="0" fill="hold" nodeType="withEffect">
                                  <p:stCondLst>
                                    <p:cond delay="0"/>
                                  </p:stCondLst>
                                  <p:childTnLst>
                                    <p:set>
                                      <p:cBhvr>
                                        <p:cTn id="76" dur="1" fill="hold">
                                          <p:stCondLst>
                                            <p:cond delay="0"/>
                                          </p:stCondLst>
                                        </p:cTn>
                                        <p:tgtEl>
                                          <p:spTgt spid="62"/>
                                        </p:tgtEl>
                                        <p:attrNameLst>
                                          <p:attrName>style.visibility</p:attrName>
                                        </p:attrNameLst>
                                      </p:cBhvr>
                                      <p:to>
                                        <p:strVal val="visible"/>
                                      </p:to>
                                    </p:set>
                                  </p:childTnLst>
                                </p:cTn>
                              </p:par>
                            </p:childTnLst>
                          </p:cTn>
                        </p:par>
                        <p:par>
                          <p:cTn id="77" fill="hold">
                            <p:stCondLst>
                              <p:cond delay="0"/>
                            </p:stCondLst>
                            <p:childTnLst>
                              <p:par>
                                <p:cTn id="78" presetID="22" presetClass="entr" presetSubtype="1" fill="hold" grpId="0" nodeType="after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wipe(up)">
                                      <p:cBhvr>
                                        <p:cTn id="80" dur="500"/>
                                        <p:tgtEl>
                                          <p:spTgt spid="29"/>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63"/>
                                        </p:tgtEl>
                                        <p:attrNameLst>
                                          <p:attrName>style.visibility</p:attrName>
                                        </p:attrNameLst>
                                      </p:cBhvr>
                                      <p:to>
                                        <p:strVal val="visible"/>
                                      </p:to>
                                    </p:set>
                                    <p:animEffect transition="in" filter="wipe(left)">
                                      <p:cBhvr>
                                        <p:cTn id="83" dur="500"/>
                                        <p:tgtEl>
                                          <p:spTgt spid="6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4" fill="hold" grpId="0" nodeType="click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wipe(down)">
                                      <p:cBhvr>
                                        <p:cTn id="88" dur="500"/>
                                        <p:tgtEl>
                                          <p:spTgt spid="32"/>
                                        </p:tgtEl>
                                      </p:cBhvr>
                                    </p:animEffect>
                                  </p:childTnLst>
                                </p:cTn>
                              </p:par>
                            </p:childTnLst>
                          </p:cTn>
                        </p:par>
                      </p:childTnLst>
                    </p:cTn>
                  </p:par>
                  <p:par>
                    <p:cTn id="89" fill="hold">
                      <p:stCondLst>
                        <p:cond delay="indefinite"/>
                      </p:stCondLst>
                      <p:childTnLst>
                        <p:par>
                          <p:cTn id="90" fill="hold">
                            <p:stCondLst>
                              <p:cond delay="0"/>
                            </p:stCondLst>
                            <p:childTnLst>
                              <p:par>
                                <p:cTn id="91" presetID="1" presetClass="exit" presetSubtype="0" fill="hold" nodeType="clickEffect">
                                  <p:stCondLst>
                                    <p:cond delay="0"/>
                                  </p:stCondLst>
                                  <p:childTnLst>
                                    <p:set>
                                      <p:cBhvr>
                                        <p:cTn id="92" dur="1" fill="hold">
                                          <p:stCondLst>
                                            <p:cond delay="0"/>
                                          </p:stCondLst>
                                        </p:cTn>
                                        <p:tgtEl>
                                          <p:spTgt spid="62"/>
                                        </p:tgtEl>
                                        <p:attrNameLst>
                                          <p:attrName>style.visibility</p:attrName>
                                        </p:attrNameLst>
                                      </p:cBhvr>
                                      <p:to>
                                        <p:strVal val="hidden"/>
                                      </p:to>
                                    </p:set>
                                  </p:childTnLst>
                                </p:cTn>
                              </p:par>
                              <p:par>
                                <p:cTn id="93" presetID="1" presetClass="exit" presetSubtype="0" fill="hold" nodeType="withEffect">
                                  <p:stCondLst>
                                    <p:cond delay="0"/>
                                  </p:stCondLst>
                                  <p:childTnLst>
                                    <p:set>
                                      <p:cBhvr>
                                        <p:cTn id="94" dur="1" fill="hold">
                                          <p:stCondLst>
                                            <p:cond delay="0"/>
                                          </p:stCondLst>
                                        </p:cTn>
                                        <p:tgtEl>
                                          <p:spTgt spid="63"/>
                                        </p:tgtEl>
                                        <p:attrNameLst>
                                          <p:attrName>style.visibility</p:attrName>
                                        </p:attrNameLst>
                                      </p:cBhvr>
                                      <p:to>
                                        <p:strVal val="hidden"/>
                                      </p:to>
                                    </p:set>
                                  </p:childTnLst>
                                </p:cTn>
                              </p:par>
                              <p:par>
                                <p:cTn id="95" presetID="1" presetClass="entr" presetSubtype="0" fill="hold" nodeType="withEffect">
                                  <p:stCondLst>
                                    <p:cond delay="0"/>
                                  </p:stCondLst>
                                  <p:childTnLst>
                                    <p:set>
                                      <p:cBhvr>
                                        <p:cTn id="96" dur="1" fill="hold">
                                          <p:stCondLst>
                                            <p:cond delay="0"/>
                                          </p:stCondLst>
                                        </p:cTn>
                                        <p:tgtEl>
                                          <p:spTgt spid="64"/>
                                        </p:tgtEl>
                                        <p:attrNameLst>
                                          <p:attrName>style.visibility</p:attrName>
                                        </p:attrNameLst>
                                      </p:cBhvr>
                                      <p:to>
                                        <p:strVal val="visible"/>
                                      </p:to>
                                    </p:set>
                                  </p:childTnLst>
                                </p:cTn>
                              </p:par>
                              <p:par>
                                <p:cTn id="97" presetID="22" presetClass="entr" presetSubtype="8" fill="hold" grpId="0" nodeType="withEffect">
                                  <p:stCondLst>
                                    <p:cond delay="0"/>
                                  </p:stCondLst>
                                  <p:childTnLst>
                                    <p:set>
                                      <p:cBhvr>
                                        <p:cTn id="98" dur="1" fill="hold">
                                          <p:stCondLst>
                                            <p:cond delay="0"/>
                                          </p:stCondLst>
                                        </p:cTn>
                                        <p:tgtEl>
                                          <p:spTgt spid="65"/>
                                        </p:tgtEl>
                                        <p:attrNameLst>
                                          <p:attrName>style.visibility</p:attrName>
                                        </p:attrNameLst>
                                      </p:cBhvr>
                                      <p:to>
                                        <p:strVal val="visible"/>
                                      </p:to>
                                    </p:set>
                                    <p:animEffect transition="in" filter="wipe(left)">
                                      <p:cBhvr>
                                        <p:cTn id="99" dur="500"/>
                                        <p:tgtEl>
                                          <p:spTgt spid="65"/>
                                        </p:tgtEl>
                                      </p:cBhvr>
                                    </p:animEffect>
                                  </p:childTnLst>
                                </p:cTn>
                              </p:par>
                            </p:childTnLst>
                          </p:cTn>
                        </p:par>
                        <p:par>
                          <p:cTn id="100" fill="hold">
                            <p:stCondLst>
                              <p:cond delay="500"/>
                            </p:stCondLst>
                            <p:childTnLst>
                              <p:par>
                                <p:cTn id="101" presetID="22" presetClass="entr" presetSubtype="1"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wipe(up)">
                                      <p:cBhvr>
                                        <p:cTn id="103" dur="500"/>
                                        <p:tgtEl>
                                          <p:spTgt spid="38"/>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4" fill="hold" grpId="0" nodeType="clickEffect">
                                  <p:stCondLst>
                                    <p:cond delay="0"/>
                                  </p:stCondLst>
                                  <p:childTnLst>
                                    <p:set>
                                      <p:cBhvr>
                                        <p:cTn id="107" dur="1" fill="hold">
                                          <p:stCondLst>
                                            <p:cond delay="0"/>
                                          </p:stCondLst>
                                        </p:cTn>
                                        <p:tgtEl>
                                          <p:spTgt spid="41"/>
                                        </p:tgtEl>
                                        <p:attrNameLst>
                                          <p:attrName>style.visibility</p:attrName>
                                        </p:attrNameLst>
                                      </p:cBhvr>
                                      <p:to>
                                        <p:strVal val="visible"/>
                                      </p:to>
                                    </p:set>
                                    <p:animEffect transition="in" filter="wipe(down)">
                                      <p:cBhvr>
                                        <p:cTn id="108" dur="500"/>
                                        <p:tgtEl>
                                          <p:spTgt spid="41"/>
                                        </p:tgtEl>
                                      </p:cBhvr>
                                    </p:animEffect>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nodeType="clickEffect">
                                  <p:stCondLst>
                                    <p:cond delay="0"/>
                                  </p:stCondLst>
                                  <p:childTnLst>
                                    <p:set>
                                      <p:cBhvr>
                                        <p:cTn id="112" dur="1" fill="hold">
                                          <p:stCondLst>
                                            <p:cond delay="0"/>
                                          </p:stCondLst>
                                        </p:cTn>
                                        <p:tgtEl>
                                          <p:spTgt spid="64"/>
                                        </p:tgtEl>
                                        <p:attrNameLst>
                                          <p:attrName>style.visibility</p:attrName>
                                        </p:attrNameLst>
                                      </p:cBhvr>
                                      <p:to>
                                        <p:strVal val="hidden"/>
                                      </p:to>
                                    </p:set>
                                  </p:childTnLst>
                                </p:cTn>
                              </p:par>
                              <p:par>
                                <p:cTn id="113" presetID="1" presetClass="exit" presetSubtype="0" fill="hold" nodeType="withEffect">
                                  <p:stCondLst>
                                    <p:cond delay="0"/>
                                  </p:stCondLst>
                                  <p:childTnLst>
                                    <p:set>
                                      <p:cBhvr>
                                        <p:cTn id="114" dur="1" fill="hold">
                                          <p:stCondLst>
                                            <p:cond delay="0"/>
                                          </p:stCondLst>
                                        </p:cTn>
                                        <p:tgtEl>
                                          <p:spTgt spid="65"/>
                                        </p:tgtEl>
                                        <p:attrNameLst>
                                          <p:attrName>style.visibility</p:attrName>
                                        </p:attrNameLst>
                                      </p:cBhvr>
                                      <p:to>
                                        <p:strVal val="hidden"/>
                                      </p:to>
                                    </p:set>
                                  </p:childTnLst>
                                </p:cTn>
                              </p:par>
                              <p:par>
                                <p:cTn id="115" presetID="1" presetClass="entr" presetSubtype="0" fill="hold" nodeType="withEffect">
                                  <p:stCondLst>
                                    <p:cond delay="0"/>
                                  </p:stCondLst>
                                  <p:childTnLst>
                                    <p:set>
                                      <p:cBhvr>
                                        <p:cTn id="116" dur="1" fill="hold">
                                          <p:stCondLst>
                                            <p:cond delay="0"/>
                                          </p:stCondLst>
                                        </p:cTn>
                                        <p:tgtEl>
                                          <p:spTgt spid="66"/>
                                        </p:tgtEl>
                                        <p:attrNameLst>
                                          <p:attrName>style.visibility</p:attrName>
                                        </p:attrNameLst>
                                      </p:cBhvr>
                                      <p:to>
                                        <p:strVal val="visible"/>
                                      </p:to>
                                    </p:set>
                                  </p:childTnLst>
                                </p:cTn>
                              </p:par>
                              <p:par>
                                <p:cTn id="117" presetID="22" presetClass="entr" presetSubtype="8" fill="hold" grpId="0" nodeType="withEffect">
                                  <p:stCondLst>
                                    <p:cond delay="0"/>
                                  </p:stCondLst>
                                  <p:childTnLst>
                                    <p:set>
                                      <p:cBhvr>
                                        <p:cTn id="118" dur="1" fill="hold">
                                          <p:stCondLst>
                                            <p:cond delay="0"/>
                                          </p:stCondLst>
                                        </p:cTn>
                                        <p:tgtEl>
                                          <p:spTgt spid="67"/>
                                        </p:tgtEl>
                                        <p:attrNameLst>
                                          <p:attrName>style.visibility</p:attrName>
                                        </p:attrNameLst>
                                      </p:cBhvr>
                                      <p:to>
                                        <p:strVal val="visible"/>
                                      </p:to>
                                    </p:set>
                                    <p:animEffect transition="in" filter="wipe(left)">
                                      <p:cBhvr>
                                        <p:cTn id="119" dur="500"/>
                                        <p:tgtEl>
                                          <p:spTgt spid="67"/>
                                        </p:tgtEl>
                                      </p:cBhvr>
                                    </p:animEffect>
                                  </p:childTnLst>
                                </p:cTn>
                              </p:par>
                            </p:childTnLst>
                          </p:cTn>
                        </p:par>
                        <p:par>
                          <p:cTn id="120" fill="hold">
                            <p:stCondLst>
                              <p:cond delay="500"/>
                            </p:stCondLst>
                            <p:childTnLst>
                              <p:par>
                                <p:cTn id="121" presetID="22" presetClass="entr" presetSubtype="1"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wipe(up)">
                                      <p:cBhvr>
                                        <p:cTn id="123" dur="500"/>
                                        <p:tgtEl>
                                          <p:spTgt spid="42"/>
                                        </p:tgtEl>
                                      </p:cBhvr>
                                    </p:animEffect>
                                  </p:childTnLst>
                                </p:cTn>
                              </p:par>
                            </p:childTnLst>
                          </p:cTn>
                        </p:par>
                      </p:childTnLst>
                    </p:cTn>
                  </p:par>
                  <p:par>
                    <p:cTn id="124" fill="hold">
                      <p:stCondLst>
                        <p:cond delay="indefinite"/>
                      </p:stCondLst>
                      <p:childTnLst>
                        <p:par>
                          <p:cTn id="125" fill="hold">
                            <p:stCondLst>
                              <p:cond delay="0"/>
                            </p:stCondLst>
                            <p:childTnLst>
                              <p:par>
                                <p:cTn id="126" presetID="22" presetClass="entr" presetSubtype="4" fill="hold" grpId="0" nodeType="click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wipe(down)">
                                      <p:cBhvr>
                                        <p:cTn id="128" dur="500"/>
                                        <p:tgtEl>
                                          <p:spTgt spid="43"/>
                                        </p:tgtEl>
                                      </p:cBhvr>
                                    </p:animEffec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nodeType="clickEffect">
                                  <p:stCondLst>
                                    <p:cond delay="0"/>
                                  </p:stCondLst>
                                  <p:childTnLst>
                                    <p:set>
                                      <p:cBhvr>
                                        <p:cTn id="132" dur="1" fill="hold">
                                          <p:stCondLst>
                                            <p:cond delay="0"/>
                                          </p:stCondLst>
                                        </p:cTn>
                                        <p:tgtEl>
                                          <p:spTgt spid="66"/>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0"/>
                                          </p:stCondLst>
                                        </p:cTn>
                                        <p:tgtEl>
                                          <p:spTgt spid="67"/>
                                        </p:tgtEl>
                                        <p:attrNameLst>
                                          <p:attrName>style.visibility</p:attrName>
                                        </p:attrNameLst>
                                      </p:cBhvr>
                                      <p:to>
                                        <p:strVal val="hidden"/>
                                      </p:to>
                                    </p:set>
                                  </p:childTnLst>
                                </p:cTn>
                              </p:par>
                              <p:par>
                                <p:cTn id="135" presetID="1" presetClass="entr" presetSubtype="0" fill="hold" nodeType="withEffect">
                                  <p:stCondLst>
                                    <p:cond delay="0"/>
                                  </p:stCondLst>
                                  <p:childTnLst>
                                    <p:set>
                                      <p:cBhvr>
                                        <p:cTn id="136" dur="1" fill="hold">
                                          <p:stCondLst>
                                            <p:cond delay="0"/>
                                          </p:stCondLst>
                                        </p:cTn>
                                        <p:tgtEl>
                                          <p:spTgt spid="68"/>
                                        </p:tgtEl>
                                        <p:attrNameLst>
                                          <p:attrName>style.visibility</p:attrName>
                                        </p:attrNameLst>
                                      </p:cBhvr>
                                      <p:to>
                                        <p:strVal val="visible"/>
                                      </p:to>
                                    </p:set>
                                  </p:childTnLst>
                                </p:cTn>
                              </p:par>
                              <p:par>
                                <p:cTn id="137" presetID="22" presetClass="entr" presetSubtype="8" fill="hold" grpId="0" nodeType="withEffect">
                                  <p:stCondLst>
                                    <p:cond delay="0"/>
                                  </p:stCondLst>
                                  <p:childTnLst>
                                    <p:set>
                                      <p:cBhvr>
                                        <p:cTn id="138" dur="1" fill="hold">
                                          <p:stCondLst>
                                            <p:cond delay="0"/>
                                          </p:stCondLst>
                                        </p:cTn>
                                        <p:tgtEl>
                                          <p:spTgt spid="69"/>
                                        </p:tgtEl>
                                        <p:attrNameLst>
                                          <p:attrName>style.visibility</p:attrName>
                                        </p:attrNameLst>
                                      </p:cBhvr>
                                      <p:to>
                                        <p:strVal val="visible"/>
                                      </p:to>
                                    </p:set>
                                    <p:animEffect transition="in" filter="wipe(left)">
                                      <p:cBhvr>
                                        <p:cTn id="139" dur="500"/>
                                        <p:tgtEl>
                                          <p:spTgt spid="69"/>
                                        </p:tgtEl>
                                      </p:cBhvr>
                                    </p:animEffect>
                                  </p:childTnLst>
                                </p:cTn>
                              </p:par>
                            </p:childTnLst>
                          </p:cTn>
                        </p:par>
                        <p:par>
                          <p:cTn id="140" fill="hold">
                            <p:stCondLst>
                              <p:cond delay="500"/>
                            </p:stCondLst>
                            <p:childTnLst>
                              <p:par>
                                <p:cTn id="141" presetID="22" presetClass="entr" presetSubtype="1" fill="hold" grpId="0" nodeType="afterEffect">
                                  <p:stCondLst>
                                    <p:cond delay="0"/>
                                  </p:stCondLst>
                                  <p:childTnLst>
                                    <p:set>
                                      <p:cBhvr>
                                        <p:cTn id="142" dur="1" fill="hold">
                                          <p:stCondLst>
                                            <p:cond delay="0"/>
                                          </p:stCondLst>
                                        </p:cTn>
                                        <p:tgtEl>
                                          <p:spTgt spid="70"/>
                                        </p:tgtEl>
                                        <p:attrNameLst>
                                          <p:attrName>style.visibility</p:attrName>
                                        </p:attrNameLst>
                                      </p:cBhvr>
                                      <p:to>
                                        <p:strVal val="visible"/>
                                      </p:to>
                                    </p:set>
                                    <p:animEffect transition="in" filter="wipe(up)">
                                      <p:cBhvr>
                                        <p:cTn id="143" dur="500"/>
                                        <p:tgtEl>
                                          <p:spTgt spid="70"/>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4" fill="hold" grpId="0" nodeType="clickEffect">
                                  <p:stCondLst>
                                    <p:cond delay="0"/>
                                  </p:stCondLst>
                                  <p:childTnLst>
                                    <p:set>
                                      <p:cBhvr>
                                        <p:cTn id="147" dur="1" fill="hold">
                                          <p:stCondLst>
                                            <p:cond delay="0"/>
                                          </p:stCondLst>
                                        </p:cTn>
                                        <p:tgtEl>
                                          <p:spTgt spid="71"/>
                                        </p:tgtEl>
                                        <p:attrNameLst>
                                          <p:attrName>style.visibility</p:attrName>
                                        </p:attrNameLst>
                                      </p:cBhvr>
                                      <p:to>
                                        <p:strVal val="visible"/>
                                      </p:to>
                                    </p:set>
                                    <p:animEffect transition="in" filter="wipe(down)">
                                      <p:cBhvr>
                                        <p:cTn id="148"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9" grpId="0" animBg="1"/>
      <p:bldP spid="50" grpId="0" animBg="1"/>
      <p:bldP spid="51" grpId="0" animBg="1"/>
      <p:bldP spid="52" grpId="0"/>
      <p:bldP spid="53" grpId="0"/>
      <p:bldP spid="54" grpId="0"/>
      <p:bldP spid="55" grpId="0"/>
      <p:bldP spid="56" grpId="0"/>
      <p:bldP spid="57" grpId="0"/>
      <p:bldP spid="58" grpId="0"/>
      <p:bldP spid="59" grpId="0"/>
      <p:bldP spid="12" grpId="0" animBg="1"/>
      <p:bldP spid="12" grpId="1" animBg="1"/>
      <p:bldP spid="16" grpId="0" animBg="1"/>
      <p:bldP spid="24" grpId="0" animBg="1"/>
      <p:bldP spid="63" grpId="0" animBg="1"/>
      <p:bldP spid="65" grpId="0" animBg="1"/>
      <p:bldP spid="67" grpId="0" animBg="1"/>
      <p:bldP spid="69" grpId="0" animBg="1"/>
      <p:bldP spid="29" grpId="0" animBg="1"/>
      <p:bldP spid="32" grpId="0" animBg="1"/>
      <p:bldP spid="38" grpId="0" animBg="1"/>
      <p:bldP spid="41" grpId="0" animBg="1"/>
      <p:bldP spid="42" grpId="0" animBg="1"/>
      <p:bldP spid="43" grpId="0" animBg="1"/>
      <p:bldP spid="70" grpId="0" animBg="1"/>
      <p:bldP spid="71"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E1431-649E-670A-DA14-560D6F8C504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2A08BA59-228E-653B-ACB0-AAC1C38160F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A49C10A-684B-A67D-E236-EE73C35CF8EE}"/>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1B07736C-C101-E932-EA4A-E2884B2CD76C}"/>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D340288-7329-8D7A-8092-748EFFED6378}"/>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0966A9A2-EE46-4AC4-28E1-833377F8A31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EE5B414E-EA61-167F-B062-09D6AD99C395}"/>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18712A7C-8895-2DB3-D752-FD484E2D2806}"/>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A03BEE77-651E-E3E4-BA4F-3309151AA945}"/>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4000" dirty="0"/>
              <a:t>2 Key Points:</a:t>
            </a:r>
          </a:p>
          <a:p>
            <a:pPr marL="1204913" indent="-744538">
              <a:buAutoNum type="arabicPeriod"/>
            </a:pPr>
            <a:r>
              <a:rPr lang="en-US" sz="4000" dirty="0"/>
              <a:t>We want the final form, not the earliest</a:t>
            </a:r>
          </a:p>
          <a:p>
            <a:pPr marL="1204913" indent="-744538">
              <a:buAutoNum type="arabicPeriod"/>
            </a:pPr>
            <a:r>
              <a:rPr lang="en-US" sz="4000" dirty="0"/>
              <a:t>The canon isn’t “formed” in the 4</a:t>
            </a:r>
            <a:r>
              <a:rPr lang="en-US" sz="4000" baseline="30000" dirty="0"/>
              <a:t>th</a:t>
            </a:r>
            <a:r>
              <a:rPr lang="en-US" sz="4000" dirty="0"/>
              <a:t> century; it is just finalized. The canon began the moment books started being used “as Scripture” (“The Functional Canon”)</a:t>
            </a:r>
          </a:p>
        </p:txBody>
      </p:sp>
    </p:spTree>
    <p:extLst>
      <p:ext uri="{BB962C8B-B14F-4D97-AF65-F5344CB8AC3E}">
        <p14:creationId xmlns:p14="http://schemas.microsoft.com/office/powerpoint/2010/main" val="1073302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6101D-D421-3CA1-EA8A-205A64543627}"/>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ADCB662F-DFFF-C31D-BB07-72533BC4DEB6}"/>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E0FCE8A3-7BA3-5127-B500-3BBE8DA85FED}"/>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9E12F60-E620-1248-E34B-8A39E76C6272}"/>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67D41669-E720-AB96-BA06-49073F604464}"/>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F25318A8-75BB-6A81-E8F1-784942854CD2}"/>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EACC3241-DE97-2AA6-6E80-B43F1DB737BC}"/>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3C9A1D38-C881-5031-1B0D-417B7434E626}"/>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721F7880-5975-4391-5CEA-5F3A26F953C8}"/>
              </a:ext>
            </a:extLst>
          </p:cNvPr>
          <p:cNvSpPr txBox="1">
            <a:spLocks/>
          </p:cNvSpPr>
          <p:nvPr/>
        </p:nvSpPr>
        <p:spPr>
          <a:xfrm>
            <a:off x="838200" y="1825624"/>
            <a:ext cx="11353800" cy="50323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2" name="Content Placeholder 2">
            <a:extLst>
              <a:ext uri="{FF2B5EF4-FFF2-40B4-BE49-F238E27FC236}">
                <a16:creationId xmlns:a16="http://schemas.microsoft.com/office/drawing/2014/main" id="{75DC7748-1877-C4DC-AF63-896F270B941B}"/>
              </a:ext>
            </a:extLst>
          </p:cNvPr>
          <p:cNvSpPr txBox="1">
            <a:spLocks/>
          </p:cNvSpPr>
          <p:nvPr/>
        </p:nvSpPr>
        <p:spPr>
          <a:xfrm>
            <a:off x="990600" y="1929897"/>
            <a:ext cx="11201400" cy="487997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AutoNum type="arabicPeriod"/>
            </a:pPr>
            <a:r>
              <a:rPr lang="en-US" dirty="0"/>
              <a:t>“Childs is hard-pressed to justify a sociological view of inspiration from the Scriptures themselves” (p. 53)</a:t>
            </a:r>
          </a:p>
          <a:p>
            <a:pPr lvl="1"/>
            <a:r>
              <a:rPr lang="en-US" dirty="0"/>
              <a:t>“The variety of biblical texts on the subject (and we cannot engage them here) </a:t>
            </a:r>
            <a:r>
              <a:rPr lang="en-US" dirty="0">
                <a:solidFill>
                  <a:schemeClr val="accent2"/>
                </a:solidFill>
              </a:rPr>
              <a:t>give no indication that inspiration is a community affair</a:t>
            </a:r>
            <a:r>
              <a:rPr lang="en-US" dirty="0"/>
              <a:t>, but rather view it as operative in key individuals and at key junctures in redemptive history. Robert Gnuse observes, ‘The biblical tradition does not seem to give a direct affirmation to the social model of group inspiration; rather the group always seems to be addressed or led by a chosen individual’” (p. 53)</a:t>
            </a:r>
          </a:p>
          <a:p>
            <a:pPr marL="514350" indent="-514350">
              <a:buFont typeface="+mj-lt"/>
              <a:buAutoNum type="arabicPeriod"/>
            </a:pPr>
            <a:r>
              <a:rPr lang="en-US" dirty="0"/>
              <a:t>“</a:t>
            </a:r>
            <a:r>
              <a:rPr lang="en-US" dirty="0">
                <a:solidFill>
                  <a:schemeClr val="accent2"/>
                </a:solidFill>
              </a:rPr>
              <a:t>There is also no indication that the early church viewed itself as bearing the same degree of inspiration as the apostles</a:t>
            </a:r>
            <a:r>
              <a:rPr lang="en-US" dirty="0"/>
              <a:t>, or as bearing the authority to add, change, or modify the Scriptures (either Old Testament or New)…. </a:t>
            </a:r>
            <a:r>
              <a:rPr lang="en-US" dirty="0">
                <a:solidFill>
                  <a:schemeClr val="accent2"/>
                </a:solidFill>
              </a:rPr>
              <a:t>The church understood its role as the preserver of inspired texts, not the editor of them</a:t>
            </a:r>
            <a:r>
              <a:rPr lang="en-US" dirty="0"/>
              <a:t>” (p. 53)</a:t>
            </a:r>
          </a:p>
        </p:txBody>
      </p:sp>
    </p:spTree>
    <p:extLst>
      <p:ext uri="{BB962C8B-B14F-4D97-AF65-F5344CB8AC3E}">
        <p14:creationId xmlns:p14="http://schemas.microsoft.com/office/powerpoint/2010/main" val="1991082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A69DE-ABBF-0270-1917-DF9C450A831D}"/>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22E17297-B1DE-EEC8-7DC0-20BEAD07AF1C}"/>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CE8D4EEA-EEDE-BBF2-C421-BCA6B934482E}"/>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BEBE369-B891-0DAF-EE68-ADC701171F83}"/>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E0DADC53-8D7E-4490-DCCF-668ECD8E25D7}"/>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B9603C1-8E6D-BAED-EB5C-EA69045747AA}"/>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9DFA3DA4-5CB3-109D-681E-49E458CB63DC}"/>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24C8BDFA-8C8C-E20E-A87F-2B0B21B00059}"/>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8" name="Content Placeholder 2">
            <a:extLst>
              <a:ext uri="{FF2B5EF4-FFF2-40B4-BE49-F238E27FC236}">
                <a16:creationId xmlns:a16="http://schemas.microsoft.com/office/drawing/2014/main" id="{448C49DD-09EF-C64E-0F73-CAB937883E25}"/>
              </a:ext>
            </a:extLst>
          </p:cNvPr>
          <p:cNvSpPr txBox="1">
            <a:spLocks/>
          </p:cNvSpPr>
          <p:nvPr/>
        </p:nvSpPr>
        <p:spPr>
          <a:xfrm>
            <a:off x="838200" y="1376680"/>
            <a:ext cx="11353800" cy="54813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US" dirty="0"/>
              <a:t>“If the canonical documents can be continually shaped by successive Christian communities, what is significant about the fourth-century community that gives it permanent normative status?” (p. 54)</a:t>
            </a:r>
          </a:p>
          <a:p>
            <a:pPr marL="971550" lvl="1" indent="-514350">
              <a:buFont typeface="Arial"/>
              <a:buChar char="•"/>
            </a:pPr>
            <a:r>
              <a:rPr lang="en-US" dirty="0"/>
              <a:t>“If the canonical documents were revisable for the first four centuries of the Christian church, then there seems to be no reason offered by Childs for why the canonical documents would not continually be open to revision even up to the present day. If so, then there can be no “final form” of the canon from which Childs can do his biblical theology” (p. 54)</a:t>
            </a:r>
          </a:p>
          <a:p>
            <a:pPr marL="514350" indent="-514350">
              <a:spcBef>
                <a:spcPts val="500"/>
              </a:spcBef>
              <a:buFont typeface="+mj-lt"/>
              <a:buAutoNum type="arabicPeriod" startAt="4"/>
            </a:pPr>
            <a:r>
              <a:rPr lang="en-US" sz="2600" dirty="0"/>
              <a:t>“If the response to this problem is that the Christian community has the authority not only to shape, mold, and change the canonical documents, but also to decide when to stop the “canonical process” and create a final canonical version, then </a:t>
            </a:r>
            <a:r>
              <a:rPr lang="en-US" sz="2600" dirty="0">
                <a:solidFill>
                  <a:schemeClr val="accent2"/>
                </a:solidFill>
              </a:rPr>
              <a:t>it is difficult to avoid the implication that the church bears more authority than the canon itself</a:t>
            </a:r>
            <a:r>
              <a:rPr lang="en-US" sz="2600" dirty="0"/>
              <a:t>. Thus, </a:t>
            </a:r>
            <a:r>
              <a:rPr lang="en-US" sz="2600" dirty="0">
                <a:solidFill>
                  <a:schemeClr val="accent2"/>
                </a:solidFill>
              </a:rPr>
              <a:t>canonical criticism finds itself in a very similar place as the Roman Catholic model</a:t>
            </a:r>
            <a:r>
              <a:rPr lang="en-US" sz="2600" dirty="0"/>
              <a:t>” (pp. 54-55)</a:t>
            </a:r>
          </a:p>
        </p:txBody>
      </p:sp>
    </p:spTree>
    <p:extLst>
      <p:ext uri="{BB962C8B-B14F-4D97-AF65-F5344CB8AC3E}">
        <p14:creationId xmlns:p14="http://schemas.microsoft.com/office/powerpoint/2010/main" val="36642826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614D-471A-0010-739F-0D1072308989}"/>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37D84537-5D85-7AC9-ED0D-9E07A2EA3916}"/>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9F467C3D-3D49-A66F-C17D-C045DE958DDC}"/>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DA564D27-2584-0FEB-5B22-5F344D31E507}"/>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4A2C62F3-5548-CAC1-DBE8-37BBA60C875F}"/>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588D96F-2309-6094-007E-96D116373BB5}"/>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29B3DF72-E43C-FC3E-964A-0BFE211539FA}"/>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1662FAA6-08FE-051F-B3A8-BEA684E4C37C}"/>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721E688-D983-7C79-E360-53BCAD9E6C7E}"/>
              </a:ext>
            </a:extLst>
          </p:cNvPr>
          <p:cNvSpPr txBox="1">
            <a:spLocks/>
          </p:cNvSpPr>
          <p:nvPr/>
        </p:nvSpPr>
        <p:spPr>
          <a:xfrm>
            <a:off x="0" y="2331346"/>
            <a:ext cx="12192000" cy="283274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000" dirty="0"/>
              <a:t>“Carl Henry, critiquing Childs’s position, puts it well: ‘If the canon represents a judgment by the community of faith … does not the community really constitute an authority just as ultimate, and even more so, than the canon?’” (p. 55)</a:t>
            </a:r>
          </a:p>
        </p:txBody>
      </p:sp>
    </p:spTree>
    <p:extLst>
      <p:ext uri="{BB962C8B-B14F-4D97-AF65-F5344CB8AC3E}">
        <p14:creationId xmlns:p14="http://schemas.microsoft.com/office/powerpoint/2010/main" val="33787893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47574-E18C-DAA7-35AA-10F3E1E53D5F}"/>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81CC1A8-C8DD-B01E-3A3E-86819013B8B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221A0BF6-B5C9-A6F9-DD12-E8AEA966E7C5}"/>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B763C2EC-1D05-5FEF-6D92-926F9DBC3F75}"/>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9ACFC323-7544-9A4B-EDB5-6AB9D463AB0E}"/>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460053A-01FE-A936-C3F1-5D605B98674C}"/>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9265E73B-C493-D25A-8BE0-A29A3E756208}"/>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540D4EAA-27E8-9797-3067-C391BCC3F779}"/>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51D4DBC9-BCB6-ADBC-C354-816D2D426F1A}"/>
              </a:ext>
            </a:extLst>
          </p:cNvPr>
          <p:cNvSpPr txBox="1">
            <a:spLocks/>
          </p:cNvSpPr>
          <p:nvPr/>
        </p:nvSpPr>
        <p:spPr>
          <a:xfrm>
            <a:off x="0" y="1955005"/>
            <a:ext cx="12192000" cy="47336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“…to say that a book belongs in the canon [according to Childs] is simply to say that these books, and not others, are what the church has chosen as the best summary of what constitutes the Christian faith and the Christian gospel” (pp. 55-56)</a:t>
            </a:r>
          </a:p>
          <a:p>
            <a:pPr marL="0" indent="0" algn="ctr">
              <a:buNone/>
            </a:pPr>
            <a:r>
              <a:rPr lang="en-US" dirty="0"/>
              <a:t>“…the crux of the canonical-criticism model. The canon is “authoritative” not because it is historically true or derived from the apostles; it becomes authoritative when a particular community embraces it in faith” (p. 56)</a:t>
            </a:r>
          </a:p>
          <a:p>
            <a:pPr marL="0" indent="0" algn="ctr">
              <a:buNone/>
            </a:pPr>
            <a:r>
              <a:rPr lang="en-US" b="1" u="sng" dirty="0"/>
              <a:t>Ironic</a:t>
            </a:r>
            <a:r>
              <a:rPr lang="en-US" dirty="0"/>
              <a:t>: “While the modern critical methods may have overlooked the final text for the sake of getting to the historical reality “behind” it, Childs’s canonical criticism has overlooked the historical reality behind it for the sake of focusing on the final text” (p. 56)</a:t>
            </a:r>
          </a:p>
          <a:p>
            <a:pPr marL="0" indent="0" algn="ctr">
              <a:buNone/>
            </a:pPr>
            <a:endParaRPr lang="en-US" dirty="0"/>
          </a:p>
        </p:txBody>
      </p:sp>
    </p:spTree>
    <p:extLst>
      <p:ext uri="{BB962C8B-B14F-4D97-AF65-F5344CB8AC3E}">
        <p14:creationId xmlns:p14="http://schemas.microsoft.com/office/powerpoint/2010/main" val="3691551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F1AC5-AF4A-7817-D8B5-8D9AD00A5A33}"/>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DF28CA77-8ED2-A227-FC9B-CFCBECBAD400}"/>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123CC8AA-CCE6-2ED6-3736-06638D982A64}"/>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5F77049-8BAB-FF14-C3BC-4481797BD5AE}"/>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Roman Catholic Model</a:t>
            </a:r>
          </a:p>
        </p:txBody>
      </p:sp>
      <p:sp>
        <p:nvSpPr>
          <p:cNvPr id="7" name="Content Placeholder 2">
            <a:extLst>
              <a:ext uri="{FF2B5EF4-FFF2-40B4-BE49-F238E27FC236}">
                <a16:creationId xmlns:a16="http://schemas.microsoft.com/office/drawing/2014/main" id="{57EC2C1D-6E2B-9017-B8FB-5D3DBDC2A7A1}"/>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8692ECEC-E6B1-83DE-50DA-34248AA1FB81}"/>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3AAB21F-2711-6097-2BFB-77AB3E185A67}"/>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 Evaluation</a:t>
            </a:r>
          </a:p>
        </p:txBody>
      </p:sp>
      <p:sp>
        <p:nvSpPr>
          <p:cNvPr id="21" name="Content Placeholder 2">
            <a:extLst>
              <a:ext uri="{FF2B5EF4-FFF2-40B4-BE49-F238E27FC236}">
                <a16:creationId xmlns:a16="http://schemas.microsoft.com/office/drawing/2014/main" id="{581B7A00-F202-73C6-6F30-9C8F2ECB4EA7}"/>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0CE59ECE-909E-4B12-5FA2-D26D66607E9B}"/>
              </a:ext>
            </a:extLst>
          </p:cNvPr>
          <p:cNvSpPr txBox="1">
            <a:spLocks/>
          </p:cNvSpPr>
          <p:nvPr/>
        </p:nvSpPr>
        <p:spPr>
          <a:xfrm>
            <a:off x="0" y="2605046"/>
            <a:ext cx="12192000" cy="264719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dirty="0"/>
              <a:t>“This overemphasis on community reception, once again, creates a canon that is, in some sense, dependent upon the community it is intended to rule” (p. 57)</a:t>
            </a:r>
          </a:p>
        </p:txBody>
      </p:sp>
    </p:spTree>
    <p:extLst>
      <p:ext uri="{BB962C8B-B14F-4D97-AF65-F5344CB8AC3E}">
        <p14:creationId xmlns:p14="http://schemas.microsoft.com/office/powerpoint/2010/main" val="83625187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D36BF-ED46-3D0B-D410-BFF577B0AE68}"/>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3D5B0FE8-1D4B-8D3D-DB3F-905D359F3DD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BD0787A8-45D9-975A-3B02-A35B75E352EB}"/>
              </a:ext>
            </a:extLst>
          </p:cNvPr>
          <p:cNvSpPr>
            <a:spLocks noGrp="1"/>
          </p:cNvSpPr>
          <p:nvPr>
            <p:ph idx="1"/>
          </p:nvPr>
        </p:nvSpPr>
        <p:spPr>
          <a:xfrm>
            <a:off x="331470" y="-1734636"/>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3E0D1591-14AF-4555-23EF-559344ED3F28}"/>
              </a:ext>
            </a:extLst>
          </p:cNvPr>
          <p:cNvSpPr txBox="1">
            <a:spLocks/>
          </p:cNvSpPr>
          <p:nvPr/>
        </p:nvSpPr>
        <p:spPr>
          <a:xfrm>
            <a:off x="902969" y="-103867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3F7FFC4A-3929-E7D4-D043-8FAB6913754D}"/>
              </a:ext>
            </a:extLst>
          </p:cNvPr>
          <p:cNvSpPr txBox="1">
            <a:spLocks/>
          </p:cNvSpPr>
          <p:nvPr/>
        </p:nvSpPr>
        <p:spPr>
          <a:xfrm>
            <a:off x="331470" y="-1038676"/>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B494BCB3-41EF-E66A-7FCB-131E9BEEA4F2}"/>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3B63D1E-C82E-19E1-EBAB-0955A3CDC7B9}"/>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1791C32-2201-5C76-9EEB-D3DED396FF22}"/>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36CF9EEB-E6FD-AB7F-76D4-B4BDB9C14119}"/>
              </a:ext>
            </a:extLst>
          </p:cNvPr>
          <p:cNvSpPr txBox="1">
            <a:spLocks/>
          </p:cNvSpPr>
          <p:nvPr/>
        </p:nvSpPr>
        <p:spPr>
          <a:xfrm>
            <a:off x="0" y="2105400"/>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5" name="TextBox 4"/>
          <p:cNvSpPr txBox="1"/>
          <p:nvPr/>
        </p:nvSpPr>
        <p:spPr>
          <a:xfrm>
            <a:off x="69850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Tree>
    <p:extLst>
      <p:ext uri="{BB962C8B-B14F-4D97-AF65-F5344CB8AC3E}">
        <p14:creationId xmlns:p14="http://schemas.microsoft.com/office/powerpoint/2010/main" val="349063491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C73A3-4798-38D2-50BF-8FCCE264552C}"/>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F8F7A9EE-E04A-A762-99F0-39B54DCDC2B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33A1EE90-EE43-3C5C-D5FB-659074BF9D2A}"/>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0CD9D16A-4109-9608-8334-52E85D01F743}"/>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C53EAAE2-E746-8AA2-B199-758604CD4A76}"/>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815E8C62-AE74-9E60-51C8-E1122F29672A}"/>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B62DAFF-8845-305B-CB37-F1985D132DDF}"/>
              </a:ext>
            </a:extLst>
          </p:cNvPr>
          <p:cNvSpPr txBox="1">
            <a:spLocks/>
          </p:cNvSpPr>
          <p:nvPr/>
        </p:nvSpPr>
        <p:spPr>
          <a:xfrm>
            <a:off x="902969" y="20739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A5755F21-09A6-F07F-CE23-C1F294DB34F9}"/>
              </a:ext>
            </a:extLst>
          </p:cNvPr>
          <p:cNvSpPr txBox="1">
            <a:spLocks/>
          </p:cNvSpPr>
          <p:nvPr/>
        </p:nvSpPr>
        <p:spPr>
          <a:xfrm>
            <a:off x="331470" y="20739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0AAAF1AB-E986-BB79-DA99-1F9BE6AF79E0}"/>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5" name="!!Evaluation">
            <a:extLst>
              <a:ext uri="{FF2B5EF4-FFF2-40B4-BE49-F238E27FC236}">
                <a16:creationId xmlns:a16="http://schemas.microsoft.com/office/drawing/2014/main" id="{87A6DD08-F07E-4724-8F5B-F76CB156022C}"/>
              </a:ext>
            </a:extLst>
          </p:cNvPr>
          <p:cNvSpPr txBox="1"/>
          <p:nvPr/>
        </p:nvSpPr>
        <p:spPr>
          <a:xfrm>
            <a:off x="12236934"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8" name="TextBox 7">
            <a:extLst>
              <a:ext uri="{FF2B5EF4-FFF2-40B4-BE49-F238E27FC236}">
                <a16:creationId xmlns:a16="http://schemas.microsoft.com/office/drawing/2014/main" id="{96D7394C-92D4-FFC0-A906-D5D1A59B2A84}"/>
              </a:ext>
            </a:extLst>
          </p:cNvPr>
          <p:cNvSpPr txBox="1"/>
          <p:nvPr/>
        </p:nvSpPr>
        <p:spPr>
          <a:xfrm>
            <a:off x="7042150" y="207391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E048470-9140-B8A7-2A9B-99AA7A813AA9}"/>
              </a:ext>
            </a:extLst>
          </p:cNvPr>
          <p:cNvSpPr txBox="1">
            <a:spLocks/>
          </p:cNvSpPr>
          <p:nvPr/>
        </p:nvSpPr>
        <p:spPr>
          <a:xfrm>
            <a:off x="902969" y="276987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0FDD3C26-089F-C5CB-9C34-4CF1B636B3EE}"/>
              </a:ext>
            </a:extLst>
          </p:cNvPr>
          <p:cNvSpPr txBox="1">
            <a:spLocks/>
          </p:cNvSpPr>
          <p:nvPr/>
        </p:nvSpPr>
        <p:spPr>
          <a:xfrm>
            <a:off x="331470" y="276987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FC4684E1-07ED-2BA7-6C5E-57AB5A31CD3E}"/>
              </a:ext>
            </a:extLst>
          </p:cNvPr>
          <p:cNvSpPr txBox="1"/>
          <p:nvPr/>
        </p:nvSpPr>
        <p:spPr>
          <a:xfrm>
            <a:off x="8496300" y="276987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Tree>
    <p:extLst>
      <p:ext uri="{BB962C8B-B14F-4D97-AF65-F5344CB8AC3E}">
        <p14:creationId xmlns:p14="http://schemas.microsoft.com/office/powerpoint/2010/main" val="25075630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79D3C-DBC3-E5CF-5F24-9A5C88AEA85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1882F7-CABE-C76C-2BC4-8BC60C3C8867}"/>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854D992D-9EA1-B326-CC99-7DF77EEC1ED1}"/>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D2C34A27-33EC-D809-6622-1D49EFC2342F}"/>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87E2B1B-659E-39F2-4382-8C25EC423CFF}"/>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7E2CCE7-B07B-DC1D-C8B4-5B62C2F3C723}"/>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992F2708-97D5-53F6-666A-BC0173D8FD30}"/>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185AF8A7-DDB9-3F41-BD7A-8F55E249A1B5}"/>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502EF446-85D7-0CF5-EE7E-737EE4C1B1AD}"/>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5D40F400-0CCC-BE54-A36C-2253D251F331}"/>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E2F2EB4A-1309-D076-E2D9-D9E5A775A64C}"/>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Much more “individualistic and experiential” (p. 59)</a:t>
            </a:r>
          </a:p>
          <a:p>
            <a:r>
              <a:rPr lang="en-US" dirty="0"/>
              <a:t>“The locus of authority is found not in the Scriptures themselves but </a:t>
            </a:r>
            <a:r>
              <a:rPr lang="en-US" dirty="0">
                <a:solidFill>
                  <a:schemeClr val="accent2"/>
                </a:solidFill>
              </a:rPr>
              <a:t>ultimately in the individual who engages with them</a:t>
            </a:r>
            <a:r>
              <a:rPr lang="en-US" dirty="0"/>
              <a:t>. Authority exists when (and only when) an individual experiences God’s word and responds to it in faith” (p. 59)</a:t>
            </a:r>
          </a:p>
          <a:p>
            <a:r>
              <a:rPr lang="en-US" dirty="0"/>
              <a:t>Karl Barth a prominent figure for this model</a:t>
            </a:r>
          </a:p>
          <a:p>
            <a:pPr lvl="1"/>
            <a:r>
              <a:rPr lang="en-US" dirty="0"/>
              <a:t>“Barth (or Barthianism) believed that </a:t>
            </a:r>
            <a:r>
              <a:rPr lang="en-US" dirty="0">
                <a:solidFill>
                  <a:schemeClr val="accent2"/>
                </a:solidFill>
              </a:rPr>
              <a:t>the Scriptures are not the word of God, per se, but merely a </a:t>
            </a:r>
            <a:r>
              <a:rPr lang="en-US" i="1" dirty="0">
                <a:solidFill>
                  <a:schemeClr val="accent2"/>
                </a:solidFill>
              </a:rPr>
              <a:t>witness</a:t>
            </a:r>
            <a:r>
              <a:rPr lang="en-US" dirty="0">
                <a:solidFill>
                  <a:schemeClr val="accent2"/>
                </a:solidFill>
              </a:rPr>
              <a:t> to the word of God (Jesus Christ). </a:t>
            </a:r>
            <a:r>
              <a:rPr lang="en-US" dirty="0"/>
              <a:t>Revelation is not a propositional statement about God; rather it is an event (</a:t>
            </a:r>
            <a:r>
              <a:rPr lang="en-US" i="1" dirty="0" err="1"/>
              <a:t>Ereignis</a:t>
            </a:r>
            <a:r>
              <a:rPr lang="en-US" dirty="0"/>
              <a:t>), an encounter, something that “happens” to an individual. Thus, </a:t>
            </a:r>
            <a:r>
              <a:rPr lang="en-US" dirty="0">
                <a:solidFill>
                  <a:schemeClr val="accent2"/>
                </a:solidFill>
              </a:rPr>
              <a:t>the Scriptures are not the word of God in a static sense, but “become” the word of God when an existential experience occurs</a:t>
            </a:r>
            <a:r>
              <a:rPr lang="en-US" dirty="0"/>
              <a:t>” (p. 60)</a:t>
            </a:r>
          </a:p>
        </p:txBody>
      </p:sp>
      <p:sp>
        <p:nvSpPr>
          <p:cNvPr id="5" name="TextBox 4">
            <a:extLst>
              <a:ext uri="{FF2B5EF4-FFF2-40B4-BE49-F238E27FC236}">
                <a16:creationId xmlns:a16="http://schemas.microsoft.com/office/drawing/2014/main" id="{7997F2E8-0755-AD17-3E48-AA18F561248B}"/>
              </a:ext>
            </a:extLst>
          </p:cNvPr>
          <p:cNvSpPr txBox="1"/>
          <p:nvPr/>
        </p:nvSpPr>
        <p:spPr>
          <a:xfrm>
            <a:off x="8496300" y="-718398"/>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Tree>
    <p:extLst>
      <p:ext uri="{BB962C8B-B14F-4D97-AF65-F5344CB8AC3E}">
        <p14:creationId xmlns:p14="http://schemas.microsoft.com/office/powerpoint/2010/main" val="1428999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50DA8-5F77-4943-C605-BFA3FEDC0B9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6D241A-F826-D293-AD99-9229990E0656}"/>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0C4F2E0A-7E50-8CEC-AC79-6117BEFEC19E}"/>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00204D1-65F4-5BD8-5A6C-A778B66AECE9}"/>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90C31EC2-55AD-7460-FFEF-4B5D6ED5E33F}"/>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9B9FD77-596D-3752-937D-F63F891683E1}"/>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C0D20A93-43EF-BB93-D7F2-0FC48D0F5CFC}"/>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375E41B1-3DF4-F2E7-BE01-5BF4B3C53966}"/>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9475491-ED10-217D-851A-464C516CD52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EDE9DC3F-5E7F-523C-EED6-78681582AEC8}"/>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4FB899FC-C59E-D182-420E-9FD129B4BB29}"/>
              </a:ext>
            </a:extLst>
          </p:cNvPr>
          <p:cNvSpPr txBox="1">
            <a:spLocks/>
          </p:cNvSpPr>
          <p:nvPr/>
        </p:nvSpPr>
        <p:spPr>
          <a:xfrm>
            <a:off x="838200" y="1825624"/>
            <a:ext cx="10515600" cy="491205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“Bultmann argues that it does not matter whether the New Testament reflects real history; the thing that matters is not the historical cross but the ‘preached cross.’ For Barth, Brunner, and Bultmann, </a:t>
            </a:r>
            <a:r>
              <a:rPr lang="en-US" dirty="0">
                <a:solidFill>
                  <a:schemeClr val="accent2"/>
                </a:solidFill>
              </a:rPr>
              <a:t>what matters is the existential connection made with God through the Scriptures, not whether the Scriptures are historically ‘true’” </a:t>
            </a:r>
            <a:r>
              <a:rPr lang="en-US" dirty="0"/>
              <a:t>(p. 61)</a:t>
            </a:r>
          </a:p>
          <a:p>
            <a:r>
              <a:rPr lang="en-US" dirty="0"/>
              <a:t>Therefore, their definition of “the canon is defined as those books through which the church encounters the living voice of God” (p. 61)</a:t>
            </a:r>
          </a:p>
          <a:p>
            <a:r>
              <a:rPr lang="en-US" dirty="0"/>
              <a:t>“For the existentialist, historical questions are not germane to the issue of canon in the first place; form criticism, source criticism, and investigations into the authorship or date of books are not the means by which one decides whether a book is part of Scripture. </a:t>
            </a:r>
            <a:r>
              <a:rPr lang="en-US" dirty="0">
                <a:solidFill>
                  <a:schemeClr val="accent2"/>
                </a:solidFill>
              </a:rPr>
              <a:t>Christians do not experience God in the Scriptures because they are canonical; rather they are “canonical” because Christians experience God in them</a:t>
            </a:r>
            <a:r>
              <a:rPr lang="en-US" dirty="0"/>
              <a:t>” (pp. 61–62)</a:t>
            </a:r>
          </a:p>
          <a:p>
            <a:endParaRPr lang="en-US" dirty="0"/>
          </a:p>
        </p:txBody>
      </p:sp>
    </p:spTree>
    <p:extLst>
      <p:ext uri="{BB962C8B-B14F-4D97-AF65-F5344CB8AC3E}">
        <p14:creationId xmlns:p14="http://schemas.microsoft.com/office/powerpoint/2010/main" val="584477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DC5BE-CFAE-B7CF-2273-F165F9D0E7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0A5886-E4DB-0D02-4720-36E41837962C}"/>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5D93E67E-3AA4-A7F7-4E7B-2C86C352CD0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D1609DE-B258-FC33-78C2-3D4FBDD19C5E}"/>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ED9F67A-D506-B7E1-F841-69E37410937C}"/>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64FF96E6-BEB2-FB38-89BF-9B0DE6E09E90}"/>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C8ED806-7ED8-E5F4-ECCF-7A8A9013B02F}"/>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2D109D66-E00A-AC36-16E3-78AE9B4D2CB8}"/>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B62810D1-E5C3-7182-D1C3-82AA887A0472}"/>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6970FE9B-4D3B-6510-C4EA-8675C7488881}"/>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pic>
        <p:nvPicPr>
          <p:cNvPr id="2" name="Picture 1">
            <a:extLst>
              <a:ext uri="{FF2B5EF4-FFF2-40B4-BE49-F238E27FC236}">
                <a16:creationId xmlns:a16="http://schemas.microsoft.com/office/drawing/2014/main" id="{F87ECF61-0EAB-A4DA-05B8-CB5D66E8DB56}"/>
              </a:ext>
            </a:extLst>
          </p:cNvPr>
          <p:cNvPicPr>
            <a:picLocks noChangeAspect="1"/>
          </p:cNvPicPr>
          <p:nvPr/>
        </p:nvPicPr>
        <p:blipFill>
          <a:blip r:embed="rId2"/>
          <a:stretch>
            <a:fillRect/>
          </a:stretch>
        </p:blipFill>
        <p:spPr>
          <a:xfrm>
            <a:off x="324319" y="2605046"/>
            <a:ext cx="4093219" cy="4252954"/>
          </a:xfrm>
          <a:prstGeom prst="rect">
            <a:avLst/>
          </a:prstGeom>
        </p:spPr>
      </p:pic>
      <p:sp>
        <p:nvSpPr>
          <p:cNvPr id="5" name="Content Placeholder 2">
            <a:extLst>
              <a:ext uri="{FF2B5EF4-FFF2-40B4-BE49-F238E27FC236}">
                <a16:creationId xmlns:a16="http://schemas.microsoft.com/office/drawing/2014/main" id="{17F9AE3A-15FC-83D5-7242-07291DA15A8E}"/>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13" name="Content Placeholder 2">
            <a:extLst>
              <a:ext uri="{FF2B5EF4-FFF2-40B4-BE49-F238E27FC236}">
                <a16:creationId xmlns:a16="http://schemas.microsoft.com/office/drawing/2014/main" id="{A4134E7B-ADD9-4158-60C2-5E8E63B85029}"/>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14" name="TextBox 13">
            <a:extLst>
              <a:ext uri="{FF2B5EF4-FFF2-40B4-BE49-F238E27FC236}">
                <a16:creationId xmlns:a16="http://schemas.microsoft.com/office/drawing/2014/main" id="{4C57AC94-01EE-951E-F3F3-D860E05FC7E7}"/>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Barth</a:t>
            </a:r>
          </a:p>
        </p:txBody>
      </p:sp>
      <p:pic>
        <p:nvPicPr>
          <p:cNvPr id="15" name="Picture 14">
            <a:extLst>
              <a:ext uri="{FF2B5EF4-FFF2-40B4-BE49-F238E27FC236}">
                <a16:creationId xmlns:a16="http://schemas.microsoft.com/office/drawing/2014/main" id="{4752C919-3074-28C3-0749-04617E05AB6A}"/>
              </a:ext>
            </a:extLst>
          </p:cNvPr>
          <p:cNvPicPr>
            <a:picLocks noChangeAspect="1"/>
          </p:cNvPicPr>
          <p:nvPr/>
        </p:nvPicPr>
        <p:blipFill>
          <a:blip r:embed="rId3"/>
          <a:stretch>
            <a:fillRect/>
          </a:stretch>
        </p:blipFill>
        <p:spPr>
          <a:xfrm>
            <a:off x="7807065" y="3437475"/>
            <a:ext cx="3155576" cy="3155576"/>
          </a:xfrm>
          <a:prstGeom prst="rect">
            <a:avLst/>
          </a:prstGeom>
        </p:spPr>
      </p:pic>
      <p:pic>
        <p:nvPicPr>
          <p:cNvPr id="16" name="Picture 15">
            <a:extLst>
              <a:ext uri="{FF2B5EF4-FFF2-40B4-BE49-F238E27FC236}">
                <a16:creationId xmlns:a16="http://schemas.microsoft.com/office/drawing/2014/main" id="{59D5F57D-CFFA-6B6C-4D24-2E896EF28832}"/>
              </a:ext>
            </a:extLst>
          </p:cNvPr>
          <p:cNvPicPr>
            <a:picLocks noChangeAspect="1"/>
          </p:cNvPicPr>
          <p:nvPr/>
        </p:nvPicPr>
        <p:blipFill rotWithShape="1">
          <a:blip r:embed="rId4"/>
          <a:srcRect l="16636" t="4648" r="24536" b="1010"/>
          <a:stretch>
            <a:fillRect/>
          </a:stretch>
        </p:blipFill>
        <p:spPr>
          <a:xfrm>
            <a:off x="12310994" y="3443358"/>
            <a:ext cx="3155576" cy="3373702"/>
          </a:xfrm>
          <a:prstGeom prst="rect">
            <a:avLst/>
          </a:prstGeom>
        </p:spPr>
      </p:pic>
      <p:sp>
        <p:nvSpPr>
          <p:cNvPr id="17" name="Oval Callout 16">
            <a:extLst>
              <a:ext uri="{FF2B5EF4-FFF2-40B4-BE49-F238E27FC236}">
                <a16:creationId xmlns:a16="http://schemas.microsoft.com/office/drawing/2014/main" id="{7BB47AD3-BDEA-57F2-E689-D1E9FCD77E50}"/>
              </a:ext>
            </a:extLst>
          </p:cNvPr>
          <p:cNvSpPr/>
          <p:nvPr/>
        </p:nvSpPr>
        <p:spPr>
          <a:xfrm flipH="1">
            <a:off x="3947493" y="1223940"/>
            <a:ext cx="4867005" cy="2308268"/>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“Which books should be in the canon?”</a:t>
            </a:r>
          </a:p>
        </p:txBody>
      </p:sp>
      <p:sp>
        <p:nvSpPr>
          <p:cNvPr id="18" name="Oval Callout 17">
            <a:extLst>
              <a:ext uri="{FF2B5EF4-FFF2-40B4-BE49-F238E27FC236}">
                <a16:creationId xmlns:a16="http://schemas.microsoft.com/office/drawing/2014/main" id="{5FD1EE79-B913-F2C4-4871-83CB1DCEE052}"/>
              </a:ext>
            </a:extLst>
          </p:cNvPr>
          <p:cNvSpPr/>
          <p:nvPr/>
        </p:nvSpPr>
        <p:spPr>
          <a:xfrm>
            <a:off x="2657107" y="77816"/>
            <a:ext cx="4612542" cy="286252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“All the books that people experience God’s voice”</a:t>
            </a:r>
          </a:p>
        </p:txBody>
      </p:sp>
      <p:sp>
        <p:nvSpPr>
          <p:cNvPr id="24" name="Oval Callout 23">
            <a:extLst>
              <a:ext uri="{FF2B5EF4-FFF2-40B4-BE49-F238E27FC236}">
                <a16:creationId xmlns:a16="http://schemas.microsoft.com/office/drawing/2014/main" id="{DDEFEF8B-E828-17DA-E57E-B7E89771D264}"/>
              </a:ext>
            </a:extLst>
          </p:cNvPr>
          <p:cNvSpPr/>
          <p:nvPr/>
        </p:nvSpPr>
        <p:spPr>
          <a:xfrm flipH="1">
            <a:off x="2903543" y="172318"/>
            <a:ext cx="5999113" cy="3366856"/>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“Okay but what does that mean? What about authorship?”</a:t>
            </a:r>
          </a:p>
        </p:txBody>
      </p:sp>
      <p:sp>
        <p:nvSpPr>
          <p:cNvPr id="25" name="Oval Callout 24">
            <a:extLst>
              <a:ext uri="{FF2B5EF4-FFF2-40B4-BE49-F238E27FC236}">
                <a16:creationId xmlns:a16="http://schemas.microsoft.com/office/drawing/2014/main" id="{FB55506D-5FBA-37E3-BF94-4CCF89E109A0}"/>
              </a:ext>
            </a:extLst>
          </p:cNvPr>
          <p:cNvSpPr/>
          <p:nvPr/>
        </p:nvSpPr>
        <p:spPr>
          <a:xfrm>
            <a:off x="3048267" y="87393"/>
            <a:ext cx="9143733" cy="4581361"/>
          </a:xfrm>
          <a:prstGeom prst="wedgeEllipseCallout">
            <a:avLst>
              <a:gd name="adj1" fmla="val -53345"/>
              <a:gd name="adj2" fmla="val 1671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“My dear boy, you are so overcome by ‘modern scholarship.’ None of that stuff matters. Next you’re going to ask if the Gospels contain real, historical facts! Wrong Questions!”</a:t>
            </a:r>
          </a:p>
        </p:txBody>
      </p:sp>
      <p:sp>
        <p:nvSpPr>
          <p:cNvPr id="26" name="Oval Callout 25">
            <a:extLst>
              <a:ext uri="{FF2B5EF4-FFF2-40B4-BE49-F238E27FC236}">
                <a16:creationId xmlns:a16="http://schemas.microsoft.com/office/drawing/2014/main" id="{273C58F2-BF4B-71EE-C1AC-70D6030A273F}"/>
              </a:ext>
            </a:extLst>
          </p:cNvPr>
          <p:cNvSpPr/>
          <p:nvPr/>
        </p:nvSpPr>
        <p:spPr>
          <a:xfrm>
            <a:off x="3048267" y="77816"/>
            <a:ext cx="9143733" cy="4581361"/>
          </a:xfrm>
          <a:prstGeom prst="wedgeEllipseCallout">
            <a:avLst>
              <a:gd name="adj1" fmla="val -53345"/>
              <a:gd name="adj2" fmla="val 1671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matters is that when people read these books, they hear God’s voice. Everything else is just extra stuff”</a:t>
            </a:r>
          </a:p>
        </p:txBody>
      </p:sp>
    </p:spTree>
    <p:extLst>
      <p:ext uri="{BB962C8B-B14F-4D97-AF65-F5344CB8AC3E}">
        <p14:creationId xmlns:p14="http://schemas.microsoft.com/office/powerpoint/2010/main" val="2431506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2.70833E-6 -0.01042 L -0.35495 -0.01042 " pathEditMode="relative" rAng="0" ptsTypes="AA">
                                      <p:cBhvr>
                                        <p:cTn id="6" dur="2000" fill="hold"/>
                                        <p:tgtEl>
                                          <p:spTgt spid="16"/>
                                        </p:tgtEl>
                                        <p:attrNameLst>
                                          <p:attrName>ppt_x</p:attrName>
                                          <p:attrName>ppt_y</p:attrName>
                                        </p:attrNameLst>
                                      </p:cBhvr>
                                      <p:rCtr x="-17747" y="0"/>
                                    </p:animMotion>
                                  </p:childTnLst>
                                </p:cTn>
                              </p:par>
                            </p:childTnLst>
                          </p:cTn>
                        </p:par>
                        <p:par>
                          <p:cTn id="7" fill="hold">
                            <p:stCondLst>
                              <p:cond delay="2000"/>
                            </p:stCondLst>
                            <p:childTnLst>
                              <p:par>
                                <p:cTn id="8" presetID="1" presetClass="exit" presetSubtype="0" fill="hold" nodeType="afterEffect">
                                  <p:stCondLst>
                                    <p:cond delay="0"/>
                                  </p:stCondLst>
                                  <p:childTnLst>
                                    <p:set>
                                      <p:cBhvr>
                                        <p:cTn id="9" dur="1" fill="hold">
                                          <p:stCondLst>
                                            <p:cond delay="0"/>
                                          </p:stCondLst>
                                        </p:cTn>
                                        <p:tgtEl>
                                          <p:spTgt spid="16"/>
                                        </p:tgtEl>
                                        <p:attrNameLst>
                                          <p:attrName>style.visibility</p:attrName>
                                        </p:attrNameLst>
                                      </p:cBhvr>
                                      <p:to>
                                        <p:strVal val="hidden"/>
                                      </p:to>
                                    </p:set>
                                  </p:childTnLst>
                                </p:cTn>
                              </p:par>
                            </p:childTnLst>
                          </p:cTn>
                        </p:par>
                        <p:par>
                          <p:cTn id="10" fill="hold">
                            <p:stCondLst>
                              <p:cond delay="2000"/>
                            </p:stCondLst>
                            <p:childTnLst>
                              <p:par>
                                <p:cTn id="11" presetID="1" presetClass="entr" presetSubtype="0" fill="hold" nodeType="after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par>
                          <p:cTn id="13" fill="hold">
                            <p:stCondLst>
                              <p:cond delay="2000"/>
                            </p:stCondLst>
                            <p:childTnLst>
                              <p:par>
                                <p:cTn id="14" presetID="22" presetClass="entr" presetSubtype="4" fill="hold" grpId="0" nodeType="after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down)">
                                      <p:cBhvr>
                                        <p:cTn id="21" dur="5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wipe(down)">
                                      <p:cBhvr>
                                        <p:cTn id="26" dur="5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wipe(down)">
                                      <p:cBhvr>
                                        <p:cTn id="31" dur="500"/>
                                        <p:tgtEl>
                                          <p:spTgt spid="25"/>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4" grpId="0" animBg="1"/>
      <p:bldP spid="25" grpId="0" animBg="1"/>
      <p:bldP spid="26"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3C234-708B-BF2F-3D74-B3F820FAFE9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251EB80-E0C6-654B-7859-CDF86F8F3F4B}"/>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E2632840-24A2-8CE2-9D7D-C36CAF218B4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F588056B-EDF6-A998-6C52-C0B2EFEC6197}"/>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FA44C3F-7289-B82C-819E-6ACA682A9DF3}"/>
              </a:ext>
            </a:extLst>
          </p:cNvPr>
          <p:cNvSpPr txBox="1">
            <a:spLocks/>
          </p:cNvSpPr>
          <p:nvPr/>
        </p:nvSpPr>
        <p:spPr>
          <a:xfrm>
            <a:off x="1897844" y="968742"/>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1B167020-8844-2B15-4A35-8824A14F687F}"/>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07060B29-E67E-8AC9-6A78-FA339B7DFFD8}"/>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134DE620-0667-EBAE-FA94-8F0A2F651846}"/>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D92C636E-E3B2-768C-0A3A-7B73042074C7}"/>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47D6222D-442F-FCC9-5A3E-0E901C04A33F}"/>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3" name="Content Placeholder 2">
            <a:extLst>
              <a:ext uri="{FF2B5EF4-FFF2-40B4-BE49-F238E27FC236}">
                <a16:creationId xmlns:a16="http://schemas.microsoft.com/office/drawing/2014/main" id="{E90640E7-E398-4D6A-8F4C-A7F5DC733B86}"/>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pic>
        <p:nvPicPr>
          <p:cNvPr id="11" name="Picture 10">
            <a:extLst>
              <a:ext uri="{FF2B5EF4-FFF2-40B4-BE49-F238E27FC236}">
                <a16:creationId xmlns:a16="http://schemas.microsoft.com/office/drawing/2014/main" id="{CD865DC1-AA78-CCD7-32E2-D1C0F165BB61}"/>
              </a:ext>
            </a:extLst>
          </p:cNvPr>
          <p:cNvPicPr>
            <a:picLocks noChangeAspect="1"/>
          </p:cNvPicPr>
          <p:nvPr/>
        </p:nvPicPr>
        <p:blipFill>
          <a:blip r:embed="rId2"/>
          <a:stretch>
            <a:fillRect/>
          </a:stretch>
        </p:blipFill>
        <p:spPr>
          <a:xfrm>
            <a:off x="1718711" y="1891348"/>
            <a:ext cx="3155576" cy="3155576"/>
          </a:xfrm>
          <a:prstGeom prst="rect">
            <a:avLst/>
          </a:prstGeom>
        </p:spPr>
      </p:pic>
      <p:sp>
        <p:nvSpPr>
          <p:cNvPr id="12" name="Halo">
            <a:extLst>
              <a:ext uri="{FF2B5EF4-FFF2-40B4-BE49-F238E27FC236}">
                <a16:creationId xmlns:a16="http://schemas.microsoft.com/office/drawing/2014/main" id="{49E4B311-B24E-B74F-9BCB-C184CC053131}"/>
              </a:ext>
            </a:extLst>
          </p:cNvPr>
          <p:cNvSpPr/>
          <p:nvPr/>
        </p:nvSpPr>
        <p:spPr>
          <a:xfrm>
            <a:off x="2950611" y="1847313"/>
            <a:ext cx="685800" cy="165100"/>
          </a:xfrm>
          <a:prstGeom prst="ellipse">
            <a:avLst/>
          </a:prstGeom>
          <a:noFill/>
          <a:ln w="50800" cap="flat" cmpd="sng" algn="ctr">
            <a:solidFill>
              <a:srgbClr val="FFC0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9CDF210E-8BE6-A57A-C057-F5D4031BCACE}"/>
              </a:ext>
            </a:extLst>
          </p:cNvPr>
          <p:cNvSpPr txBox="1"/>
          <p:nvPr/>
        </p:nvSpPr>
        <p:spPr>
          <a:xfrm>
            <a:off x="830770" y="1641828"/>
            <a:ext cx="2111829" cy="1384995"/>
          </a:xfrm>
          <a:prstGeom prst="rect">
            <a:avLst/>
          </a:prstGeom>
          <a:noFill/>
        </p:spPr>
        <p:txBody>
          <a:bodyPr wrap="square" rtlCol="0">
            <a:spAutoFit/>
          </a:bodyPr>
          <a:lstStyle/>
          <a:p>
            <a:pPr algn="ctr"/>
            <a:r>
              <a:rPr lang="en-US" sz="2800" b="1" dirty="0"/>
              <a:t>Jesus</a:t>
            </a:r>
            <a:br>
              <a:rPr lang="en-US" sz="2800" b="1" dirty="0"/>
            </a:br>
            <a:r>
              <a:rPr lang="en-US" sz="2800" b="1" dirty="0"/>
              <a:t>“The Word of God”</a:t>
            </a:r>
          </a:p>
        </p:txBody>
      </p:sp>
      <p:pic>
        <p:nvPicPr>
          <p:cNvPr id="23" name="Picture 22" descr="Generated image: Stick Figure Presenting an Ancient Scroll">
            <a:extLst>
              <a:ext uri="{FF2B5EF4-FFF2-40B4-BE49-F238E27FC236}">
                <a16:creationId xmlns:a16="http://schemas.microsoft.com/office/drawing/2014/main" id="{5D906B80-68B5-B1D2-8AD7-7ADCFD8707CF}"/>
              </a:ext>
            </a:extLst>
          </p:cNvPr>
          <p:cNvPicPr>
            <a:picLocks noChangeAspect="1"/>
          </p:cNvPicPr>
          <p:nvPr/>
        </p:nvPicPr>
        <p:blipFill rotWithShape="1">
          <a:blip r:embed="rId3"/>
          <a:srcRect l="36294" t="13897" r="20000" b="34902"/>
          <a:stretch>
            <a:fillRect/>
          </a:stretch>
        </p:blipFill>
        <p:spPr>
          <a:xfrm flipH="1">
            <a:off x="4779458" y="2012413"/>
            <a:ext cx="2418438" cy="2833173"/>
          </a:xfrm>
          <a:prstGeom prst="rect">
            <a:avLst/>
          </a:prstGeom>
        </p:spPr>
      </p:pic>
      <p:pic>
        <p:nvPicPr>
          <p:cNvPr id="27" name="Picture 26">
            <a:extLst>
              <a:ext uri="{FF2B5EF4-FFF2-40B4-BE49-F238E27FC236}">
                <a16:creationId xmlns:a16="http://schemas.microsoft.com/office/drawing/2014/main" id="{A3F661E5-2F92-76FA-DAA7-08280BC44467}"/>
              </a:ext>
            </a:extLst>
          </p:cNvPr>
          <p:cNvPicPr>
            <a:picLocks noChangeAspect="1"/>
          </p:cNvPicPr>
          <p:nvPr/>
        </p:nvPicPr>
        <p:blipFill>
          <a:blip r:embed="rId2"/>
          <a:stretch>
            <a:fillRect/>
          </a:stretch>
        </p:blipFill>
        <p:spPr>
          <a:xfrm>
            <a:off x="7317713" y="2012413"/>
            <a:ext cx="3155576" cy="3155576"/>
          </a:xfrm>
          <a:prstGeom prst="rect">
            <a:avLst/>
          </a:prstGeom>
        </p:spPr>
      </p:pic>
      <p:sp>
        <p:nvSpPr>
          <p:cNvPr id="28" name="Right Arrow 27">
            <a:extLst>
              <a:ext uri="{FF2B5EF4-FFF2-40B4-BE49-F238E27FC236}">
                <a16:creationId xmlns:a16="http://schemas.microsoft.com/office/drawing/2014/main" id="{AEE683C0-13F6-451C-2CD7-65D6F7085562}"/>
              </a:ext>
            </a:extLst>
          </p:cNvPr>
          <p:cNvSpPr/>
          <p:nvPr/>
        </p:nvSpPr>
        <p:spPr>
          <a:xfrm>
            <a:off x="3957430" y="3147310"/>
            <a:ext cx="4353339" cy="563378"/>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WITNESS</a:t>
            </a:r>
          </a:p>
        </p:txBody>
      </p:sp>
      <p:sp>
        <p:nvSpPr>
          <p:cNvPr id="30" name="TextBox 29">
            <a:extLst>
              <a:ext uri="{FF2B5EF4-FFF2-40B4-BE49-F238E27FC236}">
                <a16:creationId xmlns:a16="http://schemas.microsoft.com/office/drawing/2014/main" id="{7A8B1799-F43B-4762-061F-2802EE92A68C}"/>
              </a:ext>
            </a:extLst>
          </p:cNvPr>
          <p:cNvSpPr txBox="1"/>
          <p:nvPr/>
        </p:nvSpPr>
        <p:spPr>
          <a:xfrm>
            <a:off x="8895501" y="2144396"/>
            <a:ext cx="2111829" cy="523220"/>
          </a:xfrm>
          <a:prstGeom prst="rect">
            <a:avLst/>
          </a:prstGeom>
          <a:noFill/>
        </p:spPr>
        <p:txBody>
          <a:bodyPr wrap="square" rtlCol="0">
            <a:spAutoFit/>
          </a:bodyPr>
          <a:lstStyle/>
          <a:p>
            <a:pPr algn="ctr"/>
            <a:r>
              <a:rPr lang="en-US" sz="2800" b="1" dirty="0"/>
              <a:t>Us</a:t>
            </a:r>
          </a:p>
        </p:txBody>
      </p:sp>
      <p:sp>
        <p:nvSpPr>
          <p:cNvPr id="31" name="TextBox 30">
            <a:extLst>
              <a:ext uri="{FF2B5EF4-FFF2-40B4-BE49-F238E27FC236}">
                <a16:creationId xmlns:a16="http://schemas.microsoft.com/office/drawing/2014/main" id="{A47FED69-C417-7BD1-40F5-EA5936F24577}"/>
              </a:ext>
            </a:extLst>
          </p:cNvPr>
          <p:cNvSpPr txBox="1"/>
          <p:nvPr/>
        </p:nvSpPr>
        <p:spPr>
          <a:xfrm>
            <a:off x="4905465" y="2223452"/>
            <a:ext cx="2111829" cy="523220"/>
          </a:xfrm>
          <a:prstGeom prst="rect">
            <a:avLst/>
          </a:prstGeom>
          <a:noFill/>
        </p:spPr>
        <p:txBody>
          <a:bodyPr wrap="square" rtlCol="0">
            <a:spAutoFit/>
          </a:bodyPr>
          <a:lstStyle/>
          <a:p>
            <a:pPr algn="ctr"/>
            <a:r>
              <a:rPr lang="en-US" sz="2800" b="1" dirty="0"/>
              <a:t>Scripture</a:t>
            </a:r>
          </a:p>
        </p:txBody>
      </p:sp>
      <p:sp>
        <p:nvSpPr>
          <p:cNvPr id="32" name="Up Arrow 31">
            <a:extLst>
              <a:ext uri="{FF2B5EF4-FFF2-40B4-BE49-F238E27FC236}">
                <a16:creationId xmlns:a16="http://schemas.microsoft.com/office/drawing/2014/main" id="{7C98C31E-27DC-E157-A58A-0C0FC21CCA43}"/>
              </a:ext>
            </a:extLst>
          </p:cNvPr>
          <p:cNvSpPr/>
          <p:nvPr/>
        </p:nvSpPr>
        <p:spPr>
          <a:xfrm>
            <a:off x="5807689" y="4381522"/>
            <a:ext cx="672858" cy="139147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ADCB72F5-3FB2-62D4-6045-13E7B370B008}"/>
              </a:ext>
            </a:extLst>
          </p:cNvPr>
          <p:cNvSpPr txBox="1"/>
          <p:nvPr/>
        </p:nvSpPr>
        <p:spPr>
          <a:xfrm>
            <a:off x="3515426" y="5900837"/>
            <a:ext cx="5237348" cy="492443"/>
          </a:xfrm>
          <a:prstGeom prst="rect">
            <a:avLst/>
          </a:prstGeom>
          <a:noFill/>
        </p:spPr>
        <p:txBody>
          <a:bodyPr wrap="square" rtlCol="0">
            <a:spAutoFit/>
          </a:bodyPr>
          <a:lstStyle/>
          <a:p>
            <a:pPr algn="ctr"/>
            <a:r>
              <a:rPr lang="en-US" sz="2600" dirty="0"/>
              <a:t>Messed up, has contradictions, etc.</a:t>
            </a:r>
          </a:p>
        </p:txBody>
      </p:sp>
      <p:sp>
        <p:nvSpPr>
          <p:cNvPr id="34" name="TextBox 33">
            <a:extLst>
              <a:ext uri="{FF2B5EF4-FFF2-40B4-BE49-F238E27FC236}">
                <a16:creationId xmlns:a16="http://schemas.microsoft.com/office/drawing/2014/main" id="{000E2167-3FC8-41D4-081D-2C0D3D7C3264}"/>
              </a:ext>
            </a:extLst>
          </p:cNvPr>
          <p:cNvSpPr txBox="1"/>
          <p:nvPr/>
        </p:nvSpPr>
        <p:spPr>
          <a:xfrm>
            <a:off x="3515426" y="6303937"/>
            <a:ext cx="5237348" cy="492443"/>
          </a:xfrm>
          <a:prstGeom prst="rect">
            <a:avLst/>
          </a:prstGeom>
          <a:noFill/>
        </p:spPr>
        <p:txBody>
          <a:bodyPr wrap="square" rtlCol="0">
            <a:spAutoFit/>
          </a:bodyPr>
          <a:lstStyle/>
          <a:p>
            <a:pPr algn="ctr"/>
            <a:r>
              <a:rPr lang="en-US" sz="2600" dirty="0"/>
              <a:t>God still uses it</a:t>
            </a:r>
          </a:p>
        </p:txBody>
      </p:sp>
      <p:sp>
        <p:nvSpPr>
          <p:cNvPr id="35" name="Rectangle 34">
            <a:extLst>
              <a:ext uri="{FF2B5EF4-FFF2-40B4-BE49-F238E27FC236}">
                <a16:creationId xmlns:a16="http://schemas.microsoft.com/office/drawing/2014/main" id="{E27771A2-DD44-1DF6-E8B4-4381727252D9}"/>
              </a:ext>
            </a:extLst>
          </p:cNvPr>
          <p:cNvSpPr/>
          <p:nvPr/>
        </p:nvSpPr>
        <p:spPr>
          <a:xfrm>
            <a:off x="3410615" y="5877798"/>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Agree with NT Critical Scholarship</a:t>
            </a:r>
          </a:p>
        </p:txBody>
      </p:sp>
      <p:sp>
        <p:nvSpPr>
          <p:cNvPr id="36" name="Rectangle 35">
            <a:extLst>
              <a:ext uri="{FF2B5EF4-FFF2-40B4-BE49-F238E27FC236}">
                <a16:creationId xmlns:a16="http://schemas.microsoft.com/office/drawing/2014/main" id="{182ABAB4-8034-1E18-CAD5-C236BBAB9127}"/>
              </a:ext>
            </a:extLst>
          </p:cNvPr>
          <p:cNvSpPr/>
          <p:nvPr/>
        </p:nvSpPr>
        <p:spPr>
          <a:xfrm>
            <a:off x="3410614" y="6337089"/>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Affirm Divine Inspiration</a:t>
            </a:r>
          </a:p>
        </p:txBody>
      </p:sp>
    </p:spTree>
    <p:extLst>
      <p:ext uri="{BB962C8B-B14F-4D97-AF65-F5344CB8AC3E}">
        <p14:creationId xmlns:p14="http://schemas.microsoft.com/office/powerpoint/2010/main" val="905538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down)">
                                      <p:cBhvr>
                                        <p:cTn id="12" dur="500"/>
                                        <p:tgtEl>
                                          <p:spTgt spid="32"/>
                                        </p:tgtEl>
                                      </p:cBhvr>
                                    </p:animEffect>
                                  </p:childTnLst>
                                </p:cTn>
                              </p:par>
                            </p:childTnLst>
                          </p:cTn>
                        </p:par>
                        <p:par>
                          <p:cTn id="13" fill="hold">
                            <p:stCondLst>
                              <p:cond delay="500"/>
                            </p:stCondLst>
                            <p:childTnLst>
                              <p:par>
                                <p:cTn id="14" presetID="1" presetClass="entr" presetSubtype="0" fill="hold" grpId="0" nodeType="afterEffect">
                                  <p:stCondLst>
                                    <p:cond delay="0"/>
                                  </p:stCondLst>
                                  <p:childTnLst>
                                    <p:set>
                                      <p:cBhvr>
                                        <p:cTn id="15" dur="1" fill="hold">
                                          <p:stCondLst>
                                            <p:cond delay="0"/>
                                          </p:stCondLst>
                                        </p:cTn>
                                        <p:tgtEl>
                                          <p:spTgt spid="33"/>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35"/>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2" grpId="0" animBg="1"/>
      <p:bldP spid="33" grpId="0"/>
      <p:bldP spid="34" grpId="0"/>
      <p:bldP spid="35" grpId="0" animBg="1"/>
      <p:bldP spid="36"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059C5-B55C-8CAA-AB94-E05271BD64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2800EC-0BF5-4C11-E060-A1BEF373A23A}"/>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D0DEFA1-68AC-B4E3-C5E3-6CC544F1F46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62D08943-1286-DEA9-36FA-8C45668E0145}"/>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E0DD78F4-6DDB-C160-41A1-09823E0B4102}"/>
              </a:ext>
            </a:extLst>
          </p:cNvPr>
          <p:cNvSpPr txBox="1">
            <a:spLocks/>
          </p:cNvSpPr>
          <p:nvPr/>
        </p:nvSpPr>
        <p:spPr>
          <a:xfrm>
            <a:off x="1897844" y="968742"/>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91803128-040F-88DD-2416-5C847687FDBE}"/>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F9F65EC-5BD9-BB07-7E0A-F5CA01AD7749}"/>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0A5C5800-6FCB-0C0C-B077-5F719C22209D}"/>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4ACD10A6-2694-49AE-E1E7-F1E35C2010A5}"/>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9C7D790F-0402-F465-FB63-4A9CA16EF54B}"/>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3" name="Content Placeholder 2">
            <a:extLst>
              <a:ext uri="{FF2B5EF4-FFF2-40B4-BE49-F238E27FC236}">
                <a16:creationId xmlns:a16="http://schemas.microsoft.com/office/drawing/2014/main" id="{4C4E2BC1-83B1-114D-88B4-C9385A472CAE}"/>
              </a:ext>
            </a:extLst>
          </p:cNvPr>
          <p:cNvSpPr txBox="1">
            <a:spLocks/>
          </p:cNvSpPr>
          <p:nvPr/>
        </p:nvSpPr>
        <p:spPr>
          <a:xfrm>
            <a:off x="-847090" y="61484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pic>
        <p:nvPicPr>
          <p:cNvPr id="11" name="Picture 10">
            <a:extLst>
              <a:ext uri="{FF2B5EF4-FFF2-40B4-BE49-F238E27FC236}">
                <a16:creationId xmlns:a16="http://schemas.microsoft.com/office/drawing/2014/main" id="{B801DDBB-7526-1B4A-FA14-1A8F8ADEFF62}"/>
              </a:ext>
            </a:extLst>
          </p:cNvPr>
          <p:cNvPicPr>
            <a:picLocks noChangeAspect="1"/>
          </p:cNvPicPr>
          <p:nvPr/>
        </p:nvPicPr>
        <p:blipFill>
          <a:blip r:embed="rId2"/>
          <a:stretch>
            <a:fillRect/>
          </a:stretch>
        </p:blipFill>
        <p:spPr>
          <a:xfrm>
            <a:off x="1718711" y="1891348"/>
            <a:ext cx="3155576" cy="3155576"/>
          </a:xfrm>
          <a:prstGeom prst="rect">
            <a:avLst/>
          </a:prstGeom>
        </p:spPr>
      </p:pic>
      <p:sp>
        <p:nvSpPr>
          <p:cNvPr id="12" name="Halo">
            <a:extLst>
              <a:ext uri="{FF2B5EF4-FFF2-40B4-BE49-F238E27FC236}">
                <a16:creationId xmlns:a16="http://schemas.microsoft.com/office/drawing/2014/main" id="{7EE3BFB5-A20D-6788-AF5C-7137FE41C977}"/>
              </a:ext>
            </a:extLst>
          </p:cNvPr>
          <p:cNvSpPr/>
          <p:nvPr/>
        </p:nvSpPr>
        <p:spPr>
          <a:xfrm>
            <a:off x="2950611" y="1847313"/>
            <a:ext cx="685800" cy="165100"/>
          </a:xfrm>
          <a:prstGeom prst="ellipse">
            <a:avLst/>
          </a:prstGeom>
          <a:noFill/>
          <a:ln w="50800" cap="flat" cmpd="sng" algn="ctr">
            <a:solidFill>
              <a:srgbClr val="FFC0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9C0392D0-3C2A-B5C2-78D7-C37012B1D7FE}"/>
              </a:ext>
            </a:extLst>
          </p:cNvPr>
          <p:cNvSpPr txBox="1"/>
          <p:nvPr/>
        </p:nvSpPr>
        <p:spPr>
          <a:xfrm>
            <a:off x="830770" y="1641828"/>
            <a:ext cx="2111829" cy="1384995"/>
          </a:xfrm>
          <a:prstGeom prst="rect">
            <a:avLst/>
          </a:prstGeom>
          <a:noFill/>
        </p:spPr>
        <p:txBody>
          <a:bodyPr wrap="square" rtlCol="0">
            <a:spAutoFit/>
          </a:bodyPr>
          <a:lstStyle/>
          <a:p>
            <a:pPr algn="ctr"/>
            <a:r>
              <a:rPr lang="en-US" sz="2800" b="1" dirty="0"/>
              <a:t>Jesus</a:t>
            </a:r>
            <a:br>
              <a:rPr lang="en-US" sz="2800" b="1" dirty="0"/>
            </a:br>
            <a:r>
              <a:rPr lang="en-US" sz="2800" b="1" dirty="0"/>
              <a:t>“The Word of God”</a:t>
            </a:r>
          </a:p>
        </p:txBody>
      </p:sp>
      <p:pic>
        <p:nvPicPr>
          <p:cNvPr id="23" name="Picture 22" descr="Generated image: Stick Figure Presenting an Ancient Scroll">
            <a:extLst>
              <a:ext uri="{FF2B5EF4-FFF2-40B4-BE49-F238E27FC236}">
                <a16:creationId xmlns:a16="http://schemas.microsoft.com/office/drawing/2014/main" id="{A2CE3A9D-91D4-3446-DD43-D6B267114136}"/>
              </a:ext>
            </a:extLst>
          </p:cNvPr>
          <p:cNvPicPr>
            <a:picLocks noChangeAspect="1"/>
          </p:cNvPicPr>
          <p:nvPr/>
        </p:nvPicPr>
        <p:blipFill rotWithShape="1">
          <a:blip r:embed="rId3"/>
          <a:srcRect l="36294" t="13897" r="20000" b="34902"/>
          <a:stretch>
            <a:fillRect/>
          </a:stretch>
        </p:blipFill>
        <p:spPr>
          <a:xfrm flipH="1">
            <a:off x="4779458" y="2012413"/>
            <a:ext cx="2418438" cy="2833173"/>
          </a:xfrm>
          <a:prstGeom prst="rect">
            <a:avLst/>
          </a:prstGeom>
        </p:spPr>
      </p:pic>
      <p:pic>
        <p:nvPicPr>
          <p:cNvPr id="27" name="Picture 26">
            <a:extLst>
              <a:ext uri="{FF2B5EF4-FFF2-40B4-BE49-F238E27FC236}">
                <a16:creationId xmlns:a16="http://schemas.microsoft.com/office/drawing/2014/main" id="{4C0BBBC4-8054-6922-373C-C6ADB077AEB5}"/>
              </a:ext>
            </a:extLst>
          </p:cNvPr>
          <p:cNvPicPr>
            <a:picLocks noChangeAspect="1"/>
          </p:cNvPicPr>
          <p:nvPr/>
        </p:nvPicPr>
        <p:blipFill>
          <a:blip r:embed="rId2"/>
          <a:stretch>
            <a:fillRect/>
          </a:stretch>
        </p:blipFill>
        <p:spPr>
          <a:xfrm>
            <a:off x="7317713" y="2012413"/>
            <a:ext cx="3155576" cy="3155576"/>
          </a:xfrm>
          <a:prstGeom prst="rect">
            <a:avLst/>
          </a:prstGeom>
        </p:spPr>
      </p:pic>
      <p:sp>
        <p:nvSpPr>
          <p:cNvPr id="28" name="Right Arrow 27">
            <a:extLst>
              <a:ext uri="{FF2B5EF4-FFF2-40B4-BE49-F238E27FC236}">
                <a16:creationId xmlns:a16="http://schemas.microsoft.com/office/drawing/2014/main" id="{87AA05D9-15D6-7476-9B41-651121A09047}"/>
              </a:ext>
            </a:extLst>
          </p:cNvPr>
          <p:cNvSpPr/>
          <p:nvPr/>
        </p:nvSpPr>
        <p:spPr>
          <a:xfrm>
            <a:off x="3957430" y="3147310"/>
            <a:ext cx="4353339" cy="563378"/>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0A59A264-1702-D03F-DB56-FB8FC421CDF6}"/>
              </a:ext>
            </a:extLst>
          </p:cNvPr>
          <p:cNvSpPr txBox="1"/>
          <p:nvPr/>
        </p:nvSpPr>
        <p:spPr>
          <a:xfrm>
            <a:off x="8895501" y="2144396"/>
            <a:ext cx="2111829" cy="523220"/>
          </a:xfrm>
          <a:prstGeom prst="rect">
            <a:avLst/>
          </a:prstGeom>
          <a:noFill/>
        </p:spPr>
        <p:txBody>
          <a:bodyPr wrap="square" rtlCol="0">
            <a:spAutoFit/>
          </a:bodyPr>
          <a:lstStyle/>
          <a:p>
            <a:pPr algn="ctr"/>
            <a:r>
              <a:rPr lang="en-US" sz="2800" b="1" dirty="0"/>
              <a:t>Us</a:t>
            </a:r>
          </a:p>
        </p:txBody>
      </p:sp>
      <p:sp>
        <p:nvSpPr>
          <p:cNvPr id="31" name="TextBox 30">
            <a:extLst>
              <a:ext uri="{FF2B5EF4-FFF2-40B4-BE49-F238E27FC236}">
                <a16:creationId xmlns:a16="http://schemas.microsoft.com/office/drawing/2014/main" id="{0F37A5EC-1CA0-CCCF-14C5-651841D43E35}"/>
              </a:ext>
            </a:extLst>
          </p:cNvPr>
          <p:cNvSpPr txBox="1"/>
          <p:nvPr/>
        </p:nvSpPr>
        <p:spPr>
          <a:xfrm>
            <a:off x="4905465" y="2223452"/>
            <a:ext cx="2111829" cy="523220"/>
          </a:xfrm>
          <a:prstGeom prst="rect">
            <a:avLst/>
          </a:prstGeom>
          <a:noFill/>
        </p:spPr>
        <p:txBody>
          <a:bodyPr wrap="square" rtlCol="0">
            <a:spAutoFit/>
          </a:bodyPr>
          <a:lstStyle/>
          <a:p>
            <a:pPr algn="ctr"/>
            <a:r>
              <a:rPr lang="en-US" sz="2800" b="1" dirty="0"/>
              <a:t>Scripture</a:t>
            </a:r>
          </a:p>
        </p:txBody>
      </p:sp>
      <p:sp>
        <p:nvSpPr>
          <p:cNvPr id="32" name="Up Arrow 31">
            <a:extLst>
              <a:ext uri="{FF2B5EF4-FFF2-40B4-BE49-F238E27FC236}">
                <a16:creationId xmlns:a16="http://schemas.microsoft.com/office/drawing/2014/main" id="{276BE39B-2D53-D242-240D-907F9F686881}"/>
              </a:ext>
            </a:extLst>
          </p:cNvPr>
          <p:cNvSpPr/>
          <p:nvPr/>
        </p:nvSpPr>
        <p:spPr>
          <a:xfrm>
            <a:off x="5807689" y="4381522"/>
            <a:ext cx="672858" cy="139147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B1692495-C94B-AFFF-3CCE-CACBF96A2761}"/>
              </a:ext>
            </a:extLst>
          </p:cNvPr>
          <p:cNvSpPr txBox="1"/>
          <p:nvPr/>
        </p:nvSpPr>
        <p:spPr>
          <a:xfrm>
            <a:off x="3515426" y="5900837"/>
            <a:ext cx="5237348" cy="492443"/>
          </a:xfrm>
          <a:prstGeom prst="rect">
            <a:avLst/>
          </a:prstGeom>
          <a:noFill/>
        </p:spPr>
        <p:txBody>
          <a:bodyPr wrap="square" rtlCol="0">
            <a:spAutoFit/>
          </a:bodyPr>
          <a:lstStyle/>
          <a:p>
            <a:pPr algn="ctr"/>
            <a:r>
              <a:rPr lang="en-US" sz="2600" dirty="0"/>
              <a:t>Messed up, has contradictions, etc.</a:t>
            </a:r>
          </a:p>
        </p:txBody>
      </p:sp>
      <p:sp>
        <p:nvSpPr>
          <p:cNvPr id="34" name="TextBox 33">
            <a:extLst>
              <a:ext uri="{FF2B5EF4-FFF2-40B4-BE49-F238E27FC236}">
                <a16:creationId xmlns:a16="http://schemas.microsoft.com/office/drawing/2014/main" id="{6F84D0E6-6FC2-6D5C-38FC-8CBA87ADD1EC}"/>
              </a:ext>
            </a:extLst>
          </p:cNvPr>
          <p:cNvSpPr txBox="1"/>
          <p:nvPr/>
        </p:nvSpPr>
        <p:spPr>
          <a:xfrm>
            <a:off x="3515426" y="6303937"/>
            <a:ext cx="5237348" cy="492443"/>
          </a:xfrm>
          <a:prstGeom prst="rect">
            <a:avLst/>
          </a:prstGeom>
          <a:noFill/>
        </p:spPr>
        <p:txBody>
          <a:bodyPr wrap="square" rtlCol="0">
            <a:spAutoFit/>
          </a:bodyPr>
          <a:lstStyle/>
          <a:p>
            <a:pPr algn="ctr"/>
            <a:r>
              <a:rPr lang="en-US" sz="2600" dirty="0"/>
              <a:t>God still uses it</a:t>
            </a:r>
          </a:p>
        </p:txBody>
      </p:sp>
      <p:sp>
        <p:nvSpPr>
          <p:cNvPr id="36" name="Rectangle 35">
            <a:extLst>
              <a:ext uri="{FF2B5EF4-FFF2-40B4-BE49-F238E27FC236}">
                <a16:creationId xmlns:a16="http://schemas.microsoft.com/office/drawing/2014/main" id="{104C7F00-00D1-24BD-7FFF-E9FD02565784}"/>
              </a:ext>
            </a:extLst>
          </p:cNvPr>
          <p:cNvSpPr/>
          <p:nvPr/>
        </p:nvSpPr>
        <p:spPr>
          <a:xfrm>
            <a:off x="3410614" y="6337089"/>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Affirm Divine Inspiration</a:t>
            </a:r>
          </a:p>
        </p:txBody>
      </p:sp>
      <p:sp>
        <p:nvSpPr>
          <p:cNvPr id="2" name="Rectangular Callout 1">
            <a:extLst>
              <a:ext uri="{FF2B5EF4-FFF2-40B4-BE49-F238E27FC236}">
                <a16:creationId xmlns:a16="http://schemas.microsoft.com/office/drawing/2014/main" id="{904130D0-548A-E2F2-E748-F41FA2A34764}"/>
              </a:ext>
            </a:extLst>
          </p:cNvPr>
          <p:cNvSpPr/>
          <p:nvPr/>
        </p:nvSpPr>
        <p:spPr>
          <a:xfrm>
            <a:off x="1718711" y="201595"/>
            <a:ext cx="8744736" cy="5303825"/>
          </a:xfrm>
          <a:custGeom>
            <a:avLst/>
            <a:gdLst>
              <a:gd name="csX0" fmla="*/ 0 w 8744736"/>
              <a:gd name="csY0" fmla="*/ 0 h 5303825"/>
              <a:gd name="csX1" fmla="*/ 1457456 w 8744736"/>
              <a:gd name="csY1" fmla="*/ 0 h 5303825"/>
              <a:gd name="csX2" fmla="*/ 1457456 w 8744736"/>
              <a:gd name="csY2" fmla="*/ 0 h 5303825"/>
              <a:gd name="csX3" fmla="*/ 3643640 w 8744736"/>
              <a:gd name="csY3" fmla="*/ 0 h 5303825"/>
              <a:gd name="csX4" fmla="*/ 8744736 w 8744736"/>
              <a:gd name="csY4" fmla="*/ 0 h 5303825"/>
              <a:gd name="csX5" fmla="*/ 8744736 w 8744736"/>
              <a:gd name="csY5" fmla="*/ 2802484 h 5303825"/>
              <a:gd name="csX6" fmla="*/ 8744736 w 8744736"/>
              <a:gd name="csY6" fmla="*/ 2802484 h 5303825"/>
              <a:gd name="csX7" fmla="*/ 8744736 w 8744736"/>
              <a:gd name="csY7" fmla="*/ 4003548 h 5303825"/>
              <a:gd name="csX8" fmla="*/ 8744736 w 8744736"/>
              <a:gd name="csY8" fmla="*/ 4804258 h 5303825"/>
              <a:gd name="csX9" fmla="*/ 900440 w 8744736"/>
              <a:gd name="csY9" fmla="*/ 4787632 h 5303825"/>
              <a:gd name="csX10" fmla="*/ 652535 w 8744736"/>
              <a:gd name="csY10" fmla="*/ 5303825 h 5303825"/>
              <a:gd name="csX11" fmla="*/ 493180 w 8744736"/>
              <a:gd name="csY11" fmla="*/ 4787633 h 5303825"/>
              <a:gd name="csX12" fmla="*/ 0 w 8744736"/>
              <a:gd name="csY12" fmla="*/ 4804258 h 5303825"/>
              <a:gd name="csX13" fmla="*/ 0 w 8744736"/>
              <a:gd name="csY13" fmla="*/ 4003548 h 5303825"/>
              <a:gd name="csX14" fmla="*/ 0 w 8744736"/>
              <a:gd name="csY14" fmla="*/ 2802484 h 5303825"/>
              <a:gd name="csX15" fmla="*/ 0 w 8744736"/>
              <a:gd name="csY15" fmla="*/ 2802484 h 5303825"/>
              <a:gd name="csX16" fmla="*/ 0 w 8744736"/>
              <a:gd name="csY16" fmla="*/ 0 h 5303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8744736" h="5303825">
                <a:moveTo>
                  <a:pt x="0" y="0"/>
                </a:moveTo>
                <a:lnTo>
                  <a:pt x="1457456" y="0"/>
                </a:lnTo>
                <a:lnTo>
                  <a:pt x="1457456" y="0"/>
                </a:lnTo>
                <a:lnTo>
                  <a:pt x="3643640" y="0"/>
                </a:lnTo>
                <a:lnTo>
                  <a:pt x="8744736" y="0"/>
                </a:lnTo>
                <a:lnTo>
                  <a:pt x="8744736" y="2802484"/>
                </a:lnTo>
                <a:lnTo>
                  <a:pt x="8744736" y="2802484"/>
                </a:lnTo>
                <a:lnTo>
                  <a:pt x="8744736" y="4003548"/>
                </a:lnTo>
                <a:lnTo>
                  <a:pt x="8744736" y="4804258"/>
                </a:lnTo>
                <a:lnTo>
                  <a:pt x="900440" y="4787632"/>
                </a:lnTo>
                <a:lnTo>
                  <a:pt x="652535" y="5303825"/>
                </a:lnTo>
                <a:lnTo>
                  <a:pt x="493180" y="4787633"/>
                </a:lnTo>
                <a:lnTo>
                  <a:pt x="0" y="4804258"/>
                </a:lnTo>
                <a:lnTo>
                  <a:pt x="0" y="4003548"/>
                </a:lnTo>
                <a:lnTo>
                  <a:pt x="0" y="2802484"/>
                </a:lnTo>
                <a:lnTo>
                  <a:pt x="0" y="2802484"/>
                </a:lnTo>
                <a:lnTo>
                  <a:pt x="0" y="0"/>
                </a:lnTo>
                <a:close/>
              </a:path>
            </a:pathLst>
          </a:cu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500" dirty="0"/>
              <a:t>“So what…is Barth able to do? Barth is able to have his theological cake and eat it too if you will. What he was able to say is, ‘</a:t>
            </a:r>
            <a:r>
              <a:rPr lang="en-US" sz="3500" u="sng" dirty="0"/>
              <a:t>this is the word of God</a:t>
            </a:r>
            <a:r>
              <a:rPr lang="en-US" sz="3500" dirty="0"/>
              <a:t> but yet I think </a:t>
            </a:r>
            <a:r>
              <a:rPr lang="en-US" sz="3500" u="sng" dirty="0"/>
              <a:t>all the critical scholars are still right</a:t>
            </a:r>
            <a:r>
              <a:rPr lang="en-US" sz="3500" dirty="0"/>
              <a:t>’” (minute 35:10-35:19)</a:t>
            </a:r>
          </a:p>
        </p:txBody>
      </p:sp>
      <p:sp>
        <p:nvSpPr>
          <p:cNvPr id="35" name="Rectangle 34">
            <a:extLst>
              <a:ext uri="{FF2B5EF4-FFF2-40B4-BE49-F238E27FC236}">
                <a16:creationId xmlns:a16="http://schemas.microsoft.com/office/drawing/2014/main" id="{AAE66B55-119E-438F-7D92-3F1A86C2AAE7}"/>
              </a:ext>
            </a:extLst>
          </p:cNvPr>
          <p:cNvSpPr/>
          <p:nvPr/>
        </p:nvSpPr>
        <p:spPr>
          <a:xfrm>
            <a:off x="3410615" y="5877798"/>
            <a:ext cx="5509457" cy="49244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Agree with NT Critical Scholarship</a:t>
            </a:r>
          </a:p>
        </p:txBody>
      </p:sp>
      <p:sp>
        <p:nvSpPr>
          <p:cNvPr id="14" name="Rectangle 13">
            <a:extLst>
              <a:ext uri="{FF2B5EF4-FFF2-40B4-BE49-F238E27FC236}">
                <a16:creationId xmlns:a16="http://schemas.microsoft.com/office/drawing/2014/main" id="{81873AFF-141B-6D3E-CF31-169E321BDE06}"/>
              </a:ext>
            </a:extLst>
          </p:cNvPr>
          <p:cNvSpPr/>
          <p:nvPr/>
        </p:nvSpPr>
        <p:spPr>
          <a:xfrm>
            <a:off x="959086" y="5540241"/>
            <a:ext cx="10048244" cy="365760"/>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t>Michael Kruger, “PART 4 The Canonical Criticism &amp; Existential Models,” YouTube Video</a:t>
            </a:r>
          </a:p>
        </p:txBody>
      </p:sp>
    </p:spTree>
    <p:extLst>
      <p:ext uri="{BB962C8B-B14F-4D97-AF65-F5344CB8AC3E}">
        <p14:creationId xmlns:p14="http://schemas.microsoft.com/office/powerpoint/2010/main" val="126548909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663EC-8E03-8519-AF68-48529967A6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D09731-57FC-C765-F796-0BDD6EE90F82}"/>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B79984E-0542-F1EE-2161-FB36D05AC897}"/>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6A46A6A4-9594-D1EB-BFE2-147D7993E6FB}"/>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44DD607-222B-2A16-582E-EB5A9CF6F081}"/>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8BE62E4-03EF-244D-AE57-AAC2E0174C03}"/>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E68ABCB-6702-39E4-7949-F4383E075860}"/>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2D28DFBA-95E9-88EB-795B-CFE465B0CF1D}"/>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266CE648-C8E2-FA57-488D-B9045B06ECA2}"/>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4F30D67F-DCA6-1D1A-599C-E53C1D82A63C}"/>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B7C34AA3-F18D-05B0-573C-8EDE98F8D02C}"/>
              </a:ext>
            </a:extLst>
          </p:cNvPr>
          <p:cNvSpPr txBox="1">
            <a:spLocks/>
          </p:cNvSpPr>
          <p:nvPr/>
        </p:nvSpPr>
        <p:spPr>
          <a:xfrm>
            <a:off x="838199" y="1825624"/>
            <a:ext cx="11184467" cy="251460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“Barth appears quite committed to the idea that the sixty-six books of our canon are the only books that God uses to actively speak to his church. However, his downplaying of historical matters and his focus on existential matters prevent him from being able to provide any real basis for why we should be restricted to these certain books. Consequently, Barth “affirms the sixty-six books are the canon, but he leaves the door open to extensions” (p. 62)</a:t>
            </a:r>
          </a:p>
        </p:txBody>
      </p:sp>
      <p:sp>
        <p:nvSpPr>
          <p:cNvPr id="12" name="!!Brunner Quote">
            <a:extLst>
              <a:ext uri="{FF2B5EF4-FFF2-40B4-BE49-F238E27FC236}">
                <a16:creationId xmlns:a16="http://schemas.microsoft.com/office/drawing/2014/main" id="{6A1F3C2E-8B4D-4E7A-9C21-5D3B7E9F1A42}"/>
              </a:ext>
            </a:extLst>
          </p:cNvPr>
          <p:cNvSpPr txBox="1">
            <a:spLocks/>
          </p:cNvSpPr>
          <p:nvPr/>
        </p:nvSpPr>
        <p:spPr>
          <a:xfrm>
            <a:off x="838199" y="4191000"/>
            <a:ext cx="11184467" cy="2667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600" dirty="0"/>
              <a:t>Brunner: “The question of the canon has never, in principle, been definitely answered, but is continually being reopened. Just as the church of the second, third, and fourth centuries had the right to decide … what was ‘Apostolic’ and what was not, </a:t>
            </a:r>
            <a:r>
              <a:rPr lang="en-US" sz="2600" dirty="0">
                <a:solidFill>
                  <a:schemeClr val="accent2"/>
                </a:solidFill>
              </a:rPr>
              <a:t>on their own responsibility as believers, so in the same way every church, at every period in the history of the church, possesses the same right and the same duty</a:t>
            </a:r>
            <a:r>
              <a:rPr lang="en-US" sz="2600" dirty="0"/>
              <a:t>” (as qtd on p. 63)</a:t>
            </a:r>
          </a:p>
        </p:txBody>
      </p:sp>
    </p:spTree>
    <p:extLst>
      <p:ext uri="{BB962C8B-B14F-4D97-AF65-F5344CB8AC3E}">
        <p14:creationId xmlns:p14="http://schemas.microsoft.com/office/powerpoint/2010/main" val="1815368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B34BF-A347-CD68-943D-8287AAA2F2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F31FF7-3A5F-2A99-3ED6-385F865F6A9D}"/>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1C0A5EFC-B6B8-AD33-D981-D2AB040B6CD7}"/>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926ADDDE-20BF-0C4F-D7ED-E12472C3B48C}"/>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4137E05-8CD7-3000-8EF6-D6FBC4BE6990}"/>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C644B66D-81AF-C5B3-7E25-D6052153B520}"/>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F8D092F-F55A-F84C-E0F8-67724C7F7DCA}"/>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733EA449-2EAC-0BDE-EB43-8033F35005C7}"/>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685F8F8-97A4-AF6E-010A-6677352B16DF}"/>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BA709494-56C3-FB83-4FB7-739A5EB44396}"/>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Brunner Quote">
            <a:extLst>
              <a:ext uri="{FF2B5EF4-FFF2-40B4-BE49-F238E27FC236}">
                <a16:creationId xmlns:a16="http://schemas.microsoft.com/office/drawing/2014/main" id="{20C26ED4-3FAF-0874-0702-831B00AF3658}"/>
              </a:ext>
            </a:extLst>
          </p:cNvPr>
          <p:cNvSpPr txBox="1">
            <a:spLocks/>
          </p:cNvSpPr>
          <p:nvPr/>
        </p:nvSpPr>
        <p:spPr>
          <a:xfrm>
            <a:off x="838199" y="1825624"/>
            <a:ext cx="11184467" cy="2667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600" dirty="0"/>
              <a:t>Brunner: “The question of the canon has never, in principle, been definitely answered, but is continually being reopened. Just as the church of the second, third, and fourth centuries had the right to decide … what was ‘Apostolic’ and what was not, </a:t>
            </a:r>
            <a:r>
              <a:rPr lang="en-US" sz="2600" dirty="0">
                <a:solidFill>
                  <a:schemeClr val="accent2"/>
                </a:solidFill>
              </a:rPr>
              <a:t>on their own responsibility as believers, so in the same way every church, at every period in the history of the church, possesses the same right and the same duty</a:t>
            </a:r>
            <a:r>
              <a:rPr lang="en-US" sz="2600" dirty="0"/>
              <a:t>” (as qtd on p. 63)</a:t>
            </a:r>
          </a:p>
        </p:txBody>
      </p:sp>
      <p:sp>
        <p:nvSpPr>
          <p:cNvPr id="12" name="TextBox 11">
            <a:extLst>
              <a:ext uri="{FF2B5EF4-FFF2-40B4-BE49-F238E27FC236}">
                <a16:creationId xmlns:a16="http://schemas.microsoft.com/office/drawing/2014/main" id="{7F7D0330-8B0F-5789-776B-2B68032EFD6A}"/>
              </a:ext>
            </a:extLst>
          </p:cNvPr>
          <p:cNvSpPr txBox="1"/>
          <p:nvPr/>
        </p:nvSpPr>
        <p:spPr>
          <a:xfrm>
            <a:off x="572347" y="4421062"/>
            <a:ext cx="11123506" cy="2246769"/>
          </a:xfrm>
          <a:prstGeom prst="rect">
            <a:avLst/>
          </a:prstGeom>
          <a:noFill/>
        </p:spPr>
        <p:txBody>
          <a:bodyPr wrap="square" rtlCol="0">
            <a:spAutoFit/>
          </a:bodyPr>
          <a:lstStyle/>
          <a:p>
            <a:pPr algn="ctr"/>
            <a:r>
              <a:rPr lang="en-US" sz="2800" dirty="0"/>
              <a:t>“The implications of Brunner’s comments are clear. Which books are considered ‘apostolic’—and therefore in the canon—is determined by each generation’s </a:t>
            </a:r>
            <a:r>
              <a:rPr lang="en-US" sz="2800" i="1" dirty="0"/>
              <a:t>experience</a:t>
            </a:r>
            <a:r>
              <a:rPr lang="en-US" sz="2800" dirty="0"/>
              <a:t> with those books. Thus, </a:t>
            </a:r>
            <a:r>
              <a:rPr lang="en-US" sz="2800" dirty="0">
                <a:solidFill>
                  <a:schemeClr val="accent2"/>
                </a:solidFill>
              </a:rPr>
              <a:t>the canon of Scripture has ‘fluid edges’ and will change from generation to generation</a:t>
            </a:r>
            <a:r>
              <a:rPr lang="en-US" sz="2800" dirty="0"/>
              <a:t>” (p. 63)</a:t>
            </a:r>
          </a:p>
        </p:txBody>
      </p:sp>
    </p:spTree>
    <p:extLst>
      <p:ext uri="{BB962C8B-B14F-4D97-AF65-F5344CB8AC3E}">
        <p14:creationId xmlns:p14="http://schemas.microsoft.com/office/powerpoint/2010/main" val="918534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93A7F-88CD-EBC6-8D58-F2A83B94E01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4670A0-2571-0E31-37B2-97410AC0503D}"/>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34F8C718-45A7-EDFE-87A1-A2E0A5A6D4A8}"/>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70FCB090-E0C9-3B00-CDC8-D81FD2D5A34A}"/>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80D0059-46C0-1C7A-8600-9155B4D1964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71F2B3C-07FA-5CDA-D6FA-74204B93AE3D}"/>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040F0998-2C8C-5856-136D-8943DBF7EF30}"/>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E5ECDDF4-845D-6491-671C-447E987A188E}"/>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D80336ED-C19B-05EE-CC0B-2FAED252688E}"/>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8DF8D55E-CF87-D6D8-1669-D6D6FD5C259C}"/>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5AAF1C99-25A5-1006-954F-FCF12ED5C943}"/>
              </a:ext>
            </a:extLst>
          </p:cNvPr>
          <p:cNvSpPr txBox="1">
            <a:spLocks/>
          </p:cNvSpPr>
          <p:nvPr/>
        </p:nvSpPr>
        <p:spPr>
          <a:xfrm>
            <a:off x="838200" y="1584500"/>
            <a:ext cx="11003280" cy="5273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“But Brunner goes even further and suggests what Barth only implied, namely, that </a:t>
            </a:r>
            <a:r>
              <a:rPr lang="en-US" dirty="0">
                <a:solidFill>
                  <a:schemeClr val="accent2"/>
                </a:solidFill>
              </a:rPr>
              <a:t>God could speak to his church in books </a:t>
            </a:r>
            <a:r>
              <a:rPr lang="en-US" i="1" dirty="0">
                <a:solidFill>
                  <a:schemeClr val="accent2"/>
                </a:solidFill>
              </a:rPr>
              <a:t>outside</a:t>
            </a:r>
            <a:r>
              <a:rPr lang="en-US" dirty="0">
                <a:solidFill>
                  <a:schemeClr val="accent2"/>
                </a:solidFill>
              </a:rPr>
              <a:t> the Bible</a:t>
            </a:r>
            <a:r>
              <a:rPr lang="en-US" dirty="0"/>
              <a:t>. After all, if truth is mediated through personal experience, who is to say that a person cannot hear God’s voice in another book? </a:t>
            </a:r>
            <a:r>
              <a:rPr lang="en-US" dirty="0">
                <a:solidFill>
                  <a:schemeClr val="accent2"/>
                </a:solidFill>
              </a:rPr>
              <a:t>Is God restricted by the Bible</a:t>
            </a:r>
            <a:r>
              <a:rPr lang="en-US" dirty="0"/>
              <a:t>? Brunner simply takes his existential approach to its logical conclusion. Likewise, Bultmann also affirms that the ‘word of God’ is not to be equated with the Scripture, but he is even more radical in his existential approach to the Christian faith than are Barth and Brunner, causing some to criticize Bultmann for denying that a religious encounter requires </a:t>
            </a:r>
            <a:r>
              <a:rPr lang="en-US" i="1" dirty="0"/>
              <a:t>any</a:t>
            </a:r>
            <a:r>
              <a:rPr lang="en-US" dirty="0"/>
              <a:t> connection to a historical Jesus. Thus, </a:t>
            </a:r>
            <a:r>
              <a:rPr lang="en-US" dirty="0">
                <a:solidFill>
                  <a:schemeClr val="accent2"/>
                </a:solidFill>
              </a:rPr>
              <a:t>Bultmann also leaves the door wide open to the possibility that such an encounter could happen through other books outside the canon</a:t>
            </a:r>
            <a:r>
              <a:rPr lang="en-US" dirty="0"/>
              <a:t>”</a:t>
            </a:r>
          </a:p>
          <a:p>
            <a:pPr marL="0" indent="0" algn="ctr">
              <a:buNone/>
            </a:pPr>
            <a:r>
              <a:rPr lang="en-US" dirty="0"/>
              <a:t>(p. 63)</a:t>
            </a:r>
          </a:p>
        </p:txBody>
      </p:sp>
    </p:spTree>
    <p:extLst>
      <p:ext uri="{BB962C8B-B14F-4D97-AF65-F5344CB8AC3E}">
        <p14:creationId xmlns:p14="http://schemas.microsoft.com/office/powerpoint/2010/main" val="167069876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595C9-4B1F-9688-9C38-69CDB36645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BA66BA5-34E0-B4C0-DDA8-8DD174A0948E}"/>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36F605F-3A5C-BF09-E7AB-ADA1AF631F2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62B49091-C363-6F74-1082-CCFA1EE98404}"/>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76845D07-0FE9-DCC5-5E86-DB170649EBD3}"/>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1F99646-2675-453F-534B-5F54E8B04EFD}"/>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CC798B50-2682-C919-8D89-A4440E053BEE}"/>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12577576-3536-6B40-62D4-3CC6D5880F1A}"/>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0CA782DB-EE63-B2AE-134B-CA4550641E8E}"/>
              </a:ext>
            </a:extLst>
          </p:cNvPr>
          <p:cNvSpPr txBox="1">
            <a:spLocks/>
          </p:cNvSpPr>
          <p:nvPr/>
        </p:nvSpPr>
        <p:spPr>
          <a:xfrm>
            <a:off x="838200"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12236934"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8CB26923-2F6C-20BE-7031-57C610082494}"/>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F6116E62-E775-8D47-D7A6-2725C4BC7A98}"/>
              </a:ext>
            </a:extLst>
          </p:cNvPr>
          <p:cNvSpPr txBox="1">
            <a:spLocks/>
          </p:cNvSpPr>
          <p:nvPr/>
        </p:nvSpPr>
        <p:spPr>
          <a:xfrm>
            <a:off x="594360" y="2666470"/>
            <a:ext cx="11003280" cy="296718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“Indeed, many of Bultmann’s more radical successors (Karl Jaspers, Fritz Buri, and Van Austin Harvey) continued to make the case that existential fulfillment need not have anything to do with Christ at all, but could occur through other historical figures worthy of emulation—</a:t>
            </a:r>
            <a:r>
              <a:rPr lang="en-US" dirty="0">
                <a:solidFill>
                  <a:schemeClr val="accent2"/>
                </a:solidFill>
              </a:rPr>
              <a:t>thus eliminating any need to consider the New Testament books as a unique source of revelation</a:t>
            </a:r>
            <a:r>
              <a:rPr lang="en-US" dirty="0"/>
              <a:t>” (p. 63)</a:t>
            </a:r>
          </a:p>
        </p:txBody>
      </p:sp>
    </p:spTree>
    <p:extLst>
      <p:ext uri="{BB962C8B-B14F-4D97-AF65-F5344CB8AC3E}">
        <p14:creationId xmlns:p14="http://schemas.microsoft.com/office/powerpoint/2010/main" val="429068187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D975F-87EC-ADAB-7275-5EB573B9807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9D563D-0330-AADA-FBE8-BC564EC5B3A5}"/>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23D4FD56-70E2-D3A0-7FBD-6C2C05AF1854}"/>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5F89ED1C-8C22-7E2F-4849-58A1176669E3}"/>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A73D204-FAE2-F937-7E4D-E68CEB53D753}"/>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34A29CF-78DB-1272-749B-3D6FDA1CFC24}"/>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46333F53-6E18-AE62-9623-D6C24BFDDF74}"/>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F53A065-EAF7-C1C4-B5F9-4494E69AC6F9}"/>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C0B8B81E-056E-6EB8-FB9D-B467848182C0}"/>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53BA0A67-8C68-CBCF-C344-3EE42A1DBBCB}"/>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75B9BE82-1028-310D-9C5D-6266FC58D953}"/>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most fundamental concern pertains to the existential model’s unfortunate separation of the authority of God and the authority of Scripture” (p. 64)</a:t>
            </a:r>
          </a:p>
          <a:p>
            <a:pPr lvl="1"/>
            <a:r>
              <a:rPr lang="en-US" dirty="0"/>
              <a:t>“For Barth, ‘the texts are authoritative </a:t>
            </a:r>
            <a:r>
              <a:rPr lang="en-US" i="1" dirty="0"/>
              <a:t>not in virtue of any property they may have</a:t>
            </a:r>
            <a:r>
              <a:rPr lang="en-US" dirty="0"/>
              <a:t>.’ Consequently, these texts must be considered canonical on </a:t>
            </a:r>
            <a:r>
              <a:rPr lang="en-US" i="1" dirty="0"/>
              <a:t>other</a:t>
            </a:r>
            <a:r>
              <a:rPr lang="en-US" dirty="0"/>
              <a:t> grounds, namely, ‘in virtue of a function they fill in the life of the Christian community.’ But </a:t>
            </a:r>
            <a:r>
              <a:rPr lang="en-US" dirty="0">
                <a:solidFill>
                  <a:schemeClr val="accent2"/>
                </a:solidFill>
              </a:rPr>
              <a:t>this leads to </a:t>
            </a:r>
            <a:r>
              <a:rPr lang="en-US" dirty="0">
                <a:solidFill>
                  <a:schemeClr val="accent2">
                    <a:alpha val="0"/>
                  </a:schemeClr>
                </a:solidFill>
              </a:rPr>
              <a:t>three problematic area</a:t>
            </a:r>
            <a:r>
              <a:rPr lang="en-US" spc="200" dirty="0">
                <a:solidFill>
                  <a:schemeClr val="accent2">
                    <a:alpha val="0"/>
                  </a:schemeClr>
                </a:solidFill>
              </a:rPr>
              <a:t>s</a:t>
            </a:r>
            <a:r>
              <a:rPr lang="en-US" dirty="0"/>
              <a:t>” (p. 64)</a:t>
            </a:r>
          </a:p>
        </p:txBody>
      </p:sp>
      <p:sp>
        <p:nvSpPr>
          <p:cNvPr id="41" name="!!PA t"/>
          <p:cNvSpPr txBox="1"/>
          <p:nvPr/>
        </p:nvSpPr>
        <p:spPr>
          <a:xfrm>
            <a:off x="6711950" y="4064000"/>
            <a:ext cx="124841"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t</a:t>
            </a:r>
          </a:p>
        </p:txBody>
      </p:sp>
      <p:sp>
        <p:nvSpPr>
          <p:cNvPr id="42" name="!!PA hree"/>
          <p:cNvSpPr txBox="1"/>
          <p:nvPr/>
        </p:nvSpPr>
        <p:spPr>
          <a:xfrm>
            <a:off x="6811391" y="4064000"/>
            <a:ext cx="617474"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hree</a:t>
            </a:r>
          </a:p>
        </p:txBody>
      </p:sp>
      <p:sp>
        <p:nvSpPr>
          <p:cNvPr id="43" name="!!PA p"/>
          <p:cNvSpPr txBox="1"/>
          <p:nvPr/>
        </p:nvSpPr>
        <p:spPr>
          <a:xfrm>
            <a:off x="7465949" y="4064000"/>
            <a:ext cx="198501"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p</a:t>
            </a:r>
          </a:p>
        </p:txBody>
      </p:sp>
      <p:sp>
        <p:nvSpPr>
          <p:cNvPr id="44" name="!!PA roblematic"/>
          <p:cNvSpPr txBox="1"/>
          <p:nvPr/>
        </p:nvSpPr>
        <p:spPr>
          <a:xfrm>
            <a:off x="7639050" y="4064000"/>
            <a:ext cx="1467612"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roblematic</a:t>
            </a:r>
          </a:p>
        </p:txBody>
      </p:sp>
      <p:sp>
        <p:nvSpPr>
          <p:cNvPr id="45" name="!!PA a"/>
          <p:cNvSpPr txBox="1"/>
          <p:nvPr/>
        </p:nvSpPr>
        <p:spPr>
          <a:xfrm>
            <a:off x="9143746" y="4064000"/>
            <a:ext cx="188849"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a</a:t>
            </a:r>
          </a:p>
        </p:txBody>
      </p:sp>
      <p:sp>
        <p:nvSpPr>
          <p:cNvPr id="46" name="!!PA reas"/>
          <p:cNvSpPr txBox="1"/>
          <p:nvPr/>
        </p:nvSpPr>
        <p:spPr>
          <a:xfrm>
            <a:off x="9307195" y="4064000"/>
            <a:ext cx="598297" cy="381000"/>
          </a:xfrm>
          <a:prstGeom prst="rect">
            <a:avLst/>
          </a:prstGeom>
          <a:noFill/>
        </p:spPr>
        <p:txBody>
          <a:bodyPr wrap="none" lIns="0" tIns="0" rIns="0" bIns="0" rtlCol="0" anchor="t">
            <a:noAutofit/>
          </a:bodyPr>
          <a:lstStyle/>
          <a:p>
            <a:pPr>
              <a:lnSpc>
                <a:spcPct val="90000"/>
              </a:lnSpc>
            </a:pPr>
            <a:r>
              <a:rPr lang="en-US" sz="2400" dirty="0">
                <a:solidFill>
                  <a:schemeClr val="accent2"/>
                </a:solidFill>
              </a:rPr>
              <a:t>reas</a:t>
            </a:r>
          </a:p>
        </p:txBody>
      </p:sp>
    </p:spTree>
    <p:extLst>
      <p:ext uri="{BB962C8B-B14F-4D97-AF65-F5344CB8AC3E}">
        <p14:creationId xmlns:p14="http://schemas.microsoft.com/office/powerpoint/2010/main" val="3642713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5" grpId="0"/>
      <p:bldP spid="46"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E3534-9E46-9D34-4901-7172774E587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3EF81D-6536-81E2-7D43-1AE435DA5369}"/>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E2113F89-5223-DC8E-DA8B-5FB7235E4DB0}"/>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79D80AA-9DC2-8463-9CD0-7DD13EC9F57A}"/>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BF812366-7194-FEBF-57B9-02AD20E88DD5}"/>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8C23FB5B-B30A-BC26-B910-F73E84671AA8}"/>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823C896E-D956-1B43-04B1-7192B6936801}"/>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CEA2B1E7-9A85-5C42-CD63-1709A9216459}"/>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B8AC96A6-FA30-2A0D-310C-935D62737D6F}"/>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E29BEABA-E819-661E-098D-DC6C0F966026}"/>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6A7BDE7D-7E97-4DF7-C29E-A8A14D754085}"/>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2599C3DD-C8F0-C0DC-5E34-493298CAC418}"/>
              </a:ext>
            </a:extLst>
          </p:cNvPr>
          <p:cNvSpPr txBox="1">
            <a:spLocks/>
          </p:cNvSpPr>
          <p:nvPr/>
        </p:nvSpPr>
        <p:spPr>
          <a:xfrm>
            <a:off x="837437" y="1824917"/>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“…if the boundaries of the canon are determined solely by the existential experience of the community, then the boundaries of the canon are fluid and ever changing. And a perpetually uncertain canon is unable to function as an authoritative norm for the church. If the canon is regarded as an entirely personal and existential ‘event,’ then </a:t>
            </a:r>
            <a:r>
              <a:rPr lang="en-US" dirty="0">
                <a:solidFill>
                  <a:schemeClr val="accent2"/>
                </a:solidFill>
              </a:rPr>
              <a:t>there can never be a ‘right’ canon, but simply the ‘current’ canon—the canon that the church is now using</a:t>
            </a:r>
            <a:r>
              <a:rPr lang="en-US" dirty="0"/>
              <a:t>” (pp. 64-65)</a:t>
            </a:r>
          </a:p>
          <a:p>
            <a:pPr marL="1377950" lvl="1" indent="-400050">
              <a:buFont typeface="Arial"/>
              <a:buChar char="•"/>
            </a:pPr>
            <a:r>
              <a:rPr lang="en-US" dirty="0"/>
              <a:t>“What is the Word of God for some need not be the Word of God for others—or can be, or not, at different times and places” (Henry on Barthian view as qtd on p. 65)</a:t>
            </a:r>
          </a:p>
        </p:txBody>
      </p:sp>
    </p:spTree>
    <p:extLst>
      <p:ext uri="{BB962C8B-B14F-4D97-AF65-F5344CB8AC3E}">
        <p14:creationId xmlns:p14="http://schemas.microsoft.com/office/powerpoint/2010/main" val="41435556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C5E93-F9D9-ED0B-CDE9-D6733CB9D31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02C540-A45A-811F-24A1-805F3CADAAAE}"/>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46E1B247-EB3F-CBB5-5C82-9747D7FB7A0A}"/>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E959A97F-59DB-035F-0949-96AD3A2231DF}"/>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01039998-78C5-0244-6238-E4C241187CC8}"/>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17C29216-8AFF-FFAC-1754-13393F482BAF}"/>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FBFF15F3-1C18-FA83-80E7-D84CEFE1E408}"/>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D084B0E2-8AB3-70F1-9EB9-5A926306B0B3}"/>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AC7A3FAD-192A-FAC8-CAF7-0F662FD24353}"/>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02514D87-3580-53FF-1701-56B9F0051235}"/>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51A25D64-39D0-4254-0487-9B6ACDCED67B}"/>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5F5F1AFA-C058-A752-AA79-47D20798A43B}"/>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C4AB1436-2ED4-42E8-8B99-786C90686235}"/>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47500395-1C24-7C11-1D97-9D35F2ACB088}"/>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BE8533A3-D9A6-98F7-5082-0A0E4A624072}"/>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F81254DC-69B3-1EC1-97AA-1E6F55151603}"/>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E963E490-977B-3A83-53C7-2F3201F928F3}"/>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6A212399-6357-11DE-1741-C9A20170F832}"/>
              </a:ext>
            </a:extLst>
          </p:cNvPr>
          <p:cNvSpPr txBox="1">
            <a:spLocks/>
          </p:cNvSpPr>
          <p:nvPr/>
        </p:nvSpPr>
        <p:spPr>
          <a:xfrm>
            <a:off x="837437" y="1824917"/>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“…if Scripture does not bear authority in itself and is contingent upon reception by the community, then </a:t>
            </a:r>
            <a:r>
              <a:rPr lang="en-US" dirty="0">
                <a:solidFill>
                  <a:schemeClr val="accent2"/>
                </a:solidFill>
              </a:rPr>
              <a:t>the community begins to take on authority equal to (if not greater than) that of Scripture</a:t>
            </a:r>
            <a:r>
              <a:rPr lang="en-US" dirty="0"/>
              <a:t>” (p. 65)</a:t>
            </a:r>
          </a:p>
          <a:p>
            <a:pPr marL="1377950" lvl="1" indent="-400050">
              <a:buFont typeface="Arial" panose="020B0604020202020204" pitchFamily="34" charset="0"/>
              <a:buChar char="•"/>
            </a:pPr>
            <a:r>
              <a:rPr lang="en-US" dirty="0"/>
              <a:t>“Just as in the Roman Catholic and canonical-criticism models above, it is unclear how this position is able to establish a canon that can function as an authority over the church” (p. 65)</a:t>
            </a:r>
          </a:p>
          <a:p>
            <a:pPr marL="920750" indent="-400050">
              <a:buFont typeface="+mj-lt"/>
              <a:buAutoNum type="arabicPeriod"/>
            </a:pPr>
            <a:endParaRPr lang="en-US" dirty="0"/>
          </a:p>
        </p:txBody>
      </p:sp>
    </p:spTree>
    <p:extLst>
      <p:ext uri="{BB962C8B-B14F-4D97-AF65-F5344CB8AC3E}">
        <p14:creationId xmlns:p14="http://schemas.microsoft.com/office/powerpoint/2010/main" val="1757058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71212-C15B-A597-50B1-009917DE92C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12B2D01-992D-470B-5717-573535183C84}"/>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2783182-7FDD-84E3-F8E0-43F557F9E10E}"/>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D3FBFB6B-D408-CFB2-7A1E-2251E2CC33FD}"/>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9170D630-CFD6-5AD2-2305-666CB4DFF5F6}"/>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682D68B1-DD57-71AC-C6A5-4503615AEB14}"/>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51D3AB2-57FC-9E8D-7DD3-8CCE688B5E7E}"/>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2806AE9A-0477-70BC-28D8-1F9B925E38E3}"/>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014E6961-D4CC-2215-1121-B976F229A580}"/>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C2290429-39D7-2B09-10C6-5097BB9E998E}"/>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BDD0C3BD-4CDB-302E-B8FB-9C3A312C30F5}"/>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8E66E3B6-BB45-56E6-B559-59EB6537424C}"/>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9F852EF8-AD73-FED0-DFD4-E8E70A248AD1}"/>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A6F2E37C-F00A-0296-59D7-A4BF770E87D4}"/>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06A4CB6E-7C2B-A8C6-EEA9-9AC068624E73}"/>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C0601BA1-8D08-42D9-CFF4-8053DD7C9580}"/>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DB290A6F-E455-5412-C704-E4416BFDA094}"/>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E8F843FB-20A2-C443-5285-6C08BBA41BFD}"/>
              </a:ext>
            </a:extLst>
          </p:cNvPr>
          <p:cNvSpPr txBox="1">
            <a:spLocks/>
          </p:cNvSpPr>
          <p:nvPr/>
        </p:nvSpPr>
        <p:spPr>
          <a:xfrm>
            <a:off x="837437" y="1824917"/>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“…if Scripture does not bear authority in itself and is contingent upon reception by the community, then </a:t>
            </a:r>
            <a:r>
              <a:rPr lang="en-US" dirty="0">
                <a:solidFill>
                  <a:schemeClr val="accent2"/>
                </a:solidFill>
              </a:rPr>
              <a:t>the community begins to take on authority equal to (if not greater than) that of Scripture</a:t>
            </a:r>
            <a:r>
              <a:rPr lang="en-US" dirty="0"/>
              <a:t>” (p. 65)</a:t>
            </a:r>
          </a:p>
          <a:p>
            <a:pPr marL="1377950" lvl="1" indent="-400050">
              <a:buFont typeface="Arial" panose="020B0604020202020204" pitchFamily="34" charset="0"/>
              <a:buChar char="•"/>
            </a:pPr>
            <a:r>
              <a:rPr lang="en-US" dirty="0"/>
              <a:t>“Just as in the Roman Catholic and canonical-criticism models above, it is unclear how this position is able to establish a canon that can function as an authority over the church” (p. 65)</a:t>
            </a:r>
          </a:p>
          <a:p>
            <a:pPr marL="920750" indent="-400050">
              <a:buFont typeface="+mj-lt"/>
              <a:buAutoNum type="arabicPeriod"/>
            </a:pPr>
            <a:endParaRPr lang="en-US" dirty="0"/>
          </a:p>
        </p:txBody>
      </p:sp>
    </p:spTree>
    <p:extLst>
      <p:ext uri="{BB962C8B-B14F-4D97-AF65-F5344CB8AC3E}">
        <p14:creationId xmlns:p14="http://schemas.microsoft.com/office/powerpoint/2010/main" val="3538428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95600-8395-67EF-77B3-5AC3E16C9D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7A6A11-B7D3-92A9-3E42-24AB691154BC}"/>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6AAB3D20-E511-D87D-021C-48473E3559B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B055783-E8FE-0394-2542-FA48F3E41809}"/>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FB5B21C-D457-C543-17FF-CB18DB1BC60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CE2911C5-C944-879D-3D64-B5F8551A47EA}"/>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531C0ECC-F3CB-D31B-B628-BF30DEAC59FC}"/>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0E43F44-C169-BFC3-6798-4C61DA847A27}"/>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8D12A84A-B374-FE4C-9974-CAAD22ECFDB3}"/>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58A8835C-91C9-A436-F3DD-14F83B8925DF}"/>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42779C13-68CF-C70A-E0B3-DE9F8822FBA6}"/>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B72841E8-3B3A-4DE4-DBF9-0CAC2E96C3D8}"/>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985267A7-1E75-09CC-B7FB-14B0A5352878}"/>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FBCE5CDB-8F8E-BC98-8AB7-01E23F524AF6}"/>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451EC3F6-3509-80B9-8BDC-D9F357CF184F}"/>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6462D8F0-8C74-0AEA-7F97-870AF0A7095B}"/>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26C5F20F-F853-F8C4-C46C-78DE1D1B4E56}"/>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64141ECB-B1BC-AB33-B64B-FB231E667A2F}"/>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Community Authorship Over Scripture</a:t>
            </a:r>
          </a:p>
        </p:txBody>
      </p:sp>
      <p:sp>
        <p:nvSpPr>
          <p:cNvPr id="60" name="!!Point3">
            <a:extLst>
              <a:ext uri="{FF2B5EF4-FFF2-40B4-BE49-F238E27FC236}">
                <a16:creationId xmlns:a16="http://schemas.microsoft.com/office/drawing/2014/main" id="{5A0C3E11-6D2B-4F60-9A60-3B7E0C600060}"/>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Font typeface="+mj-lt"/>
              <a:buAutoNum type="arabicPeriod"/>
            </a:pPr>
            <a:r>
              <a:rPr lang="en-US" dirty="0"/>
              <a:t>“…if the existentialist model is correct that there is nothing distinctive about the biblical books, then </a:t>
            </a:r>
            <a:r>
              <a:rPr lang="en-US" dirty="0">
                <a:solidFill>
                  <a:schemeClr val="accent2"/>
                </a:solidFill>
              </a:rPr>
              <a:t>the very </a:t>
            </a:r>
            <a:r>
              <a:rPr lang="en-US" i="1" dirty="0">
                <a:solidFill>
                  <a:schemeClr val="accent2"/>
                </a:solidFill>
              </a:rPr>
              <a:t>concept</a:t>
            </a:r>
            <a:r>
              <a:rPr lang="en-US" dirty="0">
                <a:solidFill>
                  <a:schemeClr val="accent2"/>
                </a:solidFill>
              </a:rPr>
              <a:t> of a canon is in jeopardy</a:t>
            </a:r>
            <a:r>
              <a:rPr lang="en-US" dirty="0"/>
              <a:t>” (p. 65)</a:t>
            </a:r>
          </a:p>
        </p:txBody>
      </p:sp>
    </p:spTree>
    <p:extLst>
      <p:ext uri="{BB962C8B-B14F-4D97-AF65-F5344CB8AC3E}">
        <p14:creationId xmlns:p14="http://schemas.microsoft.com/office/powerpoint/2010/main" val="334536305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1A261-9EEC-CED2-4B74-379816E2C49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95A73E-60C0-D5D3-D546-4274733AE1FB}"/>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73CC72ED-9687-5C81-5813-8061DB72C7A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E61E700E-3DFB-4644-4C8D-C7F5A4233ED4}"/>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AD64A9E-13D2-A25D-662B-D79D2010D132}"/>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4236E97F-FB37-7483-71E2-F16DA3F16186}"/>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7ACDD9E-359A-E157-8381-17EEB271BE7E}"/>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E1A530A-0CD8-60F4-6B20-D040D41F6211}"/>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1F936288-8813-33F0-D466-5410ED6A555B}"/>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C9797E24-49EB-B0C7-ACEB-E18074B4D297}"/>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395CB817-0A62-B265-788F-D1DAF13E8433}"/>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B9013A10-B825-617A-0211-9160D822A0DC}"/>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3D3859B9-0FE5-0AE2-70A6-DE2F7A58B91A}"/>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D9191AF9-6EBF-CB7D-0C92-34F3DDA95EBC}"/>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BB67D1A1-0EC4-FC7E-8D69-72299A36B0B1}"/>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BFA19785-3630-3A64-848B-62CA5E3F767B}"/>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0D6E671E-97DC-74DD-A053-468841A704E3}"/>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60" name="!!Point3">
            <a:extLst>
              <a:ext uri="{FF2B5EF4-FFF2-40B4-BE49-F238E27FC236}">
                <a16:creationId xmlns:a16="http://schemas.microsoft.com/office/drawing/2014/main" id="{5A0C3E11-6D2B-4F60-9A60-3B7E0C600060}"/>
              </a:ext>
            </a:extLst>
          </p:cNvPr>
          <p:cNvSpPr txBox="1">
            <a:spLocks/>
          </p:cNvSpPr>
          <p:nvPr/>
        </p:nvSpPr>
        <p:spPr>
          <a:xfrm>
            <a:off x="837436" y="783516"/>
            <a:ext cx="11354563" cy="6074483"/>
          </a:xfrm>
          <a:prstGeom prst="rect">
            <a:avLst/>
          </a:prstGeom>
        </p:spPr>
        <p:txBody>
          <a:bodyPr vert="horz" lIns="91440" tIns="0" rIns="9144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Font typeface="+mj-lt"/>
              <a:buAutoNum type="arabicPeriod"/>
            </a:pPr>
            <a:r>
              <a:rPr lang="en-US" dirty="0"/>
              <a:t>“…if the existentialist model is correct that there is nothing distinctive about the biblical books, then </a:t>
            </a:r>
            <a:r>
              <a:rPr lang="en-US" dirty="0">
                <a:solidFill>
                  <a:schemeClr val="accent2"/>
                </a:solidFill>
              </a:rPr>
              <a:t>the very </a:t>
            </a:r>
            <a:r>
              <a:rPr lang="en-US" i="1" dirty="0">
                <a:solidFill>
                  <a:schemeClr val="accent2"/>
                </a:solidFill>
              </a:rPr>
              <a:t>concept</a:t>
            </a:r>
            <a:r>
              <a:rPr lang="en-US" dirty="0">
                <a:solidFill>
                  <a:schemeClr val="accent2"/>
                </a:solidFill>
              </a:rPr>
              <a:t> of a canon is in jeopardy</a:t>
            </a:r>
            <a:r>
              <a:rPr lang="en-US" dirty="0"/>
              <a:t>” (p. 65)</a:t>
            </a:r>
          </a:p>
        </p:txBody>
      </p:sp>
      <p:sp>
        <p:nvSpPr>
          <p:cNvPr id="61" name="!!Sub3">
            <a:extLst>
              <a:ext uri="{FF2B5EF4-FFF2-40B4-BE49-F238E27FC236}">
                <a16:creationId xmlns:a16="http://schemas.microsoft.com/office/drawing/2014/main" id="{5A0C3E11-6D2B-4F61-9A61-3B7E0C610061}"/>
              </a:ext>
            </a:extLst>
          </p:cNvPr>
          <p:cNvSpPr txBox="1">
            <a:spLocks/>
          </p:cNvSpPr>
          <p:nvPr/>
        </p:nvSpPr>
        <p:spPr>
          <a:xfrm>
            <a:off x="837436" y="783516"/>
            <a:ext cx="11354563" cy="6074483"/>
          </a:xfrm>
          <a:prstGeom prst="rect">
            <a:avLst/>
          </a:prstGeom>
        </p:spPr>
        <p:txBody>
          <a:bodyPr vert="horz" lIns="91440" tIns="0" rIns="91440" bIns="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Clr>
                <a:schemeClr val="tx1">
                  <a:alpha val="0"/>
                </a:schemeClr>
              </a:buClr>
              <a:buFont typeface="+mj-lt"/>
              <a:buAutoNum type="arabicPeriod"/>
            </a:pPr>
            <a:r>
              <a:rPr lang="en-US" dirty="0">
                <a:solidFill>
                  <a:schemeClr val="tx1">
                    <a:alpha val="0"/>
                  </a:schemeClr>
                </a:solidFill>
              </a:rPr>
              <a:t>“…if the existentialist model is correct that there is nothing distinctive about the biblical books, then the very </a:t>
            </a:r>
            <a:r>
              <a:rPr lang="en-US" i="1" dirty="0">
                <a:solidFill>
                  <a:schemeClr val="tx1">
                    <a:alpha val="0"/>
                  </a:schemeClr>
                </a:solidFill>
              </a:rPr>
              <a:t>concept</a:t>
            </a:r>
            <a:r>
              <a:rPr lang="en-US" dirty="0">
                <a:solidFill>
                  <a:schemeClr val="tx1">
                    <a:alpha val="0"/>
                  </a:schemeClr>
                </a:solidFill>
              </a:rPr>
              <a:t> of a canon is in jeopardy” (p. 65)</a:t>
            </a:r>
          </a:p>
          <a:p>
            <a:pPr marL="1377950" lvl="1" indent="-400050">
              <a:buFont typeface="Arial" panose="020B0604020202020204" pitchFamily="34" charset="0"/>
              <a:buChar char="•"/>
            </a:pPr>
            <a:r>
              <a:rPr lang="en-US" sz="2200" dirty="0"/>
              <a:t>“We noted above that Barth (along with others) argues that </a:t>
            </a:r>
            <a:r>
              <a:rPr lang="en-US" sz="2200" dirty="0">
                <a:solidFill>
                  <a:schemeClr val="accent2"/>
                </a:solidFill>
              </a:rPr>
              <a:t>the New Testament contains contradictions and historical mistakes </a:t>
            </a:r>
            <a:r>
              <a:rPr lang="en-US" sz="2200" dirty="0"/>
              <a:t>(and for Bultmann, outright myth), </a:t>
            </a:r>
            <a:r>
              <a:rPr lang="en-US" sz="2200" dirty="0">
                <a:solidFill>
                  <a:schemeClr val="accent2"/>
                </a:solidFill>
              </a:rPr>
              <a:t>but that God can speak through these documents anyway</a:t>
            </a:r>
            <a:r>
              <a:rPr lang="en-US" sz="2200" dirty="0"/>
              <a:t>—that is, what matters is not history, but faith. But </a:t>
            </a:r>
            <a:r>
              <a:rPr lang="en-US" sz="2200" dirty="0">
                <a:solidFill>
                  <a:schemeClr val="accent2"/>
                </a:solidFill>
              </a:rPr>
              <a:t>if accurately recounting God’s historical acts does not matter—nor anything else inherent in these books—then why should we have any concern about the extent of the canon at all</a:t>
            </a:r>
            <a:r>
              <a:rPr lang="en-US" sz="2200" dirty="0"/>
              <a:t>? </a:t>
            </a:r>
            <a:r>
              <a:rPr lang="en-US" sz="2200" dirty="0">
                <a:solidFill>
                  <a:schemeClr val="accent2"/>
                </a:solidFill>
              </a:rPr>
              <a:t>If God can supernaturally speak through any book (in his sovereignty and power), then what difference does it make which books ended up in the canon</a:t>
            </a:r>
            <a:r>
              <a:rPr lang="en-US" sz="2200" dirty="0"/>
              <a:t>? In this regard, Bultmann’s extreme approach may prove to be the most consistent. </a:t>
            </a:r>
            <a:r>
              <a:rPr lang="en-US" sz="2200" dirty="0">
                <a:solidFill>
                  <a:schemeClr val="accent2"/>
                </a:solidFill>
              </a:rPr>
              <a:t>If there is nothing distinctive about these books (in and of themselves), then canonical boundaries are nonsensical. And therefore a canon is nonsensical</a:t>
            </a:r>
            <a:r>
              <a:rPr lang="en-US" sz="2200" dirty="0"/>
              <a:t>” (pp. 65-66)</a:t>
            </a:r>
          </a:p>
        </p:txBody>
      </p:sp>
    </p:spTree>
    <p:extLst>
      <p:ext uri="{BB962C8B-B14F-4D97-AF65-F5344CB8AC3E}">
        <p14:creationId xmlns:p14="http://schemas.microsoft.com/office/powerpoint/2010/main" val="4169718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xEl>
                                              <p:charRg st="212" end="2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95600-8395-67EF-77B3-5AC3E16C9D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7A6A11-B7D3-92A9-3E42-24AB691154BC}"/>
              </a:ext>
            </a:extLst>
          </p:cNvPr>
          <p:cNvSpPr>
            <a:spLocks noGrp="1"/>
          </p:cNvSpPr>
          <p:nvPr>
            <p:ph idx="1"/>
          </p:nvPr>
        </p:nvSpPr>
        <p:spPr>
          <a:xfrm>
            <a:off x="331470" y="-254247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6AAB3D20-E511-D87D-021C-48473E3559BF}"/>
              </a:ext>
            </a:extLst>
          </p:cNvPr>
          <p:cNvSpPr txBox="1">
            <a:spLocks/>
          </p:cNvSpPr>
          <p:nvPr/>
        </p:nvSpPr>
        <p:spPr>
          <a:xfrm>
            <a:off x="902969" y="-18465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BB055783-E8FE-0394-2542-FA48F3E41809}"/>
              </a:ext>
            </a:extLst>
          </p:cNvPr>
          <p:cNvSpPr txBox="1">
            <a:spLocks/>
          </p:cNvSpPr>
          <p:nvPr/>
        </p:nvSpPr>
        <p:spPr>
          <a:xfrm>
            <a:off x="331470" y="-18465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CFB5B21C-D457-C543-17FF-CB18DB1BC607}"/>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CE2911C5-C944-879D-3D64-B5F8551A47EA}"/>
              </a:ext>
            </a:extLst>
          </p:cNvPr>
          <p:cNvSpPr txBox="1">
            <a:spLocks/>
          </p:cNvSpPr>
          <p:nvPr/>
        </p:nvSpPr>
        <p:spPr>
          <a:xfrm>
            <a:off x="899160" y="-10972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531C0ECC-F3CB-D31B-B628-BF30DEAC59FC}"/>
              </a:ext>
            </a:extLst>
          </p:cNvPr>
          <p:cNvSpPr txBox="1">
            <a:spLocks/>
          </p:cNvSpPr>
          <p:nvPr/>
        </p:nvSpPr>
        <p:spPr>
          <a:xfrm>
            <a:off x="327660" y="-10972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8" name="TextBox 7">
            <a:extLst>
              <a:ext uri="{FF2B5EF4-FFF2-40B4-BE49-F238E27FC236}">
                <a16:creationId xmlns:a16="http://schemas.microsoft.com/office/drawing/2014/main" id="{B0E43F44-C169-BFC3-6798-4C61DA847A27}"/>
              </a:ext>
            </a:extLst>
          </p:cNvPr>
          <p:cNvSpPr txBox="1"/>
          <p:nvPr/>
        </p:nvSpPr>
        <p:spPr>
          <a:xfrm>
            <a:off x="7026795" y="-1097210"/>
            <a:ext cx="4266045"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8D12A84A-B374-FE4C-9974-CAAD22ECFDB3}"/>
              </a:ext>
            </a:extLst>
          </p:cNvPr>
          <p:cNvSpPr txBox="1">
            <a:spLocks/>
          </p:cNvSpPr>
          <p:nvPr/>
        </p:nvSpPr>
        <p:spPr>
          <a:xfrm>
            <a:off x="838199" y="68072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5" name="!!Evaluation">
            <a:extLst>
              <a:ext uri="{FF2B5EF4-FFF2-40B4-BE49-F238E27FC236}">
                <a16:creationId xmlns:a16="http://schemas.microsoft.com/office/drawing/2014/main" id="{70D3BB02-5D18-104B-1F27-0F39F161B4FE}"/>
              </a:ext>
            </a:extLst>
          </p:cNvPr>
          <p:cNvSpPr txBox="1"/>
          <p:nvPr/>
        </p:nvSpPr>
        <p:spPr>
          <a:xfrm>
            <a:off x="8432800" y="680720"/>
            <a:ext cx="4572000" cy="695960"/>
          </a:xfrm>
          <a:prstGeom prst="rect">
            <a:avLst/>
          </a:prstGeom>
          <a:noFill/>
        </p:spPr>
        <p:txBody>
          <a:bodyPr vert="horz" wrap="none" lIns="91440" tIns="45720" rIns="91440" bIns="45720" rtlCol="0">
            <a:noAutofit/>
          </a:bodyPr>
          <a:lstStyle/>
          <a:p>
            <a:pPr>
              <a:lnSpc>
                <a:spcPct val="90000"/>
              </a:lnSpc>
              <a:spcBef>
                <a:spcPts val="1000"/>
              </a:spcBef>
            </a:pPr>
            <a:r>
              <a:rPr lang="en-US" sz="4400" kern="1200" dirty="0"/>
              <a:t>Evaluation</a:t>
            </a:r>
          </a:p>
        </p:txBody>
      </p:sp>
      <p:sp>
        <p:nvSpPr>
          <p:cNvPr id="10" name="Content Placeholder 2">
            <a:extLst>
              <a:ext uri="{FF2B5EF4-FFF2-40B4-BE49-F238E27FC236}">
                <a16:creationId xmlns:a16="http://schemas.microsoft.com/office/drawing/2014/main" id="{58A8835C-91C9-A436-F3DD-14F83B8925DF}"/>
              </a:ext>
            </a:extLst>
          </p:cNvPr>
          <p:cNvSpPr txBox="1">
            <a:spLocks/>
          </p:cNvSpPr>
          <p:nvPr/>
        </p:nvSpPr>
        <p:spPr>
          <a:xfrm>
            <a:off x="-988189" y="585338"/>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Content Placeholder 2">
            <a:extLst>
              <a:ext uri="{FF2B5EF4-FFF2-40B4-BE49-F238E27FC236}">
                <a16:creationId xmlns:a16="http://schemas.microsoft.com/office/drawing/2014/main" id="{42779C13-68CF-C70A-E0B3-DE9F8822FBA6}"/>
              </a:ext>
            </a:extLst>
          </p:cNvPr>
          <p:cNvSpPr txBox="1">
            <a:spLocks/>
          </p:cNvSpPr>
          <p:nvPr/>
        </p:nvSpPr>
        <p:spPr>
          <a:xfrm>
            <a:off x="838200" y="1825624"/>
            <a:ext cx="10515600" cy="49120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chemeClr val="tx1"/>
              </a:buClr>
            </a:pPr>
            <a:r>
              <a:rPr lang="en-US" dirty="0">
                <a:solidFill>
                  <a:schemeClr val="tx1">
                    <a:alpha val="0"/>
                  </a:schemeClr>
                </a:solidFill>
              </a:rPr>
              <a:t>Three Problematic Area</a:t>
            </a:r>
            <a:r>
              <a:rPr lang="en-US" spc="200" dirty="0">
                <a:solidFill>
                  <a:schemeClr val="tx1">
                    <a:alpha val="0"/>
                  </a:schemeClr>
                </a:solidFill>
              </a:rPr>
              <a:t>s</a:t>
            </a:r>
            <a:r>
              <a:rPr lang="en-US" dirty="0"/>
              <a:t>:</a:t>
            </a:r>
          </a:p>
        </p:txBody>
      </p:sp>
      <p:sp>
        <p:nvSpPr>
          <p:cNvPr id="41" name="!!PA t">
            <a:extLst>
              <a:ext uri="{FF2B5EF4-FFF2-40B4-BE49-F238E27FC236}">
                <a16:creationId xmlns:a16="http://schemas.microsoft.com/office/drawing/2014/main" id="{B72841E8-3B3A-4DE4-DBF9-0CAC2E96C3D8}"/>
              </a:ext>
            </a:extLst>
          </p:cNvPr>
          <p:cNvSpPr txBox="1"/>
          <p:nvPr/>
        </p:nvSpPr>
        <p:spPr>
          <a:xfrm>
            <a:off x="1158240" y="1874520"/>
            <a:ext cx="196977"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T</a:t>
            </a:r>
          </a:p>
        </p:txBody>
      </p:sp>
      <p:sp>
        <p:nvSpPr>
          <p:cNvPr id="42" name="!!PA hree">
            <a:extLst>
              <a:ext uri="{FF2B5EF4-FFF2-40B4-BE49-F238E27FC236}">
                <a16:creationId xmlns:a16="http://schemas.microsoft.com/office/drawing/2014/main" id="{985267A7-1E75-09CC-B7FB-14B0A5352878}"/>
              </a:ext>
            </a:extLst>
          </p:cNvPr>
          <p:cNvSpPr txBox="1"/>
          <p:nvPr/>
        </p:nvSpPr>
        <p:spPr>
          <a:xfrm>
            <a:off x="1329817" y="1874520"/>
            <a:ext cx="716153"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hree</a:t>
            </a:r>
          </a:p>
        </p:txBody>
      </p:sp>
      <p:sp>
        <p:nvSpPr>
          <p:cNvPr id="43" name="!!PA p">
            <a:extLst>
              <a:ext uri="{FF2B5EF4-FFF2-40B4-BE49-F238E27FC236}">
                <a16:creationId xmlns:a16="http://schemas.microsoft.com/office/drawing/2014/main" id="{FBCE5CDB-8F8E-BC98-8AB7-01E23F524AF6}"/>
              </a:ext>
            </a:extLst>
          </p:cNvPr>
          <p:cNvSpPr txBox="1"/>
          <p:nvPr/>
        </p:nvSpPr>
        <p:spPr>
          <a:xfrm>
            <a:off x="2094357" y="1874520"/>
            <a:ext cx="232156"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P</a:t>
            </a:r>
          </a:p>
        </p:txBody>
      </p:sp>
      <p:sp>
        <p:nvSpPr>
          <p:cNvPr id="44" name="!!PA roblematic">
            <a:extLst>
              <a:ext uri="{FF2B5EF4-FFF2-40B4-BE49-F238E27FC236}">
                <a16:creationId xmlns:a16="http://schemas.microsoft.com/office/drawing/2014/main" id="{451EC3F6-3509-80B9-8BDC-D9F357CF184F}"/>
              </a:ext>
            </a:extLst>
          </p:cNvPr>
          <p:cNvSpPr txBox="1"/>
          <p:nvPr/>
        </p:nvSpPr>
        <p:spPr>
          <a:xfrm>
            <a:off x="2301113" y="1874520"/>
            <a:ext cx="1706880"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roblematic</a:t>
            </a:r>
          </a:p>
        </p:txBody>
      </p:sp>
      <p:sp>
        <p:nvSpPr>
          <p:cNvPr id="45" name="!!PA a">
            <a:extLst>
              <a:ext uri="{FF2B5EF4-FFF2-40B4-BE49-F238E27FC236}">
                <a16:creationId xmlns:a16="http://schemas.microsoft.com/office/drawing/2014/main" id="{6462D8F0-8C74-0AEA-7F97-870AF0A7095B}"/>
              </a:ext>
            </a:extLst>
          </p:cNvPr>
          <p:cNvSpPr txBox="1"/>
          <p:nvPr/>
        </p:nvSpPr>
        <p:spPr>
          <a:xfrm>
            <a:off x="4052697" y="1874520"/>
            <a:ext cx="236982"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A</a:t>
            </a:r>
          </a:p>
        </p:txBody>
      </p:sp>
      <p:sp>
        <p:nvSpPr>
          <p:cNvPr id="46" name="!!PA reas">
            <a:extLst>
              <a:ext uri="{FF2B5EF4-FFF2-40B4-BE49-F238E27FC236}">
                <a16:creationId xmlns:a16="http://schemas.microsoft.com/office/drawing/2014/main" id="{26C5F20F-F853-F8C4-C46C-78DE1D1B4E56}"/>
              </a:ext>
            </a:extLst>
          </p:cNvPr>
          <p:cNvSpPr txBox="1"/>
          <p:nvPr/>
        </p:nvSpPr>
        <p:spPr>
          <a:xfrm>
            <a:off x="4264406" y="1874520"/>
            <a:ext cx="695325" cy="431800"/>
          </a:xfrm>
          <a:prstGeom prst="rect">
            <a:avLst/>
          </a:prstGeom>
          <a:noFill/>
        </p:spPr>
        <p:txBody>
          <a:bodyPr wrap="none" lIns="0" tIns="0" rIns="0" bIns="0" rtlCol="0" anchor="t">
            <a:noAutofit/>
          </a:bodyPr>
          <a:lstStyle/>
          <a:p>
            <a:pPr>
              <a:lnSpc>
                <a:spcPct val="90000"/>
              </a:lnSpc>
            </a:pPr>
            <a:r>
              <a:rPr lang="en-US" sz="2800" dirty="0">
                <a:solidFill>
                  <a:schemeClr val="tx1"/>
                </a:solidFill>
              </a:rPr>
              <a:t>reas</a:t>
            </a:r>
          </a:p>
        </p:txBody>
      </p:sp>
      <p:sp>
        <p:nvSpPr>
          <p:cNvPr id="2" name="Content Placeholder 2">
            <a:extLst>
              <a:ext uri="{FF2B5EF4-FFF2-40B4-BE49-F238E27FC236}">
                <a16:creationId xmlns:a16="http://schemas.microsoft.com/office/drawing/2014/main" id="{64141ECB-B1BC-AB33-B64B-FB231E667A2F}"/>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Font typeface="+mj-lt"/>
              <a:buAutoNum type="arabicPeriod"/>
            </a:pPr>
            <a:r>
              <a:rPr lang="en-US" dirty="0"/>
              <a:t>No “right” canon</a:t>
            </a:r>
          </a:p>
          <a:p>
            <a:pPr marL="920750" indent="-400050">
              <a:buFont typeface="+mj-lt"/>
              <a:buAutoNum type="arabicPeriod"/>
            </a:pPr>
            <a:r>
              <a:rPr lang="en-US" dirty="0"/>
              <a:t>Community Authorship Over Scripture</a:t>
            </a:r>
          </a:p>
        </p:txBody>
      </p:sp>
      <p:sp>
        <p:nvSpPr>
          <p:cNvPr id="60" name="!!Point3">
            <a:extLst>
              <a:ext uri="{FF2B5EF4-FFF2-40B4-BE49-F238E27FC236}">
                <a16:creationId xmlns:a16="http://schemas.microsoft.com/office/drawing/2014/main" id="{5A0C3E11-6D2B-4F60-9A60-3B7E0C600060}"/>
              </a:ext>
            </a:extLst>
          </p:cNvPr>
          <p:cNvSpPr txBox="1">
            <a:spLocks/>
          </p:cNvSpPr>
          <p:nvPr/>
        </p:nvSpPr>
        <p:spPr>
          <a:xfrm>
            <a:off x="837436" y="1824917"/>
            <a:ext cx="11354563" cy="50330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pPr marL="920750" indent="-400050">
              <a:buClr>
                <a:schemeClr val="tx1">
                  <a:alpha val="0"/>
                </a:schemeClr>
              </a:buClr>
              <a:buFont typeface="+mj-lt"/>
              <a:buAutoNum type="arabicPeriod"/>
            </a:pPr>
            <a:r>
              <a:rPr lang="en-US" dirty="0">
                <a:solidFill>
                  <a:schemeClr val="tx1">
                    <a:alpha val="0"/>
                  </a:schemeClr>
                </a:solidFill>
              </a:rPr>
              <a:t>No “right” canon</a:t>
            </a:r>
          </a:p>
          <a:p>
            <a:pPr marL="920750" indent="-400050">
              <a:buClr>
                <a:schemeClr val="tx1">
                  <a:alpha val="0"/>
                </a:schemeClr>
              </a:buClr>
              <a:buFont typeface="+mj-lt"/>
              <a:buAutoNum type="arabicPeriod"/>
            </a:pPr>
            <a:r>
              <a:rPr lang="en-US" dirty="0">
                <a:solidFill>
                  <a:schemeClr val="tx1">
                    <a:alpha val="0"/>
                  </a:schemeClr>
                </a:solidFill>
              </a:rPr>
              <a:t>Community Authorship Over Scripture</a:t>
            </a:r>
          </a:p>
          <a:p>
            <a:pPr marL="920750" indent="-400050">
              <a:buFont typeface="+mj-lt"/>
              <a:buAutoNum type="arabicPeriod"/>
            </a:pPr>
            <a:r>
              <a:rPr lang="en-US" dirty="0"/>
              <a:t>The concept of “canon” in jeopardy</a:t>
            </a:r>
          </a:p>
        </p:txBody>
      </p:sp>
      <p:sp>
        <p:nvSpPr>
          <p:cNvPr id="13" name="TextBox 12">
            <a:extLst>
              <a:ext uri="{FF2B5EF4-FFF2-40B4-BE49-F238E27FC236}">
                <a16:creationId xmlns:a16="http://schemas.microsoft.com/office/drawing/2014/main" id="{070F22BB-6FF1-C823-5743-87D0A7E14D6C}"/>
              </a:ext>
            </a:extLst>
          </p:cNvPr>
          <p:cNvSpPr txBox="1"/>
          <p:nvPr/>
        </p:nvSpPr>
        <p:spPr>
          <a:xfrm>
            <a:off x="8496300" y="-718398"/>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Tree>
    <p:extLst>
      <p:ext uri="{BB962C8B-B14F-4D97-AF65-F5344CB8AC3E}">
        <p14:creationId xmlns:p14="http://schemas.microsoft.com/office/powerpoint/2010/main" val="9452125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1308ED-FF7D-A986-09B0-45F254808C23}"/>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8E96C479-46C5-8EAD-6B5D-1F6046D10D0A}"/>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E35B7464-40BC-B055-1564-1FFE7D25510D}"/>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278F2143-80E3-3E88-4E59-298618B1E84E}"/>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9BB4F840-68A2-A46F-A10F-15AD0B53F8DF}"/>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DF21E449-27B2-BDA5-B1A3-99D7E82D1E48}"/>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DA4EA15E-EF4B-AC7A-4899-97A354B3FB70}"/>
              </a:ext>
            </a:extLst>
          </p:cNvPr>
          <p:cNvSpPr txBox="1">
            <a:spLocks/>
          </p:cNvSpPr>
          <p:nvPr/>
        </p:nvSpPr>
        <p:spPr>
          <a:xfrm>
            <a:off x="902969" y="20739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218F4EBE-3300-6DFF-1DAE-D59A0C8749C2}"/>
              </a:ext>
            </a:extLst>
          </p:cNvPr>
          <p:cNvSpPr txBox="1">
            <a:spLocks/>
          </p:cNvSpPr>
          <p:nvPr/>
        </p:nvSpPr>
        <p:spPr>
          <a:xfrm>
            <a:off x="331470" y="20739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5656BD98-6D15-9A45-9BDB-83E67ADB326A}"/>
              </a:ext>
            </a:extLst>
          </p:cNvPr>
          <p:cNvSpPr txBox="1">
            <a:spLocks/>
          </p:cNvSpPr>
          <p:nvPr/>
        </p:nvSpPr>
        <p:spPr>
          <a:xfrm>
            <a:off x="0" y="3503201"/>
            <a:ext cx="12192000" cy="3304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000" dirty="0"/>
              <a:t>“Largely overlooked in the above models are (1) the intrinsic authority and internal attributes of these books that makes them authoritative and (2) the historical origins of these books and the fact that they stem from the apostolic age and accurately capture the redemptive activities of God in Jesus Christ. </a:t>
            </a:r>
            <a:r>
              <a:rPr lang="en-US" sz="3000" dirty="0">
                <a:solidFill>
                  <a:schemeClr val="accent2"/>
                </a:solidFill>
              </a:rPr>
              <a:t>As a result of these omissions, these models are left with a canon that is derived from and established by the church, and thus is unable to rule over the church. In effect, the canon has so much become the church’s book that it is unable to be God’s book</a:t>
            </a:r>
            <a:r>
              <a:rPr lang="en-US" sz="3000" dirty="0"/>
              <a:t>” (p. 66)</a:t>
            </a:r>
          </a:p>
          <a:p>
            <a:pPr marL="0" indent="0" algn="ctr">
              <a:buNone/>
            </a:pPr>
            <a:endParaRPr lang="en-US" sz="3600" dirty="0"/>
          </a:p>
        </p:txBody>
      </p:sp>
      <p:sp>
        <p:nvSpPr>
          <p:cNvPr id="8" name="TextBox 7">
            <a:extLst>
              <a:ext uri="{FF2B5EF4-FFF2-40B4-BE49-F238E27FC236}">
                <a16:creationId xmlns:a16="http://schemas.microsoft.com/office/drawing/2014/main" id="{EF7E304C-00CE-D7F5-FE27-602EEB257B3B}"/>
              </a:ext>
            </a:extLst>
          </p:cNvPr>
          <p:cNvSpPr txBox="1"/>
          <p:nvPr/>
        </p:nvSpPr>
        <p:spPr>
          <a:xfrm>
            <a:off x="7042150" y="207391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6D84CB49-F8D3-66C0-8C7D-2D6E0E8A46E6}"/>
              </a:ext>
            </a:extLst>
          </p:cNvPr>
          <p:cNvSpPr txBox="1">
            <a:spLocks/>
          </p:cNvSpPr>
          <p:nvPr/>
        </p:nvSpPr>
        <p:spPr>
          <a:xfrm>
            <a:off x="902969" y="276987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021B2023-844D-6F9D-D348-0CE8949CBF80}"/>
              </a:ext>
            </a:extLst>
          </p:cNvPr>
          <p:cNvSpPr txBox="1">
            <a:spLocks/>
          </p:cNvSpPr>
          <p:nvPr/>
        </p:nvSpPr>
        <p:spPr>
          <a:xfrm>
            <a:off x="331470" y="276987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8862EF4F-B794-C5FC-B7ED-80B3E7600C66}"/>
              </a:ext>
            </a:extLst>
          </p:cNvPr>
          <p:cNvSpPr txBox="1"/>
          <p:nvPr/>
        </p:nvSpPr>
        <p:spPr>
          <a:xfrm>
            <a:off x="8496300" y="276987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0BD6DCB0-6310-2C73-51ED-129C4A4BB4AE}"/>
              </a:ext>
            </a:extLst>
          </p:cNvPr>
          <p:cNvSpPr/>
          <p:nvPr/>
        </p:nvSpPr>
        <p:spPr>
          <a:xfrm rot="739563">
            <a:off x="2068366" y="1480264"/>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Tree>
    <p:extLst>
      <p:ext uri="{BB962C8B-B14F-4D97-AF65-F5344CB8AC3E}">
        <p14:creationId xmlns:p14="http://schemas.microsoft.com/office/powerpoint/2010/main" val="8329531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1C83-E7B3-B7EE-5FE4-67BA9418E0CB}"/>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19C495AB-274E-69EF-CBBB-35D77E3426DE}"/>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BFDF10F-298F-A513-EA00-AB0226DA8E42}"/>
              </a:ext>
            </a:extLst>
          </p:cNvPr>
          <p:cNvSpPr>
            <a:spLocks noGrp="1"/>
          </p:cNvSpPr>
          <p:nvPr>
            <p:ph idx="1"/>
          </p:nvPr>
        </p:nvSpPr>
        <p:spPr>
          <a:xfrm>
            <a:off x="331470" y="68199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A9BB55A4-9333-023E-9C55-7254C6A50B9F}"/>
              </a:ext>
            </a:extLst>
          </p:cNvPr>
          <p:cNvSpPr txBox="1">
            <a:spLocks/>
          </p:cNvSpPr>
          <p:nvPr/>
        </p:nvSpPr>
        <p:spPr>
          <a:xfrm>
            <a:off x="902969" y="13779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D4EB18B0-77EC-BAA6-6E00-8468A645A743}"/>
              </a:ext>
            </a:extLst>
          </p:cNvPr>
          <p:cNvSpPr txBox="1">
            <a:spLocks/>
          </p:cNvSpPr>
          <p:nvPr/>
        </p:nvSpPr>
        <p:spPr>
          <a:xfrm>
            <a:off x="331470" y="13779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47D1091D-C1F0-CAF9-1753-94E1FEF16AAD}"/>
              </a:ext>
            </a:extLst>
          </p:cNvPr>
          <p:cNvSpPr txBox="1">
            <a:spLocks/>
          </p:cNvSpPr>
          <p:nvPr/>
        </p:nvSpPr>
        <p:spPr>
          <a:xfrm>
            <a:off x="902969" y="88854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200D0FF0-2769-4BD9-F214-F3F68D03E2FD}"/>
              </a:ext>
            </a:extLst>
          </p:cNvPr>
          <p:cNvSpPr txBox="1">
            <a:spLocks/>
          </p:cNvSpPr>
          <p:nvPr/>
        </p:nvSpPr>
        <p:spPr>
          <a:xfrm>
            <a:off x="902969" y="20739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75E0B521-7A14-5094-6453-05DA9E3487A4}"/>
              </a:ext>
            </a:extLst>
          </p:cNvPr>
          <p:cNvSpPr txBox="1">
            <a:spLocks/>
          </p:cNvSpPr>
          <p:nvPr/>
        </p:nvSpPr>
        <p:spPr>
          <a:xfrm>
            <a:off x="331470" y="20739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B6453CEA-5235-0434-CE89-AEECC55EB77C}"/>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8" name="TextBox 7">
            <a:extLst>
              <a:ext uri="{FF2B5EF4-FFF2-40B4-BE49-F238E27FC236}">
                <a16:creationId xmlns:a16="http://schemas.microsoft.com/office/drawing/2014/main" id="{C2174F59-34A1-22A2-2B3A-6EF5A568CE21}"/>
              </a:ext>
            </a:extLst>
          </p:cNvPr>
          <p:cNvSpPr txBox="1"/>
          <p:nvPr/>
        </p:nvSpPr>
        <p:spPr>
          <a:xfrm>
            <a:off x="7042150" y="207391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55C7C5D6-A393-29F0-033B-B94A7DCC655A}"/>
              </a:ext>
            </a:extLst>
          </p:cNvPr>
          <p:cNvSpPr txBox="1">
            <a:spLocks/>
          </p:cNvSpPr>
          <p:nvPr/>
        </p:nvSpPr>
        <p:spPr>
          <a:xfrm>
            <a:off x="902969" y="276987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2F8B6A75-1F92-1DDE-8B0E-90BBE1D0C9CB}"/>
              </a:ext>
            </a:extLst>
          </p:cNvPr>
          <p:cNvSpPr txBox="1">
            <a:spLocks/>
          </p:cNvSpPr>
          <p:nvPr/>
        </p:nvSpPr>
        <p:spPr>
          <a:xfrm>
            <a:off x="331470" y="276987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1627F55E-235E-4F7B-9B65-5998A4E9A3D9}"/>
              </a:ext>
            </a:extLst>
          </p:cNvPr>
          <p:cNvSpPr txBox="1"/>
          <p:nvPr/>
        </p:nvSpPr>
        <p:spPr>
          <a:xfrm>
            <a:off x="8496300" y="276987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848CF3A7-2610-2313-1151-7ED1ED39B512}"/>
              </a:ext>
            </a:extLst>
          </p:cNvPr>
          <p:cNvSpPr/>
          <p:nvPr/>
        </p:nvSpPr>
        <p:spPr>
          <a:xfrm rot="739563">
            <a:off x="2068366" y="1480264"/>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
        <p:nvSpPr>
          <p:cNvPr id="12" name="!!SAModel">
            <a:extLst>
              <a:ext uri="{FF2B5EF4-FFF2-40B4-BE49-F238E27FC236}">
                <a16:creationId xmlns:a16="http://schemas.microsoft.com/office/drawing/2014/main" id="{5A1E64FA-2069-FBE3-CE7A-C9783C3AD362}"/>
              </a:ext>
            </a:extLst>
          </p:cNvPr>
          <p:cNvSpPr txBox="1">
            <a:spLocks/>
          </p:cNvSpPr>
          <p:nvPr/>
        </p:nvSpPr>
        <p:spPr>
          <a:xfrm>
            <a:off x="902969" y="404341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Canon-within-the-Canon Model</a:t>
            </a:r>
          </a:p>
        </p:txBody>
      </p:sp>
      <p:sp>
        <p:nvSpPr>
          <p:cNvPr id="13" name="Content Placeholder 2">
            <a:extLst>
              <a:ext uri="{FF2B5EF4-FFF2-40B4-BE49-F238E27FC236}">
                <a16:creationId xmlns:a16="http://schemas.microsoft.com/office/drawing/2014/main" id="{4F465DEF-5967-91B7-C8E0-C2D83881681D}"/>
              </a:ext>
            </a:extLst>
          </p:cNvPr>
          <p:cNvSpPr txBox="1">
            <a:spLocks/>
          </p:cNvSpPr>
          <p:nvPr/>
        </p:nvSpPr>
        <p:spPr>
          <a:xfrm>
            <a:off x="331470" y="40434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5.</a:t>
            </a:r>
          </a:p>
        </p:txBody>
      </p:sp>
    </p:spTree>
    <p:extLst>
      <p:ext uri="{BB962C8B-B14F-4D97-AF65-F5344CB8AC3E}">
        <p14:creationId xmlns:p14="http://schemas.microsoft.com/office/powerpoint/2010/main" val="40509676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601B1-8D63-9268-E4ED-56252E256A2F}"/>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318AD553-F53B-7CDE-BE96-9FDB71C72ADF}"/>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5F072F43-0695-FD57-0F12-6602352D5C9D}"/>
              </a:ext>
            </a:extLst>
          </p:cNvPr>
          <p:cNvSpPr>
            <a:spLocks noGrp="1"/>
          </p:cNvSpPr>
          <p:nvPr>
            <p:ph idx="1"/>
          </p:nvPr>
        </p:nvSpPr>
        <p:spPr>
          <a:xfrm>
            <a:off x="331470" y="-305181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4D9F29E7-2693-FEDC-1121-85A244293F9D}"/>
              </a:ext>
            </a:extLst>
          </p:cNvPr>
          <p:cNvSpPr txBox="1">
            <a:spLocks/>
          </p:cNvSpPr>
          <p:nvPr/>
        </p:nvSpPr>
        <p:spPr>
          <a:xfrm>
            <a:off x="902969" y="-23558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2F9581F9-A25D-C313-2136-8C8F6364C7FC}"/>
              </a:ext>
            </a:extLst>
          </p:cNvPr>
          <p:cNvSpPr txBox="1">
            <a:spLocks/>
          </p:cNvSpPr>
          <p:nvPr/>
        </p:nvSpPr>
        <p:spPr>
          <a:xfrm>
            <a:off x="331470" y="-23558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393C627B-E2A8-C958-80F2-2B4D0E8B55C5}"/>
              </a:ext>
            </a:extLst>
          </p:cNvPr>
          <p:cNvSpPr txBox="1">
            <a:spLocks/>
          </p:cNvSpPr>
          <p:nvPr/>
        </p:nvSpPr>
        <p:spPr>
          <a:xfrm>
            <a:off x="902969" y="-284526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B324F733-7196-D000-0032-590CAAE0C866}"/>
              </a:ext>
            </a:extLst>
          </p:cNvPr>
          <p:cNvSpPr txBox="1">
            <a:spLocks/>
          </p:cNvSpPr>
          <p:nvPr/>
        </p:nvSpPr>
        <p:spPr>
          <a:xfrm>
            <a:off x="902969" y="-165989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D970C719-11C3-66A9-2D6A-E64E1AFDD9CD}"/>
              </a:ext>
            </a:extLst>
          </p:cNvPr>
          <p:cNvSpPr txBox="1">
            <a:spLocks/>
          </p:cNvSpPr>
          <p:nvPr/>
        </p:nvSpPr>
        <p:spPr>
          <a:xfrm>
            <a:off x="331470" y="-165989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22DDED3D-9416-FD5E-871F-7300CA772570}"/>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8" name="TextBox 7">
            <a:extLst>
              <a:ext uri="{FF2B5EF4-FFF2-40B4-BE49-F238E27FC236}">
                <a16:creationId xmlns:a16="http://schemas.microsoft.com/office/drawing/2014/main" id="{B92C03DE-2ABA-C804-78A0-62D370F5D580}"/>
              </a:ext>
            </a:extLst>
          </p:cNvPr>
          <p:cNvSpPr txBox="1"/>
          <p:nvPr/>
        </p:nvSpPr>
        <p:spPr>
          <a:xfrm>
            <a:off x="7042150" y="-165989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8CEE96CE-870C-70F4-D2BF-8C26B0659D22}"/>
              </a:ext>
            </a:extLst>
          </p:cNvPr>
          <p:cNvSpPr txBox="1">
            <a:spLocks/>
          </p:cNvSpPr>
          <p:nvPr/>
        </p:nvSpPr>
        <p:spPr>
          <a:xfrm>
            <a:off x="902969" y="-96393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2850355F-61EE-3A36-3EBE-CA9945F2295F}"/>
              </a:ext>
            </a:extLst>
          </p:cNvPr>
          <p:cNvSpPr txBox="1">
            <a:spLocks/>
          </p:cNvSpPr>
          <p:nvPr/>
        </p:nvSpPr>
        <p:spPr>
          <a:xfrm>
            <a:off x="331470" y="-96393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E6AB7238-FFE3-3F01-0966-F9EBEFD132A0}"/>
              </a:ext>
            </a:extLst>
          </p:cNvPr>
          <p:cNvSpPr txBox="1"/>
          <p:nvPr/>
        </p:nvSpPr>
        <p:spPr>
          <a:xfrm>
            <a:off x="8496300" y="-96393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3191ABCC-5F42-FE0C-63A3-C0ED5E4A4386}"/>
              </a:ext>
            </a:extLst>
          </p:cNvPr>
          <p:cNvSpPr/>
          <p:nvPr/>
        </p:nvSpPr>
        <p:spPr>
          <a:xfrm rot="739563">
            <a:off x="2068366" y="-2253536"/>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
        <p:nvSpPr>
          <p:cNvPr id="12" name="!!SAModel">
            <a:extLst>
              <a:ext uri="{FF2B5EF4-FFF2-40B4-BE49-F238E27FC236}">
                <a16:creationId xmlns:a16="http://schemas.microsoft.com/office/drawing/2014/main" id="{13D024D2-8F4E-184E-DB87-83E03C15E383}"/>
              </a:ext>
            </a:extLst>
          </p:cNvPr>
          <p:cNvSpPr txBox="1">
            <a:spLocks/>
          </p:cNvSpPr>
          <p:nvPr/>
        </p:nvSpPr>
        <p:spPr>
          <a:xfrm>
            <a:off x="838200" y="365760"/>
            <a:ext cx="10515600" cy="1320800"/>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Canon-within-the-Canon Model</a:t>
            </a:r>
          </a:p>
        </p:txBody>
      </p:sp>
      <p:sp>
        <p:nvSpPr>
          <p:cNvPr id="13" name="Content Placeholder 2">
            <a:extLst>
              <a:ext uri="{FF2B5EF4-FFF2-40B4-BE49-F238E27FC236}">
                <a16:creationId xmlns:a16="http://schemas.microsoft.com/office/drawing/2014/main" id="{5237C2C1-E1B5-169A-DB95-AF17624AA008}"/>
              </a:ext>
            </a:extLst>
          </p:cNvPr>
          <p:cNvSpPr txBox="1">
            <a:spLocks/>
          </p:cNvSpPr>
          <p:nvPr/>
        </p:nvSpPr>
        <p:spPr>
          <a:xfrm>
            <a:off x="-913130" y="8176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5.</a:t>
            </a:r>
          </a:p>
        </p:txBody>
      </p:sp>
      <p:sp>
        <p:nvSpPr>
          <p:cNvPr id="5" name="Content Placeholder 2">
            <a:extLst>
              <a:ext uri="{FF2B5EF4-FFF2-40B4-BE49-F238E27FC236}">
                <a16:creationId xmlns:a16="http://schemas.microsoft.com/office/drawing/2014/main" id="{131B2D51-BEC1-7962-E6B4-0020D7023535}"/>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 1962, Kurt Aland published the now famous article ‘The Problem of the New Testament Canon,’ in which he argued that the formation of the canon was so laden with ‘imperfections and uncertainties’ that its final shape clearly includes books (and portions of books) that are problematic. Thus, </a:t>
            </a:r>
            <a:r>
              <a:rPr lang="en-US" dirty="0">
                <a:solidFill>
                  <a:schemeClr val="accent2"/>
                </a:solidFill>
              </a:rPr>
              <a:t>the only way forward is to discover the ‘canon within the canon’ by reducing the New Testament to its core truths and selecting the parts that will bring ‘unity to the faith.’ </a:t>
            </a:r>
            <a:r>
              <a:rPr lang="en-US" dirty="0"/>
              <a:t>How is this to be done? By an investigation into the “historical development” of these books to determine </a:t>
            </a:r>
            <a:r>
              <a:rPr lang="en-US" dirty="0">
                <a:solidFill>
                  <a:schemeClr val="accent2"/>
                </a:solidFill>
              </a:rPr>
              <a:t>which parts are genuine and which are not</a:t>
            </a:r>
            <a:r>
              <a:rPr lang="en-US" dirty="0"/>
              <a:t>” (p. 68)</a:t>
            </a:r>
          </a:p>
        </p:txBody>
      </p:sp>
    </p:spTree>
    <p:extLst>
      <p:ext uri="{BB962C8B-B14F-4D97-AF65-F5344CB8AC3E}">
        <p14:creationId xmlns:p14="http://schemas.microsoft.com/office/powerpoint/2010/main" val="3049259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F9CDF-73F1-A120-E4EB-D3567FFE267C}"/>
            </a:ext>
          </a:extLst>
        </p:cNvPr>
        <p:cNvGrpSpPr/>
        <p:nvPr/>
      </p:nvGrpSpPr>
      <p:grpSpPr>
        <a:xfrm>
          <a:off x="0" y="0"/>
          <a:ext cx="0" cy="0"/>
          <a:chOff x="0" y="0"/>
          <a:chExt cx="0" cy="0"/>
        </a:xfrm>
      </p:grpSpPr>
      <p:sp>
        <p:nvSpPr>
          <p:cNvPr id="17" name="Content Placeholder 2">
            <a:extLst>
              <a:ext uri="{FF2B5EF4-FFF2-40B4-BE49-F238E27FC236}">
                <a16:creationId xmlns:a16="http://schemas.microsoft.com/office/drawing/2014/main" id="{78049B93-B2F4-5781-9D3F-995FAEE13BC9}"/>
              </a:ext>
            </a:extLst>
          </p:cNvPr>
          <p:cNvSpPr txBox="1">
            <a:spLocks/>
          </p:cNvSpPr>
          <p:nvPr/>
        </p:nvSpPr>
        <p:spPr>
          <a:xfrm>
            <a:off x="906780" y="-1035786"/>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solidFill>
                  <a:schemeClr val="bg1"/>
                </a:solidFill>
              </a:rPr>
              <a:t>Roman Catholic Model </a:t>
            </a:r>
            <a:r>
              <a:rPr lang="en-US" sz="4400" dirty="0"/>
              <a:t>= Church Created</a:t>
            </a:r>
          </a:p>
        </p:txBody>
      </p:sp>
      <p:sp>
        <p:nvSpPr>
          <p:cNvPr id="3" name="Content Placeholder 2">
            <a:extLst>
              <a:ext uri="{FF2B5EF4-FFF2-40B4-BE49-F238E27FC236}">
                <a16:creationId xmlns:a16="http://schemas.microsoft.com/office/drawing/2014/main" id="{E8F288FD-FD1B-3BA6-0A65-414BEC47EEB6}"/>
              </a:ext>
            </a:extLst>
          </p:cNvPr>
          <p:cNvSpPr>
            <a:spLocks noGrp="1"/>
          </p:cNvSpPr>
          <p:nvPr>
            <p:ph idx="1"/>
          </p:nvPr>
        </p:nvSpPr>
        <p:spPr>
          <a:xfrm>
            <a:off x="331470" y="-3051810"/>
            <a:ext cx="10746740" cy="695960"/>
          </a:xfrm>
        </p:spPr>
        <p:txBody>
          <a:bodyPr>
            <a:noAutofit/>
          </a:bodyPr>
          <a:lstStyle/>
          <a:p>
            <a:pPr marL="0" indent="0">
              <a:buNone/>
            </a:pPr>
            <a:r>
              <a:rPr lang="en-US" sz="4400" dirty="0"/>
              <a:t>1. Historical-Critical Model = Boxing Match</a:t>
            </a:r>
          </a:p>
        </p:txBody>
      </p:sp>
      <p:sp>
        <p:nvSpPr>
          <p:cNvPr id="6" name="Content Placeholder 2">
            <a:extLst>
              <a:ext uri="{FF2B5EF4-FFF2-40B4-BE49-F238E27FC236}">
                <a16:creationId xmlns:a16="http://schemas.microsoft.com/office/drawing/2014/main" id="{C8028F3B-3F94-5063-C0FF-952EFE7645E4}"/>
              </a:ext>
            </a:extLst>
          </p:cNvPr>
          <p:cNvSpPr txBox="1">
            <a:spLocks/>
          </p:cNvSpPr>
          <p:nvPr/>
        </p:nvSpPr>
        <p:spPr>
          <a:xfrm>
            <a:off x="902969" y="-235585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t>Roman Catholic Model = Church Created</a:t>
            </a:r>
          </a:p>
        </p:txBody>
      </p:sp>
      <p:sp>
        <p:nvSpPr>
          <p:cNvPr id="7" name="Content Placeholder 2">
            <a:extLst>
              <a:ext uri="{FF2B5EF4-FFF2-40B4-BE49-F238E27FC236}">
                <a16:creationId xmlns:a16="http://schemas.microsoft.com/office/drawing/2014/main" id="{AA736478-2D39-CB75-64AF-5B5637D48B75}"/>
              </a:ext>
            </a:extLst>
          </p:cNvPr>
          <p:cNvSpPr txBox="1">
            <a:spLocks/>
          </p:cNvSpPr>
          <p:nvPr/>
        </p:nvSpPr>
        <p:spPr>
          <a:xfrm>
            <a:off x="331470" y="-235585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2.</a:t>
            </a:r>
          </a:p>
        </p:txBody>
      </p:sp>
      <p:sp>
        <p:nvSpPr>
          <p:cNvPr id="19" name="Content Placeholder 2">
            <a:extLst>
              <a:ext uri="{FF2B5EF4-FFF2-40B4-BE49-F238E27FC236}">
                <a16:creationId xmlns:a16="http://schemas.microsoft.com/office/drawing/2014/main" id="{2609C0F8-E5FB-D8C7-1969-4DB010458F3B}"/>
              </a:ext>
            </a:extLst>
          </p:cNvPr>
          <p:cNvSpPr txBox="1">
            <a:spLocks/>
          </p:cNvSpPr>
          <p:nvPr/>
        </p:nvSpPr>
        <p:spPr>
          <a:xfrm>
            <a:off x="902969" y="-284526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4400" dirty="0"/>
          </a:p>
        </p:txBody>
      </p:sp>
      <p:sp>
        <p:nvSpPr>
          <p:cNvPr id="20" name="Content Placeholder 2">
            <a:extLst>
              <a:ext uri="{FF2B5EF4-FFF2-40B4-BE49-F238E27FC236}">
                <a16:creationId xmlns:a16="http://schemas.microsoft.com/office/drawing/2014/main" id="{F61D7965-5BB8-8A68-4197-13D288904CF4}"/>
              </a:ext>
            </a:extLst>
          </p:cNvPr>
          <p:cNvSpPr txBox="1">
            <a:spLocks/>
          </p:cNvSpPr>
          <p:nvPr/>
        </p:nvSpPr>
        <p:spPr>
          <a:xfrm>
            <a:off x="902969" y="-165989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Canonical-Critical Model</a:t>
            </a:r>
          </a:p>
        </p:txBody>
      </p:sp>
      <p:sp>
        <p:nvSpPr>
          <p:cNvPr id="21" name="Content Placeholder 2">
            <a:extLst>
              <a:ext uri="{FF2B5EF4-FFF2-40B4-BE49-F238E27FC236}">
                <a16:creationId xmlns:a16="http://schemas.microsoft.com/office/drawing/2014/main" id="{B69E7415-C65B-A349-8C87-2FECF5BD3818}"/>
              </a:ext>
            </a:extLst>
          </p:cNvPr>
          <p:cNvSpPr txBox="1">
            <a:spLocks/>
          </p:cNvSpPr>
          <p:nvPr/>
        </p:nvSpPr>
        <p:spPr>
          <a:xfrm>
            <a:off x="331470" y="-165989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3.</a:t>
            </a:r>
          </a:p>
        </p:txBody>
      </p:sp>
      <p:sp>
        <p:nvSpPr>
          <p:cNvPr id="2" name="Content Placeholder 2">
            <a:extLst>
              <a:ext uri="{FF2B5EF4-FFF2-40B4-BE49-F238E27FC236}">
                <a16:creationId xmlns:a16="http://schemas.microsoft.com/office/drawing/2014/main" id="{19D6E6E5-A353-5F88-D9A3-60624FBFC97C}"/>
              </a:ext>
            </a:extLst>
          </p:cNvPr>
          <p:cNvSpPr txBox="1">
            <a:spLocks/>
          </p:cNvSpPr>
          <p:nvPr/>
        </p:nvSpPr>
        <p:spPr>
          <a:xfrm>
            <a:off x="0" y="7005646"/>
            <a:ext cx="12192000" cy="440969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“…if the church is able to change the text along the way, what keeps it from changing it now? In other words, why does, and this is one of the key problems with canonical criticism, why does Childs freeze things in the fourth century? It's like for generations, generations, the church can change, modify, alter, and you finally get this final form which he sort of picks as the fourth century and said, well, there we stop. And there we stop and we don't do anything else to the text. But that seems a little bit arbitrary. </a:t>
            </a:r>
            <a:r>
              <a:rPr lang="en-US" dirty="0">
                <a:solidFill>
                  <a:schemeClr val="accent2"/>
                </a:solidFill>
              </a:rPr>
              <a:t>If you can change it back then and change it all the way and inspiration is not in the original authors, then why can we not just change the text today? Why can't we get together as a church now and have community (you know, community inspiration) again and change it</a:t>
            </a:r>
            <a:r>
              <a:rPr lang="en-US" dirty="0"/>
              <a:t>?”</a:t>
            </a:r>
          </a:p>
          <a:p>
            <a:pPr marL="0" indent="0" algn="ctr">
              <a:buNone/>
            </a:pPr>
            <a:r>
              <a:rPr lang="en-US" sz="2000" dirty="0"/>
              <a:t>(Dr. Michael Kruger, “PART 4 The Canonical Criticism &amp; Existential Models” YouTube Video, minute 8:06-8:48)</a:t>
            </a:r>
            <a:endParaRPr lang="en-US" sz="3600" dirty="0"/>
          </a:p>
        </p:txBody>
      </p:sp>
      <p:sp>
        <p:nvSpPr>
          <p:cNvPr id="8" name="TextBox 7">
            <a:extLst>
              <a:ext uri="{FF2B5EF4-FFF2-40B4-BE49-F238E27FC236}">
                <a16:creationId xmlns:a16="http://schemas.microsoft.com/office/drawing/2014/main" id="{54975E85-0184-6C35-7170-DA994B3B0574}"/>
              </a:ext>
            </a:extLst>
          </p:cNvPr>
          <p:cNvSpPr txBox="1"/>
          <p:nvPr/>
        </p:nvSpPr>
        <p:spPr>
          <a:xfrm>
            <a:off x="7042150" y="-165989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Church Formed</a:t>
            </a:r>
          </a:p>
        </p:txBody>
      </p:sp>
      <p:sp>
        <p:nvSpPr>
          <p:cNvPr id="9" name="!!ENModel">
            <a:extLst>
              <a:ext uri="{FF2B5EF4-FFF2-40B4-BE49-F238E27FC236}">
                <a16:creationId xmlns:a16="http://schemas.microsoft.com/office/drawing/2014/main" id="{B4FF41B4-F637-9F9C-8A41-576AA00D765D}"/>
              </a:ext>
            </a:extLst>
          </p:cNvPr>
          <p:cNvSpPr txBox="1">
            <a:spLocks/>
          </p:cNvSpPr>
          <p:nvPr/>
        </p:nvSpPr>
        <p:spPr>
          <a:xfrm>
            <a:off x="902969" y="-963930"/>
            <a:ext cx="1012444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Existential/Neoorthodox Model</a:t>
            </a:r>
          </a:p>
        </p:txBody>
      </p:sp>
      <p:sp>
        <p:nvSpPr>
          <p:cNvPr id="10" name="Content Placeholder 2">
            <a:extLst>
              <a:ext uri="{FF2B5EF4-FFF2-40B4-BE49-F238E27FC236}">
                <a16:creationId xmlns:a16="http://schemas.microsoft.com/office/drawing/2014/main" id="{6B6DA97D-22AE-E270-8E34-DF4607074578}"/>
              </a:ext>
            </a:extLst>
          </p:cNvPr>
          <p:cNvSpPr txBox="1">
            <a:spLocks/>
          </p:cNvSpPr>
          <p:nvPr/>
        </p:nvSpPr>
        <p:spPr>
          <a:xfrm>
            <a:off x="331470" y="-96393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4.</a:t>
            </a:r>
          </a:p>
        </p:txBody>
      </p:sp>
      <p:sp>
        <p:nvSpPr>
          <p:cNvPr id="11" name="TextBox 10">
            <a:extLst>
              <a:ext uri="{FF2B5EF4-FFF2-40B4-BE49-F238E27FC236}">
                <a16:creationId xmlns:a16="http://schemas.microsoft.com/office/drawing/2014/main" id="{A838BB1C-DD11-2419-602B-5E61E9C8ACD5}"/>
              </a:ext>
            </a:extLst>
          </p:cNvPr>
          <p:cNvSpPr txBox="1"/>
          <p:nvPr/>
        </p:nvSpPr>
        <p:spPr>
          <a:xfrm>
            <a:off x="8496300" y="-963930"/>
            <a:ext cx="4265930" cy="695960"/>
          </a:xfrm>
          <a:prstGeom prst="rect">
            <a:avLst/>
          </a:prstGeom>
          <a:noFill/>
        </p:spPr>
        <p:txBody>
          <a:bodyPr vert="horz" wrap="none" lIns="91440" tIns="45720" rIns="91440" bIns="45720" rtlCol="0">
            <a:noAutofit/>
          </a:bodyPr>
          <a:lstStyle/>
          <a:p>
            <a:pPr>
              <a:lnSpc>
                <a:spcPct val="90000"/>
              </a:lnSpc>
              <a:spcBef>
                <a:spcPts val="1000"/>
              </a:spcBef>
            </a:pPr>
            <a:r>
              <a:rPr lang="en-US" sz="4400" dirty="0"/>
              <a:t>= Experience</a:t>
            </a:r>
          </a:p>
        </p:txBody>
      </p:sp>
      <p:sp>
        <p:nvSpPr>
          <p:cNvPr id="4" name="Rectangle 3">
            <a:extLst>
              <a:ext uri="{FF2B5EF4-FFF2-40B4-BE49-F238E27FC236}">
                <a16:creationId xmlns:a16="http://schemas.microsoft.com/office/drawing/2014/main" id="{13ED18AE-0CE2-2894-8147-50499330D42F}"/>
              </a:ext>
            </a:extLst>
          </p:cNvPr>
          <p:cNvSpPr/>
          <p:nvPr/>
        </p:nvSpPr>
        <p:spPr>
          <a:xfrm rot="739563">
            <a:off x="2068366" y="-2253536"/>
            <a:ext cx="6929417" cy="1140706"/>
          </a:xfrm>
          <a:prstGeom prst="rect">
            <a:avLst/>
          </a:prstGeom>
          <a:solidFill>
            <a:srgbClr val="FF0000"/>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800" dirty="0">
                <a:solidFill>
                  <a:sysClr val="windowText" lastClr="000000"/>
                </a:solidFill>
              </a:rPr>
              <a:t>Community Decided</a:t>
            </a:r>
          </a:p>
        </p:txBody>
      </p:sp>
      <p:sp>
        <p:nvSpPr>
          <p:cNvPr id="12" name="!!SAModel">
            <a:extLst>
              <a:ext uri="{FF2B5EF4-FFF2-40B4-BE49-F238E27FC236}">
                <a16:creationId xmlns:a16="http://schemas.microsoft.com/office/drawing/2014/main" id="{8C64705F-4CA3-2F6F-24FC-7C8FF3014C60}"/>
              </a:ext>
            </a:extLst>
          </p:cNvPr>
          <p:cNvSpPr txBox="1">
            <a:spLocks/>
          </p:cNvSpPr>
          <p:nvPr/>
        </p:nvSpPr>
        <p:spPr>
          <a:xfrm>
            <a:off x="838200" y="365760"/>
            <a:ext cx="10515600" cy="1320800"/>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Canon-within-the-Canon Model</a:t>
            </a:r>
          </a:p>
        </p:txBody>
      </p:sp>
      <p:sp>
        <p:nvSpPr>
          <p:cNvPr id="13" name="Content Placeholder 2">
            <a:extLst>
              <a:ext uri="{FF2B5EF4-FFF2-40B4-BE49-F238E27FC236}">
                <a16:creationId xmlns:a16="http://schemas.microsoft.com/office/drawing/2014/main" id="{2F15148B-3B1D-098E-8D1E-E262EE916393}"/>
              </a:ext>
            </a:extLst>
          </p:cNvPr>
          <p:cNvSpPr txBox="1">
            <a:spLocks/>
          </p:cNvSpPr>
          <p:nvPr/>
        </p:nvSpPr>
        <p:spPr>
          <a:xfrm>
            <a:off x="-913130" y="817610"/>
            <a:ext cx="847090" cy="69596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4400" dirty="0"/>
              <a:t>5.</a:t>
            </a:r>
          </a:p>
        </p:txBody>
      </p:sp>
      <p:sp>
        <p:nvSpPr>
          <p:cNvPr id="5" name="Content Placeholder 2">
            <a:extLst>
              <a:ext uri="{FF2B5EF4-FFF2-40B4-BE49-F238E27FC236}">
                <a16:creationId xmlns:a16="http://schemas.microsoft.com/office/drawing/2014/main" id="{9459E44A-A4D0-49E3-5E51-6BF4EA66564A}"/>
              </a:ext>
            </a:extLst>
          </p:cNvPr>
          <p:cNvSpPr txBox="1">
            <a:spLocks/>
          </p:cNvSpPr>
          <p:nvPr/>
        </p:nvSpPr>
        <p:spPr>
          <a:xfrm>
            <a:off x="838199" y="1825625"/>
            <a:ext cx="109061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“Like the historical-critical model above, this model often shares the critical methodologies that arose during the Enlightenment and views the New Testament collection as a largely human construct. The difference, however, is in how each model responds to the human nature of the canon. While the historical-critical model is focused on the </a:t>
            </a:r>
            <a:r>
              <a:rPr lang="en-US" i="1" dirty="0"/>
              <a:t>reception</a:t>
            </a:r>
            <a:r>
              <a:rPr lang="en-US" dirty="0"/>
              <a:t> of these books and the natural causes for their selection by the early Christian community (Marcion, political power play, etc.), </a:t>
            </a:r>
            <a:r>
              <a:rPr lang="en-US" dirty="0">
                <a:solidFill>
                  <a:schemeClr val="accent2"/>
                </a:solidFill>
              </a:rPr>
              <a:t>the canon-within-the-canon model is intent on exploring the </a:t>
            </a:r>
            <a:r>
              <a:rPr lang="en-US" i="1" dirty="0">
                <a:solidFill>
                  <a:schemeClr val="accent2"/>
                </a:solidFill>
              </a:rPr>
              <a:t>origins</a:t>
            </a:r>
            <a:r>
              <a:rPr lang="en-US" dirty="0">
                <a:solidFill>
                  <a:schemeClr val="accent2"/>
                </a:solidFill>
              </a:rPr>
              <a:t> of these books and finding the ‘core’ material that could be considered genuine</a:t>
            </a:r>
            <a:r>
              <a:rPr lang="en-US" dirty="0"/>
              <a:t>” (p. 68)</a:t>
            </a:r>
          </a:p>
        </p:txBody>
      </p:sp>
    </p:spTree>
    <p:extLst>
      <p:ext uri="{BB962C8B-B14F-4D97-AF65-F5344CB8AC3E}">
        <p14:creationId xmlns:p14="http://schemas.microsoft.com/office/powerpoint/2010/main" val="5062719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2764</TotalTime>
  <Words>23407</Words>
  <Application>Microsoft Macintosh PowerPoint</Application>
  <PresentationFormat>Widescreen</PresentationFormat>
  <Paragraphs>1310</Paragraphs>
  <Slides>117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117</vt:i4>
      </vt:variant>
    </vt:vector>
  </HeadingPairs>
  <TitlesOfParts>
    <vt:vector size="122" baseType="lpstr">
      <vt:lpstr>Aptos</vt:lpstr>
      <vt:lpstr>Aptos Display</vt:lpstr>
      <vt:lpstr>Arial</vt:lpstr>
      <vt:lpstr>Calibri</vt:lpstr>
      <vt:lpstr>Office Theme</vt:lpstr>
      <vt:lpstr>Class 1: Introduction to the Canon of the NT</vt:lpstr>
      <vt:lpstr>Sources</vt:lpstr>
      <vt:lpstr>Download Slides</vt:lpstr>
      <vt:lpstr>What is “the Canon”?</vt:lpstr>
      <vt:lpstr>What is “the Canon”?</vt:lpstr>
      <vt:lpstr>Athanasius (367 AD)</vt:lpstr>
      <vt:lpstr>Athanasius (4th century)</vt:lpstr>
      <vt:lpstr>Athanasius (4th century)</vt:lpstr>
      <vt:lpstr>Athanasius (4th century)</vt:lpstr>
      <vt:lpstr>Athanasius (4th century)</vt:lpstr>
      <vt:lpstr>Athanasius (4th century)</vt:lpstr>
      <vt:lpstr>What is “the Canon”?</vt:lpstr>
      <vt:lpstr>What is “the Canon”?</vt:lpstr>
      <vt:lpstr>What is “the Canon”?</vt:lpstr>
      <vt:lpstr>What is “the Canon”?</vt:lpstr>
      <vt:lpstr>Pushback to this Definition (by M. Kruger)</vt:lpstr>
      <vt:lpstr>Pushback to this Definition (by M. Kruger)</vt:lpstr>
      <vt:lpstr>Pushback to this Definition (by M. Kruger)</vt:lpstr>
      <vt:lpstr>3 Definitions of “Canon” (see p. 58)</vt:lpstr>
      <vt:lpstr>3 Definitions of “Canon” (see p. 58)</vt:lpstr>
      <vt:lpstr>3 Definitions of “Canon” (see p. 58)</vt:lpstr>
      <vt:lpstr>When is the Canon Established?</vt:lpstr>
      <vt:lpstr>Pushback to Kruger</vt:lpstr>
      <vt:lpstr>Misunderstanding “Scripture” in the NT</vt:lpstr>
      <vt:lpstr>Class 2: History of Canon Discussion (19th century)</vt:lpstr>
      <vt:lpstr>Download Slides</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Class 3: History of Canon Discussion (20th century)</vt:lpstr>
      <vt:lpstr>Download Slides</vt:lpstr>
      <vt:lpstr>History of Canon Discussion</vt:lpstr>
      <vt:lpstr>History of Canon Discussion</vt:lpstr>
      <vt:lpstr>Class 4: Modern Canonical Models</vt:lpstr>
      <vt:lpstr>Download Slides</vt:lpstr>
      <vt:lpstr>Sources</vt:lpstr>
      <vt:lpstr>Sources</vt:lpstr>
      <vt:lpstr>PowerPoint Presentation</vt:lpstr>
      <vt:lpstr>PowerPoint Presentation</vt:lpstr>
      <vt:lpstr>PowerPoint Presentation</vt:lpstr>
      <vt:lpstr>PowerPoint Presentation</vt:lpstr>
      <vt:lpstr>PowerPoint Presentation</vt:lpstr>
      <vt:lpstr>Historical-Critical Model</vt:lpstr>
      <vt:lpstr>Historical-Critical Model</vt:lpstr>
      <vt:lpstr>Historical-Critical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Josh Haub</dc:creator>
  <cp:lastModifiedBy>Josh Haub</cp:lastModifiedBy>
  <cp:revision>3</cp:revision>
  <dcterms:created xsi:type="dcterms:W3CDTF">2026-10-03T17:49:49Z</dcterms:created>
  <dcterms:modified xsi:type="dcterms:W3CDTF">2026-10-16T20:53:08Z</dcterms:modified>
</cp:coreProperties>
</file>