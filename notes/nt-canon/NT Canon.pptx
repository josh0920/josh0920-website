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4"/>
  </p:notesMasterIdLst>
  <p:sldIdLst>
    <p:sldId id="307" r:id="rId2"/>
    <p:sldId id="257" r:id="rId3"/>
    <p:sldId id="338" r:id="rId4"/>
    <p:sldId id="258" r:id="rId5"/>
    <p:sldId id="272" r:id="rId6"/>
    <p:sldId id="273" r:id="rId7"/>
    <p:sldId id="274" r:id="rId8"/>
    <p:sldId id="275" r:id="rId9"/>
    <p:sldId id="276" r:id="rId10"/>
    <p:sldId id="277" r:id="rId11"/>
    <p:sldId id="278" r:id="rId12"/>
    <p:sldId id="279" r:id="rId13"/>
    <p:sldId id="280" r:id="rId14"/>
    <p:sldId id="281" r:id="rId15"/>
    <p:sldId id="282" r:id="rId16"/>
    <p:sldId id="328" r:id="rId17"/>
    <p:sldId id="329" r:id="rId18"/>
    <p:sldId id="330" r:id="rId19"/>
    <p:sldId id="331" r:id="rId20"/>
    <p:sldId id="332" r:id="rId21"/>
    <p:sldId id="308" r:id="rId22"/>
    <p:sldId id="339" r:id="rId23"/>
    <p:sldId id="259" r:id="rId24"/>
    <p:sldId id="283" r:id="rId25"/>
    <p:sldId id="284" r:id="rId26"/>
    <p:sldId id="285" r:id="rId27"/>
    <p:sldId id="286" r:id="rId28"/>
    <p:sldId id="287" r:id="rId29"/>
    <p:sldId id="288" r:id="rId30"/>
    <p:sldId id="290" r:id="rId31"/>
    <p:sldId id="289" r:id="rId32"/>
    <p:sldId id="291" r:id="rId33"/>
    <p:sldId id="292" r:id="rId34"/>
    <p:sldId id="294" r:id="rId35"/>
    <p:sldId id="295" r:id="rId36"/>
    <p:sldId id="296" r:id="rId37"/>
    <p:sldId id="297" r:id="rId38"/>
    <p:sldId id="298" r:id="rId39"/>
    <p:sldId id="300" r:id="rId40"/>
    <p:sldId id="301" r:id="rId41"/>
    <p:sldId id="302" r:id="rId42"/>
    <p:sldId id="303" r:id="rId43"/>
    <p:sldId id="304" r:id="rId44"/>
    <p:sldId id="305" r:id="rId45"/>
    <p:sldId id="306" r:id="rId46"/>
    <p:sldId id="310" r:id="rId47"/>
    <p:sldId id="340" r:id="rId48"/>
    <p:sldId id="311" r:id="rId49"/>
    <p:sldId id="312" r:id="rId50"/>
    <p:sldId id="313" r:id="rId51"/>
    <p:sldId id="341" r:id="rId52"/>
    <p:sldId id="373" r:id="rId53"/>
    <p:sldId id="320" r:id="rId54"/>
    <p:sldId id="314" r:id="rId55"/>
    <p:sldId id="326" r:id="rId56"/>
    <p:sldId id="327" r:id="rId57"/>
    <p:sldId id="333" r:id="rId58"/>
    <p:sldId id="334" r:id="rId59"/>
    <p:sldId id="335" r:id="rId60"/>
    <p:sldId id="336" r:id="rId61"/>
    <p:sldId id="337" r:id="rId62"/>
    <p:sldId id="348" r:id="rId63"/>
    <p:sldId id="349" r:id="rId64"/>
    <p:sldId id="350" r:id="rId65"/>
    <p:sldId id="352" r:id="rId66"/>
    <p:sldId id="353" r:id="rId67"/>
    <p:sldId id="354" r:id="rId68"/>
    <p:sldId id="358" r:id="rId69"/>
    <p:sldId id="361" r:id="rId70"/>
    <p:sldId id="362" r:id="rId71"/>
    <p:sldId id="363" r:id="rId72"/>
    <p:sldId id="372" r:id="rId73"/>
    <p:sldId id="366" r:id="rId74"/>
    <p:sldId id="367" r:id="rId75"/>
    <p:sldId id="368" r:id="rId76"/>
    <p:sldId id="369" r:id="rId77"/>
    <p:sldId id="370" r:id="rId78"/>
    <p:sldId id="385" r:id="rId79"/>
    <p:sldId id="384" r:id="rId80"/>
    <p:sldId id="394" r:id="rId81"/>
    <p:sldId id="395" r:id="rId82"/>
    <p:sldId id="371"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013"/>
    <p:restoredTop sz="94675"/>
  </p:normalViewPr>
  <p:slideViewPr>
    <p:cSldViewPr snapToGrid="0" showGuides="1">
      <p:cViewPr varScale="1">
        <p:scale>
          <a:sx n="114" d="100"/>
          <a:sy n="114" d="100"/>
        </p:scale>
        <p:origin x="384" y="184"/>
      </p:cViewPr>
      <p:guideLst>
        <p:guide orient="horz" pos="2208"/>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43B0B8-2163-C748-A57A-9B2531B34292}" type="datetimeFigureOut">
              <a:rPr lang="en-US" smtClean="0"/>
              <a:t>10/13/26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A3446E-04A9-A74E-980F-977D282969DA}" type="slidenum">
              <a:rPr lang="en-US" smtClean="0"/>
              <a:t>‹#›</a:t>
            </a:fld>
            <a:endParaRPr lang="en-US"/>
          </a:p>
        </p:txBody>
      </p:sp>
    </p:spTree>
    <p:extLst>
      <p:ext uri="{BB962C8B-B14F-4D97-AF65-F5344CB8AC3E}">
        <p14:creationId xmlns:p14="http://schemas.microsoft.com/office/powerpoint/2010/main" val="3760626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F6EA6-45D9-A729-1CB1-C3DAC873E8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566666-A37B-0FDC-356A-D7B2DC0F85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3EA8E9-7E52-DFCC-7714-4656D97B07CE}"/>
              </a:ext>
            </a:extLst>
          </p:cNvPr>
          <p:cNvSpPr>
            <a:spLocks noGrp="1"/>
          </p:cNvSpPr>
          <p:nvPr>
            <p:ph type="dt" sz="half" idx="10"/>
          </p:nvPr>
        </p:nvSpPr>
        <p:spPr/>
        <p:txBody>
          <a:bodyPr/>
          <a:lstStyle/>
          <a:p>
            <a:fld id="{82218986-71C6-F44F-84D6-5BF352D2A615}" type="datetimeFigureOut">
              <a:rPr lang="en-US" smtClean="0"/>
              <a:t>10/13/26</a:t>
            </a:fld>
            <a:endParaRPr lang="en-US"/>
          </a:p>
        </p:txBody>
      </p:sp>
      <p:sp>
        <p:nvSpPr>
          <p:cNvPr id="5" name="Footer Placeholder 4">
            <a:extLst>
              <a:ext uri="{FF2B5EF4-FFF2-40B4-BE49-F238E27FC236}">
                <a16:creationId xmlns:a16="http://schemas.microsoft.com/office/drawing/2014/main" id="{43FDA276-41FC-D4CF-A020-08BA79DF8D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26313A-2D4E-5F89-5DE1-DAAAAF52FAA8}"/>
              </a:ext>
            </a:extLst>
          </p:cNvPr>
          <p:cNvSpPr>
            <a:spLocks noGrp="1"/>
          </p:cNvSpPr>
          <p:nvPr>
            <p:ph type="sldNum" sz="quarter" idx="12"/>
          </p:nvPr>
        </p:nvSpPr>
        <p:spPr/>
        <p:txBody>
          <a:bodyPr/>
          <a:lstStyle/>
          <a:p>
            <a:fld id="{8D3333C5-B118-AF41-B00E-BA2813DFDF79}" type="slidenum">
              <a:rPr lang="en-US" smtClean="0"/>
              <a:t>‹#›</a:t>
            </a:fld>
            <a:endParaRPr lang="en-US"/>
          </a:p>
        </p:txBody>
      </p:sp>
    </p:spTree>
    <p:extLst>
      <p:ext uri="{BB962C8B-B14F-4D97-AF65-F5344CB8AC3E}">
        <p14:creationId xmlns:p14="http://schemas.microsoft.com/office/powerpoint/2010/main" val="1963346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CCBE6-EBFD-56AD-EEAA-46352B3AB6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C639E3-DF20-DEC4-6923-7FD40FA68C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8B6D6A-F8FE-3552-11F1-1A70AA4DAE3E}"/>
              </a:ext>
            </a:extLst>
          </p:cNvPr>
          <p:cNvSpPr>
            <a:spLocks noGrp="1"/>
          </p:cNvSpPr>
          <p:nvPr>
            <p:ph type="dt" sz="half" idx="10"/>
          </p:nvPr>
        </p:nvSpPr>
        <p:spPr/>
        <p:txBody>
          <a:bodyPr/>
          <a:lstStyle/>
          <a:p>
            <a:fld id="{82218986-71C6-F44F-84D6-5BF352D2A615}" type="datetimeFigureOut">
              <a:rPr lang="en-US" smtClean="0"/>
              <a:t>10/13/26</a:t>
            </a:fld>
            <a:endParaRPr lang="en-US"/>
          </a:p>
        </p:txBody>
      </p:sp>
      <p:sp>
        <p:nvSpPr>
          <p:cNvPr id="5" name="Footer Placeholder 4">
            <a:extLst>
              <a:ext uri="{FF2B5EF4-FFF2-40B4-BE49-F238E27FC236}">
                <a16:creationId xmlns:a16="http://schemas.microsoft.com/office/drawing/2014/main" id="{508FF11F-624F-96D4-5817-224290FDEF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FB5601-A730-B63C-7CB2-EC5DEAB8DDB2}"/>
              </a:ext>
            </a:extLst>
          </p:cNvPr>
          <p:cNvSpPr>
            <a:spLocks noGrp="1"/>
          </p:cNvSpPr>
          <p:nvPr>
            <p:ph type="sldNum" sz="quarter" idx="12"/>
          </p:nvPr>
        </p:nvSpPr>
        <p:spPr/>
        <p:txBody>
          <a:bodyPr/>
          <a:lstStyle/>
          <a:p>
            <a:fld id="{8D3333C5-B118-AF41-B00E-BA2813DFDF79}" type="slidenum">
              <a:rPr lang="en-US" smtClean="0"/>
              <a:t>‹#›</a:t>
            </a:fld>
            <a:endParaRPr lang="en-US"/>
          </a:p>
        </p:txBody>
      </p:sp>
    </p:spTree>
    <p:extLst>
      <p:ext uri="{BB962C8B-B14F-4D97-AF65-F5344CB8AC3E}">
        <p14:creationId xmlns:p14="http://schemas.microsoft.com/office/powerpoint/2010/main" val="3777229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FDF76-FC51-711D-B881-F6E99E465A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46B274-1934-64E3-CFE5-0A2924531D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C2134A-7F1C-B287-4C96-28907CA28585}"/>
              </a:ext>
            </a:extLst>
          </p:cNvPr>
          <p:cNvSpPr>
            <a:spLocks noGrp="1"/>
          </p:cNvSpPr>
          <p:nvPr>
            <p:ph type="dt" sz="half" idx="10"/>
          </p:nvPr>
        </p:nvSpPr>
        <p:spPr/>
        <p:txBody>
          <a:bodyPr/>
          <a:lstStyle/>
          <a:p>
            <a:fld id="{82218986-71C6-F44F-84D6-5BF352D2A615}" type="datetimeFigureOut">
              <a:rPr lang="en-US" smtClean="0"/>
              <a:t>10/13/26</a:t>
            </a:fld>
            <a:endParaRPr lang="en-US"/>
          </a:p>
        </p:txBody>
      </p:sp>
      <p:sp>
        <p:nvSpPr>
          <p:cNvPr id="5" name="Footer Placeholder 4">
            <a:extLst>
              <a:ext uri="{FF2B5EF4-FFF2-40B4-BE49-F238E27FC236}">
                <a16:creationId xmlns:a16="http://schemas.microsoft.com/office/drawing/2014/main" id="{4F12A1FB-A459-2BBD-1B6B-247CBE0FFB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47503D-F692-4F1D-135C-8F38F8F78ACF}"/>
              </a:ext>
            </a:extLst>
          </p:cNvPr>
          <p:cNvSpPr>
            <a:spLocks noGrp="1"/>
          </p:cNvSpPr>
          <p:nvPr>
            <p:ph type="sldNum" sz="quarter" idx="12"/>
          </p:nvPr>
        </p:nvSpPr>
        <p:spPr/>
        <p:txBody>
          <a:bodyPr/>
          <a:lstStyle/>
          <a:p>
            <a:fld id="{8D3333C5-B118-AF41-B00E-BA2813DFDF79}" type="slidenum">
              <a:rPr lang="en-US" smtClean="0"/>
              <a:t>‹#›</a:t>
            </a:fld>
            <a:endParaRPr lang="en-US"/>
          </a:p>
        </p:txBody>
      </p:sp>
    </p:spTree>
    <p:extLst>
      <p:ext uri="{BB962C8B-B14F-4D97-AF65-F5344CB8AC3E}">
        <p14:creationId xmlns:p14="http://schemas.microsoft.com/office/powerpoint/2010/main" val="1169887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A9D9A-C5B4-76BC-6A2F-20C5F76C3C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4A2AEA-F4F7-10E5-586B-0A2B1433E2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638C8A-108F-E51E-DD4E-3C5A95E3A8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73DFE8-9D78-1F21-7520-FAD5CA2EF496}"/>
              </a:ext>
            </a:extLst>
          </p:cNvPr>
          <p:cNvSpPr>
            <a:spLocks noGrp="1"/>
          </p:cNvSpPr>
          <p:nvPr>
            <p:ph type="dt" sz="half" idx="10"/>
          </p:nvPr>
        </p:nvSpPr>
        <p:spPr/>
        <p:txBody>
          <a:bodyPr/>
          <a:lstStyle/>
          <a:p>
            <a:fld id="{82218986-71C6-F44F-84D6-5BF352D2A615}" type="datetimeFigureOut">
              <a:rPr lang="en-US" smtClean="0"/>
              <a:t>10/13/26</a:t>
            </a:fld>
            <a:endParaRPr lang="en-US"/>
          </a:p>
        </p:txBody>
      </p:sp>
      <p:sp>
        <p:nvSpPr>
          <p:cNvPr id="6" name="Footer Placeholder 5">
            <a:extLst>
              <a:ext uri="{FF2B5EF4-FFF2-40B4-BE49-F238E27FC236}">
                <a16:creationId xmlns:a16="http://schemas.microsoft.com/office/drawing/2014/main" id="{8808B878-5AAB-784B-F3DD-D294345FC9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E96A0A-3B43-4323-8C02-0CD828942309}"/>
              </a:ext>
            </a:extLst>
          </p:cNvPr>
          <p:cNvSpPr>
            <a:spLocks noGrp="1"/>
          </p:cNvSpPr>
          <p:nvPr>
            <p:ph type="sldNum" sz="quarter" idx="12"/>
          </p:nvPr>
        </p:nvSpPr>
        <p:spPr/>
        <p:txBody>
          <a:bodyPr/>
          <a:lstStyle/>
          <a:p>
            <a:fld id="{8D3333C5-B118-AF41-B00E-BA2813DFDF79}" type="slidenum">
              <a:rPr lang="en-US" smtClean="0"/>
              <a:t>‹#›</a:t>
            </a:fld>
            <a:endParaRPr lang="en-US"/>
          </a:p>
        </p:txBody>
      </p:sp>
    </p:spTree>
    <p:extLst>
      <p:ext uri="{BB962C8B-B14F-4D97-AF65-F5344CB8AC3E}">
        <p14:creationId xmlns:p14="http://schemas.microsoft.com/office/powerpoint/2010/main" val="3129319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FD8F-D7EB-73B8-390F-2980C38786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400FD3-7CBE-0BF4-1ED7-AD08118332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2C15CB-12D3-2283-691B-C78D8B0C38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68EA59-0E22-90E1-F1E0-E4A3FDE197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C26CF3-B913-DBA7-E6A6-8F4A134CC8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204332-247A-EF9B-67DB-78FA559F330B}"/>
              </a:ext>
            </a:extLst>
          </p:cNvPr>
          <p:cNvSpPr>
            <a:spLocks noGrp="1"/>
          </p:cNvSpPr>
          <p:nvPr>
            <p:ph type="dt" sz="half" idx="10"/>
          </p:nvPr>
        </p:nvSpPr>
        <p:spPr/>
        <p:txBody>
          <a:bodyPr/>
          <a:lstStyle/>
          <a:p>
            <a:fld id="{82218986-71C6-F44F-84D6-5BF352D2A615}" type="datetimeFigureOut">
              <a:rPr lang="en-US" smtClean="0"/>
              <a:t>10/13/26</a:t>
            </a:fld>
            <a:endParaRPr lang="en-US"/>
          </a:p>
        </p:txBody>
      </p:sp>
      <p:sp>
        <p:nvSpPr>
          <p:cNvPr id="8" name="Footer Placeholder 7">
            <a:extLst>
              <a:ext uri="{FF2B5EF4-FFF2-40B4-BE49-F238E27FC236}">
                <a16:creationId xmlns:a16="http://schemas.microsoft.com/office/drawing/2014/main" id="{13866BE6-0B66-E23E-6042-7826A7ABF9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D3D48E-5F74-02E0-3B66-950DEA6D2DE7}"/>
              </a:ext>
            </a:extLst>
          </p:cNvPr>
          <p:cNvSpPr>
            <a:spLocks noGrp="1"/>
          </p:cNvSpPr>
          <p:nvPr>
            <p:ph type="sldNum" sz="quarter" idx="12"/>
          </p:nvPr>
        </p:nvSpPr>
        <p:spPr/>
        <p:txBody>
          <a:bodyPr/>
          <a:lstStyle/>
          <a:p>
            <a:fld id="{8D3333C5-B118-AF41-B00E-BA2813DFDF79}" type="slidenum">
              <a:rPr lang="en-US" smtClean="0"/>
              <a:t>‹#›</a:t>
            </a:fld>
            <a:endParaRPr lang="en-US"/>
          </a:p>
        </p:txBody>
      </p:sp>
    </p:spTree>
    <p:extLst>
      <p:ext uri="{BB962C8B-B14F-4D97-AF65-F5344CB8AC3E}">
        <p14:creationId xmlns:p14="http://schemas.microsoft.com/office/powerpoint/2010/main" val="3387843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5503B-D8AD-0AF5-4130-C915643D94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205E97-939B-5335-8C12-B84842F4ACDF}"/>
              </a:ext>
            </a:extLst>
          </p:cNvPr>
          <p:cNvSpPr>
            <a:spLocks noGrp="1"/>
          </p:cNvSpPr>
          <p:nvPr>
            <p:ph type="dt" sz="half" idx="10"/>
          </p:nvPr>
        </p:nvSpPr>
        <p:spPr/>
        <p:txBody>
          <a:bodyPr/>
          <a:lstStyle/>
          <a:p>
            <a:fld id="{82218986-71C6-F44F-84D6-5BF352D2A615}" type="datetimeFigureOut">
              <a:rPr lang="en-US" smtClean="0"/>
              <a:t>10/13/26</a:t>
            </a:fld>
            <a:endParaRPr lang="en-US"/>
          </a:p>
        </p:txBody>
      </p:sp>
      <p:sp>
        <p:nvSpPr>
          <p:cNvPr id="4" name="Footer Placeholder 3">
            <a:extLst>
              <a:ext uri="{FF2B5EF4-FFF2-40B4-BE49-F238E27FC236}">
                <a16:creationId xmlns:a16="http://schemas.microsoft.com/office/drawing/2014/main" id="{F87F3EE2-1E6C-D8BE-6FEC-DE02148F07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B1149B-1DC4-7CAC-A2EC-37B862A12111}"/>
              </a:ext>
            </a:extLst>
          </p:cNvPr>
          <p:cNvSpPr>
            <a:spLocks noGrp="1"/>
          </p:cNvSpPr>
          <p:nvPr>
            <p:ph type="sldNum" sz="quarter" idx="12"/>
          </p:nvPr>
        </p:nvSpPr>
        <p:spPr/>
        <p:txBody>
          <a:bodyPr/>
          <a:lstStyle/>
          <a:p>
            <a:fld id="{8D3333C5-B118-AF41-B00E-BA2813DFDF79}" type="slidenum">
              <a:rPr lang="en-US" smtClean="0"/>
              <a:t>‹#›</a:t>
            </a:fld>
            <a:endParaRPr lang="en-US"/>
          </a:p>
        </p:txBody>
      </p:sp>
    </p:spTree>
    <p:extLst>
      <p:ext uri="{BB962C8B-B14F-4D97-AF65-F5344CB8AC3E}">
        <p14:creationId xmlns:p14="http://schemas.microsoft.com/office/powerpoint/2010/main" val="3416190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C2A8BA-ADBD-AB32-C4CD-845E1D80AF88}"/>
              </a:ext>
            </a:extLst>
          </p:cNvPr>
          <p:cNvSpPr>
            <a:spLocks noGrp="1"/>
          </p:cNvSpPr>
          <p:nvPr>
            <p:ph type="dt" sz="half" idx="10"/>
          </p:nvPr>
        </p:nvSpPr>
        <p:spPr/>
        <p:txBody>
          <a:bodyPr/>
          <a:lstStyle/>
          <a:p>
            <a:fld id="{82218986-71C6-F44F-84D6-5BF352D2A615}" type="datetimeFigureOut">
              <a:rPr lang="en-US" smtClean="0"/>
              <a:t>10/13/26</a:t>
            </a:fld>
            <a:endParaRPr lang="en-US"/>
          </a:p>
        </p:txBody>
      </p:sp>
      <p:sp>
        <p:nvSpPr>
          <p:cNvPr id="3" name="Footer Placeholder 2">
            <a:extLst>
              <a:ext uri="{FF2B5EF4-FFF2-40B4-BE49-F238E27FC236}">
                <a16:creationId xmlns:a16="http://schemas.microsoft.com/office/drawing/2014/main" id="{F2C3492C-D150-EA8D-5DA9-48A629DB9D0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737EE3-CC40-2AAD-C84A-CE4C7138D1A4}"/>
              </a:ext>
            </a:extLst>
          </p:cNvPr>
          <p:cNvSpPr>
            <a:spLocks noGrp="1"/>
          </p:cNvSpPr>
          <p:nvPr>
            <p:ph type="sldNum" sz="quarter" idx="12"/>
          </p:nvPr>
        </p:nvSpPr>
        <p:spPr/>
        <p:txBody>
          <a:bodyPr/>
          <a:lstStyle/>
          <a:p>
            <a:fld id="{8D3333C5-B118-AF41-B00E-BA2813DFDF79}" type="slidenum">
              <a:rPr lang="en-US" smtClean="0"/>
              <a:t>‹#›</a:t>
            </a:fld>
            <a:endParaRPr lang="en-US"/>
          </a:p>
        </p:txBody>
      </p:sp>
    </p:spTree>
    <p:extLst>
      <p:ext uri="{BB962C8B-B14F-4D97-AF65-F5344CB8AC3E}">
        <p14:creationId xmlns:p14="http://schemas.microsoft.com/office/powerpoint/2010/main" val="1463881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07AF7-6D7F-8415-077D-DECDB9C7AA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5EA9C5C-192A-C945-A33D-AE8422805C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D64808-CC7A-DB0F-B7EC-F128BFB38B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E39916-5999-C752-AA14-EEF4AEE918FC}"/>
              </a:ext>
            </a:extLst>
          </p:cNvPr>
          <p:cNvSpPr>
            <a:spLocks noGrp="1"/>
          </p:cNvSpPr>
          <p:nvPr>
            <p:ph type="dt" sz="half" idx="10"/>
          </p:nvPr>
        </p:nvSpPr>
        <p:spPr/>
        <p:txBody>
          <a:bodyPr/>
          <a:lstStyle/>
          <a:p>
            <a:fld id="{82218986-71C6-F44F-84D6-5BF352D2A615}" type="datetimeFigureOut">
              <a:rPr lang="en-US" smtClean="0"/>
              <a:t>10/13/26</a:t>
            </a:fld>
            <a:endParaRPr lang="en-US"/>
          </a:p>
        </p:txBody>
      </p:sp>
      <p:sp>
        <p:nvSpPr>
          <p:cNvPr id="6" name="Footer Placeholder 5">
            <a:extLst>
              <a:ext uri="{FF2B5EF4-FFF2-40B4-BE49-F238E27FC236}">
                <a16:creationId xmlns:a16="http://schemas.microsoft.com/office/drawing/2014/main" id="{FDD0D815-89A4-6F73-0D0F-C4F5CD387D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FD2BB1-411D-A1B0-E4A8-33152677C968}"/>
              </a:ext>
            </a:extLst>
          </p:cNvPr>
          <p:cNvSpPr>
            <a:spLocks noGrp="1"/>
          </p:cNvSpPr>
          <p:nvPr>
            <p:ph type="sldNum" sz="quarter" idx="12"/>
          </p:nvPr>
        </p:nvSpPr>
        <p:spPr/>
        <p:txBody>
          <a:bodyPr/>
          <a:lstStyle/>
          <a:p>
            <a:fld id="{8D3333C5-B118-AF41-B00E-BA2813DFDF79}" type="slidenum">
              <a:rPr lang="en-US" smtClean="0"/>
              <a:t>‹#›</a:t>
            </a:fld>
            <a:endParaRPr lang="en-US"/>
          </a:p>
        </p:txBody>
      </p:sp>
    </p:spTree>
    <p:extLst>
      <p:ext uri="{BB962C8B-B14F-4D97-AF65-F5344CB8AC3E}">
        <p14:creationId xmlns:p14="http://schemas.microsoft.com/office/powerpoint/2010/main" val="4219475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8A432-CB42-5882-EB4A-761454E214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E89769-4443-AE3A-5916-41E9E9E4D726}"/>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524A6F-FD40-69AB-76B6-0C0940DECA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918FC8-CAAB-C7C9-F5CB-62F977B663E3}"/>
              </a:ext>
            </a:extLst>
          </p:cNvPr>
          <p:cNvSpPr>
            <a:spLocks noGrp="1"/>
          </p:cNvSpPr>
          <p:nvPr>
            <p:ph type="dt" sz="half" idx="10"/>
          </p:nvPr>
        </p:nvSpPr>
        <p:spPr/>
        <p:txBody>
          <a:bodyPr/>
          <a:lstStyle/>
          <a:p>
            <a:fld id="{82218986-71C6-F44F-84D6-5BF352D2A615}" type="datetimeFigureOut">
              <a:rPr lang="en-US" smtClean="0"/>
              <a:t>10/13/26</a:t>
            </a:fld>
            <a:endParaRPr lang="en-US"/>
          </a:p>
        </p:txBody>
      </p:sp>
      <p:sp>
        <p:nvSpPr>
          <p:cNvPr id="6" name="Footer Placeholder 5">
            <a:extLst>
              <a:ext uri="{FF2B5EF4-FFF2-40B4-BE49-F238E27FC236}">
                <a16:creationId xmlns:a16="http://schemas.microsoft.com/office/drawing/2014/main" id="{E7424A12-9A29-89AF-AA54-CAA083351B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F66B31-0370-DECE-3E30-2DC78BD6234E}"/>
              </a:ext>
            </a:extLst>
          </p:cNvPr>
          <p:cNvSpPr>
            <a:spLocks noGrp="1"/>
          </p:cNvSpPr>
          <p:nvPr>
            <p:ph type="sldNum" sz="quarter" idx="12"/>
          </p:nvPr>
        </p:nvSpPr>
        <p:spPr/>
        <p:txBody>
          <a:bodyPr/>
          <a:lstStyle/>
          <a:p>
            <a:fld id="{8D3333C5-B118-AF41-B00E-BA2813DFDF79}" type="slidenum">
              <a:rPr lang="en-US" smtClean="0"/>
              <a:t>‹#›</a:t>
            </a:fld>
            <a:endParaRPr lang="en-US"/>
          </a:p>
        </p:txBody>
      </p:sp>
    </p:spTree>
    <p:extLst>
      <p:ext uri="{BB962C8B-B14F-4D97-AF65-F5344CB8AC3E}">
        <p14:creationId xmlns:p14="http://schemas.microsoft.com/office/powerpoint/2010/main" val="1274642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B044D-BC30-07BA-9ADB-2DA39B2241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D7592F-E149-9932-B142-2F74C2EBAA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996E3-3AED-9036-31C1-AC43949DF6CB}"/>
              </a:ext>
            </a:extLst>
          </p:cNvPr>
          <p:cNvSpPr>
            <a:spLocks noGrp="1"/>
          </p:cNvSpPr>
          <p:nvPr>
            <p:ph type="dt" sz="half" idx="10"/>
          </p:nvPr>
        </p:nvSpPr>
        <p:spPr/>
        <p:txBody>
          <a:bodyPr/>
          <a:lstStyle/>
          <a:p>
            <a:fld id="{82218986-71C6-F44F-84D6-5BF352D2A615}" type="datetimeFigureOut">
              <a:rPr lang="en-US" smtClean="0"/>
              <a:t>10/13/26</a:t>
            </a:fld>
            <a:endParaRPr lang="en-US"/>
          </a:p>
        </p:txBody>
      </p:sp>
      <p:sp>
        <p:nvSpPr>
          <p:cNvPr id="5" name="Footer Placeholder 4">
            <a:extLst>
              <a:ext uri="{FF2B5EF4-FFF2-40B4-BE49-F238E27FC236}">
                <a16:creationId xmlns:a16="http://schemas.microsoft.com/office/drawing/2014/main" id="{6FA7BEAC-3C62-0374-69FA-F8AEFB173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E3BAE2-D4ED-ED6F-63A4-652C9E7F1792}"/>
              </a:ext>
            </a:extLst>
          </p:cNvPr>
          <p:cNvSpPr>
            <a:spLocks noGrp="1"/>
          </p:cNvSpPr>
          <p:nvPr>
            <p:ph type="sldNum" sz="quarter" idx="12"/>
          </p:nvPr>
        </p:nvSpPr>
        <p:spPr/>
        <p:txBody>
          <a:bodyPr/>
          <a:lstStyle/>
          <a:p>
            <a:fld id="{8D3333C5-B118-AF41-B00E-BA2813DFDF79}" type="slidenum">
              <a:rPr lang="en-US" smtClean="0"/>
              <a:t>‹#›</a:t>
            </a:fld>
            <a:endParaRPr lang="en-US"/>
          </a:p>
        </p:txBody>
      </p:sp>
    </p:spTree>
    <p:extLst>
      <p:ext uri="{BB962C8B-B14F-4D97-AF65-F5344CB8AC3E}">
        <p14:creationId xmlns:p14="http://schemas.microsoft.com/office/powerpoint/2010/main" val="3223690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FCA466-F394-F557-2BB0-9E7AD5D800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5D4817-F455-227A-538C-52538440CF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42FF5F-60F9-3210-539A-94DFCFF57E7F}"/>
              </a:ext>
            </a:extLst>
          </p:cNvPr>
          <p:cNvSpPr>
            <a:spLocks noGrp="1"/>
          </p:cNvSpPr>
          <p:nvPr>
            <p:ph type="dt" sz="half" idx="10"/>
          </p:nvPr>
        </p:nvSpPr>
        <p:spPr/>
        <p:txBody>
          <a:bodyPr/>
          <a:lstStyle/>
          <a:p>
            <a:fld id="{82218986-71C6-F44F-84D6-5BF352D2A615}" type="datetimeFigureOut">
              <a:rPr lang="en-US" smtClean="0"/>
              <a:t>10/13/26</a:t>
            </a:fld>
            <a:endParaRPr lang="en-US"/>
          </a:p>
        </p:txBody>
      </p:sp>
      <p:sp>
        <p:nvSpPr>
          <p:cNvPr id="5" name="Footer Placeholder 4">
            <a:extLst>
              <a:ext uri="{FF2B5EF4-FFF2-40B4-BE49-F238E27FC236}">
                <a16:creationId xmlns:a16="http://schemas.microsoft.com/office/drawing/2014/main" id="{435D8299-C4E1-4D44-F5CF-DC99CC4552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015B4-CAB2-AB9E-FE84-41B2418ED393}"/>
              </a:ext>
            </a:extLst>
          </p:cNvPr>
          <p:cNvSpPr>
            <a:spLocks noGrp="1"/>
          </p:cNvSpPr>
          <p:nvPr>
            <p:ph type="sldNum" sz="quarter" idx="12"/>
          </p:nvPr>
        </p:nvSpPr>
        <p:spPr/>
        <p:txBody>
          <a:bodyPr/>
          <a:lstStyle/>
          <a:p>
            <a:fld id="{8D3333C5-B118-AF41-B00E-BA2813DFDF79}" type="slidenum">
              <a:rPr lang="en-US" smtClean="0"/>
              <a:t>‹#›</a:t>
            </a:fld>
            <a:endParaRPr lang="en-US"/>
          </a:p>
        </p:txBody>
      </p:sp>
    </p:spTree>
    <p:extLst>
      <p:ext uri="{BB962C8B-B14F-4D97-AF65-F5344CB8AC3E}">
        <p14:creationId xmlns:p14="http://schemas.microsoft.com/office/powerpoint/2010/main" val="3743437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A0B277-B6F0-BF4E-74A6-3559F2C887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870C74E-2E85-BDC8-860A-C9CC202768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ED1397-FC2D-A56C-A320-65A94D5F82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218986-71C6-F44F-84D6-5BF352D2A615}" type="datetimeFigureOut">
              <a:rPr lang="en-US" smtClean="0"/>
              <a:t>10/13/26</a:t>
            </a:fld>
            <a:endParaRPr lang="en-US"/>
          </a:p>
        </p:txBody>
      </p:sp>
      <p:sp>
        <p:nvSpPr>
          <p:cNvPr id="5" name="Footer Placeholder 4">
            <a:extLst>
              <a:ext uri="{FF2B5EF4-FFF2-40B4-BE49-F238E27FC236}">
                <a16:creationId xmlns:a16="http://schemas.microsoft.com/office/drawing/2014/main" id="{98938E00-871F-51F3-43AB-31B04E2004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86A9A96-8EAE-C962-D071-8F4F86FDB5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3333C5-B118-AF41-B00E-BA2813DFDF79}" type="slidenum">
              <a:rPr lang="en-US" smtClean="0"/>
              <a:t>‹#›</a:t>
            </a:fld>
            <a:endParaRPr lang="en-US"/>
          </a:p>
        </p:txBody>
      </p:sp>
    </p:spTree>
    <p:extLst>
      <p:ext uri="{BB962C8B-B14F-4D97-AF65-F5344CB8AC3E}">
        <p14:creationId xmlns:p14="http://schemas.microsoft.com/office/powerpoint/2010/main" val="397668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ref.ly/logosres/npnf18?ref=Athanasius.Ep.+fest.+39.1&amp;off=0&amp;ctx=pted+by+the+Church.%0a~%E2%80%A6+1.+They+have%EF%BB%BF4+fab"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ref.ly/logosres/npnf18?ref=Athanasius.Ep.+fest.+39.1&amp;off=0&amp;ctx=pted+by+the+Church.%0a~%E2%80%A6+1.+They+have%EF%BB%BF4+fab"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ref.ly/logosres/npnf18?ref=Athanasius.Ep.+fest.+39.1&amp;off=0&amp;ctx=pted+by+the+Church.%0a~%E2%80%A6+1.+They+have%EF%BB%BF4+fab"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ref.ly/logosres/npnf18?ref=Athanasius.Ep.+fest.+39.1&amp;off=0&amp;ctx=pted+by+the+Church.%0a~%E2%80%A6+1.+They+have%EF%BB%BF4+fab"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ref.ly/logosres/npnf18?ref=Athanasius.Ep.+fest.+39.1&amp;off=0&amp;ctx=pted+by+the+Church.%0a~%E2%80%A6+1.+They+have%EF%BB%BF4+fab"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bible-researcher.com/athanasius.html#note1" TargetMode="External"/><Relationship Id="rId2" Type="http://schemas.openxmlformats.org/officeDocument/2006/relationships/hyperlink" Target="https://ref.ly/logosres/npnf18?ref=Athanasius.Ep.+fest.+39.1&amp;off=0&amp;ctx=pted+by+the+Church.%0a~%E2%80%A6+1.+They+have%EF%BB%BF4+fab"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hyperlink" Target="https://www.youtube.com/watch?v=SUvJQmduAdA&amp;list=PLzytIUBlFDMN62nZiv6cPVBYoBaCPJjQM"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sv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A6B18-54BF-D02B-40FE-29F4BD9D3632}"/>
              </a:ext>
            </a:extLst>
          </p:cNvPr>
          <p:cNvSpPr>
            <a:spLocks noGrp="1"/>
          </p:cNvSpPr>
          <p:nvPr>
            <p:ph type="ctrTitle"/>
          </p:nvPr>
        </p:nvSpPr>
        <p:spPr>
          <a:xfrm>
            <a:off x="0" y="1435100"/>
            <a:ext cx="12192000" cy="2387600"/>
          </a:xfrm>
        </p:spPr>
        <p:txBody>
          <a:bodyPr>
            <a:normAutofit/>
          </a:bodyPr>
          <a:lstStyle/>
          <a:p>
            <a:pPr algn="ctr"/>
            <a:r>
              <a:rPr lang="en-US" b="1" dirty="0"/>
              <a:t>Class 1:</a:t>
            </a:r>
            <a:br>
              <a:rPr lang="en-US" b="1" dirty="0"/>
            </a:br>
            <a:r>
              <a:rPr lang="en-US" dirty="0"/>
              <a:t>Introduction to the Canon of the NT</a:t>
            </a:r>
          </a:p>
        </p:txBody>
      </p:sp>
      <p:sp>
        <p:nvSpPr>
          <p:cNvPr id="3" name="Subtitle 2">
            <a:extLst>
              <a:ext uri="{FF2B5EF4-FFF2-40B4-BE49-F238E27FC236}">
                <a16:creationId xmlns:a16="http://schemas.microsoft.com/office/drawing/2014/main" id="{D9D9313E-C278-4E6E-FC8F-D8AC43E96277}"/>
              </a:ext>
            </a:extLst>
          </p:cNvPr>
          <p:cNvSpPr>
            <a:spLocks noGrp="1"/>
          </p:cNvSpPr>
          <p:nvPr>
            <p:ph type="subTitle" idx="1"/>
          </p:nvPr>
        </p:nvSpPr>
        <p:spPr>
          <a:xfrm>
            <a:off x="1524000" y="3924300"/>
            <a:ext cx="9144000" cy="1655762"/>
          </a:xfrm>
        </p:spPr>
        <p:txBody>
          <a:bodyPr/>
          <a:lstStyle/>
          <a:p>
            <a:pPr algn="ctr"/>
            <a:r>
              <a:rPr lang="en-US" dirty="0"/>
              <a:t>Based on B. Metzger, </a:t>
            </a:r>
            <a:r>
              <a:rPr lang="en-US" i="1" dirty="0"/>
              <a:t>The Canon of the New Testament: Its Origin, Development, and Significance, </a:t>
            </a:r>
            <a:r>
              <a:rPr lang="en-US" dirty="0"/>
              <a:t>Oxford (1987)</a:t>
            </a:r>
          </a:p>
        </p:txBody>
      </p:sp>
    </p:spTree>
    <p:extLst>
      <p:ext uri="{BB962C8B-B14F-4D97-AF65-F5344CB8AC3E}">
        <p14:creationId xmlns:p14="http://schemas.microsoft.com/office/powerpoint/2010/main" val="3881084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B19B-C0C2-A7C7-CCA5-95D80839905B}"/>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7D840FBF-D71F-6F56-E5F6-09561BC43DCA}"/>
              </a:ext>
            </a:extLst>
          </p:cNvPr>
          <p:cNvSpPr>
            <a:spLocks noGrp="1"/>
          </p:cNvSpPr>
          <p:nvPr>
            <p:ph idx="1"/>
          </p:nvPr>
        </p:nvSpPr>
        <p:spPr>
          <a:xfrm>
            <a:off x="838200" y="1825625"/>
            <a:ext cx="6808049" cy="4351338"/>
          </a:xfrm>
        </p:spPr>
        <p:txBody>
          <a:bodyPr>
            <a:normAutofit/>
          </a:bodyPr>
          <a:lstStyle/>
          <a:p>
            <a:r>
              <a:rPr lang="en-US" dirty="0"/>
              <a:t>Primarily: Bruce Metzger, </a:t>
            </a:r>
            <a:r>
              <a:rPr lang="en-US" i="1" dirty="0"/>
              <a:t>The Canon of the New Testament: Its Origin, Development, and Significance</a:t>
            </a:r>
            <a:r>
              <a:rPr lang="en-US" dirty="0"/>
              <a:t> (Oxford: 1987)</a:t>
            </a:r>
          </a:p>
          <a:p>
            <a:r>
              <a:rPr lang="en-US" dirty="0"/>
              <a:t>This book is considered the standard work on the NT canon</a:t>
            </a:r>
          </a:p>
          <a:p>
            <a:r>
              <a:rPr lang="en-US" dirty="0"/>
              <a:t>Other sources used as well (such as my work on 1 and 2 Peter)</a:t>
            </a:r>
          </a:p>
          <a:p>
            <a:pPr lvl="1"/>
            <a:r>
              <a:rPr lang="en-US" sz="2800" dirty="0"/>
              <a:t>Unless otherwise stated, assume all material is from Metzger</a:t>
            </a:r>
          </a:p>
        </p:txBody>
      </p:sp>
      <p:pic>
        <p:nvPicPr>
          <p:cNvPr id="6" name="Picture 5">
            <a:extLst>
              <a:ext uri="{FF2B5EF4-FFF2-40B4-BE49-F238E27FC236}">
                <a16:creationId xmlns:a16="http://schemas.microsoft.com/office/drawing/2014/main" id="{F941B59B-DE66-368D-2E59-340A568A82C4}"/>
              </a:ext>
            </a:extLst>
          </p:cNvPr>
          <p:cNvPicPr>
            <a:picLocks noChangeAspect="1"/>
          </p:cNvPicPr>
          <p:nvPr/>
        </p:nvPicPr>
        <p:blipFill>
          <a:blip r:embed="rId2"/>
          <a:stretch>
            <a:fillRect/>
          </a:stretch>
        </p:blipFill>
        <p:spPr>
          <a:xfrm>
            <a:off x="7646249" y="1027906"/>
            <a:ext cx="3707551" cy="5745172"/>
          </a:xfrm>
          <a:prstGeom prst="rect">
            <a:avLst/>
          </a:prstGeom>
        </p:spPr>
      </p:pic>
    </p:spTree>
    <p:extLst>
      <p:ext uri="{BB962C8B-B14F-4D97-AF65-F5344CB8AC3E}">
        <p14:creationId xmlns:p14="http://schemas.microsoft.com/office/powerpoint/2010/main" val="1273825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8A9B5-54AE-F67C-E945-C767547ED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3DF9EB-794A-91F1-87CE-7D0200A40A49}"/>
              </a:ext>
            </a:extLst>
          </p:cNvPr>
          <p:cNvSpPr>
            <a:spLocks noGrp="1"/>
          </p:cNvSpPr>
          <p:nvPr>
            <p:ph type="title"/>
          </p:nvPr>
        </p:nvSpPr>
        <p:spPr/>
        <p:txBody>
          <a:bodyPr/>
          <a:lstStyle/>
          <a:p>
            <a:r>
              <a:rPr lang="en-US" dirty="0"/>
              <a:t>Download Slides</a:t>
            </a:r>
          </a:p>
        </p:txBody>
      </p:sp>
      <p:sp>
        <p:nvSpPr>
          <p:cNvPr id="3" name="Content Placeholder 2">
            <a:extLst>
              <a:ext uri="{FF2B5EF4-FFF2-40B4-BE49-F238E27FC236}">
                <a16:creationId xmlns:a16="http://schemas.microsoft.com/office/drawing/2014/main" id="{4E102BA4-3B15-976A-6AA2-EF984A80DB69}"/>
              </a:ext>
            </a:extLst>
          </p:cNvPr>
          <p:cNvSpPr>
            <a:spLocks noGrp="1"/>
          </p:cNvSpPr>
          <p:nvPr>
            <p:ph idx="1"/>
          </p:nvPr>
        </p:nvSpPr>
        <p:spPr>
          <a:xfrm>
            <a:off x="838200" y="1825625"/>
            <a:ext cx="9906000" cy="803275"/>
          </a:xfrm>
        </p:spPr>
        <p:txBody>
          <a:bodyPr>
            <a:normAutofit fontScale="92500"/>
          </a:bodyPr>
          <a:lstStyle/>
          <a:p>
            <a:r>
              <a:rPr lang="en-US" sz="4400" dirty="0"/>
              <a:t>https://</a:t>
            </a:r>
            <a:r>
              <a:rPr lang="en-US" sz="4400" dirty="0" err="1"/>
              <a:t>joshuahaub.com</a:t>
            </a:r>
            <a:r>
              <a:rPr lang="en-US" sz="4400" dirty="0"/>
              <a:t>/notes/</a:t>
            </a:r>
            <a:r>
              <a:rPr lang="en-US" sz="4400" dirty="0" err="1"/>
              <a:t>nt</a:t>
            </a:r>
            <a:r>
              <a:rPr lang="en-US" sz="4400" dirty="0"/>
              <a:t>-canon/</a:t>
            </a:r>
          </a:p>
        </p:txBody>
      </p:sp>
      <p:pic>
        <p:nvPicPr>
          <p:cNvPr id="4" name="Picture 3">
            <a:extLst>
              <a:ext uri="{FF2B5EF4-FFF2-40B4-BE49-F238E27FC236}">
                <a16:creationId xmlns:a16="http://schemas.microsoft.com/office/drawing/2014/main" id="{8468B139-EFB6-739B-FDF1-C8EAD53D3308}"/>
              </a:ext>
            </a:extLst>
          </p:cNvPr>
          <p:cNvPicPr>
            <a:picLocks noChangeAspect="1"/>
          </p:cNvPicPr>
          <p:nvPr/>
        </p:nvPicPr>
        <p:blipFill>
          <a:blip r:embed="rId2"/>
          <a:stretch>
            <a:fillRect/>
          </a:stretch>
        </p:blipFill>
        <p:spPr>
          <a:xfrm>
            <a:off x="7962900" y="2628900"/>
            <a:ext cx="4229100" cy="4229100"/>
          </a:xfrm>
          <a:prstGeom prst="rect">
            <a:avLst/>
          </a:prstGeom>
        </p:spPr>
      </p:pic>
    </p:spTree>
    <p:extLst>
      <p:ext uri="{BB962C8B-B14F-4D97-AF65-F5344CB8AC3E}">
        <p14:creationId xmlns:p14="http://schemas.microsoft.com/office/powerpoint/2010/main" val="3711638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54820-7FF7-7975-824D-29561ABA1150}"/>
              </a:ext>
            </a:extLst>
          </p:cNvPr>
          <p:cNvSpPr>
            <a:spLocks noGrp="1"/>
          </p:cNvSpPr>
          <p:nvPr>
            <p:ph type="title"/>
          </p:nvPr>
        </p:nvSpPr>
        <p:spPr/>
        <p:txBody>
          <a:bodyPr/>
          <a:lstStyle/>
          <a:p>
            <a:r>
              <a:rPr lang="en-US" dirty="0"/>
              <a:t>What is “the Canon”?</a:t>
            </a:r>
          </a:p>
        </p:txBody>
      </p:sp>
      <p:sp>
        <p:nvSpPr>
          <p:cNvPr id="3" name="Content Placeholder 2">
            <a:extLst>
              <a:ext uri="{FF2B5EF4-FFF2-40B4-BE49-F238E27FC236}">
                <a16:creationId xmlns:a16="http://schemas.microsoft.com/office/drawing/2014/main" id="{93CC7EA0-4CAC-B457-FEDE-C1D924A3FA45}"/>
              </a:ext>
            </a:extLst>
          </p:cNvPr>
          <p:cNvSpPr>
            <a:spLocks noGrp="1"/>
          </p:cNvSpPr>
          <p:nvPr>
            <p:ph idx="1"/>
          </p:nvPr>
        </p:nvSpPr>
        <p:spPr>
          <a:xfrm>
            <a:off x="540026" y="2141537"/>
            <a:ext cx="10515600" cy="1325563"/>
          </a:xfrm>
        </p:spPr>
        <p:txBody>
          <a:bodyPr/>
          <a:lstStyle/>
          <a:p>
            <a:r>
              <a:rPr lang="en-US" dirty="0"/>
              <a:t>“Much of the present confusion over the problem of canon turns on the failure to reach an agreement regarding terminology” (Brevard Childs as quoted by M. Kruger, </a:t>
            </a:r>
            <a:r>
              <a:rPr lang="en-US" i="1" dirty="0"/>
              <a:t>Canon Revisited</a:t>
            </a:r>
            <a:r>
              <a:rPr lang="en-US" dirty="0"/>
              <a:t>, p. 27)</a:t>
            </a:r>
          </a:p>
        </p:txBody>
      </p:sp>
      <p:sp>
        <p:nvSpPr>
          <p:cNvPr id="5" name="TextBox 4">
            <a:extLst>
              <a:ext uri="{FF2B5EF4-FFF2-40B4-BE49-F238E27FC236}">
                <a16:creationId xmlns:a16="http://schemas.microsoft.com/office/drawing/2014/main" id="{69105C9A-B0A6-D696-DC58-5E5AC44BAF01}"/>
              </a:ext>
            </a:extLst>
          </p:cNvPr>
          <p:cNvSpPr txBox="1"/>
          <p:nvPr/>
        </p:nvSpPr>
        <p:spPr>
          <a:xfrm>
            <a:off x="540026" y="3429000"/>
            <a:ext cx="10515600" cy="2246769"/>
          </a:xfrm>
          <a:prstGeom prst="rect">
            <a:avLst/>
          </a:prstGeom>
          <a:noFill/>
        </p:spPr>
        <p:txBody>
          <a:bodyPr wrap="square">
            <a:spAutoFit/>
          </a:bodyPr>
          <a:lstStyle/>
          <a:p>
            <a:pPr marL="285750" indent="-285750">
              <a:buFont typeface="Arial" panose="020B0604020202020204" pitchFamily="34" charset="0"/>
              <a:buChar char="•"/>
            </a:pPr>
            <a:r>
              <a:rPr lang="en-US" sz="2800" dirty="0"/>
              <a:t>Metzger: “Still more basic are the questions of whether the canon is a collection of authoritative books or an authoritative collection of books—and in either case whether the collection can be held to reflect the divine intention within the history of salvation” (Metzger, p. 1)</a:t>
            </a:r>
          </a:p>
        </p:txBody>
      </p:sp>
      <p:sp>
        <p:nvSpPr>
          <p:cNvPr id="7" name="TextBox 6">
            <a:extLst>
              <a:ext uri="{FF2B5EF4-FFF2-40B4-BE49-F238E27FC236}">
                <a16:creationId xmlns:a16="http://schemas.microsoft.com/office/drawing/2014/main" id="{61CAB52F-7C93-A660-5D14-CC9C66EEA029}"/>
              </a:ext>
            </a:extLst>
          </p:cNvPr>
          <p:cNvSpPr txBox="1"/>
          <p:nvPr/>
        </p:nvSpPr>
        <p:spPr>
          <a:xfrm>
            <a:off x="540026" y="5675769"/>
            <a:ext cx="11651974" cy="954107"/>
          </a:xfrm>
          <a:prstGeom prst="rect">
            <a:avLst/>
          </a:prstGeom>
          <a:noFill/>
        </p:spPr>
        <p:txBody>
          <a:bodyPr wrap="square">
            <a:spAutoFit/>
          </a:bodyPr>
          <a:lstStyle/>
          <a:p>
            <a:r>
              <a:rPr lang="en-US" sz="2800" b="1" dirty="0"/>
              <a:t>                                                       the canon is “a closed list of authoritative, sacred texts”</a:t>
            </a:r>
          </a:p>
        </p:txBody>
      </p:sp>
      <p:sp>
        <p:nvSpPr>
          <p:cNvPr id="8" name="TextBox 7">
            <a:extLst>
              <a:ext uri="{FF2B5EF4-FFF2-40B4-BE49-F238E27FC236}">
                <a16:creationId xmlns:a16="http://schemas.microsoft.com/office/drawing/2014/main" id="{720B2E8E-39DC-358B-8930-1CF337EC89FB}"/>
              </a:ext>
            </a:extLst>
          </p:cNvPr>
          <p:cNvSpPr txBox="1"/>
          <p:nvPr/>
        </p:nvSpPr>
        <p:spPr>
          <a:xfrm>
            <a:off x="540026" y="5675769"/>
            <a:ext cx="10515600" cy="523220"/>
          </a:xfrm>
          <a:prstGeom prst="rect">
            <a:avLst/>
          </a:prstGeom>
          <a:noFill/>
        </p:spPr>
        <p:txBody>
          <a:bodyPr wrap="square">
            <a:spAutoFit/>
          </a:bodyPr>
          <a:lstStyle/>
          <a:p>
            <a:pPr marL="285750" indent="-285750">
              <a:buFont typeface="Arial" panose="020B0604020202020204" pitchFamily="34" charset="0"/>
              <a:buChar char="•"/>
            </a:pPr>
            <a:r>
              <a:rPr lang="en-US" sz="2800" dirty="0"/>
              <a:t>Definition for this study:</a:t>
            </a:r>
            <a:endParaRPr lang="en-US" sz="2800" b="1" dirty="0"/>
          </a:p>
        </p:txBody>
      </p:sp>
      <p:sp>
        <p:nvSpPr>
          <p:cNvPr id="10" name="TextBox 9">
            <a:extLst>
              <a:ext uri="{FF2B5EF4-FFF2-40B4-BE49-F238E27FC236}">
                <a16:creationId xmlns:a16="http://schemas.microsoft.com/office/drawing/2014/main" id="{1B08AC56-B22B-9C93-9263-57483F2FB7AA}"/>
              </a:ext>
            </a:extLst>
          </p:cNvPr>
          <p:cNvSpPr txBox="1"/>
          <p:nvPr/>
        </p:nvSpPr>
        <p:spPr>
          <a:xfrm>
            <a:off x="2745344" y="6097066"/>
            <a:ext cx="6104964" cy="523220"/>
          </a:xfrm>
          <a:prstGeom prst="rect">
            <a:avLst/>
          </a:prstGeom>
          <a:noFill/>
        </p:spPr>
        <p:txBody>
          <a:bodyPr wrap="square">
            <a:spAutoFit/>
          </a:bodyPr>
          <a:lstStyle/>
          <a:p>
            <a:r>
              <a:rPr lang="en-US" sz="2800" dirty="0"/>
              <a:t>(undergraduate professor, 2026)</a:t>
            </a:r>
            <a:endParaRPr lang="en-US" dirty="0"/>
          </a:p>
        </p:txBody>
      </p:sp>
    </p:spTree>
    <p:extLst>
      <p:ext uri="{BB962C8B-B14F-4D97-AF65-F5344CB8AC3E}">
        <p14:creationId xmlns:p14="http://schemas.microsoft.com/office/powerpoint/2010/main" val="593707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80E44-C2D7-4313-DF08-365ED5487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E75E6-443C-42B9-9438-5E609994D38C}"/>
              </a:ext>
            </a:extLst>
          </p:cNvPr>
          <p:cNvSpPr>
            <a:spLocks noGrp="1"/>
          </p:cNvSpPr>
          <p:nvPr>
            <p:ph type="title"/>
          </p:nvPr>
        </p:nvSpPr>
        <p:spPr/>
        <p:txBody>
          <a:bodyPr/>
          <a:lstStyle/>
          <a:p>
            <a:r>
              <a:rPr lang="en-US" dirty="0"/>
              <a:t>What is “the Canon”?</a:t>
            </a:r>
          </a:p>
        </p:txBody>
      </p:sp>
      <p:sp>
        <p:nvSpPr>
          <p:cNvPr id="3" name="Content Placeholder 2">
            <a:extLst>
              <a:ext uri="{FF2B5EF4-FFF2-40B4-BE49-F238E27FC236}">
                <a16:creationId xmlns:a16="http://schemas.microsoft.com/office/drawing/2014/main" id="{8066AA13-6DFE-CE01-C494-C1AE87E969D8}"/>
              </a:ext>
            </a:extLst>
          </p:cNvPr>
          <p:cNvSpPr>
            <a:spLocks noGrp="1"/>
          </p:cNvSpPr>
          <p:nvPr>
            <p:ph idx="1"/>
          </p:nvPr>
        </p:nvSpPr>
        <p:spPr>
          <a:xfrm>
            <a:off x="-983974" y="-2045255"/>
            <a:ext cx="10515600" cy="1325563"/>
          </a:xfrm>
        </p:spPr>
        <p:txBody>
          <a:bodyPr/>
          <a:lstStyle/>
          <a:p>
            <a:r>
              <a:rPr lang="en-US" dirty="0"/>
              <a:t>“Much of the present confusion over the problem of canon turns on the failure to reach an agreement regarding terminology” (Brevard Childs as quoted by M. Kruger, </a:t>
            </a:r>
            <a:r>
              <a:rPr lang="en-US" i="1" dirty="0"/>
              <a:t>Canon Revisited</a:t>
            </a:r>
            <a:r>
              <a:rPr lang="en-US" dirty="0"/>
              <a:t>, p. 27)</a:t>
            </a:r>
          </a:p>
        </p:txBody>
      </p:sp>
      <p:sp>
        <p:nvSpPr>
          <p:cNvPr id="5" name="TextBox 4">
            <a:extLst>
              <a:ext uri="{FF2B5EF4-FFF2-40B4-BE49-F238E27FC236}">
                <a16:creationId xmlns:a16="http://schemas.microsoft.com/office/drawing/2014/main" id="{EAB41AE2-B835-74A0-656B-B51877D31A87}"/>
              </a:ext>
            </a:extLst>
          </p:cNvPr>
          <p:cNvSpPr txBox="1"/>
          <p:nvPr/>
        </p:nvSpPr>
        <p:spPr>
          <a:xfrm>
            <a:off x="1059979" y="-2332951"/>
            <a:ext cx="10515600" cy="2246769"/>
          </a:xfrm>
          <a:prstGeom prst="rect">
            <a:avLst/>
          </a:prstGeom>
          <a:noFill/>
        </p:spPr>
        <p:txBody>
          <a:bodyPr wrap="square">
            <a:spAutoFit/>
          </a:bodyPr>
          <a:lstStyle/>
          <a:p>
            <a:pPr marL="285750" indent="-285750">
              <a:buFont typeface="Arial" panose="020B0604020202020204" pitchFamily="34" charset="0"/>
              <a:buChar char="•"/>
            </a:pPr>
            <a:r>
              <a:rPr lang="en-US" sz="2800" dirty="0"/>
              <a:t>Metzger: “Still more basic are the questions of whether the canon is a collection of authoritative books or an authoritative collection of books—and in either case whether the collection can be held to reflect the divine intention within the history of salvation” (Metzger, p. 1)</a:t>
            </a:r>
          </a:p>
        </p:txBody>
      </p:sp>
      <p:sp>
        <p:nvSpPr>
          <p:cNvPr id="7" name="TextBox 6">
            <a:extLst>
              <a:ext uri="{FF2B5EF4-FFF2-40B4-BE49-F238E27FC236}">
                <a16:creationId xmlns:a16="http://schemas.microsoft.com/office/drawing/2014/main" id="{64BB058D-B9E7-9BC0-8AFF-8A1A350FCE18}"/>
              </a:ext>
            </a:extLst>
          </p:cNvPr>
          <p:cNvSpPr txBox="1"/>
          <p:nvPr/>
        </p:nvSpPr>
        <p:spPr>
          <a:xfrm>
            <a:off x="0" y="2010840"/>
            <a:ext cx="12192000" cy="523220"/>
          </a:xfrm>
          <a:prstGeom prst="rect">
            <a:avLst/>
          </a:prstGeom>
          <a:noFill/>
        </p:spPr>
        <p:txBody>
          <a:bodyPr wrap="square">
            <a:spAutoFit/>
          </a:bodyPr>
          <a:lstStyle/>
          <a:p>
            <a:pPr algn="ctr"/>
            <a:r>
              <a:rPr lang="en-US" sz="2800" b="1" dirty="0"/>
              <a:t>the canon is “a closed list of authoritative, sacred texts”</a:t>
            </a:r>
            <a:endParaRPr lang="en-US" sz="2800" dirty="0"/>
          </a:p>
        </p:txBody>
      </p:sp>
      <p:sp>
        <p:nvSpPr>
          <p:cNvPr id="8" name="TextBox 7">
            <a:extLst>
              <a:ext uri="{FF2B5EF4-FFF2-40B4-BE49-F238E27FC236}">
                <a16:creationId xmlns:a16="http://schemas.microsoft.com/office/drawing/2014/main" id="{869116F9-0142-5296-5026-CE0C1D91EAD8}"/>
              </a:ext>
            </a:extLst>
          </p:cNvPr>
          <p:cNvSpPr txBox="1"/>
          <p:nvPr/>
        </p:nvSpPr>
        <p:spPr>
          <a:xfrm>
            <a:off x="-5330741" y="5713869"/>
            <a:ext cx="4125395" cy="523220"/>
          </a:xfrm>
          <a:prstGeom prst="rect">
            <a:avLst/>
          </a:prstGeom>
          <a:noFill/>
        </p:spPr>
        <p:txBody>
          <a:bodyPr wrap="square">
            <a:spAutoFit/>
          </a:bodyPr>
          <a:lstStyle/>
          <a:p>
            <a:pPr marL="285750" indent="-285750">
              <a:buFont typeface="Arial" panose="020B0604020202020204" pitchFamily="34" charset="0"/>
              <a:buChar char="•"/>
            </a:pPr>
            <a:r>
              <a:rPr lang="en-US" sz="2800" dirty="0"/>
              <a:t>Definition for this study:</a:t>
            </a:r>
            <a:endParaRPr lang="en-US" sz="2800" b="1" dirty="0"/>
          </a:p>
        </p:txBody>
      </p:sp>
      <p:sp>
        <p:nvSpPr>
          <p:cNvPr id="6" name="TextBox 5">
            <a:extLst>
              <a:ext uri="{FF2B5EF4-FFF2-40B4-BE49-F238E27FC236}">
                <a16:creationId xmlns:a16="http://schemas.microsoft.com/office/drawing/2014/main" id="{CDE62061-6837-5022-DA90-134D9C9E96C2}"/>
              </a:ext>
            </a:extLst>
          </p:cNvPr>
          <p:cNvSpPr txBox="1"/>
          <p:nvPr/>
        </p:nvSpPr>
        <p:spPr>
          <a:xfrm>
            <a:off x="0" y="2438142"/>
            <a:ext cx="12192000" cy="523220"/>
          </a:xfrm>
          <a:prstGeom prst="rect">
            <a:avLst/>
          </a:prstGeom>
          <a:noFill/>
        </p:spPr>
        <p:txBody>
          <a:bodyPr wrap="square">
            <a:spAutoFit/>
          </a:bodyPr>
          <a:lstStyle/>
          <a:p>
            <a:pPr algn="ctr"/>
            <a:r>
              <a:rPr lang="en-US" sz="2800" dirty="0"/>
              <a:t>(undergraduate professor, 2026)</a:t>
            </a:r>
            <a:endParaRPr lang="en-US" dirty="0"/>
          </a:p>
        </p:txBody>
      </p:sp>
      <p:sp>
        <p:nvSpPr>
          <p:cNvPr id="9" name="TextBox 8">
            <a:extLst>
              <a:ext uri="{FF2B5EF4-FFF2-40B4-BE49-F238E27FC236}">
                <a16:creationId xmlns:a16="http://schemas.microsoft.com/office/drawing/2014/main" id="{49D05D49-9262-D954-FE16-DDF4863FD127}"/>
              </a:ext>
            </a:extLst>
          </p:cNvPr>
          <p:cNvSpPr txBox="1"/>
          <p:nvPr/>
        </p:nvSpPr>
        <p:spPr>
          <a:xfrm>
            <a:off x="1059979" y="4246106"/>
            <a:ext cx="10293821" cy="2246769"/>
          </a:xfrm>
          <a:prstGeom prst="rect">
            <a:avLst/>
          </a:prstGeom>
          <a:noFill/>
        </p:spPr>
        <p:txBody>
          <a:bodyPr wrap="square" rtlCol="0">
            <a:spAutoFit/>
          </a:bodyPr>
          <a:lstStyle/>
          <a:p>
            <a:pPr marL="238125" indent="-238125">
              <a:buFont typeface="Arial" panose="020B0604020202020204" pitchFamily="34" charset="0"/>
              <a:buChar char="•"/>
            </a:pPr>
            <a:r>
              <a:rPr lang="en-US" sz="2800" dirty="0"/>
              <a:t>The term “canon” comes from the Greek word meaning, “rule” or “standard” (3x in 2 Cor 10:13-16; 1x in Gal 6:16)</a:t>
            </a:r>
          </a:p>
          <a:p>
            <a:pPr marL="238125" indent="-238125">
              <a:buFont typeface="Arial" panose="020B0604020202020204" pitchFamily="34" charset="0"/>
              <a:buChar char="•"/>
            </a:pPr>
            <a:r>
              <a:rPr lang="en-US" sz="2800" dirty="0"/>
              <a:t>It is believed by some that Athanasius (4</a:t>
            </a:r>
            <a:r>
              <a:rPr lang="en-US" sz="2800" baseline="30000" dirty="0"/>
              <a:t>th</a:t>
            </a:r>
            <a:r>
              <a:rPr lang="en-US" sz="2800" dirty="0"/>
              <a:t> century) was the first person to use the term in reference to a “canon of sacred Scripture” (matches our OT and NT)</a:t>
            </a:r>
          </a:p>
        </p:txBody>
      </p:sp>
      <p:sp>
        <p:nvSpPr>
          <p:cNvPr id="12" name="TextBox 11">
            <a:extLst>
              <a:ext uri="{FF2B5EF4-FFF2-40B4-BE49-F238E27FC236}">
                <a16:creationId xmlns:a16="http://schemas.microsoft.com/office/drawing/2014/main" id="{C480E7D9-5D9F-549C-6988-A0507EAC4794}"/>
              </a:ext>
            </a:extLst>
          </p:cNvPr>
          <p:cNvSpPr txBox="1"/>
          <p:nvPr/>
        </p:nvSpPr>
        <p:spPr>
          <a:xfrm>
            <a:off x="949089" y="3172847"/>
            <a:ext cx="10293821" cy="861774"/>
          </a:xfrm>
          <a:prstGeom prst="rect">
            <a:avLst/>
          </a:prstGeom>
          <a:noFill/>
        </p:spPr>
        <p:txBody>
          <a:bodyPr wrap="square" rtlCol="0">
            <a:spAutoFit/>
          </a:bodyPr>
          <a:lstStyle/>
          <a:p>
            <a:pPr algn="ctr"/>
            <a:r>
              <a:rPr lang="en-US" sz="5000" u="sng" dirty="0"/>
              <a:t>#1: “Canon”</a:t>
            </a:r>
          </a:p>
        </p:txBody>
      </p:sp>
    </p:spTree>
    <p:extLst>
      <p:ext uri="{BB962C8B-B14F-4D97-AF65-F5344CB8AC3E}">
        <p14:creationId xmlns:p14="http://schemas.microsoft.com/office/powerpoint/2010/main" val="24969302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A48D3-149E-075A-0D16-A5EA83812B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6772E-B3CE-3046-8B4E-000443BBD3A5}"/>
              </a:ext>
            </a:extLst>
          </p:cNvPr>
          <p:cNvSpPr>
            <a:spLocks noGrp="1"/>
          </p:cNvSpPr>
          <p:nvPr>
            <p:ph type="title"/>
          </p:nvPr>
        </p:nvSpPr>
        <p:spPr/>
        <p:txBody>
          <a:bodyPr/>
          <a:lstStyle/>
          <a:p>
            <a:r>
              <a:rPr lang="en-US" dirty="0"/>
              <a:t>Athanasius (367 AD)</a:t>
            </a:r>
          </a:p>
        </p:txBody>
      </p:sp>
      <p:sp>
        <p:nvSpPr>
          <p:cNvPr id="3" name="Content Placeholder 2">
            <a:extLst>
              <a:ext uri="{FF2B5EF4-FFF2-40B4-BE49-F238E27FC236}">
                <a16:creationId xmlns:a16="http://schemas.microsoft.com/office/drawing/2014/main" id="{8A313EB7-DDA4-7996-90AC-6CF69B1B5081}"/>
              </a:ext>
            </a:extLst>
          </p:cNvPr>
          <p:cNvSpPr>
            <a:spLocks noGrp="1"/>
          </p:cNvSpPr>
          <p:nvPr>
            <p:ph idx="1"/>
          </p:nvPr>
        </p:nvSpPr>
        <p:spPr>
          <a:xfrm>
            <a:off x="-983974" y="-2045255"/>
            <a:ext cx="10515600" cy="1325563"/>
          </a:xfrm>
        </p:spPr>
        <p:txBody>
          <a:bodyPr/>
          <a:lstStyle/>
          <a:p>
            <a:r>
              <a:rPr lang="en-US" dirty="0"/>
              <a:t>“Much of the present confusion over the problem of canon turns on the failure to reach an agreement regarding terminology” (Brevard Childs as quoted by M. Kruger, </a:t>
            </a:r>
            <a:r>
              <a:rPr lang="en-US" i="1" dirty="0"/>
              <a:t>Canon Revisited</a:t>
            </a:r>
            <a:r>
              <a:rPr lang="en-US" dirty="0"/>
              <a:t>, p. 27)</a:t>
            </a:r>
          </a:p>
        </p:txBody>
      </p:sp>
      <p:sp>
        <p:nvSpPr>
          <p:cNvPr id="5" name="TextBox 4">
            <a:extLst>
              <a:ext uri="{FF2B5EF4-FFF2-40B4-BE49-F238E27FC236}">
                <a16:creationId xmlns:a16="http://schemas.microsoft.com/office/drawing/2014/main" id="{E23ABC05-5F2D-FB5F-0842-384D6638B682}"/>
              </a:ext>
            </a:extLst>
          </p:cNvPr>
          <p:cNvSpPr txBox="1"/>
          <p:nvPr/>
        </p:nvSpPr>
        <p:spPr>
          <a:xfrm>
            <a:off x="1059979" y="-2332951"/>
            <a:ext cx="10515600" cy="2246769"/>
          </a:xfrm>
          <a:prstGeom prst="rect">
            <a:avLst/>
          </a:prstGeom>
          <a:noFill/>
        </p:spPr>
        <p:txBody>
          <a:bodyPr wrap="square">
            <a:spAutoFit/>
          </a:bodyPr>
          <a:lstStyle/>
          <a:p>
            <a:pPr marL="285750" indent="-285750">
              <a:buFont typeface="Arial" panose="020B0604020202020204" pitchFamily="34" charset="0"/>
              <a:buChar char="•"/>
            </a:pPr>
            <a:r>
              <a:rPr lang="en-US" sz="2800" dirty="0"/>
              <a:t>Metzger: “Still more basic are the questions of whether the canon is a collection of authoritative books or an authoritative collection of books—and in either case whether the collection can be held to reflect the divine intention within the history of salvation” (Metzger, p. 1)</a:t>
            </a:r>
          </a:p>
        </p:txBody>
      </p:sp>
      <p:sp>
        <p:nvSpPr>
          <p:cNvPr id="8" name="TextBox 7">
            <a:extLst>
              <a:ext uri="{FF2B5EF4-FFF2-40B4-BE49-F238E27FC236}">
                <a16:creationId xmlns:a16="http://schemas.microsoft.com/office/drawing/2014/main" id="{76582D3F-5ED1-C8F4-A210-A4F3999E0C7D}"/>
              </a:ext>
            </a:extLst>
          </p:cNvPr>
          <p:cNvSpPr txBox="1"/>
          <p:nvPr/>
        </p:nvSpPr>
        <p:spPr>
          <a:xfrm>
            <a:off x="-5330741" y="5713869"/>
            <a:ext cx="4125395" cy="523220"/>
          </a:xfrm>
          <a:prstGeom prst="rect">
            <a:avLst/>
          </a:prstGeom>
          <a:noFill/>
        </p:spPr>
        <p:txBody>
          <a:bodyPr wrap="square">
            <a:spAutoFit/>
          </a:bodyPr>
          <a:lstStyle/>
          <a:p>
            <a:pPr marL="285750" indent="-285750">
              <a:buFont typeface="Arial" panose="020B0604020202020204" pitchFamily="34" charset="0"/>
              <a:buChar char="•"/>
            </a:pPr>
            <a:r>
              <a:rPr lang="en-US" sz="2800" dirty="0"/>
              <a:t>Definition for this study:</a:t>
            </a:r>
            <a:endParaRPr lang="en-US" sz="2800" b="1" dirty="0"/>
          </a:p>
        </p:txBody>
      </p:sp>
      <p:sp>
        <p:nvSpPr>
          <p:cNvPr id="12" name="Letter 6"/>
          <p:cNvSpPr txBox="1"/>
          <p:nvPr/>
        </p:nvSpPr>
        <p:spPr>
          <a:xfrm>
            <a:off x="0" y="1641187"/>
            <a:ext cx="12192000" cy="31977985"/>
          </a:xfrm>
          <a:prstGeom prst="rect">
            <a:avLst/>
          </a:prstGeom>
          <a:noFill/>
        </p:spPr>
        <p:txBody>
          <a:bodyPr wrap="square">
            <a:spAutoFit/>
          </a:bodyPr>
          <a:lstStyle/>
          <a:p>
            <a:pPr marL="0" marR="0" indent="171450">
              <a:spcBef>
                <a:spcPts val="675"/>
              </a:spcBef>
              <a:buNone/>
            </a:pPr>
            <a:r>
              <a:rPr lang="en-US" sz="2800" dirty="0">
                <a:effectLst/>
                <a:latin typeface="+mn-lt"/>
              </a:rPr>
              <a:t>… 1. They have fabricated books which they call books of tables</a:t>
            </a:r>
            <a:r>
              <a:rPr lang="en-US" sz="2800" baseline="30000" dirty="0">
                <a:effectLst/>
                <a:latin typeface="+mn-lt"/>
              </a:rPr>
              <a:t>5</a:t>
            </a:r>
            <a:r>
              <a:rPr lang="en-US" sz="2800" dirty="0">
                <a:effectLst/>
                <a:latin typeface="+mn-lt"/>
              </a:rPr>
              <a:t>, in which they shew stars, to which they give the names of Saints. And therein of a truth they have inflicted on themselves a double reproach: those who have written such books, because they have perfected themselves in a lying and contemptible science; and as to the ignorant and simple, they have led them astray by evil thoughts concerning the right faith established in all truth and upright in the presence of God.</a:t>
            </a:r>
          </a:p>
          <a:p>
            <a:pPr marL="0" marR="0" indent="171450">
              <a:buNone/>
            </a:pPr>
            <a:r>
              <a:rPr lang="en-US" sz="2800" dirty="0">
                <a:effectLst/>
                <a:latin typeface="+mn-lt"/>
              </a:rPr>
              <a:t>… 2. But since we have made mention of heretics as dead, but of ourselves as possessing the Divine Scriptures for salvation; and since I fear lest, as Paul wrote to the Corinthians</a:t>
            </a:r>
            <a:r>
              <a:rPr lang="en-US" sz="2800" baseline="30000" dirty="0">
                <a:effectLst/>
                <a:latin typeface="+mn-lt"/>
              </a:rPr>
              <a:t>7</a:t>
            </a:r>
            <a:r>
              <a:rPr lang="en-US" sz="2800" dirty="0">
                <a:effectLst/>
                <a:latin typeface="+mn-lt"/>
              </a:rPr>
              <a:t>, some few of the simple should be beguiled from their simplicity and purity, by the subtilty of certain men, and should henceforth read other books—those called apocryphal—led astray by the similarity of their names with the true books; I beseech you to bear patiently, if I also write, by way of remembrance, of matters with which you are acquainted, influenced by the need and advantage of the Church.</a:t>
            </a:r>
          </a:p>
          <a:p>
            <a:pPr marL="0" marR="0" indent="171450">
              <a:buNone/>
            </a:pPr>
            <a:r>
              <a:rPr lang="en-US" sz="2800" dirty="0">
                <a:effectLst/>
                <a:latin typeface="+mn-lt"/>
              </a:rPr>
              <a:t>3. In proceeding to make mention of these things, I shall adopt, to commend my undertaking, the pattern of Luke the Evangelist, saying on my own account: ‘Forasmuch as some have taken in hand,’ to reduce into order for themselves the books termed apocryphal, and to mix them up with the divinely inspired Scripture, concerning which we have been fully persuaded, as they who from the beginning were eye-witnesses and ministers of the Word, delivered to the fathers; it seemed </a:t>
            </a:r>
            <a:r>
              <a:rPr lang="en-US" sz="2800" dirty="0">
                <a:solidFill>
                  <a:schemeClr val="tx1"/>
                </a:solidFill>
                <a:effectLst/>
                <a:latin typeface="+mn-lt"/>
              </a:rPr>
              <a:t>  p 552  </a:t>
            </a:r>
            <a:r>
              <a:rPr lang="en-US" sz="2800" dirty="0">
                <a:effectLst/>
                <a:latin typeface="+mn-lt"/>
              </a:rPr>
              <a:t>good to me also, having been urged thereto by true brethren, and having learned from the beginning, to set before you the books included in the Canon, and handed down, and accredited as Divine; to the end that any one who has fallen into error may condemn those who have led him astray; and that he who has continued </a:t>
            </a:r>
            <a:r>
              <a:rPr lang="en-US" sz="2800" dirty="0" err="1">
                <a:effectLst/>
                <a:latin typeface="+mn-lt"/>
              </a:rPr>
              <a:t>stedfast</a:t>
            </a:r>
            <a:r>
              <a:rPr lang="en-US" sz="2800" dirty="0">
                <a:effectLst/>
                <a:latin typeface="+mn-lt"/>
              </a:rPr>
              <a:t> in purity may again rejoice, having these things brought to his remembrance.</a:t>
            </a:r>
          </a:p>
          <a:p>
            <a:pPr marL="0" marR="0" indent="171450">
              <a:buNone/>
            </a:pPr>
            <a:r>
              <a:rPr lang="en-US" sz="2800" dirty="0">
                <a:effectLst/>
                <a:latin typeface="+mn-lt"/>
              </a:rPr>
              <a:t>4. There are, then, of the Old Testament, twenty-two books in number; for, as I have heard, it is handed down that this is the number of the letters among the Hebrews; their respective order and names being as follows. The first is Genesis, then Exodus, next Leviticus, after that Numbers, and then Deuteronomy. Following these there is Joshua, the son of Nun, then Judges, then Ruth. And again, after these four books of Kings, the first and second being reckoned as one book, and so likewise the third and fourth as one book. And again, the first and second of the Chronicles are reckoned as one book. Again Ezra, the first and second are similarly one book. After these there is the book of Psalms, then the Proverbs, next Ecclesiastes, and the Song of Songs. Job follows, then the Prophets, the twelve being reckoned as one book. Then Isaiah, one book, then Jeremiah with Baruch, Lamentations, and</a:t>
            </a:r>
            <a:r>
              <a:rPr lang="en-US" sz="2800" baseline="30000" dirty="0">
                <a:effectLst/>
                <a:latin typeface="+mn-lt"/>
              </a:rPr>
              <a:t>2</a:t>
            </a:r>
            <a:r>
              <a:rPr lang="en-US" sz="2800" dirty="0">
                <a:effectLst/>
                <a:latin typeface="+mn-lt"/>
              </a:rPr>
              <a:t> the epistle, one book; afterwards, Ezekiel and Daniel, each one book. Thus far constitutes the Old Testament.</a:t>
            </a:r>
          </a:p>
          <a:p>
            <a:pPr marL="0" marR="0" indent="171450">
              <a:buNone/>
            </a:pPr>
            <a:r>
              <a:rPr lang="en-US" sz="2800" dirty="0">
                <a:effectLst/>
                <a:latin typeface="+mn-lt"/>
              </a:rPr>
              <a:t>5. Again it is not tedious to speak of the [books] of the New Testament. These are, the four Gospels, according to Matthew, Mark, Luke, and John. Afterwards, the Acts of the Apostles and Epistles (called Catholic), seven, viz. of James, one; of Peter, two; of John, three; after these, one of Jude. In addition, there are fourteen Epistles of Paul, written in this order. The first, to the Romans; then two to the Corinthians; after these, to the Galatians; next, to the Ephesians; then to the Philippians; then to the Colossians; after these, two to the Thessalonians, and that to the Hebrews; and again, two to Timothy; one to Titus; and lastly, that to Philemon. And besides, the Revelation of John.</a:t>
            </a:r>
          </a:p>
          <a:p>
            <a:pPr marL="0" marR="0" indent="171450">
              <a:buNone/>
            </a:pPr>
            <a:r>
              <a:rPr lang="en-US" sz="2800" dirty="0">
                <a:effectLst/>
                <a:latin typeface="+mn-lt"/>
              </a:rPr>
              <a:t>6. These are fountains of salvation, that they who thirst may be satisfied with the living words they contain. In these alone is proclaimed the doctrine of godliness. Let no man add to these, neither let him take ought from these. For concerning these the Lord put to shame the Sadducees, and said, ‘Ye do err, not knowing the Scriptures.’ And He reproved the Jews, saying, ‘Search the Scriptures, for these are they that testify of Me.’</a:t>
            </a:r>
          </a:p>
          <a:p>
            <a:pPr marL="0" marR="0" indent="171450">
              <a:buNone/>
            </a:pPr>
            <a:r>
              <a:rPr lang="en-US" sz="2800" dirty="0">
                <a:effectLst/>
                <a:latin typeface="+mn-lt"/>
              </a:rPr>
              <a:t>7. But for greater exactness I add this also, writing of necessity; that there are other books besides these not indeed included in the Canon, but appointed by the Fathers to be read by those who newly join us, and who wish for instruction in the word of godliness. The Wisdom of Solomon, and the Wisdom of Sirach, and Esther, and Judith, and Tobit, and that which is called the Teaching of the Apostles, and the Shepherd. But the former, my brethren, are included in the Canon, the latter being [merely] read; nor is there in any place a mention of apocryphal writings. But they are an invention of heretics, who write them when they choose, bestowing upon them their approbation, and assigning to them a date, that so, using them as ancient writings, they may find occasion to lead astray the simple.</a:t>
            </a:r>
          </a:p>
          <a:p>
            <a:pPr marL="0" marR="0" indent="171450">
              <a:buNone/>
            </a:pPr>
            <a:br>
              <a:rPr lang="en-US" sz="2800" dirty="0">
                <a:effectLst/>
                <a:latin typeface="+mn-lt"/>
              </a:rPr>
            </a:br>
            <a:endParaRPr lang="en-US" sz="2800" dirty="0">
              <a:effectLst/>
              <a:latin typeface="+mn-lt"/>
            </a:endParaRPr>
          </a:p>
          <a:p>
            <a:pPr marL="0" marR="0">
              <a:buNone/>
            </a:pPr>
            <a:r>
              <a:rPr lang="en-US" sz="2800" dirty="0">
                <a:effectLst/>
                <a:latin typeface="+mn-lt"/>
              </a:rPr>
              <a:t> Athanasius of Alexandria, </a:t>
            </a:r>
            <a:r>
              <a:rPr lang="en-US" sz="2800" u="sng" dirty="0">
                <a:solidFill>
                  <a:schemeClr val="tx1"/>
                </a:solidFill>
                <a:effectLst/>
                <a:latin typeface="+mn-lt"/>
                <a:hlinkClick r:id="rId2"/>
              </a:rPr>
              <a:t>“Festal Letters,”</a:t>
            </a:r>
            <a:r>
              <a:rPr lang="en-US" sz="2800" dirty="0">
                <a:effectLst/>
                <a:latin typeface="+mn-lt"/>
              </a:rPr>
              <a:t> in St. Athanasius: Select Works and Letters, ed. Philip Schaff and Henry Wace, trans. Henry Burgess and Jessie Smith Payne, vol. 4 of A Select Library of the Nicene and Post-Nicene Fathers of the Christian Church, Second Series (New York: Christian Literature Company, 1892), 551–552.</a:t>
            </a:r>
            <a:endParaRPr lang="en-US" sz="2800" dirty="0">
              <a:effectLst/>
              <a:latin typeface="Calibri" panose="020F0502020204030204" pitchFamily="34" charset="0"/>
            </a:endParaRPr>
          </a:p>
        </p:txBody>
      </p:sp>
    </p:spTree>
    <p:extLst>
      <p:ext uri="{BB962C8B-B14F-4D97-AF65-F5344CB8AC3E}">
        <p14:creationId xmlns:p14="http://schemas.microsoft.com/office/powerpoint/2010/main" val="2191383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03D3B-ACE5-9F8C-F442-4CE223A8B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3C8DF-8729-30EE-0457-B7C3ECF626D2}"/>
              </a:ext>
            </a:extLst>
          </p:cNvPr>
          <p:cNvSpPr>
            <a:spLocks noGrp="1"/>
          </p:cNvSpPr>
          <p:nvPr>
            <p:ph type="title"/>
          </p:nvPr>
        </p:nvSpPr>
        <p:spPr>
          <a:xfrm>
            <a:off x="838200" y="-1382474"/>
            <a:ext cx="10515600" cy="1325563"/>
          </a:xfrm>
        </p:spPr>
        <p:txBody>
          <a:bodyPr/>
          <a:lstStyle/>
          <a:p>
            <a:r>
              <a:rPr lang="en-US" dirty="0"/>
              <a:t>Athanasius (4</a:t>
            </a:r>
            <a:r>
              <a:rPr lang="en-US" baseline="30000" dirty="0"/>
              <a:t>th</a:t>
            </a:r>
            <a:r>
              <a:rPr lang="en-US" dirty="0"/>
              <a:t> century)</a:t>
            </a:r>
          </a:p>
        </p:txBody>
      </p:sp>
      <p:sp>
        <p:nvSpPr>
          <p:cNvPr id="3" name="Content Placeholder 2">
            <a:extLst>
              <a:ext uri="{FF2B5EF4-FFF2-40B4-BE49-F238E27FC236}">
                <a16:creationId xmlns:a16="http://schemas.microsoft.com/office/drawing/2014/main" id="{0A909C16-5138-60B5-998B-5B7132BAA2A4}"/>
              </a:ext>
            </a:extLst>
          </p:cNvPr>
          <p:cNvSpPr>
            <a:spLocks noGrp="1"/>
          </p:cNvSpPr>
          <p:nvPr>
            <p:ph idx="1"/>
          </p:nvPr>
        </p:nvSpPr>
        <p:spPr>
          <a:xfrm>
            <a:off x="-983974" y="-2045255"/>
            <a:ext cx="10515600" cy="1325563"/>
          </a:xfrm>
        </p:spPr>
        <p:txBody>
          <a:bodyPr/>
          <a:lstStyle/>
          <a:p>
            <a:r>
              <a:rPr lang="en-US" dirty="0"/>
              <a:t>“Much of the present confusion over the problem of canon turns on the failure to reach an agreement regarding terminology” (Brevard Childs as quoted by M. Kruger, </a:t>
            </a:r>
            <a:r>
              <a:rPr lang="en-US" i="1" dirty="0"/>
              <a:t>Canon Revisited</a:t>
            </a:r>
            <a:r>
              <a:rPr lang="en-US" dirty="0"/>
              <a:t>, p. 27)</a:t>
            </a:r>
          </a:p>
        </p:txBody>
      </p:sp>
      <p:sp>
        <p:nvSpPr>
          <p:cNvPr id="5" name="TextBox 4">
            <a:extLst>
              <a:ext uri="{FF2B5EF4-FFF2-40B4-BE49-F238E27FC236}">
                <a16:creationId xmlns:a16="http://schemas.microsoft.com/office/drawing/2014/main" id="{75E4F516-86FF-CAAA-ED92-AA1FFAF26508}"/>
              </a:ext>
            </a:extLst>
          </p:cNvPr>
          <p:cNvSpPr txBox="1"/>
          <p:nvPr/>
        </p:nvSpPr>
        <p:spPr>
          <a:xfrm>
            <a:off x="1059979" y="-2332951"/>
            <a:ext cx="10515600" cy="2246769"/>
          </a:xfrm>
          <a:prstGeom prst="rect">
            <a:avLst/>
          </a:prstGeom>
          <a:noFill/>
        </p:spPr>
        <p:txBody>
          <a:bodyPr wrap="square">
            <a:spAutoFit/>
          </a:bodyPr>
          <a:lstStyle/>
          <a:p>
            <a:pPr marL="285750" indent="-285750">
              <a:buFont typeface="Arial" panose="020B0604020202020204" pitchFamily="34" charset="0"/>
              <a:buChar char="•"/>
            </a:pPr>
            <a:r>
              <a:rPr lang="en-US" sz="2800" dirty="0"/>
              <a:t>Metzger: “Still more basic are the questions of whether the canon is a collection of authoritative books or an authoritative collection of books—and in either case whether the collection can be held to reflect the divine intention within the history of salvation” (Metzger, p. 1)</a:t>
            </a:r>
          </a:p>
        </p:txBody>
      </p:sp>
      <p:sp>
        <p:nvSpPr>
          <p:cNvPr id="8" name="TextBox 7">
            <a:extLst>
              <a:ext uri="{FF2B5EF4-FFF2-40B4-BE49-F238E27FC236}">
                <a16:creationId xmlns:a16="http://schemas.microsoft.com/office/drawing/2014/main" id="{AB459CC3-7307-708E-9A3C-DD4A0A5FE904}"/>
              </a:ext>
            </a:extLst>
          </p:cNvPr>
          <p:cNvSpPr txBox="1"/>
          <p:nvPr/>
        </p:nvSpPr>
        <p:spPr>
          <a:xfrm>
            <a:off x="-5330741" y="5713869"/>
            <a:ext cx="4125395" cy="523220"/>
          </a:xfrm>
          <a:prstGeom prst="rect">
            <a:avLst/>
          </a:prstGeom>
          <a:noFill/>
        </p:spPr>
        <p:txBody>
          <a:bodyPr wrap="square">
            <a:spAutoFit/>
          </a:bodyPr>
          <a:lstStyle/>
          <a:p>
            <a:pPr marL="285750" indent="-285750">
              <a:buFont typeface="Arial" panose="020B0604020202020204" pitchFamily="34" charset="0"/>
              <a:buChar char="•"/>
            </a:pPr>
            <a:r>
              <a:rPr lang="en-US" sz="2800" dirty="0"/>
              <a:t>Definition for this study:</a:t>
            </a:r>
            <a:endParaRPr lang="en-US" sz="2800" b="1" dirty="0"/>
          </a:p>
        </p:txBody>
      </p:sp>
      <p:sp>
        <p:nvSpPr>
          <p:cNvPr id="12" name="Letter 7"/>
          <p:cNvSpPr txBox="1"/>
          <p:nvPr/>
        </p:nvSpPr>
        <p:spPr>
          <a:xfrm>
            <a:off x="0" y="-3055503"/>
            <a:ext cx="12192000" cy="31977985"/>
          </a:xfrm>
          <a:prstGeom prst="rect">
            <a:avLst/>
          </a:prstGeom>
          <a:noFill/>
        </p:spPr>
        <p:txBody>
          <a:bodyPr wrap="square">
            <a:spAutoFit/>
          </a:bodyPr>
          <a:lstStyle/>
          <a:p>
            <a:pPr marL="0" marR="0" indent="171450">
              <a:spcBef>
                <a:spcPts val="675"/>
              </a:spcBef>
              <a:buNone/>
            </a:pPr>
            <a:r>
              <a:rPr lang="en-US" sz="2800" dirty="0">
                <a:effectLst/>
                <a:latin typeface="+mn-lt"/>
              </a:rPr>
              <a:t>… 1. They have fabricated books which they call books of tables</a:t>
            </a:r>
            <a:r>
              <a:rPr lang="en-US" sz="2800" baseline="30000" dirty="0">
                <a:effectLst/>
                <a:latin typeface="+mn-lt"/>
              </a:rPr>
              <a:t>5</a:t>
            </a:r>
            <a:r>
              <a:rPr lang="en-US" sz="2800" dirty="0">
                <a:effectLst/>
                <a:latin typeface="+mn-lt"/>
              </a:rPr>
              <a:t>, in which they shew stars, to which they give the names of Saints. And therein of a truth they have inflicted on themselves a double reproach: those who have written such books, because they have perfected themselves in a lying and contemptible science; and as to the ignorant and simple, they have led them astray by evil thoughts concerning the right faith established in all truth and upright in the presence of God.</a:t>
            </a:r>
          </a:p>
          <a:p>
            <a:pPr marL="0" marR="0" indent="171450">
              <a:buNone/>
            </a:pPr>
            <a:r>
              <a:rPr lang="en-US" sz="2800" dirty="0">
                <a:effectLst/>
                <a:latin typeface="+mn-lt"/>
              </a:rPr>
              <a:t>… 2. But since we have made mention of heretics as dead, but of ourselves as possessing the Divine Scriptures for salvation; and since I fear lest, as Paul wrote to the Corinthians</a:t>
            </a:r>
            <a:r>
              <a:rPr lang="en-US" sz="2800" baseline="30000" dirty="0">
                <a:effectLst/>
                <a:latin typeface="+mn-lt"/>
              </a:rPr>
              <a:t>7</a:t>
            </a:r>
            <a:r>
              <a:rPr lang="en-US" sz="2800" dirty="0">
                <a:effectLst/>
                <a:latin typeface="+mn-lt"/>
              </a:rPr>
              <a:t>, some few of the simple should be beguiled from their simplicity and purity, by the subtilty of certain men, and should henceforth read other books—those called apocryphal—led astray by the similarity of their names with the true books; I beseech you to bear patiently, if I also write, by way of remembrance, of matters with which you are acquainted, influenced by the need and advantage of the Church.</a:t>
            </a:r>
          </a:p>
          <a:p>
            <a:pPr marL="0" marR="0" indent="171450">
              <a:buNone/>
            </a:pPr>
            <a:r>
              <a:rPr lang="en-US" sz="2800" dirty="0">
                <a:effectLst/>
                <a:latin typeface="+mn-lt"/>
              </a:rPr>
              <a:t>3. In proceeding to make mention of these things, I shall adopt, to commend my undertaking, the pattern of Luke the Evangelist, saying on my own account: ‘Forasmuch as some have taken in hand,’ to reduce into order for themselves the books termed apocryphal, and to mix them up with the divinely inspired Scripture, concerning which we have been fully persuaded, as they who from the beginning were eye-witnesses and ministers of the Word, delivered to the fathers; it seemed </a:t>
            </a:r>
            <a:r>
              <a:rPr lang="en-US" sz="2800" dirty="0">
                <a:solidFill>
                  <a:schemeClr val="tx1"/>
                </a:solidFill>
                <a:effectLst/>
                <a:latin typeface="+mn-lt"/>
              </a:rPr>
              <a:t>  p 552  </a:t>
            </a:r>
            <a:r>
              <a:rPr lang="en-US" sz="2800" dirty="0">
                <a:effectLst/>
                <a:latin typeface="+mn-lt"/>
              </a:rPr>
              <a:t>good to me also, having been urged thereto by true brethren, and having learned from the beginning, to set before you the books included in the Canon, and handed down, and accredited as Divine; to the end that any one who has fallen into error may condemn those who have led him astray; and that he who has continued </a:t>
            </a:r>
            <a:r>
              <a:rPr lang="en-US" sz="2800" dirty="0" err="1">
                <a:effectLst/>
                <a:latin typeface="+mn-lt"/>
              </a:rPr>
              <a:t>stedfast</a:t>
            </a:r>
            <a:r>
              <a:rPr lang="en-US" sz="2800" dirty="0">
                <a:effectLst/>
                <a:latin typeface="+mn-lt"/>
              </a:rPr>
              <a:t> in purity may again rejoice, having these things brought to his remembrance.</a:t>
            </a:r>
          </a:p>
          <a:p>
            <a:pPr marL="0" marR="0" indent="171450">
              <a:buNone/>
            </a:pPr>
            <a:r>
              <a:rPr lang="en-US" sz="2800" dirty="0">
                <a:effectLst/>
                <a:latin typeface="+mn-lt"/>
              </a:rPr>
              <a:t>4. There are, then, </a:t>
            </a:r>
            <a:r>
              <a:rPr lang="en-US" sz="2800" b="1" u="sng" dirty="0">
                <a:effectLst/>
                <a:latin typeface="+mn-lt"/>
              </a:rPr>
              <a:t>of the Old Testament, twenty-two books in number</a:t>
            </a:r>
            <a:r>
              <a:rPr lang="en-US" sz="2800" dirty="0">
                <a:effectLst/>
                <a:latin typeface="+mn-lt"/>
              </a:rPr>
              <a:t>; for, as I have heard, it is handed down that this is the number of the letters among the Hebrews; their respective order and names being as follows. The first is Genesis, then Exodus, next Leviticus, after that Numbers, and then Deuteronomy. Following these there is Joshua, the son of Nun, then Judges, then Ruth. And again, after these four books of Kings, the first and second being reckoned as one book, and so likewise the third and fourth as one book. And again, the first and second of the Chronicles are reckoned as one book. Again Ezra, the first and second are similarly one book. After these there is the book of Psalms, then the Proverbs, next Ecclesiastes, and the Song of Songs. Job follows, then the Prophets, the twelve being reckoned as one book. Then Isaiah, one book, then Jeremiah with Baruch, Lamentations, and</a:t>
            </a:r>
            <a:r>
              <a:rPr lang="en-US" sz="2800" baseline="30000" dirty="0">
                <a:effectLst/>
                <a:latin typeface="+mn-lt"/>
              </a:rPr>
              <a:t>2</a:t>
            </a:r>
            <a:r>
              <a:rPr lang="en-US" sz="2800" dirty="0">
                <a:effectLst/>
                <a:latin typeface="+mn-lt"/>
              </a:rPr>
              <a:t> the epistle, one book; afterwards, Ezekiel and Daniel, each one book. Thus far constitutes the Old Testament.</a:t>
            </a:r>
          </a:p>
          <a:p>
            <a:pPr marL="0" marR="0" indent="171450">
              <a:buNone/>
            </a:pPr>
            <a:r>
              <a:rPr lang="en-US" sz="2800" dirty="0">
                <a:effectLst/>
                <a:latin typeface="+mn-lt"/>
              </a:rPr>
              <a:t>5. Again it is not tedious to speak of the [books] of the New Testament. These are, the four Gospels, according to Matthew, Mark, Luke, and John. Afterwards, the Acts of the Apostles and Epistles (called Catholic), seven, viz. of James, one; of Peter, two; of John, three; after these, one of Jude. In addition, there are fourteen Epistles of Paul, written in this order. The first, to the Romans; then two to the Corinthians; after these, to the Galatians; next, to the Ephesians; then to the Philippians; then to the Colossians; after these, two to the Thessalonians, and that to the Hebrews; and again, two to Timothy; one to Titus; and lastly, that to Philemon. And besides, the Revelation of John.</a:t>
            </a:r>
          </a:p>
          <a:p>
            <a:pPr marL="0" marR="0" indent="171450">
              <a:buNone/>
            </a:pPr>
            <a:r>
              <a:rPr lang="en-US" sz="2800" dirty="0">
                <a:effectLst/>
                <a:latin typeface="+mn-lt"/>
              </a:rPr>
              <a:t>6. These are fountains of salvation, that they who thirst may be satisfied with the living words they contain. In these alone is proclaimed the doctrine of godliness. Let no man add to these, neither let him take ought from these. For concerning these the Lord put to shame the Sadducees, and said, ‘Ye do err, not knowing the Scriptures.’ And He reproved the Jews, saying, ‘Search the Scriptures, for these are they that testify of Me.’</a:t>
            </a:r>
          </a:p>
          <a:p>
            <a:pPr marL="0" marR="0" indent="171450">
              <a:buNone/>
            </a:pPr>
            <a:r>
              <a:rPr lang="en-US" sz="2800" dirty="0">
                <a:effectLst/>
                <a:latin typeface="+mn-lt"/>
              </a:rPr>
              <a:t>7. But for greater exactness I add this also, writing of necessity; that there are other books besides these not indeed included in the Canon, but appointed by the Fathers to be read by those who newly join us, and who wish for instruction in the word of godliness. The Wisdom of Solomon, and the Wisdom of Sirach, and Esther, and Judith, and Tobit, and that which is called the Teaching of the Apostles, and the Shepherd. But the former, my brethren, are included in the Canon, the latter being [merely] read; nor is there in any place a mention of apocryphal writings. But they are an invention of heretics, who write them when they choose, bestowing upon them their approbation, and assigning to them a date, that so, using them as ancient writings, they may find occasion to lead astray the simple.</a:t>
            </a:r>
          </a:p>
          <a:p>
            <a:pPr marL="0" marR="0" indent="171450">
              <a:buNone/>
            </a:pPr>
            <a:br>
              <a:rPr lang="en-US" sz="2800" dirty="0">
                <a:effectLst/>
                <a:latin typeface="+mn-lt"/>
              </a:rPr>
            </a:br>
            <a:endParaRPr lang="en-US" sz="2800" dirty="0">
              <a:effectLst/>
              <a:latin typeface="+mn-lt"/>
            </a:endParaRPr>
          </a:p>
          <a:p>
            <a:pPr marL="0" marR="0">
              <a:buNone/>
            </a:pPr>
            <a:r>
              <a:rPr lang="en-US" sz="2800" dirty="0">
                <a:effectLst/>
                <a:latin typeface="+mn-lt"/>
              </a:rPr>
              <a:t> Athanasius of Alexandria, </a:t>
            </a:r>
            <a:r>
              <a:rPr lang="en-US" sz="2800" u="sng" dirty="0">
                <a:solidFill>
                  <a:schemeClr val="tx1"/>
                </a:solidFill>
                <a:effectLst/>
                <a:latin typeface="+mn-lt"/>
                <a:hlinkClick r:id="rId2"/>
              </a:rPr>
              <a:t>“Festal Letters,”</a:t>
            </a:r>
            <a:r>
              <a:rPr lang="en-US" sz="2800" dirty="0">
                <a:effectLst/>
                <a:latin typeface="+mn-lt"/>
              </a:rPr>
              <a:t> in St. Athanasius: Select Works and Letters, ed. Philip Schaff and Henry Wace, trans. Henry Burgess and Jessie Smith Payne, vol. 4 of A Select Library of the Nicene and Post-Nicene Fathers of the Christian Church, Second Series (New York: Christian Literature Company, 1892), 551–552.</a:t>
            </a:r>
            <a:endParaRPr lang="en-US" sz="2800" dirty="0">
              <a:effectLst/>
              <a:latin typeface="Calibri" panose="020F0502020204030204" pitchFamily="34" charset="0"/>
            </a:endParaRPr>
          </a:p>
        </p:txBody>
      </p:sp>
      <p:sp>
        <p:nvSpPr>
          <p:cNvPr id="13" name="Letter 6"/>
          <p:cNvSpPr txBox="1"/>
          <p:nvPr/>
        </p:nvSpPr>
        <p:spPr>
          <a:xfrm>
            <a:off x="0" y="-3055503"/>
            <a:ext cx="12192000" cy="31977985"/>
          </a:xfrm>
          <a:prstGeom prst="rect">
            <a:avLst/>
          </a:prstGeom>
          <a:noFill/>
        </p:spPr>
        <p:txBody>
          <a:bodyPr wrap="square">
            <a:spAutoFit/>
          </a:bodyPr>
          <a:lstStyle/>
          <a:p>
            <a:pPr marL="0" marR="0" indent="171450">
              <a:spcBef>
                <a:spcPts val="675"/>
              </a:spcBef>
              <a:buNone/>
            </a:pPr>
            <a:r>
              <a:rPr lang="en-US" sz="2800" dirty="0">
                <a:effectLst/>
                <a:latin typeface="+mn-lt"/>
              </a:rPr>
              <a:t>… 1. They have fabricated books which they call books of tables</a:t>
            </a:r>
            <a:r>
              <a:rPr lang="en-US" sz="2800" baseline="30000" dirty="0">
                <a:effectLst/>
                <a:latin typeface="+mn-lt"/>
              </a:rPr>
              <a:t>5</a:t>
            </a:r>
            <a:r>
              <a:rPr lang="en-US" sz="2800" dirty="0">
                <a:effectLst/>
                <a:latin typeface="+mn-lt"/>
              </a:rPr>
              <a:t>, in which they shew stars, to which they give the names of Saints. And therein of a truth they have inflicted on themselves a double reproach: those who have written such books, because they have perfected themselves in a lying and contemptible science; and as to the ignorant and simple, they have led them astray by evil thoughts concerning the right faith established in all truth and upright in the presence of God.</a:t>
            </a:r>
          </a:p>
          <a:p>
            <a:pPr marL="0" marR="0" indent="171450">
              <a:buNone/>
            </a:pPr>
            <a:r>
              <a:rPr lang="en-US" sz="2800" dirty="0">
                <a:effectLst/>
                <a:latin typeface="+mn-lt"/>
              </a:rPr>
              <a:t>… 2. But since we have made mention of heretics as dead, but of ourselves as possessing the Divine Scriptures for salvation; and since I fear lest, as Paul wrote to the Corinthians</a:t>
            </a:r>
            <a:r>
              <a:rPr lang="en-US" sz="2800" baseline="30000" dirty="0">
                <a:effectLst/>
                <a:latin typeface="+mn-lt"/>
              </a:rPr>
              <a:t>7</a:t>
            </a:r>
            <a:r>
              <a:rPr lang="en-US" sz="2800" dirty="0">
                <a:effectLst/>
                <a:latin typeface="+mn-lt"/>
              </a:rPr>
              <a:t>, some few of the simple should be beguiled from their simplicity and purity, by the subtilty of certain men, and should henceforth read other books—those called apocryphal—led astray by the similarity of their names with the true books; I beseech you to bear patiently, if I also write, by way of remembrance, of matters with which you are acquainted, influenced by the need and advantage of the Church.</a:t>
            </a:r>
          </a:p>
          <a:p>
            <a:pPr marL="0" marR="0" indent="171450">
              <a:buNone/>
            </a:pPr>
            <a:r>
              <a:rPr lang="en-US" sz="2800" dirty="0">
                <a:effectLst/>
                <a:latin typeface="+mn-lt"/>
              </a:rPr>
              <a:t>3. In proceeding to make mention of these things, I shall adopt, to commend my undertaking, the pattern of Luke the Evangelist, saying on my own account: ‘Forasmuch as some have taken in hand,’ to reduce into order for themselves the books termed apocryphal, and to mix them up with the divinely inspired Scripture, concerning which we have been fully persuaded, as they who from the beginning were eye-witnesses and ministers of the Word, delivered to the fathers; it seemed </a:t>
            </a:r>
            <a:r>
              <a:rPr lang="en-US" sz="2800" dirty="0">
                <a:solidFill>
                  <a:schemeClr val="tx1"/>
                </a:solidFill>
                <a:effectLst/>
                <a:latin typeface="+mn-lt"/>
              </a:rPr>
              <a:t>  p 552  </a:t>
            </a:r>
            <a:r>
              <a:rPr lang="en-US" sz="2800" dirty="0">
                <a:effectLst/>
                <a:latin typeface="+mn-lt"/>
              </a:rPr>
              <a:t>good to me also, having been urged thereto by true brethren, and having learned from the beginning, to set before you the books included in the Canon, and handed down, and accredited as Divine; to the end that any one who has fallen into error may condemn those who have led him astray; and that he who has continued </a:t>
            </a:r>
            <a:r>
              <a:rPr lang="en-US" sz="2800" dirty="0" err="1">
                <a:effectLst/>
                <a:latin typeface="+mn-lt"/>
              </a:rPr>
              <a:t>stedfast</a:t>
            </a:r>
            <a:r>
              <a:rPr lang="en-US" sz="2800" dirty="0">
                <a:effectLst/>
                <a:latin typeface="+mn-lt"/>
              </a:rPr>
              <a:t> in purity may again rejoice, having these things brought to his remembrance.</a:t>
            </a:r>
          </a:p>
          <a:p>
            <a:pPr marL="0" marR="0" indent="171450">
              <a:buNone/>
            </a:pPr>
            <a:r>
              <a:rPr lang="en-US" sz="2800" dirty="0">
                <a:effectLst/>
                <a:latin typeface="+mn-lt"/>
              </a:rPr>
              <a:t>4. There are, then, of the Old Testament, twenty-two books in number; for, as I have heard, it is handed down that this is the number of the letters among the Hebrews; their respective order and names being as follows. The first is Genesis, then Exodus, next Leviticus, after that Numbers, and then Deuteronomy. Following these there is Joshua, the son of Nun, then Judges, then Ruth. And again, after these four books of Kings, the first and second being reckoned as one book, and so likewise the third and fourth as one book. And again, the first and second of the Chronicles are reckoned as one book. Again Ezra, the first and second are similarly one book. After these there is the book of Psalms, then the Proverbs, next Ecclesiastes, and the Song of Songs. Job follows, then the Prophets, the twelve being reckoned as one book. Then Isaiah, one book, then Jeremiah with Baruch, Lamentations, and</a:t>
            </a:r>
            <a:r>
              <a:rPr lang="en-US" sz="2800" baseline="30000" dirty="0">
                <a:effectLst/>
                <a:latin typeface="+mn-lt"/>
              </a:rPr>
              <a:t>2</a:t>
            </a:r>
            <a:r>
              <a:rPr lang="en-US" sz="2800" dirty="0">
                <a:effectLst/>
                <a:latin typeface="+mn-lt"/>
              </a:rPr>
              <a:t> the epistle, one book; afterwards, Ezekiel and Daniel, each one book. Thus far constitutes the Old Testament.</a:t>
            </a:r>
          </a:p>
          <a:p>
            <a:pPr marL="0" marR="0" indent="171450">
              <a:buNone/>
            </a:pPr>
            <a:r>
              <a:rPr lang="en-US" sz="2800" dirty="0">
                <a:effectLst/>
                <a:latin typeface="+mn-lt"/>
              </a:rPr>
              <a:t>5. Again it is not tedious to speak of the [books] of the New Testament. These are, the four Gospels, according to Matthew, Mark, Luke, and John. Afterwards, the Acts of the Apostles and Epistles (called Catholic), seven, viz. of James, one; of Peter, two; of John, three; after these, one of Jude. In addition, there are fourteen Epistles of Paul, written in this order. The first, to the Romans; then two to the Corinthians; after these, to the Galatians; next, to the Ephesians; then to the Philippians; then to the Colossians; after these, two to the Thessalonians, and that to the Hebrews; and again, two to Timothy; one to Titus; and lastly, that to Philemon. And besides, the Revelation of John.</a:t>
            </a:r>
          </a:p>
          <a:p>
            <a:pPr marL="0" marR="0" indent="171450">
              <a:buNone/>
            </a:pPr>
            <a:r>
              <a:rPr lang="en-US" sz="2800" dirty="0">
                <a:effectLst/>
                <a:latin typeface="+mn-lt"/>
              </a:rPr>
              <a:t>6. These are fountains of salvation, that they who thirst may be satisfied with the living words they contain. In these alone is proclaimed the doctrine of godliness. Let no man add to these, neither let him take ought from these. For concerning these the Lord put to shame the Sadducees, and said, ‘Ye do err, not knowing the Scriptures.’ And He reproved the Jews, saying, ‘Search the Scriptures, for these are they that testify of Me.’</a:t>
            </a:r>
          </a:p>
          <a:p>
            <a:pPr marL="0" marR="0" indent="171450">
              <a:buNone/>
            </a:pPr>
            <a:r>
              <a:rPr lang="en-US" sz="2800" dirty="0">
                <a:effectLst/>
                <a:latin typeface="+mn-lt"/>
              </a:rPr>
              <a:t>7. But for greater exactness I add this also, writing of necessity; that there are other books besides these not indeed included in the Canon, but appointed by the Fathers to be read by those who newly join us, and who wish for instruction in the word of godliness. The Wisdom of Solomon, and the Wisdom of Sirach, and Esther, and Judith, and Tobit, and that which is called the Teaching of the Apostles, and the Shepherd. But the former, my brethren, are included in the Canon, the latter being [merely] read; nor is there in any place a mention of apocryphal writings. But they are an invention of heretics, who write them when they choose, bestowing upon them their approbation, and assigning to them a date, that so, using them as ancient writings, they may find occasion to lead astray the simple.</a:t>
            </a:r>
          </a:p>
          <a:p>
            <a:pPr marL="0" marR="0" indent="171450">
              <a:buNone/>
            </a:pPr>
            <a:br>
              <a:rPr lang="en-US" sz="2800" dirty="0">
                <a:effectLst/>
                <a:latin typeface="+mn-lt"/>
              </a:rPr>
            </a:br>
            <a:endParaRPr lang="en-US" sz="2800" dirty="0">
              <a:effectLst/>
              <a:latin typeface="+mn-lt"/>
            </a:endParaRPr>
          </a:p>
          <a:p>
            <a:pPr marL="0" marR="0">
              <a:buNone/>
            </a:pPr>
            <a:r>
              <a:rPr lang="en-US" sz="2800" dirty="0">
                <a:effectLst/>
                <a:latin typeface="+mn-lt"/>
              </a:rPr>
              <a:t> Athanasius of Alexandria, </a:t>
            </a:r>
            <a:r>
              <a:rPr lang="en-US" sz="2800" u="sng" dirty="0">
                <a:solidFill>
                  <a:schemeClr val="tx1"/>
                </a:solidFill>
                <a:effectLst/>
                <a:latin typeface="+mn-lt"/>
                <a:hlinkClick r:id="rId2"/>
              </a:rPr>
              <a:t>“Festal Letters,”</a:t>
            </a:r>
            <a:r>
              <a:rPr lang="en-US" sz="2800" dirty="0">
                <a:effectLst/>
                <a:latin typeface="+mn-lt"/>
              </a:rPr>
              <a:t> in St. Athanasius: Select Works and Letters, ed. Philip Schaff and Henry Wace, trans. Henry Burgess and Jessie Smith Payne, vol. 4 of A Select Library of the Nicene and Post-Nicene Fathers of the Christian Church, Second Series (New York: Christian Literature Company, 1892), 551–552.</a:t>
            </a:r>
            <a:endParaRPr lang="en-US" sz="2800" dirty="0">
              <a:effectLst/>
              <a:latin typeface="Calibri" panose="020F0502020204030204" pitchFamily="34" charset="0"/>
            </a:endParaRPr>
          </a:p>
        </p:txBody>
      </p:sp>
    </p:spTree>
    <p:extLst>
      <p:ext uri="{BB962C8B-B14F-4D97-AF65-F5344CB8AC3E}">
        <p14:creationId xmlns:p14="http://schemas.microsoft.com/office/powerpoint/2010/main" val="27703813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16D87-FC1C-A246-0FD2-616EBD9F3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D02D9C-EB89-7620-1205-6D09BEDC2CCC}"/>
              </a:ext>
            </a:extLst>
          </p:cNvPr>
          <p:cNvSpPr>
            <a:spLocks noGrp="1"/>
          </p:cNvSpPr>
          <p:nvPr>
            <p:ph type="title"/>
          </p:nvPr>
        </p:nvSpPr>
        <p:spPr>
          <a:xfrm>
            <a:off x="838200" y="-1382474"/>
            <a:ext cx="10515600" cy="1325563"/>
          </a:xfrm>
        </p:spPr>
        <p:txBody>
          <a:bodyPr/>
          <a:lstStyle/>
          <a:p>
            <a:r>
              <a:rPr lang="en-US" dirty="0"/>
              <a:t>Athanasius (4</a:t>
            </a:r>
            <a:r>
              <a:rPr lang="en-US" baseline="30000" dirty="0"/>
              <a:t>th</a:t>
            </a:r>
            <a:r>
              <a:rPr lang="en-US" dirty="0"/>
              <a:t> century)</a:t>
            </a:r>
          </a:p>
        </p:txBody>
      </p:sp>
      <p:sp>
        <p:nvSpPr>
          <p:cNvPr id="3" name="Content Placeholder 2">
            <a:extLst>
              <a:ext uri="{FF2B5EF4-FFF2-40B4-BE49-F238E27FC236}">
                <a16:creationId xmlns:a16="http://schemas.microsoft.com/office/drawing/2014/main" id="{1713A8CE-3FA2-6681-328B-6E69DFE1D97A}"/>
              </a:ext>
            </a:extLst>
          </p:cNvPr>
          <p:cNvSpPr>
            <a:spLocks noGrp="1"/>
          </p:cNvSpPr>
          <p:nvPr>
            <p:ph idx="1"/>
          </p:nvPr>
        </p:nvSpPr>
        <p:spPr>
          <a:xfrm>
            <a:off x="-983974" y="-2045255"/>
            <a:ext cx="10515600" cy="1325563"/>
          </a:xfrm>
        </p:spPr>
        <p:txBody>
          <a:bodyPr/>
          <a:lstStyle/>
          <a:p>
            <a:r>
              <a:rPr lang="en-US" dirty="0"/>
              <a:t>“Much of the present confusion over the problem of canon turns on the failure to reach an agreement regarding terminology” (Brevard Childs as quoted by M. Kruger, </a:t>
            </a:r>
            <a:r>
              <a:rPr lang="en-US" i="1" dirty="0"/>
              <a:t>Canon Revisited</a:t>
            </a:r>
            <a:r>
              <a:rPr lang="en-US" dirty="0"/>
              <a:t>, p. 27)</a:t>
            </a:r>
          </a:p>
        </p:txBody>
      </p:sp>
      <p:sp>
        <p:nvSpPr>
          <p:cNvPr id="5" name="TextBox 4">
            <a:extLst>
              <a:ext uri="{FF2B5EF4-FFF2-40B4-BE49-F238E27FC236}">
                <a16:creationId xmlns:a16="http://schemas.microsoft.com/office/drawing/2014/main" id="{82B3D9A7-E1EE-FFA9-84EA-2D1A0EA02F90}"/>
              </a:ext>
            </a:extLst>
          </p:cNvPr>
          <p:cNvSpPr txBox="1"/>
          <p:nvPr/>
        </p:nvSpPr>
        <p:spPr>
          <a:xfrm>
            <a:off x="1059979" y="-2332951"/>
            <a:ext cx="10515600" cy="2246769"/>
          </a:xfrm>
          <a:prstGeom prst="rect">
            <a:avLst/>
          </a:prstGeom>
          <a:noFill/>
        </p:spPr>
        <p:txBody>
          <a:bodyPr wrap="square">
            <a:spAutoFit/>
          </a:bodyPr>
          <a:lstStyle/>
          <a:p>
            <a:pPr marL="285750" indent="-285750">
              <a:buFont typeface="Arial" panose="020B0604020202020204" pitchFamily="34" charset="0"/>
              <a:buChar char="•"/>
            </a:pPr>
            <a:r>
              <a:rPr lang="en-US" sz="2800" dirty="0"/>
              <a:t>Metzger: “Still more basic are the questions of whether the canon is a collection of authoritative books or an authoritative collection of books—and in either case whether the collection can be held to reflect the divine intention within the history of salvation” (Metzger, p. 1)</a:t>
            </a:r>
          </a:p>
        </p:txBody>
      </p:sp>
      <p:sp>
        <p:nvSpPr>
          <p:cNvPr id="8" name="TextBox 7">
            <a:extLst>
              <a:ext uri="{FF2B5EF4-FFF2-40B4-BE49-F238E27FC236}">
                <a16:creationId xmlns:a16="http://schemas.microsoft.com/office/drawing/2014/main" id="{368D5FF0-5222-1DB5-9B17-F2350AE1B343}"/>
              </a:ext>
            </a:extLst>
          </p:cNvPr>
          <p:cNvSpPr txBox="1"/>
          <p:nvPr/>
        </p:nvSpPr>
        <p:spPr>
          <a:xfrm>
            <a:off x="-5330741" y="5713869"/>
            <a:ext cx="4125395" cy="523220"/>
          </a:xfrm>
          <a:prstGeom prst="rect">
            <a:avLst/>
          </a:prstGeom>
          <a:noFill/>
        </p:spPr>
        <p:txBody>
          <a:bodyPr wrap="square">
            <a:spAutoFit/>
          </a:bodyPr>
          <a:lstStyle/>
          <a:p>
            <a:pPr marL="285750" indent="-285750">
              <a:buFont typeface="Arial" panose="020B0604020202020204" pitchFamily="34" charset="0"/>
              <a:buChar char="•"/>
            </a:pPr>
            <a:r>
              <a:rPr lang="en-US" sz="2800" dirty="0"/>
              <a:t>Definition for this study:</a:t>
            </a:r>
            <a:endParaRPr lang="en-US" sz="2800" b="1" dirty="0"/>
          </a:p>
        </p:txBody>
      </p:sp>
      <p:sp>
        <p:nvSpPr>
          <p:cNvPr id="12" name="Letter 8"/>
          <p:cNvSpPr txBox="1"/>
          <p:nvPr/>
        </p:nvSpPr>
        <p:spPr>
          <a:xfrm>
            <a:off x="0" y="-9848156"/>
            <a:ext cx="12192000" cy="31977985"/>
          </a:xfrm>
          <a:prstGeom prst="rect">
            <a:avLst/>
          </a:prstGeom>
          <a:noFill/>
        </p:spPr>
        <p:txBody>
          <a:bodyPr wrap="square">
            <a:spAutoFit/>
          </a:bodyPr>
          <a:lstStyle/>
          <a:p>
            <a:pPr marL="0" marR="0" indent="171450">
              <a:spcBef>
                <a:spcPts val="675"/>
              </a:spcBef>
              <a:buNone/>
            </a:pPr>
            <a:r>
              <a:rPr lang="en-US" sz="2800" dirty="0">
                <a:effectLst/>
                <a:latin typeface="+mn-lt"/>
              </a:rPr>
              <a:t>… 1. They have fabricated books which they call books of tables</a:t>
            </a:r>
            <a:r>
              <a:rPr lang="en-US" sz="2800" baseline="30000" dirty="0">
                <a:effectLst/>
                <a:latin typeface="+mn-lt"/>
              </a:rPr>
              <a:t>5</a:t>
            </a:r>
            <a:r>
              <a:rPr lang="en-US" sz="2800" dirty="0">
                <a:effectLst/>
                <a:latin typeface="+mn-lt"/>
              </a:rPr>
              <a:t>, in which they shew stars, to which they give the names of Saints. And therein of a truth they have inflicted on themselves a double reproach: those who have written such books, because they have perfected themselves in a lying and contemptible science; and as to the ignorant and simple, they have led them astray by evil thoughts concerning the right faith established in all truth and upright in the presence of God.</a:t>
            </a:r>
          </a:p>
          <a:p>
            <a:pPr marL="0" marR="0" indent="171450">
              <a:buNone/>
            </a:pPr>
            <a:r>
              <a:rPr lang="en-US" sz="2800" dirty="0">
                <a:effectLst/>
                <a:latin typeface="+mn-lt"/>
              </a:rPr>
              <a:t>… 2. But since we have made mention of heretics as dead, but of ourselves as possessing the Divine Scriptures for salvation; and since I fear lest, as Paul wrote to the Corinthians</a:t>
            </a:r>
            <a:r>
              <a:rPr lang="en-US" sz="2800" baseline="30000" dirty="0">
                <a:effectLst/>
                <a:latin typeface="+mn-lt"/>
              </a:rPr>
              <a:t>7</a:t>
            </a:r>
            <a:r>
              <a:rPr lang="en-US" sz="2800" dirty="0">
                <a:effectLst/>
                <a:latin typeface="+mn-lt"/>
              </a:rPr>
              <a:t>, some few of the simple should be beguiled from their simplicity and purity, by the subtilty of certain men, and should henceforth read other books—those called apocryphal—led astray by the similarity of their names with the true books; I beseech you to bear patiently, if I also write, by way of remembrance, of matters with which you are acquainted, influenced by the need and advantage of the Church.</a:t>
            </a:r>
          </a:p>
          <a:p>
            <a:pPr marL="0" marR="0" indent="171450">
              <a:buNone/>
            </a:pPr>
            <a:r>
              <a:rPr lang="en-US" sz="2800" dirty="0">
                <a:effectLst/>
                <a:latin typeface="+mn-lt"/>
              </a:rPr>
              <a:t>3. In proceeding to make mention of these things, I shall adopt, to commend my undertaking, the pattern of Luke the Evangelist, saying on my own account: ‘Forasmuch as some have taken in hand,’ to reduce into order for themselves the books termed apocryphal, and to mix them up with the divinely inspired Scripture, concerning which we have been fully persuaded, as they who from the beginning were eye-witnesses and ministers of the Word, delivered to the fathers; it seemed </a:t>
            </a:r>
            <a:r>
              <a:rPr lang="en-US" sz="2800" dirty="0">
                <a:solidFill>
                  <a:schemeClr val="tx1"/>
                </a:solidFill>
                <a:effectLst/>
                <a:latin typeface="+mn-lt"/>
              </a:rPr>
              <a:t>  p 552  </a:t>
            </a:r>
            <a:r>
              <a:rPr lang="en-US" sz="2800" dirty="0">
                <a:effectLst/>
                <a:latin typeface="+mn-lt"/>
              </a:rPr>
              <a:t>good to me also, having been urged thereto by true brethren, and having learned from the beginning, to set before you the books included in the Canon, and handed down, and accredited as Divine; to the end that any one who has fallen into error may condemn those who have led him astray; and that he who has continued </a:t>
            </a:r>
            <a:r>
              <a:rPr lang="en-US" sz="2800" dirty="0" err="1">
                <a:effectLst/>
                <a:latin typeface="+mn-lt"/>
              </a:rPr>
              <a:t>stedfast</a:t>
            </a:r>
            <a:r>
              <a:rPr lang="en-US" sz="2800" dirty="0">
                <a:effectLst/>
                <a:latin typeface="+mn-lt"/>
              </a:rPr>
              <a:t> in purity may again rejoice, having these things brought to his remembrance.</a:t>
            </a:r>
          </a:p>
          <a:p>
            <a:pPr marL="0" marR="0" indent="171450">
              <a:buNone/>
            </a:pPr>
            <a:r>
              <a:rPr lang="en-US" sz="2800" dirty="0">
                <a:effectLst/>
                <a:latin typeface="+mn-lt"/>
              </a:rPr>
              <a:t>4. There are, then, </a:t>
            </a:r>
            <a:r>
              <a:rPr lang="en-US" sz="2800" b="1" u="sng" dirty="0">
                <a:effectLst/>
                <a:latin typeface="+mn-lt"/>
              </a:rPr>
              <a:t>of the Old Testament, twenty-two books in number</a:t>
            </a:r>
            <a:r>
              <a:rPr lang="en-US" sz="2800" dirty="0">
                <a:effectLst/>
                <a:latin typeface="+mn-lt"/>
              </a:rPr>
              <a:t>; for, as I have heard, it is handed down that this is the number of the letters among the Hebrews; their respective order and names being as follows. The first is Genesis, then Exodus, next Leviticus, after that Numbers, and then Deuteronomy. Following these there is Joshua, the son of Nun, then Judges, then Ruth. And again, after these four books of Kings, the first and second being reckoned as one book, and so likewise the third and fourth as one book. And again, the first and second of the Chronicles are reckoned as one book. Again Ezra, the first and second are similarly one book. After these there is the book of Psalms, then the Proverbs, next Ecclesiastes, and the Song of Songs. Job follows, then the Prophets, the twelve being reckoned as one book. Then Isaiah, one book, then Jeremiah with Baruch, Lamentations, and</a:t>
            </a:r>
            <a:r>
              <a:rPr lang="en-US" sz="2800" baseline="30000" dirty="0">
                <a:effectLst/>
                <a:latin typeface="+mn-lt"/>
              </a:rPr>
              <a:t>2</a:t>
            </a:r>
            <a:r>
              <a:rPr lang="en-US" sz="2800" dirty="0">
                <a:effectLst/>
                <a:latin typeface="+mn-lt"/>
              </a:rPr>
              <a:t> the epistle, one book; afterwards, Ezekiel and Daniel, each one book. Thus far constitutes the Old Testament.</a:t>
            </a:r>
          </a:p>
          <a:p>
            <a:pPr marL="0" marR="0" indent="171450">
              <a:buNone/>
            </a:pPr>
            <a:r>
              <a:rPr lang="en-US" sz="2800" dirty="0">
                <a:effectLst/>
                <a:latin typeface="+mn-lt"/>
              </a:rPr>
              <a:t>5. Again it is not tedious to speak of the [books] of the New Testament. These are, the four Gospels, according to </a:t>
            </a:r>
            <a:r>
              <a:rPr lang="en-US" sz="2800" b="1" u="sng" dirty="0">
                <a:effectLst/>
                <a:latin typeface="+mn-lt"/>
              </a:rPr>
              <a:t>Matthew, Mark, Luke, and John</a:t>
            </a:r>
            <a:r>
              <a:rPr lang="en-US" sz="2800" dirty="0">
                <a:effectLst/>
                <a:latin typeface="+mn-lt"/>
              </a:rPr>
              <a:t>. Afterwards, the </a:t>
            </a:r>
            <a:r>
              <a:rPr lang="en-US" sz="2800" b="1" u="sng" dirty="0">
                <a:effectLst/>
                <a:latin typeface="+mn-lt"/>
              </a:rPr>
              <a:t>Acts of the Apostles </a:t>
            </a:r>
            <a:r>
              <a:rPr lang="en-US" sz="2800" dirty="0">
                <a:effectLst/>
                <a:latin typeface="+mn-lt"/>
              </a:rPr>
              <a:t>and Epistles (called Catholic), seven, viz. </a:t>
            </a:r>
            <a:r>
              <a:rPr lang="en-US" sz="2800" b="1" u="sng" dirty="0">
                <a:effectLst/>
                <a:latin typeface="+mn-lt"/>
              </a:rPr>
              <a:t>of James, one; of Peter, two; of John, three; after these, one of Jude</a:t>
            </a:r>
            <a:r>
              <a:rPr lang="en-US" sz="2800" dirty="0">
                <a:effectLst/>
                <a:latin typeface="+mn-lt"/>
              </a:rPr>
              <a:t>. In addition, there are </a:t>
            </a:r>
            <a:r>
              <a:rPr lang="en-US" sz="2800" b="1" u="sng" dirty="0">
                <a:effectLst/>
                <a:latin typeface="+mn-lt"/>
              </a:rPr>
              <a:t>fourteen Epistles of Paul</a:t>
            </a:r>
            <a:r>
              <a:rPr lang="en-US" sz="2800" dirty="0">
                <a:effectLst/>
                <a:latin typeface="+mn-lt"/>
              </a:rPr>
              <a:t>, written in this order. The first, to the Romans; then two to the Corinthians; after these, to the Galatians; next, to the Ephesians; then to the Philippians; then to the Colossians; after these, two to the Thessalonians, and that to the Hebrews; and again, two to Timothy; one to Titus; and lastly, that to Philemon. And besides, </a:t>
            </a:r>
            <a:r>
              <a:rPr lang="en-US" sz="2800" b="1" u="sng" dirty="0">
                <a:effectLst/>
                <a:latin typeface="+mn-lt"/>
              </a:rPr>
              <a:t>the Revelation of John</a:t>
            </a:r>
            <a:r>
              <a:rPr lang="en-US" sz="2800" dirty="0">
                <a:effectLst/>
                <a:latin typeface="+mn-lt"/>
              </a:rPr>
              <a:t>.</a:t>
            </a:r>
          </a:p>
          <a:p>
            <a:pPr marL="0" marR="0" indent="171450">
              <a:buNone/>
            </a:pPr>
            <a:r>
              <a:rPr lang="en-US" sz="2800" dirty="0">
                <a:effectLst/>
                <a:latin typeface="+mn-lt"/>
              </a:rPr>
              <a:t>6. These are fountains of salvation, that they who thirst may be satisfied with the living words they contain. In these alone is proclaimed the doctrine of godliness. Let no man add to these, neither let him take ought from these. For concerning these the Lord put to shame the Sadducees, and said, ‘Ye do err, not knowing the Scriptures.’ And He reproved the Jews, saying, ‘Search the Scriptures, for these are they that testify of Me.’</a:t>
            </a:r>
          </a:p>
          <a:p>
            <a:pPr marL="0" marR="0" indent="171450">
              <a:buNone/>
            </a:pPr>
            <a:r>
              <a:rPr lang="en-US" sz="2800" dirty="0">
                <a:effectLst/>
                <a:latin typeface="+mn-lt"/>
              </a:rPr>
              <a:t>7. But for greater exactness I add this also, writing of necessity; that there are other books besides these not indeed included in the Canon, but appointed by the Fathers to be read by those who newly join us, and who wish for instruction in the word of godliness. The Wisdom of Solomon, and the Wisdom of Sirach, and Esther, and Judith, and Tobit, and that which is called the Teaching of the Apostles, and the Shepherd. But the former, my brethren, are included in the Canon, the latter being [merely] read; nor is there in any place a mention of apocryphal writings. But they are an invention of heretics, who write them when they choose, bestowing upon them their approbation, and assigning to them a date, that so, using them as ancient writings, they may find occasion to lead astray the simple.</a:t>
            </a:r>
          </a:p>
          <a:p>
            <a:pPr marL="0" marR="0" indent="171450">
              <a:buNone/>
            </a:pPr>
            <a:br>
              <a:rPr lang="en-US" sz="2800" dirty="0">
                <a:effectLst/>
                <a:latin typeface="+mn-lt"/>
              </a:rPr>
            </a:br>
            <a:endParaRPr lang="en-US" sz="2800" dirty="0">
              <a:effectLst/>
              <a:latin typeface="+mn-lt"/>
            </a:endParaRPr>
          </a:p>
          <a:p>
            <a:pPr marL="0" marR="0">
              <a:buNone/>
            </a:pPr>
            <a:r>
              <a:rPr lang="en-US" sz="2800" dirty="0">
                <a:effectLst/>
                <a:latin typeface="+mn-lt"/>
              </a:rPr>
              <a:t> Athanasius of Alexandria, </a:t>
            </a:r>
            <a:r>
              <a:rPr lang="en-US" sz="2800" u="sng" dirty="0">
                <a:solidFill>
                  <a:schemeClr val="tx1"/>
                </a:solidFill>
                <a:effectLst/>
                <a:latin typeface="+mn-lt"/>
                <a:hlinkClick r:id="rId2"/>
              </a:rPr>
              <a:t>“Festal Letters,”</a:t>
            </a:r>
            <a:r>
              <a:rPr lang="en-US" sz="2800" dirty="0">
                <a:effectLst/>
                <a:latin typeface="+mn-lt"/>
              </a:rPr>
              <a:t> in St. Athanasius: Select Works and Letters, ed. Philip Schaff and Henry Wace, trans. Henry Burgess and Jessie Smith Payne, vol. 4 of A Select Library of the Nicene and Post-Nicene Fathers of the Christian Church, Second Series (New York: Christian Literature Company, 1892), 551–552.</a:t>
            </a:r>
            <a:endParaRPr lang="en-US" sz="2800" dirty="0">
              <a:effectLst/>
              <a:latin typeface="Calibri" panose="020F0502020204030204" pitchFamily="34" charset="0"/>
            </a:endParaRPr>
          </a:p>
        </p:txBody>
      </p:sp>
      <p:sp>
        <p:nvSpPr>
          <p:cNvPr id="13" name="Letter 7"/>
          <p:cNvSpPr txBox="1"/>
          <p:nvPr/>
        </p:nvSpPr>
        <p:spPr>
          <a:xfrm>
            <a:off x="0" y="-9848156"/>
            <a:ext cx="12192000" cy="31977985"/>
          </a:xfrm>
          <a:prstGeom prst="rect">
            <a:avLst/>
          </a:prstGeom>
          <a:noFill/>
        </p:spPr>
        <p:txBody>
          <a:bodyPr wrap="square">
            <a:spAutoFit/>
          </a:bodyPr>
          <a:lstStyle/>
          <a:p>
            <a:pPr marL="0" marR="0" indent="171450">
              <a:spcBef>
                <a:spcPts val="675"/>
              </a:spcBef>
              <a:buNone/>
            </a:pPr>
            <a:r>
              <a:rPr lang="en-US" sz="2800" dirty="0">
                <a:effectLst/>
                <a:latin typeface="+mn-lt"/>
              </a:rPr>
              <a:t>… 1. They have fabricated books which they call books of tables</a:t>
            </a:r>
            <a:r>
              <a:rPr lang="en-US" sz="2800" baseline="30000" dirty="0">
                <a:effectLst/>
                <a:latin typeface="+mn-lt"/>
              </a:rPr>
              <a:t>5</a:t>
            </a:r>
            <a:r>
              <a:rPr lang="en-US" sz="2800" dirty="0">
                <a:effectLst/>
                <a:latin typeface="+mn-lt"/>
              </a:rPr>
              <a:t>, in which they shew stars, to which they give the names of Saints. And therein of a truth they have inflicted on themselves a double reproach: those who have written such books, because they have perfected themselves in a lying and contemptible science; and as to the ignorant and simple, they have led them astray by evil thoughts concerning the right faith established in all truth and upright in the presence of God.</a:t>
            </a:r>
          </a:p>
          <a:p>
            <a:pPr marL="0" marR="0" indent="171450">
              <a:buNone/>
            </a:pPr>
            <a:r>
              <a:rPr lang="en-US" sz="2800" dirty="0">
                <a:effectLst/>
                <a:latin typeface="+mn-lt"/>
              </a:rPr>
              <a:t>… 2. But since we have made mention of heretics as dead, but of ourselves as possessing the Divine Scriptures for salvation; and since I fear lest, as Paul wrote to the Corinthians</a:t>
            </a:r>
            <a:r>
              <a:rPr lang="en-US" sz="2800" baseline="30000" dirty="0">
                <a:effectLst/>
                <a:latin typeface="+mn-lt"/>
              </a:rPr>
              <a:t>7</a:t>
            </a:r>
            <a:r>
              <a:rPr lang="en-US" sz="2800" dirty="0">
                <a:effectLst/>
                <a:latin typeface="+mn-lt"/>
              </a:rPr>
              <a:t>, some few of the simple should be beguiled from their simplicity and purity, by the subtilty of certain men, and should henceforth read other books—those called apocryphal—led astray by the similarity of their names with the true books; I beseech you to bear patiently, if I also write, by way of remembrance, of matters with which you are acquainted, influenced by the need and advantage of the Church.</a:t>
            </a:r>
          </a:p>
          <a:p>
            <a:pPr marL="0" marR="0" indent="171450">
              <a:buNone/>
            </a:pPr>
            <a:r>
              <a:rPr lang="en-US" sz="2800" dirty="0">
                <a:effectLst/>
                <a:latin typeface="+mn-lt"/>
              </a:rPr>
              <a:t>3. In proceeding to make mention of these things, I shall adopt, to commend my undertaking, the pattern of Luke the Evangelist, saying on my own account: ‘Forasmuch as some have taken in hand,’ to reduce into order for themselves the books termed apocryphal, and to mix them up with the divinely inspired Scripture, concerning which we have been fully persuaded, as they who from the beginning were eye-witnesses and ministers of the Word, delivered to the fathers; it seemed </a:t>
            </a:r>
            <a:r>
              <a:rPr lang="en-US" sz="2800" dirty="0">
                <a:solidFill>
                  <a:schemeClr val="tx1"/>
                </a:solidFill>
                <a:effectLst/>
                <a:latin typeface="+mn-lt"/>
              </a:rPr>
              <a:t>  p 552  </a:t>
            </a:r>
            <a:r>
              <a:rPr lang="en-US" sz="2800" dirty="0">
                <a:effectLst/>
                <a:latin typeface="+mn-lt"/>
              </a:rPr>
              <a:t>good to me also, having been urged thereto by true brethren, and having learned from the beginning, to set before you the books included in the Canon, and handed down, and accredited as Divine; to the end that any one who has fallen into error may condemn those who have led him astray; and that he who has continued </a:t>
            </a:r>
            <a:r>
              <a:rPr lang="en-US" sz="2800" dirty="0" err="1">
                <a:effectLst/>
                <a:latin typeface="+mn-lt"/>
              </a:rPr>
              <a:t>stedfast</a:t>
            </a:r>
            <a:r>
              <a:rPr lang="en-US" sz="2800" dirty="0">
                <a:effectLst/>
                <a:latin typeface="+mn-lt"/>
              </a:rPr>
              <a:t> in purity may again rejoice, having these things brought to his remembrance.</a:t>
            </a:r>
          </a:p>
          <a:p>
            <a:pPr marL="0" marR="0" indent="171450">
              <a:buNone/>
            </a:pPr>
            <a:r>
              <a:rPr lang="en-US" sz="2800" dirty="0">
                <a:effectLst/>
                <a:latin typeface="+mn-lt"/>
              </a:rPr>
              <a:t>4. There are, then, </a:t>
            </a:r>
            <a:r>
              <a:rPr lang="en-US" sz="2800" b="1" u="sng" dirty="0">
                <a:effectLst/>
                <a:latin typeface="+mn-lt"/>
              </a:rPr>
              <a:t>of the Old Testament, twenty-two books in number</a:t>
            </a:r>
            <a:r>
              <a:rPr lang="en-US" sz="2800" dirty="0">
                <a:effectLst/>
                <a:latin typeface="+mn-lt"/>
              </a:rPr>
              <a:t>; for, as I have heard, it is handed down that this is the number of the letters among the Hebrews; their respective order and names being as follows. The first is Genesis, then Exodus, next Leviticus, after that Numbers, and then Deuteronomy. Following these there is Joshua, the son of Nun, then Judges, then Ruth. And again, after these four books of Kings, the first and second being reckoned as one book, and so likewise the third and fourth as one book. And again, the first and second of the Chronicles are reckoned as one book. Again Ezra, the first and second are similarly one book. After these there is the book of Psalms, then the Proverbs, next Ecclesiastes, and the Song of Songs. Job follows, then the Prophets, the twelve being reckoned as one book. Then Isaiah, one book, then Jeremiah with Baruch, Lamentations, and</a:t>
            </a:r>
            <a:r>
              <a:rPr lang="en-US" sz="2800" baseline="30000" dirty="0">
                <a:effectLst/>
                <a:latin typeface="+mn-lt"/>
              </a:rPr>
              <a:t>2</a:t>
            </a:r>
            <a:r>
              <a:rPr lang="en-US" sz="2800" dirty="0">
                <a:effectLst/>
                <a:latin typeface="+mn-lt"/>
              </a:rPr>
              <a:t> the epistle, one book; afterwards, Ezekiel and Daniel, each one book. Thus far constitutes the Old Testament.</a:t>
            </a:r>
          </a:p>
          <a:p>
            <a:pPr marL="0" marR="0" indent="171450">
              <a:buNone/>
            </a:pPr>
            <a:r>
              <a:rPr lang="en-US" sz="2800" dirty="0">
                <a:effectLst/>
                <a:latin typeface="+mn-lt"/>
              </a:rPr>
              <a:t>5. Again it is not tedious to speak of the [books] of the New Testament. These are, the four Gospels, according to Matthew, Mark, Luke, and John. Afterwards, the Acts of the Apostles and Epistles (called Catholic), seven, viz. of James, one; of Peter, two; of John, three; after these, one of Jude. In addition, there are fourteen Epistles of Paul, written in this order. The first, to the Romans; then two to the Corinthians; after these, to the Galatians; next, to the Ephesians; then to the Philippians; then to the Colossians; after these, two to the Thessalonians, and that to the Hebrews; and again, two to Timothy; one to Titus; and lastly, that to Philemon. And besides, the Revelation of John.</a:t>
            </a:r>
          </a:p>
          <a:p>
            <a:pPr marL="0" marR="0" indent="171450">
              <a:buNone/>
            </a:pPr>
            <a:r>
              <a:rPr lang="en-US" sz="2800" dirty="0">
                <a:effectLst/>
                <a:latin typeface="+mn-lt"/>
              </a:rPr>
              <a:t>6. These are fountains of salvation, that they who thirst may be satisfied with the living words they contain. In these alone is proclaimed the doctrine of godliness. Let no man add to these, neither let him take ought from these. For concerning these the Lord put to shame the Sadducees, and said, ‘Ye do err, not knowing the Scriptures.’ And He reproved the Jews, saying, ‘Search the Scriptures, for these are they that testify of Me.’</a:t>
            </a:r>
          </a:p>
          <a:p>
            <a:pPr marL="0" marR="0" indent="171450">
              <a:buNone/>
            </a:pPr>
            <a:r>
              <a:rPr lang="en-US" sz="2800" dirty="0">
                <a:effectLst/>
                <a:latin typeface="+mn-lt"/>
              </a:rPr>
              <a:t>7. But for greater exactness I add this also, writing of necessity; that there are other books besides these not indeed included in the Canon, but appointed by the Fathers to be read by those who newly join us, and who wish for instruction in the word of godliness. The Wisdom of Solomon, and the Wisdom of Sirach, and Esther, and Judith, and Tobit, and that which is called the Teaching of the Apostles, and the Shepherd. But the former, my brethren, are included in the Canon, the latter being [merely] read; nor is there in any place a mention of apocryphal writings. But they are an invention of heretics, who write them when they choose, bestowing upon them their approbation, and assigning to them a date, that so, using them as ancient writings, they may find occasion to lead astray the simple.</a:t>
            </a:r>
          </a:p>
          <a:p>
            <a:pPr marL="0" marR="0" indent="171450">
              <a:buNone/>
            </a:pPr>
            <a:br>
              <a:rPr lang="en-US" sz="2800" dirty="0">
                <a:effectLst/>
                <a:latin typeface="+mn-lt"/>
              </a:rPr>
            </a:br>
            <a:endParaRPr lang="en-US" sz="2800" dirty="0">
              <a:effectLst/>
              <a:latin typeface="+mn-lt"/>
            </a:endParaRPr>
          </a:p>
          <a:p>
            <a:pPr marL="0" marR="0">
              <a:buNone/>
            </a:pPr>
            <a:r>
              <a:rPr lang="en-US" sz="2800" dirty="0">
                <a:effectLst/>
                <a:latin typeface="+mn-lt"/>
              </a:rPr>
              <a:t> Athanasius of Alexandria, </a:t>
            </a:r>
            <a:r>
              <a:rPr lang="en-US" sz="2800" u="sng" dirty="0">
                <a:solidFill>
                  <a:schemeClr val="tx1"/>
                </a:solidFill>
                <a:effectLst/>
                <a:latin typeface="+mn-lt"/>
                <a:hlinkClick r:id="rId2"/>
              </a:rPr>
              <a:t>“Festal Letters,”</a:t>
            </a:r>
            <a:r>
              <a:rPr lang="en-US" sz="2800" dirty="0">
                <a:effectLst/>
                <a:latin typeface="+mn-lt"/>
              </a:rPr>
              <a:t> in St. Athanasius: Select Works and Letters, ed. Philip Schaff and Henry Wace, trans. Henry Burgess and Jessie Smith Payne, vol. 4 of A Select Library of the Nicene and Post-Nicene Fathers of the Christian Church, Second Series (New York: Christian Literature Company, 1892), 551–552.</a:t>
            </a:r>
            <a:endParaRPr lang="en-US" sz="2800" dirty="0">
              <a:effectLst/>
              <a:latin typeface="Calibri" panose="020F0502020204030204" pitchFamily="34" charset="0"/>
            </a:endParaRPr>
          </a:p>
        </p:txBody>
      </p:sp>
    </p:spTree>
    <p:extLst>
      <p:ext uri="{BB962C8B-B14F-4D97-AF65-F5344CB8AC3E}">
        <p14:creationId xmlns:p14="http://schemas.microsoft.com/office/powerpoint/2010/main" val="21663851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ED498-1630-C623-0A9A-F3463F3A2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F7DEA-50B1-3879-661E-28796B3B569A}"/>
              </a:ext>
            </a:extLst>
          </p:cNvPr>
          <p:cNvSpPr>
            <a:spLocks noGrp="1"/>
          </p:cNvSpPr>
          <p:nvPr>
            <p:ph type="title"/>
          </p:nvPr>
        </p:nvSpPr>
        <p:spPr>
          <a:xfrm>
            <a:off x="838200" y="-1382474"/>
            <a:ext cx="10515600" cy="1325563"/>
          </a:xfrm>
        </p:spPr>
        <p:txBody>
          <a:bodyPr/>
          <a:lstStyle/>
          <a:p>
            <a:r>
              <a:rPr lang="en-US" dirty="0"/>
              <a:t>Athanasius (4</a:t>
            </a:r>
            <a:r>
              <a:rPr lang="en-US" baseline="30000" dirty="0"/>
              <a:t>th</a:t>
            </a:r>
            <a:r>
              <a:rPr lang="en-US" dirty="0"/>
              <a:t> century)</a:t>
            </a:r>
          </a:p>
        </p:txBody>
      </p:sp>
      <p:sp>
        <p:nvSpPr>
          <p:cNvPr id="3" name="Content Placeholder 2">
            <a:extLst>
              <a:ext uri="{FF2B5EF4-FFF2-40B4-BE49-F238E27FC236}">
                <a16:creationId xmlns:a16="http://schemas.microsoft.com/office/drawing/2014/main" id="{E1AA4873-35C0-6251-F97C-F297DC089312}"/>
              </a:ext>
            </a:extLst>
          </p:cNvPr>
          <p:cNvSpPr>
            <a:spLocks noGrp="1"/>
          </p:cNvSpPr>
          <p:nvPr>
            <p:ph idx="1"/>
          </p:nvPr>
        </p:nvSpPr>
        <p:spPr>
          <a:xfrm>
            <a:off x="-983974" y="-2045255"/>
            <a:ext cx="10515600" cy="1325563"/>
          </a:xfrm>
        </p:spPr>
        <p:txBody>
          <a:bodyPr/>
          <a:lstStyle/>
          <a:p>
            <a:r>
              <a:rPr lang="en-US" dirty="0"/>
              <a:t>“Much of the present confusion over the problem of canon turns on the failure to reach an agreement regarding terminology” (Brevard Childs as quoted by M. Kruger, </a:t>
            </a:r>
            <a:r>
              <a:rPr lang="en-US" i="1" dirty="0"/>
              <a:t>Canon Revisited</a:t>
            </a:r>
            <a:r>
              <a:rPr lang="en-US" dirty="0"/>
              <a:t>, p. 27)</a:t>
            </a:r>
          </a:p>
        </p:txBody>
      </p:sp>
      <p:sp>
        <p:nvSpPr>
          <p:cNvPr id="5" name="TextBox 4">
            <a:extLst>
              <a:ext uri="{FF2B5EF4-FFF2-40B4-BE49-F238E27FC236}">
                <a16:creationId xmlns:a16="http://schemas.microsoft.com/office/drawing/2014/main" id="{785D26DA-5E97-20A5-7BE3-F572CA92BAFC}"/>
              </a:ext>
            </a:extLst>
          </p:cNvPr>
          <p:cNvSpPr txBox="1"/>
          <p:nvPr/>
        </p:nvSpPr>
        <p:spPr>
          <a:xfrm>
            <a:off x="1059979" y="-2332951"/>
            <a:ext cx="10515600" cy="2246769"/>
          </a:xfrm>
          <a:prstGeom prst="rect">
            <a:avLst/>
          </a:prstGeom>
          <a:noFill/>
        </p:spPr>
        <p:txBody>
          <a:bodyPr wrap="square">
            <a:spAutoFit/>
          </a:bodyPr>
          <a:lstStyle/>
          <a:p>
            <a:pPr marL="285750" indent="-285750">
              <a:buFont typeface="Arial" panose="020B0604020202020204" pitchFamily="34" charset="0"/>
              <a:buChar char="•"/>
            </a:pPr>
            <a:r>
              <a:rPr lang="en-US" sz="2800" dirty="0"/>
              <a:t>Metzger: “Still more basic are the questions of whether the canon is a collection of authoritative books or an authoritative collection of books—and in either case whether the collection can be held to reflect the divine intention within the history of salvation” (Metzger, p. 1)</a:t>
            </a:r>
          </a:p>
        </p:txBody>
      </p:sp>
      <p:sp>
        <p:nvSpPr>
          <p:cNvPr id="8" name="TextBox 7">
            <a:extLst>
              <a:ext uri="{FF2B5EF4-FFF2-40B4-BE49-F238E27FC236}">
                <a16:creationId xmlns:a16="http://schemas.microsoft.com/office/drawing/2014/main" id="{CEDF103C-DE0B-A3AB-9941-68C73D309511}"/>
              </a:ext>
            </a:extLst>
          </p:cNvPr>
          <p:cNvSpPr txBox="1"/>
          <p:nvPr/>
        </p:nvSpPr>
        <p:spPr>
          <a:xfrm>
            <a:off x="-5330741" y="5713869"/>
            <a:ext cx="4125395" cy="523220"/>
          </a:xfrm>
          <a:prstGeom prst="rect">
            <a:avLst/>
          </a:prstGeom>
          <a:noFill/>
        </p:spPr>
        <p:txBody>
          <a:bodyPr wrap="square">
            <a:spAutoFit/>
          </a:bodyPr>
          <a:lstStyle/>
          <a:p>
            <a:pPr marL="285750" indent="-285750">
              <a:buFont typeface="Arial" panose="020B0604020202020204" pitchFamily="34" charset="0"/>
              <a:buChar char="•"/>
            </a:pPr>
            <a:r>
              <a:rPr lang="en-US" sz="2800" dirty="0"/>
              <a:t>Definition for this study:</a:t>
            </a:r>
            <a:endParaRPr lang="en-US" sz="2800" b="1" dirty="0"/>
          </a:p>
        </p:txBody>
      </p:sp>
      <p:sp>
        <p:nvSpPr>
          <p:cNvPr id="12" name="Letter 9"/>
          <p:cNvSpPr txBox="1"/>
          <p:nvPr/>
        </p:nvSpPr>
        <p:spPr>
          <a:xfrm>
            <a:off x="0" y="-15833320"/>
            <a:ext cx="12192000" cy="31977985"/>
          </a:xfrm>
          <a:prstGeom prst="rect">
            <a:avLst/>
          </a:prstGeom>
          <a:noFill/>
        </p:spPr>
        <p:txBody>
          <a:bodyPr wrap="square">
            <a:spAutoFit/>
          </a:bodyPr>
          <a:lstStyle/>
          <a:p>
            <a:pPr marL="0" marR="0" indent="171450">
              <a:spcBef>
                <a:spcPts val="675"/>
              </a:spcBef>
              <a:buNone/>
            </a:pPr>
            <a:r>
              <a:rPr lang="en-US" sz="2800" dirty="0">
                <a:effectLst/>
                <a:latin typeface="+mn-lt"/>
              </a:rPr>
              <a:t>… 1. They have fabricated books which they call books of tables</a:t>
            </a:r>
            <a:r>
              <a:rPr lang="en-US" sz="2800" baseline="30000" dirty="0">
                <a:effectLst/>
                <a:latin typeface="+mn-lt"/>
              </a:rPr>
              <a:t>5</a:t>
            </a:r>
            <a:r>
              <a:rPr lang="en-US" sz="2800" dirty="0">
                <a:effectLst/>
                <a:latin typeface="+mn-lt"/>
              </a:rPr>
              <a:t>, in which they shew stars, to which they give the names of Saints. And therein of a truth they have inflicted on themselves a double reproach: those who have written such books, because they have perfected themselves in a lying and contemptible science; and as to the ignorant and simple, they have led them astray by evil thoughts concerning the right faith established in all truth and upright in the presence of God.</a:t>
            </a:r>
          </a:p>
          <a:p>
            <a:pPr marL="0" marR="0" indent="171450">
              <a:buNone/>
            </a:pPr>
            <a:r>
              <a:rPr lang="en-US" sz="2800" dirty="0">
                <a:effectLst/>
                <a:latin typeface="+mn-lt"/>
              </a:rPr>
              <a:t>… 2. But since we have made mention of heretics as dead, but of ourselves as possessing the Divine Scriptures for salvation; and since I fear lest, as Paul wrote to the Corinthians</a:t>
            </a:r>
            <a:r>
              <a:rPr lang="en-US" sz="2800" baseline="30000" dirty="0">
                <a:effectLst/>
                <a:latin typeface="+mn-lt"/>
              </a:rPr>
              <a:t>7</a:t>
            </a:r>
            <a:r>
              <a:rPr lang="en-US" sz="2800" dirty="0">
                <a:effectLst/>
                <a:latin typeface="+mn-lt"/>
              </a:rPr>
              <a:t>, some few of the simple should be beguiled from their simplicity and purity, by the subtilty of certain men, and should henceforth read other books—those called apocryphal—led astray by the similarity of their names with the true books; I beseech you to bear patiently, if I also write, by way of remembrance, of matters with which you are acquainted, influenced by the need and advantage of the Church.</a:t>
            </a:r>
          </a:p>
          <a:p>
            <a:pPr marL="0" marR="0" indent="171450">
              <a:buNone/>
            </a:pPr>
            <a:r>
              <a:rPr lang="en-US" sz="2800" dirty="0">
                <a:effectLst/>
                <a:latin typeface="+mn-lt"/>
              </a:rPr>
              <a:t>3. In proceeding to make mention of these things, I shall adopt, to commend my undertaking, the pattern of Luke the Evangelist, saying on my own account: ‘Forasmuch as some have taken in hand,’ to reduce into order for themselves the books termed apocryphal, and to mix them up with the divinely inspired Scripture, concerning which we have been fully persuaded, as they who from the beginning were eye-witnesses and ministers of the Word, delivered to the fathers; it seemed </a:t>
            </a:r>
            <a:r>
              <a:rPr lang="en-US" sz="2800" dirty="0">
                <a:solidFill>
                  <a:schemeClr val="tx1"/>
                </a:solidFill>
                <a:effectLst/>
                <a:latin typeface="+mn-lt"/>
              </a:rPr>
              <a:t>  p 552  </a:t>
            </a:r>
            <a:r>
              <a:rPr lang="en-US" sz="2800" dirty="0">
                <a:effectLst/>
                <a:latin typeface="+mn-lt"/>
              </a:rPr>
              <a:t>good to me also, having been urged thereto by true brethren, and having learned from the beginning, to set before you the books included in the Canon, and handed down, and accredited as Divine; to the end that any one who has fallen into error may condemn those who have led him astray; and that he who has continued </a:t>
            </a:r>
            <a:r>
              <a:rPr lang="en-US" sz="2800" dirty="0" err="1">
                <a:effectLst/>
                <a:latin typeface="+mn-lt"/>
              </a:rPr>
              <a:t>stedfast</a:t>
            </a:r>
            <a:r>
              <a:rPr lang="en-US" sz="2800" dirty="0">
                <a:effectLst/>
                <a:latin typeface="+mn-lt"/>
              </a:rPr>
              <a:t> in purity may again rejoice, having these things brought to his remembrance.</a:t>
            </a:r>
          </a:p>
          <a:p>
            <a:pPr marL="0" marR="0" indent="171450">
              <a:buNone/>
            </a:pPr>
            <a:r>
              <a:rPr lang="en-US" sz="2800" dirty="0">
                <a:effectLst/>
                <a:latin typeface="+mn-lt"/>
              </a:rPr>
              <a:t>4. There are, then, of the Old Testament, twenty-two books in number; for, as I have heard, it is handed down that this is the number of the letters among the Hebrews; their respective order and names being as follows. The first is Genesis, then Exodus, next Leviticus, after that Numbers, and then Deuteronomy. Following these there is Joshua, the son of Nun, then Judges, then Ruth. And again, after these four books of Kings, the first and second being reckoned as one book, and so likewise the third and fourth as one book. And again, the first and second of the Chronicles are reckoned as one book. Again Ezra, the first and second are similarly one book. After these there is the book of Psalms, then the Proverbs, next Ecclesiastes, and the Song of Songs. Job follows, then the Prophets, the twelve being reckoned as one book. Then Isaiah, one book, then Jeremiah with Baruch, Lamentations, and</a:t>
            </a:r>
            <a:r>
              <a:rPr lang="en-US" sz="2800" baseline="30000" dirty="0">
                <a:effectLst/>
                <a:latin typeface="+mn-lt"/>
              </a:rPr>
              <a:t>2</a:t>
            </a:r>
            <a:r>
              <a:rPr lang="en-US" sz="2800" dirty="0">
                <a:effectLst/>
                <a:latin typeface="+mn-lt"/>
              </a:rPr>
              <a:t> the epistle, one book; afterwards, Ezekiel and Daniel, each one book. Thus far constitutes the Old Testament.</a:t>
            </a:r>
          </a:p>
          <a:p>
            <a:pPr marL="0" marR="0" indent="171450">
              <a:buNone/>
            </a:pPr>
            <a:r>
              <a:rPr lang="en-US" sz="2800" dirty="0">
                <a:effectLst/>
                <a:latin typeface="+mn-lt"/>
              </a:rPr>
              <a:t>5. Again it is not tedious to speak of the [books] of the New Testament. These are, the four Gospels, according to </a:t>
            </a:r>
            <a:r>
              <a:rPr lang="en-US" sz="2800" b="1" u="sng" dirty="0">
                <a:effectLst/>
                <a:latin typeface="+mn-lt"/>
              </a:rPr>
              <a:t>Matthew, Mark, Luke, and John</a:t>
            </a:r>
            <a:r>
              <a:rPr lang="en-US" sz="2800" dirty="0">
                <a:effectLst/>
                <a:latin typeface="+mn-lt"/>
              </a:rPr>
              <a:t>. Afterwards, the </a:t>
            </a:r>
            <a:r>
              <a:rPr lang="en-US" sz="2800" b="1" u="sng" dirty="0">
                <a:effectLst/>
                <a:latin typeface="+mn-lt"/>
              </a:rPr>
              <a:t>Acts of the Apostles </a:t>
            </a:r>
            <a:r>
              <a:rPr lang="en-US" sz="2800" dirty="0">
                <a:effectLst/>
                <a:latin typeface="+mn-lt"/>
              </a:rPr>
              <a:t>and Epistles (called Catholic), seven, viz. </a:t>
            </a:r>
            <a:r>
              <a:rPr lang="en-US" sz="2800" b="1" u="sng" dirty="0">
                <a:effectLst/>
                <a:latin typeface="+mn-lt"/>
              </a:rPr>
              <a:t>of James, one; of Peter, two; of John, three; after these, one of Jude</a:t>
            </a:r>
            <a:r>
              <a:rPr lang="en-US" sz="2800" dirty="0">
                <a:effectLst/>
                <a:latin typeface="+mn-lt"/>
              </a:rPr>
              <a:t>. In addition, there are </a:t>
            </a:r>
            <a:r>
              <a:rPr lang="en-US" sz="2800" b="1" u="sng" dirty="0">
                <a:effectLst/>
                <a:latin typeface="+mn-lt"/>
              </a:rPr>
              <a:t>fourteen Epistles of Paul</a:t>
            </a:r>
            <a:r>
              <a:rPr lang="en-US" sz="2800" dirty="0">
                <a:effectLst/>
                <a:latin typeface="+mn-lt"/>
              </a:rPr>
              <a:t>, written in this order. The first, to the Romans; then two to the Corinthians; after these, to the Galatians; next, to the Ephesians; then to the Philippians; then to the Colossians; after these, two to the Thessalonians, and that to the Hebrews; and again, two to Timothy; one to Titus; and lastly, that to Philemon. And besides, </a:t>
            </a:r>
            <a:r>
              <a:rPr lang="en-US" sz="2800" b="1" u="sng" dirty="0">
                <a:effectLst/>
                <a:latin typeface="+mn-lt"/>
              </a:rPr>
              <a:t>the Revelation of John</a:t>
            </a:r>
            <a:r>
              <a:rPr lang="en-US" sz="2800" dirty="0">
                <a:effectLst/>
                <a:latin typeface="+mn-lt"/>
              </a:rPr>
              <a:t>.</a:t>
            </a:r>
          </a:p>
          <a:p>
            <a:pPr marL="0" marR="0" indent="171450">
              <a:buNone/>
            </a:pPr>
            <a:r>
              <a:rPr lang="en-US" sz="2800" dirty="0">
                <a:effectLst/>
                <a:latin typeface="+mn-lt"/>
              </a:rPr>
              <a:t>6. These are fountains of salvation, that they who thirst may be satisfied with the living words they contain. In these alone is proclaimed the doctrine of godliness. Let no man add to these, neither let him take ought from these. For concerning these the Lord put to shame the Sadducees, and said, ‘Ye do err, not knowing the Scriptures.’ And He reproved the Jews, saying, ‘Search the Scriptures, for these are they that testify of Me.’</a:t>
            </a:r>
          </a:p>
          <a:p>
            <a:pPr marL="0" marR="0" indent="171450">
              <a:buNone/>
            </a:pPr>
            <a:r>
              <a:rPr lang="en-US" sz="2800" dirty="0">
                <a:effectLst/>
                <a:latin typeface="+mn-lt"/>
              </a:rPr>
              <a:t>7. But for greater exactness I add this also, writing of necessity; that there are other books besides these not indeed included in the Canon, but appointed by the Fathers to be read by those who newly join us, and who wish for instruction in the word of godliness. The Wisdom of Solomon, and the Wisdom of Sirach, and Esther, and Judith, and Tobit, and that which is called the Teaching of the Apostles, and the Shepherd. But the former, my brethren, are included in the Canon, the latter being [merely] read; nor is there in any place a mention of apocryphal writings. But they are an invention of heretics, who write them when they choose, bestowing upon them their approbation, and assigning to them a date, that so, using them as ancient writings, they may find occasion to lead astray the simple.</a:t>
            </a:r>
          </a:p>
          <a:p>
            <a:pPr marL="0" marR="0" indent="171450">
              <a:buNone/>
            </a:pPr>
            <a:br>
              <a:rPr lang="en-US" sz="2800" dirty="0">
                <a:effectLst/>
                <a:latin typeface="+mn-lt"/>
              </a:rPr>
            </a:br>
            <a:endParaRPr lang="en-US" sz="2800" dirty="0">
              <a:effectLst/>
              <a:latin typeface="+mn-lt"/>
            </a:endParaRPr>
          </a:p>
          <a:p>
            <a:pPr marL="0" marR="0">
              <a:buNone/>
            </a:pPr>
            <a:r>
              <a:rPr lang="en-US" sz="2800" dirty="0">
                <a:effectLst/>
                <a:latin typeface="+mn-lt"/>
              </a:rPr>
              <a:t> Athanasius of Alexandria, </a:t>
            </a:r>
            <a:r>
              <a:rPr lang="en-US" sz="2800" u="sng" dirty="0">
                <a:solidFill>
                  <a:schemeClr val="tx1"/>
                </a:solidFill>
                <a:effectLst/>
                <a:latin typeface="+mn-lt"/>
                <a:hlinkClick r:id="rId2"/>
              </a:rPr>
              <a:t>“Festal Letters,”</a:t>
            </a:r>
            <a:r>
              <a:rPr lang="en-US" sz="2800" dirty="0">
                <a:effectLst/>
                <a:latin typeface="+mn-lt"/>
              </a:rPr>
              <a:t> in St. Athanasius: Select Works and Letters, ed. Philip Schaff and Henry Wace, trans. Henry Burgess and Jessie Smith Payne, vol. 4 of A Select Library of the Nicene and Post-Nicene Fathers of the Christian Church, Second Series (New York: Christian Literature Company, 1892), 551–552.</a:t>
            </a:r>
            <a:endParaRPr lang="en-US" sz="2800" dirty="0">
              <a:effectLst/>
              <a:latin typeface="Calibri" panose="020F0502020204030204" pitchFamily="34" charset="0"/>
            </a:endParaRPr>
          </a:p>
        </p:txBody>
      </p:sp>
      <p:sp>
        <p:nvSpPr>
          <p:cNvPr id="13" name="Letter 8"/>
          <p:cNvSpPr txBox="1"/>
          <p:nvPr/>
        </p:nvSpPr>
        <p:spPr>
          <a:xfrm>
            <a:off x="0" y="-15833320"/>
            <a:ext cx="12192000" cy="31977985"/>
          </a:xfrm>
          <a:prstGeom prst="rect">
            <a:avLst/>
          </a:prstGeom>
          <a:noFill/>
        </p:spPr>
        <p:txBody>
          <a:bodyPr wrap="square">
            <a:spAutoFit/>
          </a:bodyPr>
          <a:lstStyle/>
          <a:p>
            <a:pPr marL="0" marR="0" indent="171450">
              <a:spcBef>
                <a:spcPts val="675"/>
              </a:spcBef>
              <a:buNone/>
            </a:pPr>
            <a:r>
              <a:rPr lang="en-US" sz="2800" dirty="0">
                <a:effectLst/>
                <a:latin typeface="+mn-lt"/>
              </a:rPr>
              <a:t>… 1. They have fabricated books which they call books of tables</a:t>
            </a:r>
            <a:r>
              <a:rPr lang="en-US" sz="2800" baseline="30000" dirty="0">
                <a:effectLst/>
                <a:latin typeface="+mn-lt"/>
              </a:rPr>
              <a:t>5</a:t>
            </a:r>
            <a:r>
              <a:rPr lang="en-US" sz="2800" dirty="0">
                <a:effectLst/>
                <a:latin typeface="+mn-lt"/>
              </a:rPr>
              <a:t>, in which they shew stars, to which they give the names of Saints. And therein of a truth they have inflicted on themselves a double reproach: those who have written such books, because they have perfected themselves in a lying and contemptible science; and as to the ignorant and simple, they have led them astray by evil thoughts concerning the right faith established in all truth and upright in the presence of God.</a:t>
            </a:r>
          </a:p>
          <a:p>
            <a:pPr marL="0" marR="0" indent="171450">
              <a:buNone/>
            </a:pPr>
            <a:r>
              <a:rPr lang="en-US" sz="2800" dirty="0">
                <a:effectLst/>
                <a:latin typeface="+mn-lt"/>
              </a:rPr>
              <a:t>… 2. But since we have made mention of heretics as dead, but of ourselves as possessing the Divine Scriptures for salvation; and since I fear lest, as Paul wrote to the Corinthians</a:t>
            </a:r>
            <a:r>
              <a:rPr lang="en-US" sz="2800" baseline="30000" dirty="0">
                <a:effectLst/>
                <a:latin typeface="+mn-lt"/>
              </a:rPr>
              <a:t>7</a:t>
            </a:r>
            <a:r>
              <a:rPr lang="en-US" sz="2800" dirty="0">
                <a:effectLst/>
                <a:latin typeface="+mn-lt"/>
              </a:rPr>
              <a:t>, some few of the simple should be beguiled from their simplicity and purity, by the subtilty of certain men, and should henceforth read other books—those called apocryphal—led astray by the similarity of their names with the true books; I beseech you to bear patiently, if I also write, by way of remembrance, of matters with which you are acquainted, influenced by the need and advantage of the Church.</a:t>
            </a:r>
          </a:p>
          <a:p>
            <a:pPr marL="0" marR="0" indent="171450">
              <a:buNone/>
            </a:pPr>
            <a:r>
              <a:rPr lang="en-US" sz="2800" dirty="0">
                <a:effectLst/>
                <a:latin typeface="+mn-lt"/>
              </a:rPr>
              <a:t>3. In proceeding to make mention of these things, I shall adopt, to commend my undertaking, the pattern of Luke the Evangelist, saying on my own account: ‘Forasmuch as some have taken in hand,’ to reduce into order for themselves the books termed apocryphal, and to mix them up with the divinely inspired Scripture, concerning which we have been fully persuaded, as they who from the beginning were eye-witnesses and ministers of the Word, delivered to the fathers; it seemed </a:t>
            </a:r>
            <a:r>
              <a:rPr lang="en-US" sz="2800" dirty="0">
                <a:solidFill>
                  <a:schemeClr val="tx1"/>
                </a:solidFill>
                <a:effectLst/>
                <a:latin typeface="+mn-lt"/>
              </a:rPr>
              <a:t>  p 552  </a:t>
            </a:r>
            <a:r>
              <a:rPr lang="en-US" sz="2800" dirty="0">
                <a:effectLst/>
                <a:latin typeface="+mn-lt"/>
              </a:rPr>
              <a:t>good to me also, having been urged thereto by true brethren, and having learned from the beginning, to set before you the books included in the Canon, and handed down, and accredited as Divine; to the end that any one who has fallen into error may condemn those who have led him astray; and that he who has continued </a:t>
            </a:r>
            <a:r>
              <a:rPr lang="en-US" sz="2800" dirty="0" err="1">
                <a:effectLst/>
                <a:latin typeface="+mn-lt"/>
              </a:rPr>
              <a:t>stedfast</a:t>
            </a:r>
            <a:r>
              <a:rPr lang="en-US" sz="2800" dirty="0">
                <a:effectLst/>
                <a:latin typeface="+mn-lt"/>
              </a:rPr>
              <a:t> in purity may again rejoice, having these things brought to his remembrance.</a:t>
            </a:r>
          </a:p>
          <a:p>
            <a:pPr marL="0" marR="0" indent="171450">
              <a:buNone/>
            </a:pPr>
            <a:r>
              <a:rPr lang="en-US" sz="2800" dirty="0">
                <a:effectLst/>
                <a:latin typeface="+mn-lt"/>
              </a:rPr>
              <a:t>4. There are, then, </a:t>
            </a:r>
            <a:r>
              <a:rPr lang="en-US" sz="2800" b="1" u="sng" dirty="0">
                <a:effectLst/>
                <a:latin typeface="+mn-lt"/>
              </a:rPr>
              <a:t>of the Old Testament, twenty-two books in number</a:t>
            </a:r>
            <a:r>
              <a:rPr lang="en-US" sz="2800" dirty="0">
                <a:effectLst/>
                <a:latin typeface="+mn-lt"/>
              </a:rPr>
              <a:t>; for, as I have heard, it is handed down that this is the number of the letters among the Hebrews; their respective order and names being as follows. The first is Genesis, then Exodus, next Leviticus, after that Numbers, and then Deuteronomy. Following these there is Joshua, the son of Nun, then Judges, then Ruth. And again, after these four books of Kings, the first and second being reckoned as one book, and so likewise the third and fourth as one book. And again, the first and second of the Chronicles are reckoned as one book. Again Ezra, the first and second are similarly one book. After these there is the book of Psalms, then the Proverbs, next Ecclesiastes, and the Song of Songs. Job follows, then the Prophets, the twelve being reckoned as one book. Then Isaiah, one book, then Jeremiah with Baruch, Lamentations, and</a:t>
            </a:r>
            <a:r>
              <a:rPr lang="en-US" sz="2800" baseline="30000" dirty="0">
                <a:effectLst/>
                <a:latin typeface="+mn-lt"/>
              </a:rPr>
              <a:t>2</a:t>
            </a:r>
            <a:r>
              <a:rPr lang="en-US" sz="2800" dirty="0">
                <a:effectLst/>
                <a:latin typeface="+mn-lt"/>
              </a:rPr>
              <a:t> the epistle, one book; afterwards, Ezekiel and Daniel, each one book. Thus far constitutes the Old Testament.</a:t>
            </a:r>
          </a:p>
          <a:p>
            <a:pPr marL="0" marR="0" indent="171450">
              <a:buNone/>
            </a:pPr>
            <a:r>
              <a:rPr lang="en-US" sz="2800" dirty="0">
                <a:effectLst/>
                <a:latin typeface="+mn-lt"/>
              </a:rPr>
              <a:t>5. Again it is not tedious to speak of the [books] of the New Testament. These are, the four Gospels, according to </a:t>
            </a:r>
            <a:r>
              <a:rPr lang="en-US" sz="2800" b="1" u="sng" dirty="0">
                <a:effectLst/>
                <a:latin typeface="+mn-lt"/>
              </a:rPr>
              <a:t>Matthew, Mark, Luke, and John</a:t>
            </a:r>
            <a:r>
              <a:rPr lang="en-US" sz="2800" dirty="0">
                <a:effectLst/>
                <a:latin typeface="+mn-lt"/>
              </a:rPr>
              <a:t>. Afterwards, the </a:t>
            </a:r>
            <a:r>
              <a:rPr lang="en-US" sz="2800" b="1" u="sng" dirty="0">
                <a:effectLst/>
                <a:latin typeface="+mn-lt"/>
              </a:rPr>
              <a:t>Acts of the Apostles </a:t>
            </a:r>
            <a:r>
              <a:rPr lang="en-US" sz="2800" dirty="0">
                <a:effectLst/>
                <a:latin typeface="+mn-lt"/>
              </a:rPr>
              <a:t>and Epistles (called Catholic), seven, viz. </a:t>
            </a:r>
            <a:r>
              <a:rPr lang="en-US" sz="2800" b="1" u="sng" dirty="0">
                <a:effectLst/>
                <a:latin typeface="+mn-lt"/>
              </a:rPr>
              <a:t>of James, one; of Peter, two; of John, three; after these, one of Jude</a:t>
            </a:r>
            <a:r>
              <a:rPr lang="en-US" sz="2800" dirty="0">
                <a:effectLst/>
                <a:latin typeface="+mn-lt"/>
              </a:rPr>
              <a:t>. In addition, there are </a:t>
            </a:r>
            <a:r>
              <a:rPr lang="en-US" sz="2800" b="1" u="sng" dirty="0">
                <a:effectLst/>
                <a:latin typeface="+mn-lt"/>
              </a:rPr>
              <a:t>fourteen Epistles of Paul</a:t>
            </a:r>
            <a:r>
              <a:rPr lang="en-US" sz="2800" dirty="0">
                <a:effectLst/>
                <a:latin typeface="+mn-lt"/>
              </a:rPr>
              <a:t>, written in this order. The first, to the Romans; then two to the Corinthians; after these, to the Galatians; next, to the Ephesians; then to the Philippians; then to the Colossians; after these, two to the Thessalonians, and that to the Hebrews; and again, two to Timothy; one to Titus; and lastly, that to Philemon. And besides, </a:t>
            </a:r>
            <a:r>
              <a:rPr lang="en-US" sz="2800" b="1" u="sng" dirty="0">
                <a:effectLst/>
                <a:latin typeface="+mn-lt"/>
              </a:rPr>
              <a:t>the Revelation of John</a:t>
            </a:r>
            <a:r>
              <a:rPr lang="en-US" sz="2800" dirty="0">
                <a:effectLst/>
                <a:latin typeface="+mn-lt"/>
              </a:rPr>
              <a:t>.</a:t>
            </a:r>
          </a:p>
          <a:p>
            <a:pPr marL="0" marR="0" indent="171450">
              <a:buNone/>
            </a:pPr>
            <a:r>
              <a:rPr lang="en-US" sz="2800" dirty="0">
                <a:effectLst/>
                <a:latin typeface="+mn-lt"/>
              </a:rPr>
              <a:t>6. These are fountains of salvation, that they who thirst may be satisfied with the living words they contain. In these alone is proclaimed the doctrine of godliness. Let no man add to these, neither let him take ought from these. For concerning these the Lord put to shame the Sadducees, and said, ‘Ye do err, not knowing the Scriptures.’ And He reproved the Jews, saying, ‘Search the Scriptures, for these are they that testify of Me.’</a:t>
            </a:r>
          </a:p>
          <a:p>
            <a:pPr marL="0" marR="0" indent="171450">
              <a:buNone/>
            </a:pPr>
            <a:r>
              <a:rPr lang="en-US" sz="2800" dirty="0">
                <a:effectLst/>
                <a:latin typeface="+mn-lt"/>
              </a:rPr>
              <a:t>7. But for greater exactness I add this also, writing of necessity; that there are other books besides these not indeed included in the Canon, but appointed by the Fathers to be read by those who newly join us, and who wish for instruction in the word of godliness. The Wisdom of Solomon, and the Wisdom of Sirach, and Esther, and Judith, and Tobit, and that which is called the Teaching of the Apostles, and the Shepherd. But the former, my brethren, are included in the Canon, the latter being [merely] read; nor is there in any place a mention of apocryphal writings. But they are an invention of heretics, who write them when they choose, bestowing upon them their approbation, and assigning to them a date, that so, using them as ancient writings, they may find occasion to lead astray the simple.</a:t>
            </a:r>
          </a:p>
          <a:p>
            <a:pPr marL="0" marR="0" indent="171450">
              <a:buNone/>
            </a:pPr>
            <a:br>
              <a:rPr lang="en-US" sz="2800" dirty="0">
                <a:effectLst/>
                <a:latin typeface="+mn-lt"/>
              </a:rPr>
            </a:br>
            <a:endParaRPr lang="en-US" sz="2800" dirty="0">
              <a:effectLst/>
              <a:latin typeface="+mn-lt"/>
            </a:endParaRPr>
          </a:p>
          <a:p>
            <a:pPr marL="0" marR="0">
              <a:buNone/>
            </a:pPr>
            <a:r>
              <a:rPr lang="en-US" sz="2800" dirty="0">
                <a:effectLst/>
                <a:latin typeface="+mn-lt"/>
              </a:rPr>
              <a:t> Athanasius of Alexandria, </a:t>
            </a:r>
            <a:r>
              <a:rPr lang="en-US" sz="2800" u="sng" dirty="0">
                <a:solidFill>
                  <a:schemeClr val="tx1"/>
                </a:solidFill>
                <a:effectLst/>
                <a:latin typeface="+mn-lt"/>
                <a:hlinkClick r:id="rId2"/>
              </a:rPr>
              <a:t>“Festal Letters,”</a:t>
            </a:r>
            <a:r>
              <a:rPr lang="en-US" sz="2800" dirty="0">
                <a:effectLst/>
                <a:latin typeface="+mn-lt"/>
              </a:rPr>
              <a:t> in St. Athanasius: Select Works and Letters, ed. Philip Schaff and Henry Wace, trans. Henry Burgess and Jessie Smith Payne, vol. 4 of A Select Library of the Nicene and Post-Nicene Fathers of the Christian Church, Second Series (New York: Christian Literature Company, 1892), 551–552.</a:t>
            </a:r>
            <a:endParaRPr lang="en-US" sz="2800" dirty="0">
              <a:effectLst/>
              <a:latin typeface="Calibri" panose="020F0502020204030204" pitchFamily="34" charset="0"/>
            </a:endParaRPr>
          </a:p>
        </p:txBody>
      </p:sp>
    </p:spTree>
    <p:extLst>
      <p:ext uri="{BB962C8B-B14F-4D97-AF65-F5344CB8AC3E}">
        <p14:creationId xmlns:p14="http://schemas.microsoft.com/office/powerpoint/2010/main" val="4278483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13C2F-B17C-5A15-12C5-ACCCFA59B7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38D71-4CB3-F478-314B-D431E02F45B3}"/>
              </a:ext>
            </a:extLst>
          </p:cNvPr>
          <p:cNvSpPr>
            <a:spLocks noGrp="1"/>
          </p:cNvSpPr>
          <p:nvPr>
            <p:ph type="title"/>
          </p:nvPr>
        </p:nvSpPr>
        <p:spPr>
          <a:xfrm>
            <a:off x="838200" y="-1382474"/>
            <a:ext cx="10515600" cy="1325563"/>
          </a:xfrm>
        </p:spPr>
        <p:txBody>
          <a:bodyPr/>
          <a:lstStyle/>
          <a:p>
            <a:r>
              <a:rPr lang="en-US" dirty="0"/>
              <a:t>Athanasius (4</a:t>
            </a:r>
            <a:r>
              <a:rPr lang="en-US" baseline="30000" dirty="0"/>
              <a:t>th</a:t>
            </a:r>
            <a:r>
              <a:rPr lang="en-US" dirty="0"/>
              <a:t> century)</a:t>
            </a:r>
          </a:p>
        </p:txBody>
      </p:sp>
      <p:sp>
        <p:nvSpPr>
          <p:cNvPr id="3" name="Content Placeholder 2">
            <a:extLst>
              <a:ext uri="{FF2B5EF4-FFF2-40B4-BE49-F238E27FC236}">
                <a16:creationId xmlns:a16="http://schemas.microsoft.com/office/drawing/2014/main" id="{BD4F7937-26DE-453F-417B-2B679D7D32A0}"/>
              </a:ext>
            </a:extLst>
          </p:cNvPr>
          <p:cNvSpPr>
            <a:spLocks noGrp="1"/>
          </p:cNvSpPr>
          <p:nvPr>
            <p:ph idx="1"/>
          </p:nvPr>
        </p:nvSpPr>
        <p:spPr>
          <a:xfrm>
            <a:off x="-983974" y="-2045255"/>
            <a:ext cx="10515600" cy="1325563"/>
          </a:xfrm>
        </p:spPr>
        <p:txBody>
          <a:bodyPr/>
          <a:lstStyle/>
          <a:p>
            <a:r>
              <a:rPr lang="en-US" dirty="0"/>
              <a:t>“Much of the present confusion over the problem of canon turns on the failure to reach an agreement regarding terminology” (Brevard Childs as quoted by M. Kruger, </a:t>
            </a:r>
            <a:r>
              <a:rPr lang="en-US" i="1" dirty="0"/>
              <a:t>Canon Revisited</a:t>
            </a:r>
            <a:r>
              <a:rPr lang="en-US" dirty="0"/>
              <a:t>, p. 27)</a:t>
            </a:r>
          </a:p>
        </p:txBody>
      </p:sp>
      <p:sp>
        <p:nvSpPr>
          <p:cNvPr id="5" name="TextBox 4">
            <a:extLst>
              <a:ext uri="{FF2B5EF4-FFF2-40B4-BE49-F238E27FC236}">
                <a16:creationId xmlns:a16="http://schemas.microsoft.com/office/drawing/2014/main" id="{B167D4B8-C88E-3352-41CE-EBD87B9E10E8}"/>
              </a:ext>
            </a:extLst>
          </p:cNvPr>
          <p:cNvSpPr txBox="1"/>
          <p:nvPr/>
        </p:nvSpPr>
        <p:spPr>
          <a:xfrm>
            <a:off x="1059979" y="-2332951"/>
            <a:ext cx="10515600" cy="2246769"/>
          </a:xfrm>
          <a:prstGeom prst="rect">
            <a:avLst/>
          </a:prstGeom>
          <a:noFill/>
        </p:spPr>
        <p:txBody>
          <a:bodyPr wrap="square">
            <a:spAutoFit/>
          </a:bodyPr>
          <a:lstStyle/>
          <a:p>
            <a:pPr marL="285750" indent="-285750">
              <a:buFont typeface="Arial" panose="020B0604020202020204" pitchFamily="34" charset="0"/>
              <a:buChar char="•"/>
            </a:pPr>
            <a:r>
              <a:rPr lang="en-US" sz="2800" dirty="0"/>
              <a:t>Metzger: “Still more basic are the questions of whether the canon is a collection of authoritative books or an authoritative collection of books—and in either case whether the collection can be held to reflect the divine intention within the history of salvation” (Metzger, p. 1)</a:t>
            </a:r>
          </a:p>
        </p:txBody>
      </p:sp>
      <p:sp>
        <p:nvSpPr>
          <p:cNvPr id="8" name="TextBox 7">
            <a:extLst>
              <a:ext uri="{FF2B5EF4-FFF2-40B4-BE49-F238E27FC236}">
                <a16:creationId xmlns:a16="http://schemas.microsoft.com/office/drawing/2014/main" id="{331251DD-E658-C053-1A5F-0A40AFA5712D}"/>
              </a:ext>
            </a:extLst>
          </p:cNvPr>
          <p:cNvSpPr txBox="1"/>
          <p:nvPr/>
        </p:nvSpPr>
        <p:spPr>
          <a:xfrm>
            <a:off x="-5330741" y="5713869"/>
            <a:ext cx="4125395" cy="523220"/>
          </a:xfrm>
          <a:prstGeom prst="rect">
            <a:avLst/>
          </a:prstGeom>
          <a:noFill/>
        </p:spPr>
        <p:txBody>
          <a:bodyPr wrap="square">
            <a:spAutoFit/>
          </a:bodyPr>
          <a:lstStyle/>
          <a:p>
            <a:pPr marL="285750" indent="-285750">
              <a:buFont typeface="Arial" panose="020B0604020202020204" pitchFamily="34" charset="0"/>
              <a:buChar char="•"/>
            </a:pPr>
            <a:r>
              <a:rPr lang="en-US" sz="2800" dirty="0"/>
              <a:t>Definition for this study:</a:t>
            </a:r>
            <a:endParaRPr lang="en-US" sz="2800" b="1" dirty="0"/>
          </a:p>
        </p:txBody>
      </p:sp>
      <p:sp>
        <p:nvSpPr>
          <p:cNvPr id="12" name="Letter 10"/>
          <p:cNvSpPr txBox="1"/>
          <p:nvPr/>
        </p:nvSpPr>
        <p:spPr>
          <a:xfrm>
            <a:off x="0" y="-22206406"/>
            <a:ext cx="12192000" cy="31977985"/>
          </a:xfrm>
          <a:prstGeom prst="rect">
            <a:avLst/>
          </a:prstGeom>
          <a:noFill/>
        </p:spPr>
        <p:txBody>
          <a:bodyPr wrap="square">
            <a:spAutoFit/>
          </a:bodyPr>
          <a:lstStyle/>
          <a:p>
            <a:pPr marL="0" marR="0" indent="171450">
              <a:spcBef>
                <a:spcPts val="675"/>
              </a:spcBef>
              <a:buNone/>
            </a:pPr>
            <a:r>
              <a:rPr lang="en-US" sz="2800" dirty="0">
                <a:effectLst/>
                <a:latin typeface="+mn-lt"/>
              </a:rPr>
              <a:t>… 1. They have fabricated books which they call books of tables</a:t>
            </a:r>
            <a:r>
              <a:rPr lang="en-US" sz="2800" baseline="30000" dirty="0">
                <a:effectLst/>
                <a:latin typeface="+mn-lt"/>
              </a:rPr>
              <a:t>5</a:t>
            </a:r>
            <a:r>
              <a:rPr lang="en-US" sz="2800" dirty="0">
                <a:effectLst/>
                <a:latin typeface="+mn-lt"/>
              </a:rPr>
              <a:t>, in which they shew stars, to which they give the names of Saints. And therein of a truth they have inflicted on themselves a double reproach: those who have written such books, because they have perfected themselves in a lying and contemptible science; and as to the ignorant and simple, they have led them astray by evil thoughts concerning the right faith established in all truth and upright in the presence of God.</a:t>
            </a:r>
          </a:p>
          <a:p>
            <a:pPr marL="0" marR="0" indent="171450">
              <a:buNone/>
            </a:pPr>
            <a:r>
              <a:rPr lang="en-US" sz="2800" dirty="0">
                <a:effectLst/>
                <a:latin typeface="+mn-lt"/>
              </a:rPr>
              <a:t>… 2. But since we have made mention of heretics as dead, but of ourselves as possessing the Divine Scriptures for salvation; and since I fear lest, as Paul wrote to the Corinthians</a:t>
            </a:r>
            <a:r>
              <a:rPr lang="en-US" sz="2800" baseline="30000" dirty="0">
                <a:effectLst/>
                <a:latin typeface="+mn-lt"/>
              </a:rPr>
              <a:t>7</a:t>
            </a:r>
            <a:r>
              <a:rPr lang="en-US" sz="2800" dirty="0">
                <a:effectLst/>
                <a:latin typeface="+mn-lt"/>
              </a:rPr>
              <a:t>, some few of the simple should be beguiled from their simplicity and purity, by the subtilty of certain men, and should henceforth read other books—those called apocryphal—led astray by the similarity of their names with the true books; I beseech you to bear patiently, if I also write, by way of remembrance, of matters with which you are acquainted, influenced by the need and advantage of the Church.</a:t>
            </a:r>
          </a:p>
          <a:p>
            <a:pPr marL="0" marR="0" indent="171450">
              <a:buNone/>
            </a:pPr>
            <a:r>
              <a:rPr lang="en-US" sz="2800" dirty="0">
                <a:effectLst/>
                <a:latin typeface="+mn-lt"/>
              </a:rPr>
              <a:t>3. In proceeding to make mention of these things, I shall adopt, to commend my undertaking, the pattern of Luke the Evangelist, saying on my own account: ‘Forasmuch as some have taken in hand,’ to reduce into order for themselves the books termed apocryphal, and to mix them up with the divinely inspired Scripture, concerning which we have been fully persuaded, as they who from the beginning were eye-witnesses and ministers of the Word, delivered to the fathers; it seemed </a:t>
            </a:r>
            <a:r>
              <a:rPr lang="en-US" sz="2800" dirty="0">
                <a:solidFill>
                  <a:schemeClr val="tx1"/>
                </a:solidFill>
                <a:effectLst/>
                <a:latin typeface="+mn-lt"/>
              </a:rPr>
              <a:t>  p 552  </a:t>
            </a:r>
            <a:r>
              <a:rPr lang="en-US" sz="2800" dirty="0">
                <a:effectLst/>
                <a:latin typeface="+mn-lt"/>
              </a:rPr>
              <a:t>good to me also, having been urged thereto by true brethren, and having learned from the beginning, to set before you the books included in the Canon, and handed down, and accredited as Divine; to the end that any one who has fallen into error may condemn those who have led him astray; and that he who has continued </a:t>
            </a:r>
            <a:r>
              <a:rPr lang="en-US" sz="2800" dirty="0" err="1">
                <a:effectLst/>
                <a:latin typeface="+mn-lt"/>
              </a:rPr>
              <a:t>stedfast</a:t>
            </a:r>
            <a:r>
              <a:rPr lang="en-US" sz="2800" dirty="0">
                <a:effectLst/>
                <a:latin typeface="+mn-lt"/>
              </a:rPr>
              <a:t> in purity may again rejoice, having these things brought to his remembrance.</a:t>
            </a:r>
          </a:p>
          <a:p>
            <a:pPr marL="0" marR="0" indent="171450">
              <a:buNone/>
            </a:pPr>
            <a:r>
              <a:rPr lang="en-US" sz="2800" dirty="0">
                <a:effectLst/>
                <a:latin typeface="+mn-lt"/>
              </a:rPr>
              <a:t>4. There are, then, of the Old Testament, twenty-two books in number; for, as I have heard, it is handed down that this is the number of the letters among the Hebrews; their respective order and names being as follows. The first is Genesis, then Exodus, next Leviticus, after that Numbers, and then Deuteronomy. Following these there is Joshua, the son of Nun, then Judges, then Ruth. And again, after these four books of Kings, the first and second being reckoned as one book, and so likewise the third and fourth as one book. And again, the first and second of the Chronicles are reckoned as one book. Again Ezra, the first and second are similarly one book. After these there is the book of Psalms, then the Proverbs, next Ecclesiastes, and the Song of Songs. Job follows, then the Prophets, the twelve being reckoned as one book. Then Isaiah, one book, then Jeremiah with Baruch, Lamentations, and</a:t>
            </a:r>
            <a:r>
              <a:rPr lang="en-US" sz="2800" baseline="30000" dirty="0">
                <a:effectLst/>
                <a:latin typeface="+mn-lt"/>
              </a:rPr>
              <a:t>2</a:t>
            </a:r>
            <a:r>
              <a:rPr lang="en-US" sz="2800" dirty="0">
                <a:effectLst/>
                <a:latin typeface="+mn-lt"/>
              </a:rPr>
              <a:t> the epistle, one book; afterwards, Ezekiel and Daniel, each one book. Thus far constitutes the Old Testament.</a:t>
            </a:r>
          </a:p>
          <a:p>
            <a:pPr marL="0" marR="0" indent="171450">
              <a:buNone/>
            </a:pPr>
            <a:r>
              <a:rPr lang="en-US" sz="2800" dirty="0">
                <a:effectLst/>
                <a:latin typeface="+mn-lt"/>
              </a:rPr>
              <a:t>5. Again it is not tedious to speak of the [books] of the New Testament. These are, the four Gospels, according to Matthew, Mark, Luke, and John. Afterwards, the Acts of the Apostles and Epistles (called Catholic), seven, viz. of James, one; of Peter, two; of John, three; after these, one of Jude. In addition, there are fourteen Epistles of Paul, written in this order. The first, to the Romans; then two to the Corinthians; after these, to the Galatians; next, to the Ephesians; then to the Philippians; then to the Colossians; after these, two to the Thessalonians, and that to the Hebrews; and again, two to Timothy; one to Titus; and lastly, that to Philemon. And besides, the Revelation of John.</a:t>
            </a:r>
          </a:p>
          <a:p>
            <a:pPr marL="0" marR="0" indent="171450">
              <a:buNone/>
            </a:pPr>
            <a:r>
              <a:rPr lang="en-US" sz="2800" dirty="0">
                <a:effectLst/>
                <a:latin typeface="+mn-lt"/>
              </a:rPr>
              <a:t>6. These are fountains of salvation, that they who thirst may be satisfied with the living words they contain. In these alone is proclaimed the doctrine of godliness. Let no man add to these, neither let him take ought from these. For concerning these the Lord put to shame the Sadducees, and said, ‘Ye do err, not knowing the Scriptures.’ And He reproved the Jews, saying, ‘Search the Scriptures, for these are they that testify of Me.’</a:t>
            </a:r>
          </a:p>
          <a:p>
            <a:pPr marL="0" marR="0" indent="171450">
              <a:buNone/>
            </a:pPr>
            <a:r>
              <a:rPr lang="en-US" sz="2800" dirty="0">
                <a:effectLst/>
                <a:latin typeface="+mn-lt"/>
              </a:rPr>
              <a:t>7. But for greater exactness I add this also, writing of necessity; that there are other books besides these not indeed included in the Canon, but appointed by the Fathers to be read by those who newly join us, and who wish for instruction in the word of godliness. The Wisdom of Solomon, and the Wisdom of Sirach, and Esther, and Judith, and Tobit, and that which is called the Teaching of the Apostles, and the Shepherd. But the former, my brethren, are included in the Canon, the latter being [merely] read; nor is there in any place a mention of apocryphal writings. But they are an invention of heretics, who write them when they choose, bestowing upon them their approbation, and assigning to them a date, that so, using them as ancient writings, they may find occasion to lead astray the simple.</a:t>
            </a:r>
          </a:p>
          <a:p>
            <a:pPr marL="0" marR="0" indent="171450">
              <a:buNone/>
            </a:pPr>
            <a:br>
              <a:rPr lang="en-US" sz="2800" dirty="0">
                <a:effectLst/>
                <a:latin typeface="+mn-lt"/>
              </a:rPr>
            </a:br>
            <a:endParaRPr lang="en-US" sz="2800" dirty="0">
              <a:effectLst/>
              <a:latin typeface="+mn-lt"/>
            </a:endParaRPr>
          </a:p>
          <a:p>
            <a:pPr marL="0" marR="0">
              <a:buNone/>
            </a:pPr>
            <a:r>
              <a:rPr lang="en-US" sz="2800" dirty="0">
                <a:effectLst/>
                <a:latin typeface="+mn-lt"/>
              </a:rPr>
              <a:t> Athanasius of Alexandria, </a:t>
            </a:r>
            <a:r>
              <a:rPr lang="en-US" sz="2800" u="sng" dirty="0">
                <a:solidFill>
                  <a:schemeClr val="tx1"/>
                </a:solidFill>
                <a:effectLst/>
                <a:latin typeface="+mn-lt"/>
                <a:hlinkClick r:id="rId2"/>
              </a:rPr>
              <a:t>“Festal Letters,”</a:t>
            </a:r>
            <a:r>
              <a:rPr lang="en-US" sz="2800" dirty="0">
                <a:effectLst/>
                <a:latin typeface="+mn-lt"/>
              </a:rPr>
              <a:t> in St. Athanasius: Select Works and Letters, ed. Philip Schaff and Henry Wace, trans. Henry Burgess and Jessie Smith Payne, vol. 4 of A Select Library of the Nicene and Post-Nicene Fathers of the Christian Church, Second Series (New York: Christian Literature Company, 1892), 551–552.</a:t>
            </a:r>
            <a:endParaRPr lang="en-US" sz="2800" dirty="0">
              <a:effectLst/>
              <a:latin typeface="Calibri" panose="020F0502020204030204" pitchFamily="34" charset="0"/>
            </a:endParaRPr>
          </a:p>
        </p:txBody>
      </p:sp>
      <p:sp>
        <p:nvSpPr>
          <p:cNvPr id="13" name="Letter 9"/>
          <p:cNvSpPr txBox="1"/>
          <p:nvPr/>
        </p:nvSpPr>
        <p:spPr>
          <a:xfrm>
            <a:off x="0" y="-22206406"/>
            <a:ext cx="12192000" cy="31977985"/>
          </a:xfrm>
          <a:prstGeom prst="rect">
            <a:avLst/>
          </a:prstGeom>
          <a:noFill/>
        </p:spPr>
        <p:txBody>
          <a:bodyPr wrap="square">
            <a:spAutoFit/>
          </a:bodyPr>
          <a:lstStyle/>
          <a:p>
            <a:pPr marL="0" marR="0" indent="171450">
              <a:spcBef>
                <a:spcPts val="675"/>
              </a:spcBef>
              <a:buNone/>
            </a:pPr>
            <a:r>
              <a:rPr lang="en-US" sz="2800" dirty="0">
                <a:effectLst/>
                <a:latin typeface="+mn-lt"/>
              </a:rPr>
              <a:t>… 1. They have fabricated books which they call books of tables</a:t>
            </a:r>
            <a:r>
              <a:rPr lang="en-US" sz="2800" baseline="30000" dirty="0">
                <a:effectLst/>
                <a:latin typeface="+mn-lt"/>
              </a:rPr>
              <a:t>5</a:t>
            </a:r>
            <a:r>
              <a:rPr lang="en-US" sz="2800" dirty="0">
                <a:effectLst/>
                <a:latin typeface="+mn-lt"/>
              </a:rPr>
              <a:t>, in which they shew stars, to which they give the names of Saints. And therein of a truth they have inflicted on themselves a double reproach: those who have written such books, because they have perfected themselves in a lying and contemptible science; and as to the ignorant and simple, they have led them astray by evil thoughts concerning the right faith established in all truth and upright in the presence of God.</a:t>
            </a:r>
          </a:p>
          <a:p>
            <a:pPr marL="0" marR="0" indent="171450">
              <a:buNone/>
            </a:pPr>
            <a:r>
              <a:rPr lang="en-US" sz="2800" dirty="0">
                <a:effectLst/>
                <a:latin typeface="+mn-lt"/>
              </a:rPr>
              <a:t>… 2. But since we have made mention of heretics as dead, but of ourselves as possessing the Divine Scriptures for salvation; and since I fear lest, as Paul wrote to the Corinthians</a:t>
            </a:r>
            <a:r>
              <a:rPr lang="en-US" sz="2800" baseline="30000" dirty="0">
                <a:effectLst/>
                <a:latin typeface="+mn-lt"/>
              </a:rPr>
              <a:t>7</a:t>
            </a:r>
            <a:r>
              <a:rPr lang="en-US" sz="2800" dirty="0">
                <a:effectLst/>
                <a:latin typeface="+mn-lt"/>
              </a:rPr>
              <a:t>, some few of the simple should be beguiled from their simplicity and purity, by the subtilty of certain men, and should henceforth read other books—those called apocryphal—led astray by the similarity of their names with the true books; I beseech you to bear patiently, if I also write, by way of remembrance, of matters with which you are acquainted, influenced by the need and advantage of the Church.</a:t>
            </a:r>
          </a:p>
          <a:p>
            <a:pPr marL="0" marR="0" indent="171450">
              <a:buNone/>
            </a:pPr>
            <a:r>
              <a:rPr lang="en-US" sz="2800" dirty="0">
                <a:effectLst/>
                <a:latin typeface="+mn-lt"/>
              </a:rPr>
              <a:t>3. In proceeding to make mention of these things, I shall adopt, to commend my undertaking, the pattern of Luke the Evangelist, saying on my own account: ‘Forasmuch as some have taken in hand,’ to reduce into order for themselves the books termed apocryphal, and to mix them up with the divinely inspired Scripture, concerning which we have been fully persuaded, as they who from the beginning were eye-witnesses and ministers of the Word, delivered to the fathers; it seemed </a:t>
            </a:r>
            <a:r>
              <a:rPr lang="en-US" sz="2800" dirty="0">
                <a:solidFill>
                  <a:schemeClr val="tx1"/>
                </a:solidFill>
                <a:effectLst/>
                <a:latin typeface="+mn-lt"/>
              </a:rPr>
              <a:t>  p 552  </a:t>
            </a:r>
            <a:r>
              <a:rPr lang="en-US" sz="2800" dirty="0">
                <a:effectLst/>
                <a:latin typeface="+mn-lt"/>
              </a:rPr>
              <a:t>good to me also, having been urged thereto by true brethren, and having learned from the beginning, to set before you the books included in the Canon, and handed down, and accredited as Divine; to the end that any one who has fallen into error may condemn those who have led him astray; and that he who has continued </a:t>
            </a:r>
            <a:r>
              <a:rPr lang="en-US" sz="2800" dirty="0" err="1">
                <a:effectLst/>
                <a:latin typeface="+mn-lt"/>
              </a:rPr>
              <a:t>stedfast</a:t>
            </a:r>
            <a:r>
              <a:rPr lang="en-US" sz="2800" dirty="0">
                <a:effectLst/>
                <a:latin typeface="+mn-lt"/>
              </a:rPr>
              <a:t> in purity may again rejoice, having these things brought to his remembrance.</a:t>
            </a:r>
          </a:p>
          <a:p>
            <a:pPr marL="0" marR="0" indent="171450">
              <a:buNone/>
            </a:pPr>
            <a:r>
              <a:rPr lang="en-US" sz="2800" dirty="0">
                <a:effectLst/>
                <a:latin typeface="+mn-lt"/>
              </a:rPr>
              <a:t>4. There are, then, of the Old Testament, twenty-two books in number; for, as I have heard, it is handed down that this is the number of the letters among the Hebrews; their respective order and names being as follows. The first is Genesis, then Exodus, next Leviticus, after that Numbers, and then Deuteronomy. Following these there is Joshua, the son of Nun, then Judges, then Ruth. And again, after these four books of Kings, the first and second being reckoned as one book, and so likewise the third and fourth as one book. And again, the first and second of the Chronicles are reckoned as one book. Again Ezra, the first and second are similarly one book. After these there is the book of Psalms, then the Proverbs, next Ecclesiastes, and the Song of Songs. Job follows, then the Prophets, the twelve being reckoned as one book. Then Isaiah, one book, then Jeremiah with Baruch, Lamentations, and</a:t>
            </a:r>
            <a:r>
              <a:rPr lang="en-US" sz="2800" baseline="30000" dirty="0">
                <a:effectLst/>
                <a:latin typeface="+mn-lt"/>
              </a:rPr>
              <a:t>2</a:t>
            </a:r>
            <a:r>
              <a:rPr lang="en-US" sz="2800" dirty="0">
                <a:effectLst/>
                <a:latin typeface="+mn-lt"/>
              </a:rPr>
              <a:t> the epistle, one book; afterwards, Ezekiel and Daniel, each one book. Thus far constitutes the Old Testament.</a:t>
            </a:r>
          </a:p>
          <a:p>
            <a:pPr marL="0" marR="0" indent="171450">
              <a:buNone/>
            </a:pPr>
            <a:r>
              <a:rPr lang="en-US" sz="2800" dirty="0">
                <a:effectLst/>
                <a:latin typeface="+mn-lt"/>
              </a:rPr>
              <a:t>5. Again it is not tedious to speak of the [books] of the New Testament. These are, the four Gospels, according to </a:t>
            </a:r>
            <a:r>
              <a:rPr lang="en-US" sz="2800" b="1" u="sng" dirty="0">
                <a:effectLst/>
                <a:latin typeface="+mn-lt"/>
              </a:rPr>
              <a:t>Matthew, Mark, Luke, and John</a:t>
            </a:r>
            <a:r>
              <a:rPr lang="en-US" sz="2800" dirty="0">
                <a:effectLst/>
                <a:latin typeface="+mn-lt"/>
              </a:rPr>
              <a:t>. Afterwards, the </a:t>
            </a:r>
            <a:r>
              <a:rPr lang="en-US" sz="2800" b="1" u="sng" dirty="0">
                <a:effectLst/>
                <a:latin typeface="+mn-lt"/>
              </a:rPr>
              <a:t>Acts of the Apostles </a:t>
            </a:r>
            <a:r>
              <a:rPr lang="en-US" sz="2800" dirty="0">
                <a:effectLst/>
                <a:latin typeface="+mn-lt"/>
              </a:rPr>
              <a:t>and Epistles (called Catholic), seven, viz. </a:t>
            </a:r>
            <a:r>
              <a:rPr lang="en-US" sz="2800" b="1" u="sng" dirty="0">
                <a:effectLst/>
                <a:latin typeface="+mn-lt"/>
              </a:rPr>
              <a:t>of James, one; of Peter, two; of John, three; after these, one of Jude</a:t>
            </a:r>
            <a:r>
              <a:rPr lang="en-US" sz="2800" dirty="0">
                <a:effectLst/>
                <a:latin typeface="+mn-lt"/>
              </a:rPr>
              <a:t>. In addition, there are </a:t>
            </a:r>
            <a:r>
              <a:rPr lang="en-US" sz="2800" b="1" u="sng" dirty="0">
                <a:effectLst/>
                <a:latin typeface="+mn-lt"/>
              </a:rPr>
              <a:t>fourteen Epistles of Paul</a:t>
            </a:r>
            <a:r>
              <a:rPr lang="en-US" sz="2800" dirty="0">
                <a:effectLst/>
                <a:latin typeface="+mn-lt"/>
              </a:rPr>
              <a:t>, written in this order. The first, to the Romans; then two to the Corinthians; after these, to the Galatians; next, to the Ephesians; then to the Philippians; then to the Colossians; after these, two to the Thessalonians, and that to the Hebrews; and again, two to Timothy; one to Titus; and lastly, that to Philemon. And besides, </a:t>
            </a:r>
            <a:r>
              <a:rPr lang="en-US" sz="2800" b="1" u="sng" dirty="0">
                <a:effectLst/>
                <a:latin typeface="+mn-lt"/>
              </a:rPr>
              <a:t>the Revelation of John</a:t>
            </a:r>
            <a:r>
              <a:rPr lang="en-US" sz="2800" dirty="0">
                <a:effectLst/>
                <a:latin typeface="+mn-lt"/>
              </a:rPr>
              <a:t>.</a:t>
            </a:r>
          </a:p>
          <a:p>
            <a:pPr marL="0" marR="0" indent="171450">
              <a:buNone/>
            </a:pPr>
            <a:r>
              <a:rPr lang="en-US" sz="2800" dirty="0">
                <a:effectLst/>
                <a:latin typeface="+mn-lt"/>
              </a:rPr>
              <a:t>6. These are fountains of salvation, that they who thirst may be satisfied with the living words they contain. In these alone is proclaimed the doctrine of godliness. Let no man add to these, neither let him take ought from these. For concerning these the Lord put to shame the Sadducees, and said, ‘Ye do err, not knowing the Scriptures.’ And He reproved the Jews, saying, ‘Search the Scriptures, for these are they that testify of Me.’</a:t>
            </a:r>
          </a:p>
          <a:p>
            <a:pPr marL="0" marR="0" indent="171450">
              <a:buNone/>
            </a:pPr>
            <a:r>
              <a:rPr lang="en-US" sz="2800" dirty="0">
                <a:effectLst/>
                <a:latin typeface="+mn-lt"/>
              </a:rPr>
              <a:t>7. But for greater exactness I add this also, writing of necessity; that there are other books besides these not indeed included in the Canon, but appointed by the Fathers to be read by those who newly join us, and who wish for instruction in the word of godliness. The Wisdom of Solomon, and the Wisdom of Sirach, and Esther, and Judith, and Tobit, and that which is called the Teaching of the Apostles, and the Shepherd. But the former, my brethren, are included in the Canon, the latter being [merely] read; nor is there in any place a mention of apocryphal writings. But they are an invention of heretics, who write them when they choose, bestowing upon them their approbation, and assigning to them a date, that so, using them as ancient writings, they may find occasion to lead astray the simple.</a:t>
            </a:r>
          </a:p>
          <a:p>
            <a:pPr marL="0" marR="0" indent="171450">
              <a:buNone/>
            </a:pPr>
            <a:br>
              <a:rPr lang="en-US" sz="2800" dirty="0">
                <a:effectLst/>
                <a:latin typeface="+mn-lt"/>
              </a:rPr>
            </a:br>
            <a:endParaRPr lang="en-US" sz="2800" dirty="0">
              <a:effectLst/>
              <a:latin typeface="+mn-lt"/>
            </a:endParaRPr>
          </a:p>
          <a:p>
            <a:pPr marL="0" marR="0">
              <a:buNone/>
            </a:pPr>
            <a:r>
              <a:rPr lang="en-US" sz="2800" dirty="0">
                <a:effectLst/>
                <a:latin typeface="+mn-lt"/>
              </a:rPr>
              <a:t> Athanasius of Alexandria, </a:t>
            </a:r>
            <a:r>
              <a:rPr lang="en-US" sz="2800" u="sng" dirty="0">
                <a:solidFill>
                  <a:schemeClr val="tx1"/>
                </a:solidFill>
                <a:effectLst/>
                <a:latin typeface="+mn-lt"/>
                <a:hlinkClick r:id="rId2"/>
              </a:rPr>
              <a:t>“Festal Letters,”</a:t>
            </a:r>
            <a:r>
              <a:rPr lang="en-US" sz="2800" dirty="0">
                <a:effectLst/>
                <a:latin typeface="+mn-lt"/>
              </a:rPr>
              <a:t> in St. Athanasius: Select Works and Letters, ed. Philip Schaff and Henry Wace, trans. Henry Burgess and Jessie Smith Payne, vol. 4 of A Select Library of the Nicene and Post-Nicene Fathers of the Christian Church, Second Series (New York: Christian Literature Company, 1892), 551–552.</a:t>
            </a:r>
            <a:endParaRPr lang="en-US" sz="2800" dirty="0">
              <a:effectLst/>
              <a:latin typeface="Calibri" panose="020F0502020204030204" pitchFamily="34" charset="0"/>
            </a:endParaRPr>
          </a:p>
        </p:txBody>
      </p:sp>
    </p:spTree>
    <p:extLst>
      <p:ext uri="{BB962C8B-B14F-4D97-AF65-F5344CB8AC3E}">
        <p14:creationId xmlns:p14="http://schemas.microsoft.com/office/powerpoint/2010/main" val="2820122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157C4-CFB8-3942-997E-9B04E44F5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F3D45-A246-5A8A-6317-E17DF0CE8378}"/>
              </a:ext>
            </a:extLst>
          </p:cNvPr>
          <p:cNvSpPr>
            <a:spLocks noGrp="1"/>
          </p:cNvSpPr>
          <p:nvPr>
            <p:ph type="title"/>
          </p:nvPr>
        </p:nvSpPr>
        <p:spPr>
          <a:xfrm>
            <a:off x="838200" y="-1382474"/>
            <a:ext cx="10515600" cy="1325563"/>
          </a:xfrm>
        </p:spPr>
        <p:txBody>
          <a:bodyPr/>
          <a:lstStyle/>
          <a:p>
            <a:r>
              <a:rPr lang="en-US" dirty="0"/>
              <a:t>Athanasius (4</a:t>
            </a:r>
            <a:r>
              <a:rPr lang="en-US" baseline="30000" dirty="0"/>
              <a:t>th</a:t>
            </a:r>
            <a:r>
              <a:rPr lang="en-US" dirty="0"/>
              <a:t> century)</a:t>
            </a:r>
          </a:p>
        </p:txBody>
      </p:sp>
      <p:sp>
        <p:nvSpPr>
          <p:cNvPr id="3" name="Content Placeholder 2">
            <a:extLst>
              <a:ext uri="{FF2B5EF4-FFF2-40B4-BE49-F238E27FC236}">
                <a16:creationId xmlns:a16="http://schemas.microsoft.com/office/drawing/2014/main" id="{408DBB00-EFFB-F021-EDE1-484CA34CE417}"/>
              </a:ext>
            </a:extLst>
          </p:cNvPr>
          <p:cNvSpPr>
            <a:spLocks noGrp="1"/>
          </p:cNvSpPr>
          <p:nvPr>
            <p:ph idx="1"/>
          </p:nvPr>
        </p:nvSpPr>
        <p:spPr>
          <a:xfrm>
            <a:off x="-983974" y="-2045255"/>
            <a:ext cx="10515600" cy="1325563"/>
          </a:xfrm>
        </p:spPr>
        <p:txBody>
          <a:bodyPr/>
          <a:lstStyle/>
          <a:p>
            <a:r>
              <a:rPr lang="en-US" dirty="0"/>
              <a:t>“Much of the present confusion over the problem of canon turns on the failure to reach an agreement regarding terminology” (Brevard Childs as quoted by M. Kruger, </a:t>
            </a:r>
            <a:r>
              <a:rPr lang="en-US" i="1" dirty="0"/>
              <a:t>Canon Revisited</a:t>
            </a:r>
            <a:r>
              <a:rPr lang="en-US" dirty="0"/>
              <a:t>, p. 27)</a:t>
            </a:r>
          </a:p>
        </p:txBody>
      </p:sp>
      <p:sp>
        <p:nvSpPr>
          <p:cNvPr id="5" name="TextBox 4">
            <a:extLst>
              <a:ext uri="{FF2B5EF4-FFF2-40B4-BE49-F238E27FC236}">
                <a16:creationId xmlns:a16="http://schemas.microsoft.com/office/drawing/2014/main" id="{2A6F73C1-B464-193A-B13F-CD08448F26C0}"/>
              </a:ext>
            </a:extLst>
          </p:cNvPr>
          <p:cNvSpPr txBox="1"/>
          <p:nvPr/>
        </p:nvSpPr>
        <p:spPr>
          <a:xfrm>
            <a:off x="1059979" y="-2332951"/>
            <a:ext cx="10515600" cy="2246769"/>
          </a:xfrm>
          <a:prstGeom prst="rect">
            <a:avLst/>
          </a:prstGeom>
          <a:noFill/>
        </p:spPr>
        <p:txBody>
          <a:bodyPr wrap="square">
            <a:spAutoFit/>
          </a:bodyPr>
          <a:lstStyle/>
          <a:p>
            <a:pPr marL="285750" indent="-285750">
              <a:buFont typeface="Arial" panose="020B0604020202020204" pitchFamily="34" charset="0"/>
              <a:buChar char="•"/>
            </a:pPr>
            <a:r>
              <a:rPr lang="en-US" sz="2800" dirty="0"/>
              <a:t>Metzger: “Still more basic are the questions of whether the canon is a collection of authoritative books or an authoritative collection of books—and in either case whether the collection can be held to reflect the divine intention within the history of salvation” (Metzger, p. 1)</a:t>
            </a:r>
          </a:p>
        </p:txBody>
      </p:sp>
      <p:sp>
        <p:nvSpPr>
          <p:cNvPr id="8" name="TextBox 7">
            <a:extLst>
              <a:ext uri="{FF2B5EF4-FFF2-40B4-BE49-F238E27FC236}">
                <a16:creationId xmlns:a16="http://schemas.microsoft.com/office/drawing/2014/main" id="{A7C0CF79-1C2A-C5E6-FE60-606B5D62BF8F}"/>
              </a:ext>
            </a:extLst>
          </p:cNvPr>
          <p:cNvSpPr txBox="1"/>
          <p:nvPr/>
        </p:nvSpPr>
        <p:spPr>
          <a:xfrm>
            <a:off x="-5330741" y="5713869"/>
            <a:ext cx="4125395" cy="523220"/>
          </a:xfrm>
          <a:prstGeom prst="rect">
            <a:avLst/>
          </a:prstGeom>
          <a:noFill/>
        </p:spPr>
        <p:txBody>
          <a:bodyPr wrap="square">
            <a:spAutoFit/>
          </a:bodyPr>
          <a:lstStyle/>
          <a:p>
            <a:pPr marL="285750" indent="-285750">
              <a:buFont typeface="Arial" panose="020B0604020202020204" pitchFamily="34" charset="0"/>
              <a:buChar char="•"/>
            </a:pPr>
            <a:r>
              <a:rPr lang="en-US" sz="2800" dirty="0"/>
              <a:t>Definition for this study:</a:t>
            </a:r>
            <a:endParaRPr lang="en-US" sz="2800" b="1" dirty="0"/>
          </a:p>
        </p:txBody>
      </p:sp>
      <p:sp>
        <p:nvSpPr>
          <p:cNvPr id="12" name="Letter 11"/>
          <p:cNvSpPr txBox="1"/>
          <p:nvPr/>
        </p:nvSpPr>
        <p:spPr>
          <a:xfrm>
            <a:off x="0" y="-26972368"/>
            <a:ext cx="12192000" cy="31977985"/>
          </a:xfrm>
          <a:prstGeom prst="rect">
            <a:avLst/>
          </a:prstGeom>
          <a:noFill/>
        </p:spPr>
        <p:txBody>
          <a:bodyPr wrap="square">
            <a:spAutoFit/>
          </a:bodyPr>
          <a:lstStyle/>
          <a:p>
            <a:pPr marL="0" marR="0" indent="171450">
              <a:spcBef>
                <a:spcPts val="675"/>
              </a:spcBef>
              <a:buNone/>
            </a:pPr>
            <a:r>
              <a:rPr lang="en-US" sz="2800" dirty="0">
                <a:effectLst/>
                <a:latin typeface="+mn-lt"/>
              </a:rPr>
              <a:t>… 1. They have fabricated books which they call books of tables</a:t>
            </a:r>
            <a:r>
              <a:rPr lang="en-US" sz="2800" baseline="30000" dirty="0">
                <a:effectLst/>
                <a:latin typeface="+mn-lt"/>
              </a:rPr>
              <a:t>5</a:t>
            </a:r>
            <a:r>
              <a:rPr lang="en-US" sz="2800" dirty="0">
                <a:effectLst/>
                <a:latin typeface="+mn-lt"/>
              </a:rPr>
              <a:t>, in which they shew stars, to which they give the names of Saints. And therein of a truth they have inflicted on themselves a double reproach: those who have written such books, because they have perfected themselves in a lying and contemptible science; and as to the ignorant and simple, they have led them astray by evil thoughts concerning the right faith established in all truth and upright in the presence of God.</a:t>
            </a:r>
          </a:p>
          <a:p>
            <a:pPr marL="0" marR="0" indent="171450">
              <a:buNone/>
            </a:pPr>
            <a:r>
              <a:rPr lang="en-US" sz="2800" dirty="0">
                <a:effectLst/>
                <a:latin typeface="+mn-lt"/>
              </a:rPr>
              <a:t>… 2. But since we have made mention of heretics as dead, but of ourselves as possessing the Divine Scriptures for salvation; and since I fear lest, as Paul wrote to the Corinthians</a:t>
            </a:r>
            <a:r>
              <a:rPr lang="en-US" sz="2800" baseline="30000" dirty="0">
                <a:effectLst/>
                <a:latin typeface="+mn-lt"/>
              </a:rPr>
              <a:t>7</a:t>
            </a:r>
            <a:r>
              <a:rPr lang="en-US" sz="2800" dirty="0">
                <a:effectLst/>
                <a:latin typeface="+mn-lt"/>
              </a:rPr>
              <a:t>, some few of the simple should be beguiled from their simplicity and purity, by the subtilty of certain men, and should henceforth read other books—those called apocryphal—led astray by the similarity of their names with the true books; I beseech you to bear patiently, if I also write, by way of remembrance, of matters with which you are acquainted, influenced by the need and advantage of the Church.</a:t>
            </a:r>
          </a:p>
          <a:p>
            <a:pPr marL="0" marR="0" indent="171450">
              <a:buNone/>
            </a:pPr>
            <a:r>
              <a:rPr lang="en-US" sz="2800" dirty="0">
                <a:effectLst/>
                <a:latin typeface="+mn-lt"/>
              </a:rPr>
              <a:t>3. In proceeding to make mention of these things, I shall adopt, to commend my undertaking, the pattern of Luke the Evangelist, saying on my own account: ‘Forasmuch as some have taken in hand,’ to reduce into order for themselves the books termed apocryphal, and to mix them up with the divinely inspired Scripture, concerning which we have been fully persuaded, as they who from the beginning were eye-witnesses and ministers of the Word, delivered to the fathers; it seemed </a:t>
            </a:r>
            <a:r>
              <a:rPr lang="en-US" sz="2800" dirty="0">
                <a:solidFill>
                  <a:schemeClr val="tx1"/>
                </a:solidFill>
                <a:effectLst/>
                <a:latin typeface="+mn-lt"/>
              </a:rPr>
              <a:t>  p 552  </a:t>
            </a:r>
            <a:r>
              <a:rPr lang="en-US" sz="2800" dirty="0">
                <a:effectLst/>
                <a:latin typeface="+mn-lt"/>
              </a:rPr>
              <a:t>good to me also, having been urged thereto by true brethren, and having learned from the beginning, to set before you the books included in the Canon, and handed down, and accredited as Divine; to the end that any one who has fallen into error may condemn those who have led him astray; and that he who has continued </a:t>
            </a:r>
            <a:r>
              <a:rPr lang="en-US" sz="2800" dirty="0" err="1">
                <a:effectLst/>
                <a:latin typeface="+mn-lt"/>
              </a:rPr>
              <a:t>stedfast</a:t>
            </a:r>
            <a:r>
              <a:rPr lang="en-US" sz="2800" dirty="0">
                <a:effectLst/>
                <a:latin typeface="+mn-lt"/>
              </a:rPr>
              <a:t> in purity may again rejoice, having these things brought to his remembrance.</a:t>
            </a:r>
          </a:p>
          <a:p>
            <a:pPr marL="0" marR="0" indent="171450">
              <a:buNone/>
            </a:pPr>
            <a:r>
              <a:rPr lang="en-US" sz="2800" dirty="0">
                <a:effectLst/>
                <a:latin typeface="+mn-lt"/>
              </a:rPr>
              <a:t>4. There are, then, of the Old Testament, twenty-two books in number; for, as I have heard, it is handed down that this is the number of the letters among the Hebrews; their respective order and names being as follows. The first is Genesis, then Exodus, next Leviticus, after that Numbers, and then Deuteronomy. Following these there is Joshua, the son of Nun, then Judges, then Ruth. And again, after these four books of Kings, the first and second being reckoned as one book, and so likewise the third and fourth as one book. And again, the first and second of the Chronicles are reckoned as one book. Again Ezra, the first and second are similarly one book. After these there is the book of Psalms, then the Proverbs, next Ecclesiastes, and the Song of Songs. Job follows, then the Prophets, the twelve being reckoned as one book. Then Isaiah, one book, then Jeremiah with Baruch, Lamentations, and</a:t>
            </a:r>
            <a:r>
              <a:rPr lang="en-US" sz="2800" baseline="30000" dirty="0">
                <a:effectLst/>
                <a:latin typeface="+mn-lt"/>
              </a:rPr>
              <a:t>2</a:t>
            </a:r>
            <a:r>
              <a:rPr lang="en-US" sz="2800" dirty="0">
                <a:effectLst/>
                <a:latin typeface="+mn-lt"/>
              </a:rPr>
              <a:t> the epistle, one book; afterwards, Ezekiel and Daniel, each one book. Thus far constitutes the Old Testament.</a:t>
            </a:r>
          </a:p>
          <a:p>
            <a:pPr marL="0" marR="0" indent="171450">
              <a:buNone/>
            </a:pPr>
            <a:r>
              <a:rPr lang="en-US" sz="2800" dirty="0">
                <a:effectLst/>
                <a:latin typeface="+mn-lt"/>
              </a:rPr>
              <a:t>5. Again it is not tedious to speak of the [books] of the New Testament. These are, the four Gospels, according to Matthew, Mark, Luke, and John. Afterwards, the Acts of the Apostles and Epistles (called Catholic), seven, viz. of James, one; of Peter, two; of John, three; after these, one of Jude. In addition, there are fourteen Epistles of Paul, written in this order. The first, to the Romans; then two to the Corinthians; after these, to the Galatians; next, to the Ephesians; then to the Philippians; then to the Colossians; after these, two to the Thessalonians, and that to the Hebrews; and again, two to Timothy; one to Titus; and lastly, that to Philemon. And besides, the Revelation of John.</a:t>
            </a:r>
          </a:p>
          <a:p>
            <a:pPr marL="0" marR="0" indent="171450">
              <a:buNone/>
            </a:pPr>
            <a:r>
              <a:rPr lang="en-US" sz="2800" dirty="0">
                <a:effectLst/>
                <a:latin typeface="+mn-lt"/>
              </a:rPr>
              <a:t>6. These are fountains of salvation, that they who thirst may be satisfied with the living words they contain. In these alone is proclaimed the doctrine of godliness. Let no man add to these, neither let him take ought from these. For concerning these the Lord put to shame the Sadducees, and said, ‘Ye do err, not knowing the Scriptures.’ And He reproved the Jews, saying, ‘Search the Scriptures, for these are they that testify of Me.’</a:t>
            </a:r>
          </a:p>
          <a:p>
            <a:pPr marL="0" marR="0" indent="171450">
              <a:buNone/>
            </a:pPr>
            <a:r>
              <a:rPr lang="en-US" sz="2800" dirty="0">
                <a:effectLst/>
                <a:latin typeface="+mn-lt"/>
              </a:rPr>
              <a:t>7. But for greater exactness I add this also, writing of necessity; that there are other books besides these not indeed included in the Canon, but appointed by the Fathers to be read by those who newly join us, and who wish for instruction in the word of godliness. The Wisdom of Solomon, and the Wisdom of Sirach, and Esther, and Judith, and Tobit, and that which is called the Teaching of the Apostles, and the Shepherd. But the former, my brethren, are included in the Canon, the latter being [merely] read; nor is there in any place a mention of apocryphal writings. But they are an invention of heretics, who write them when they choose, bestowing upon them their approbation, and assigning to them a date, that so, using them as ancient writings, they may find occasion to lead astray the simple.</a:t>
            </a:r>
          </a:p>
          <a:p>
            <a:pPr marL="0" marR="0" indent="171450">
              <a:buNone/>
            </a:pPr>
            <a:br>
              <a:rPr lang="en-US" sz="2800" dirty="0">
                <a:effectLst/>
                <a:latin typeface="+mn-lt"/>
              </a:rPr>
            </a:br>
            <a:endParaRPr lang="en-US" sz="2800" dirty="0">
              <a:effectLst/>
              <a:latin typeface="+mn-lt"/>
            </a:endParaRPr>
          </a:p>
          <a:p>
            <a:pPr marL="0" marR="0">
              <a:buNone/>
            </a:pPr>
            <a:r>
              <a:rPr lang="en-US" sz="2800" dirty="0">
                <a:effectLst/>
                <a:latin typeface="+mn-lt"/>
              </a:rPr>
              <a:t> Athanasius of Alexandria, </a:t>
            </a:r>
            <a:r>
              <a:rPr lang="en-US" sz="2800" u="sng" dirty="0">
                <a:solidFill>
                  <a:schemeClr val="tx1"/>
                </a:solidFill>
                <a:effectLst/>
                <a:latin typeface="+mn-lt"/>
                <a:hlinkClick r:id="rId2"/>
              </a:rPr>
              <a:t>“Festal Letters,”</a:t>
            </a:r>
            <a:r>
              <a:rPr lang="en-US" sz="2800" dirty="0">
                <a:effectLst/>
                <a:latin typeface="+mn-lt"/>
              </a:rPr>
              <a:t> in St. Athanasius: Select Works and Letters, ed. Philip Schaff and Henry Wace, trans. Henry Burgess and Jessie Smith Payne, vol. 4 of A Select Library of the Nicene and Post-Nicene Fathers of the Christian Church, Second Series (New York: Christian Literature Company, 1892), 551–552.</a:t>
            </a:r>
            <a:endParaRPr lang="en-US" sz="2800" dirty="0">
              <a:effectLst/>
              <a:latin typeface="Calibri" panose="020F0502020204030204" pitchFamily="34" charset="0"/>
            </a:endParaRPr>
          </a:p>
        </p:txBody>
      </p:sp>
      <p:sp>
        <p:nvSpPr>
          <p:cNvPr id="13" name="Letter 10"/>
          <p:cNvSpPr txBox="1"/>
          <p:nvPr/>
        </p:nvSpPr>
        <p:spPr>
          <a:xfrm>
            <a:off x="0" y="-26972368"/>
            <a:ext cx="12192000" cy="31977985"/>
          </a:xfrm>
          <a:prstGeom prst="rect">
            <a:avLst/>
          </a:prstGeom>
          <a:noFill/>
        </p:spPr>
        <p:txBody>
          <a:bodyPr wrap="square">
            <a:spAutoFit/>
          </a:bodyPr>
          <a:lstStyle/>
          <a:p>
            <a:pPr marL="0" marR="0" indent="171450">
              <a:spcBef>
                <a:spcPts val="675"/>
              </a:spcBef>
              <a:buNone/>
            </a:pPr>
            <a:r>
              <a:rPr lang="en-US" sz="2800" dirty="0">
                <a:effectLst/>
                <a:latin typeface="+mn-lt"/>
              </a:rPr>
              <a:t>… 1. They have fabricated books which they call books of tables</a:t>
            </a:r>
            <a:r>
              <a:rPr lang="en-US" sz="2800" baseline="30000" dirty="0">
                <a:effectLst/>
                <a:latin typeface="+mn-lt"/>
              </a:rPr>
              <a:t>5</a:t>
            </a:r>
            <a:r>
              <a:rPr lang="en-US" sz="2800" dirty="0">
                <a:effectLst/>
                <a:latin typeface="+mn-lt"/>
              </a:rPr>
              <a:t>, in which they shew stars, to which they give the names of Saints. And therein of a truth they have inflicted on themselves a double reproach: those who have written such books, because they have perfected themselves in a lying and contemptible science; and as to the ignorant and simple, they have led them astray by evil thoughts concerning the right faith established in all truth and upright in the presence of God.</a:t>
            </a:r>
          </a:p>
          <a:p>
            <a:pPr marL="0" marR="0" indent="171450">
              <a:buNone/>
            </a:pPr>
            <a:r>
              <a:rPr lang="en-US" sz="2800" dirty="0">
                <a:effectLst/>
                <a:latin typeface="+mn-lt"/>
              </a:rPr>
              <a:t>… 2. But since we have made mention of heretics as dead, but of ourselves as possessing the Divine Scriptures for salvation; and since I fear lest, as Paul wrote to the Corinthians</a:t>
            </a:r>
            <a:r>
              <a:rPr lang="en-US" sz="2800" baseline="30000" dirty="0">
                <a:effectLst/>
                <a:latin typeface="+mn-lt"/>
              </a:rPr>
              <a:t>7</a:t>
            </a:r>
            <a:r>
              <a:rPr lang="en-US" sz="2800" dirty="0">
                <a:effectLst/>
                <a:latin typeface="+mn-lt"/>
              </a:rPr>
              <a:t>, some few of the simple should be beguiled from their simplicity and purity, by the subtilty of certain men, and should henceforth read other books—those called apocryphal—led astray by the similarity of their names with the true books; I beseech you to bear patiently, if I also write, by way of remembrance, of matters with which you are acquainted, influenced by the need and advantage of the Church.</a:t>
            </a:r>
          </a:p>
          <a:p>
            <a:pPr marL="0" marR="0" indent="171450">
              <a:buNone/>
            </a:pPr>
            <a:r>
              <a:rPr lang="en-US" sz="2800" dirty="0">
                <a:effectLst/>
                <a:latin typeface="+mn-lt"/>
              </a:rPr>
              <a:t>3. In proceeding to make mention of these things, I shall adopt, to commend my undertaking, the pattern of Luke the Evangelist, saying on my own account: ‘Forasmuch as some have taken in hand,’ to reduce into order for themselves the books termed apocryphal, and to mix them up with the divinely inspired Scripture, concerning which we have been fully persuaded, as they who from the beginning were eye-witnesses and ministers of the Word, delivered to the fathers; it seemed </a:t>
            </a:r>
            <a:r>
              <a:rPr lang="en-US" sz="2800" dirty="0">
                <a:solidFill>
                  <a:schemeClr val="tx1"/>
                </a:solidFill>
                <a:effectLst/>
                <a:latin typeface="+mn-lt"/>
              </a:rPr>
              <a:t>  p 552  </a:t>
            </a:r>
            <a:r>
              <a:rPr lang="en-US" sz="2800" dirty="0">
                <a:effectLst/>
                <a:latin typeface="+mn-lt"/>
              </a:rPr>
              <a:t>good to me also, having been urged thereto by true brethren, and having learned from the beginning, to set before you the books included in the Canon, and handed down, and accredited as Divine; to the end that any one who has fallen into error may condemn those who have led him astray; and that he who has continued </a:t>
            </a:r>
            <a:r>
              <a:rPr lang="en-US" sz="2800" dirty="0" err="1">
                <a:effectLst/>
                <a:latin typeface="+mn-lt"/>
              </a:rPr>
              <a:t>stedfast</a:t>
            </a:r>
            <a:r>
              <a:rPr lang="en-US" sz="2800" dirty="0">
                <a:effectLst/>
                <a:latin typeface="+mn-lt"/>
              </a:rPr>
              <a:t> in purity may again rejoice, having these things brought to his remembrance.</a:t>
            </a:r>
          </a:p>
          <a:p>
            <a:pPr marL="0" marR="0" indent="171450">
              <a:buNone/>
            </a:pPr>
            <a:r>
              <a:rPr lang="en-US" sz="2800" dirty="0">
                <a:effectLst/>
                <a:latin typeface="+mn-lt"/>
              </a:rPr>
              <a:t>4. There are, then, of the Old Testament, twenty-two books in number; for, as I have heard, it is handed down that this is the number of the letters among the Hebrews; their respective order and names being as follows. The first is Genesis, then Exodus, next Leviticus, after that Numbers, and then Deuteronomy. Following these there is Joshua, the son of Nun, then Judges, then Ruth. And again, after these four books of Kings, the first and second being reckoned as one book, and so likewise the third and fourth as one book. And again, the first and second of the Chronicles are reckoned as one book. Again Ezra, the first and second are similarly one book. After these there is the book of Psalms, then the Proverbs, next Ecclesiastes, and the Song of Songs. Job follows, then the Prophets, the twelve being reckoned as one book. Then Isaiah, one book, then Jeremiah with Baruch, Lamentations, and</a:t>
            </a:r>
            <a:r>
              <a:rPr lang="en-US" sz="2800" baseline="30000" dirty="0">
                <a:effectLst/>
                <a:latin typeface="+mn-lt"/>
              </a:rPr>
              <a:t>2</a:t>
            </a:r>
            <a:r>
              <a:rPr lang="en-US" sz="2800" dirty="0">
                <a:effectLst/>
                <a:latin typeface="+mn-lt"/>
              </a:rPr>
              <a:t> the epistle, one book; afterwards, Ezekiel and Daniel, each one book. Thus far constitutes the Old Testament.</a:t>
            </a:r>
          </a:p>
          <a:p>
            <a:pPr marL="0" marR="0" indent="171450">
              <a:buNone/>
            </a:pPr>
            <a:r>
              <a:rPr lang="en-US" sz="2800" dirty="0">
                <a:effectLst/>
                <a:latin typeface="+mn-lt"/>
              </a:rPr>
              <a:t>5. Again it is not tedious to speak of the [books] of the New Testament. These are, the four Gospels, according to Matthew, Mark, Luke, and John. Afterwards, the Acts of the Apostles and Epistles (called Catholic), seven, viz. of James, one; of Peter, two; of John, three; after these, one of Jude. In addition, there are fourteen Epistles of Paul, written in this order. The first, to the Romans; then two to the Corinthians; after these, to the Galatians; next, to the Ephesians; then to the Philippians; then to the Colossians; after these, two to the Thessalonians, and that to the Hebrews; and again, two to Timothy; one to Titus; and lastly, that to Philemon. And besides, the Revelation of John.</a:t>
            </a:r>
          </a:p>
          <a:p>
            <a:pPr marL="0" marR="0" indent="171450">
              <a:buNone/>
            </a:pPr>
            <a:r>
              <a:rPr lang="en-US" sz="2800" dirty="0">
                <a:effectLst/>
                <a:latin typeface="+mn-lt"/>
              </a:rPr>
              <a:t>6. These are fountains of salvation, that they who thirst may be satisfied with the living words they contain. In these alone is proclaimed the doctrine of godliness. Let no man add to these, neither let him take ought from these. For concerning these the Lord put to shame the Sadducees, and said, ‘Ye do err, not knowing the Scriptures.’ And He reproved the Jews, saying, ‘Search the Scriptures, for these are they that testify of Me.’</a:t>
            </a:r>
          </a:p>
          <a:p>
            <a:pPr marL="0" marR="0" indent="171450">
              <a:buNone/>
            </a:pPr>
            <a:r>
              <a:rPr lang="en-US" sz="2800" dirty="0">
                <a:effectLst/>
                <a:latin typeface="+mn-lt"/>
              </a:rPr>
              <a:t>7. But for greater exactness I add this also, writing of necessity; that there are other books besides these not indeed included in the Canon, but appointed by the Fathers to be read by those who newly join us, and who wish for instruction in the word of godliness. The Wisdom of Solomon, and the Wisdom of Sirach, and Esther, and Judith, and Tobit, and that which is called the Teaching of the Apostles, and the Shepherd. But the former, my brethren, are included in the Canon, the latter being [merely] read; nor is there in any place a mention of apocryphal writings. But they are an invention of heretics, who write them when they choose, bestowing upon them their approbation, and assigning to them a date, that so, using them as ancient writings, they may find occasion to lead astray the simple.</a:t>
            </a:r>
          </a:p>
          <a:p>
            <a:pPr marL="0" marR="0" indent="171450">
              <a:buNone/>
            </a:pPr>
            <a:br>
              <a:rPr lang="en-US" sz="2800" dirty="0">
                <a:effectLst/>
                <a:latin typeface="+mn-lt"/>
              </a:rPr>
            </a:br>
            <a:endParaRPr lang="en-US" sz="2800" dirty="0">
              <a:effectLst/>
              <a:latin typeface="+mn-lt"/>
            </a:endParaRPr>
          </a:p>
          <a:p>
            <a:pPr marL="0" marR="0">
              <a:buNone/>
            </a:pPr>
            <a:r>
              <a:rPr lang="en-US" sz="2800" dirty="0">
                <a:effectLst/>
                <a:latin typeface="+mn-lt"/>
              </a:rPr>
              <a:t> Athanasius of Alexandria, </a:t>
            </a:r>
            <a:r>
              <a:rPr lang="en-US" sz="2800" u="sng" dirty="0">
                <a:solidFill>
                  <a:schemeClr val="tx1"/>
                </a:solidFill>
                <a:effectLst/>
                <a:latin typeface="+mn-lt"/>
                <a:hlinkClick r:id="rId2"/>
              </a:rPr>
              <a:t>“Festal Letters,”</a:t>
            </a:r>
            <a:r>
              <a:rPr lang="en-US" sz="2800" dirty="0">
                <a:effectLst/>
                <a:latin typeface="+mn-lt"/>
              </a:rPr>
              <a:t> in St. Athanasius: Select Works and Letters, ed. Philip Schaff and Henry Wace, trans. Henry Burgess and Jessie Smith Payne, vol. 4 of A Select Library of the Nicene and Post-Nicene Fathers of the Christian Church, Second Series (New York: Christian Literature Company, 1892), 551–552.</a:t>
            </a:r>
            <a:endParaRPr lang="en-US" sz="2800" dirty="0">
              <a:effectLst/>
              <a:latin typeface="Calibri" panose="020F0502020204030204" pitchFamily="34" charset="0"/>
            </a:endParaRPr>
          </a:p>
        </p:txBody>
      </p:sp>
      <p:sp>
        <p:nvSpPr>
          <p:cNvPr id="4" name="TextBox 3">
            <a:extLst>
              <a:ext uri="{FF2B5EF4-FFF2-40B4-BE49-F238E27FC236}">
                <a16:creationId xmlns:a16="http://schemas.microsoft.com/office/drawing/2014/main" id="{389C214A-58F9-E0B1-BE7B-DCD1A8C7CFB9}"/>
              </a:ext>
            </a:extLst>
          </p:cNvPr>
          <p:cNvSpPr txBox="1"/>
          <p:nvPr/>
        </p:nvSpPr>
        <p:spPr>
          <a:xfrm>
            <a:off x="0" y="4813787"/>
            <a:ext cx="6324600" cy="954107"/>
          </a:xfrm>
          <a:prstGeom prst="rect">
            <a:avLst/>
          </a:prstGeom>
          <a:noFill/>
        </p:spPr>
        <p:txBody>
          <a:bodyPr wrap="square" rtlCol="0">
            <a:spAutoFit/>
          </a:bodyPr>
          <a:lstStyle/>
          <a:p>
            <a:r>
              <a:rPr lang="en-US" sz="2800" dirty="0"/>
              <a:t>For free: </a:t>
            </a:r>
            <a:r>
              <a:rPr lang="en-US" sz="2800" dirty="0">
                <a:hlinkClick r:id="rId3"/>
              </a:rPr>
              <a:t>https://www.bible-researcher.com/athanasius.html</a:t>
            </a:r>
            <a:r>
              <a:rPr lang="en-US" sz="2800" dirty="0"/>
              <a:t> </a:t>
            </a:r>
          </a:p>
        </p:txBody>
      </p:sp>
      <p:pic>
        <p:nvPicPr>
          <p:cNvPr id="7" name="Picture 6">
            <a:extLst>
              <a:ext uri="{FF2B5EF4-FFF2-40B4-BE49-F238E27FC236}">
                <a16:creationId xmlns:a16="http://schemas.microsoft.com/office/drawing/2014/main" id="{30C8F0AB-19EA-629A-FD30-DA49290C272D}"/>
              </a:ext>
            </a:extLst>
          </p:cNvPr>
          <p:cNvPicPr>
            <a:picLocks noChangeAspect="1"/>
          </p:cNvPicPr>
          <p:nvPr/>
        </p:nvPicPr>
        <p:blipFill>
          <a:blip r:embed="rId4"/>
          <a:stretch>
            <a:fillRect/>
          </a:stretch>
        </p:blipFill>
        <p:spPr>
          <a:xfrm>
            <a:off x="9449076" y="4171950"/>
            <a:ext cx="2686050" cy="2686050"/>
          </a:xfrm>
          <a:prstGeom prst="rect">
            <a:avLst/>
          </a:prstGeom>
        </p:spPr>
      </p:pic>
    </p:spTree>
    <p:extLst>
      <p:ext uri="{BB962C8B-B14F-4D97-AF65-F5344CB8AC3E}">
        <p14:creationId xmlns:p14="http://schemas.microsoft.com/office/powerpoint/2010/main" val="41256428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3"/>
                                        </p:tgtEl>
                                        <p:attrNameLst>
                                          <p:attrName>style.visibility</p:attrName>
                                        </p:attrNameLst>
                                      </p:cBhvr>
                                      <p:to>
                                        <p:strVal val="hidden"/>
                                      </p:to>
                                    </p:set>
                                  </p:childTnLst>
                                </p:cTn>
                              </p:par>
                            </p:childTnLst>
                          </p:cTn>
                        </p:par>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01B79-62D0-F9FD-2F87-9D9446E282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FA9FE1-760D-270A-C0D9-1266EEC8C3A7}"/>
              </a:ext>
            </a:extLst>
          </p:cNvPr>
          <p:cNvSpPr>
            <a:spLocks noGrp="1"/>
          </p:cNvSpPr>
          <p:nvPr>
            <p:ph type="title"/>
          </p:nvPr>
        </p:nvSpPr>
        <p:spPr/>
        <p:txBody>
          <a:bodyPr/>
          <a:lstStyle/>
          <a:p>
            <a:r>
              <a:rPr lang="en-US" dirty="0"/>
              <a:t>What is “the Canon”?</a:t>
            </a:r>
          </a:p>
        </p:txBody>
      </p:sp>
      <p:sp>
        <p:nvSpPr>
          <p:cNvPr id="3" name="Content Placeholder 2">
            <a:extLst>
              <a:ext uri="{FF2B5EF4-FFF2-40B4-BE49-F238E27FC236}">
                <a16:creationId xmlns:a16="http://schemas.microsoft.com/office/drawing/2014/main" id="{D8BAAB78-C2A9-EC33-C9B7-AFCC73D156E1}"/>
              </a:ext>
            </a:extLst>
          </p:cNvPr>
          <p:cNvSpPr>
            <a:spLocks noGrp="1"/>
          </p:cNvSpPr>
          <p:nvPr>
            <p:ph idx="1"/>
          </p:nvPr>
        </p:nvSpPr>
        <p:spPr>
          <a:xfrm>
            <a:off x="-983974" y="-2045255"/>
            <a:ext cx="10515600" cy="1325563"/>
          </a:xfrm>
        </p:spPr>
        <p:txBody>
          <a:bodyPr/>
          <a:lstStyle/>
          <a:p>
            <a:r>
              <a:rPr lang="en-US" dirty="0"/>
              <a:t>“Much of the present confusion over the problem of canon turns on the failure to reach an agreement regarding terminology” (Brevard Childs as quoted by M. Kruger, </a:t>
            </a:r>
            <a:r>
              <a:rPr lang="en-US" i="1" dirty="0"/>
              <a:t>Canon Revisited</a:t>
            </a:r>
            <a:r>
              <a:rPr lang="en-US" dirty="0"/>
              <a:t>, p. 27)</a:t>
            </a:r>
          </a:p>
        </p:txBody>
      </p:sp>
      <p:sp>
        <p:nvSpPr>
          <p:cNvPr id="5" name="TextBox 4">
            <a:extLst>
              <a:ext uri="{FF2B5EF4-FFF2-40B4-BE49-F238E27FC236}">
                <a16:creationId xmlns:a16="http://schemas.microsoft.com/office/drawing/2014/main" id="{722945B6-21A8-AA98-2C41-86856C3A0EAD}"/>
              </a:ext>
            </a:extLst>
          </p:cNvPr>
          <p:cNvSpPr txBox="1"/>
          <p:nvPr/>
        </p:nvSpPr>
        <p:spPr>
          <a:xfrm>
            <a:off x="1059979" y="-2332951"/>
            <a:ext cx="10515600" cy="2246769"/>
          </a:xfrm>
          <a:prstGeom prst="rect">
            <a:avLst/>
          </a:prstGeom>
          <a:noFill/>
        </p:spPr>
        <p:txBody>
          <a:bodyPr wrap="square">
            <a:spAutoFit/>
          </a:bodyPr>
          <a:lstStyle/>
          <a:p>
            <a:pPr marL="285750" indent="-285750">
              <a:buFont typeface="Arial" panose="020B0604020202020204" pitchFamily="34" charset="0"/>
              <a:buChar char="•"/>
            </a:pPr>
            <a:r>
              <a:rPr lang="en-US" sz="2800" dirty="0"/>
              <a:t>Metzger: “Still more basic are the questions of whether the canon is a collection of authoritative books or an authoritative collection of books—and in either case whether the collection can be held to reflect the divine intention within the history of salvation” (Metzger, p. 1)</a:t>
            </a:r>
          </a:p>
        </p:txBody>
      </p:sp>
      <p:sp>
        <p:nvSpPr>
          <p:cNvPr id="7" name="TextBox 6">
            <a:extLst>
              <a:ext uri="{FF2B5EF4-FFF2-40B4-BE49-F238E27FC236}">
                <a16:creationId xmlns:a16="http://schemas.microsoft.com/office/drawing/2014/main" id="{7CA00B1B-EA9B-ABB1-E569-C845C7CFA418}"/>
              </a:ext>
            </a:extLst>
          </p:cNvPr>
          <p:cNvSpPr txBox="1"/>
          <p:nvPr/>
        </p:nvSpPr>
        <p:spPr>
          <a:xfrm>
            <a:off x="0" y="2010840"/>
            <a:ext cx="12192000" cy="523220"/>
          </a:xfrm>
          <a:prstGeom prst="rect">
            <a:avLst/>
          </a:prstGeom>
          <a:noFill/>
        </p:spPr>
        <p:txBody>
          <a:bodyPr wrap="square">
            <a:spAutoFit/>
          </a:bodyPr>
          <a:lstStyle/>
          <a:p>
            <a:pPr algn="ctr"/>
            <a:r>
              <a:rPr lang="en-US" sz="2800" b="1" dirty="0"/>
              <a:t>the canon is “a closed list of authoritative, sacred texts”</a:t>
            </a:r>
            <a:endParaRPr lang="en-US" sz="2800" dirty="0"/>
          </a:p>
        </p:txBody>
      </p:sp>
      <p:sp>
        <p:nvSpPr>
          <p:cNvPr id="8" name="TextBox 7">
            <a:extLst>
              <a:ext uri="{FF2B5EF4-FFF2-40B4-BE49-F238E27FC236}">
                <a16:creationId xmlns:a16="http://schemas.microsoft.com/office/drawing/2014/main" id="{429CFEC0-7F7D-0299-4310-B1CF594DE34F}"/>
              </a:ext>
            </a:extLst>
          </p:cNvPr>
          <p:cNvSpPr txBox="1"/>
          <p:nvPr/>
        </p:nvSpPr>
        <p:spPr>
          <a:xfrm>
            <a:off x="-5330741" y="5713869"/>
            <a:ext cx="4125395" cy="523220"/>
          </a:xfrm>
          <a:prstGeom prst="rect">
            <a:avLst/>
          </a:prstGeom>
          <a:noFill/>
        </p:spPr>
        <p:txBody>
          <a:bodyPr wrap="square">
            <a:spAutoFit/>
          </a:bodyPr>
          <a:lstStyle/>
          <a:p>
            <a:pPr marL="285750" indent="-285750">
              <a:buFont typeface="Arial" panose="020B0604020202020204" pitchFamily="34" charset="0"/>
              <a:buChar char="•"/>
            </a:pPr>
            <a:r>
              <a:rPr lang="en-US" sz="2800" dirty="0"/>
              <a:t>Definition for this study:</a:t>
            </a:r>
            <a:endParaRPr lang="en-US" sz="2800" b="1" dirty="0"/>
          </a:p>
        </p:txBody>
      </p:sp>
      <p:sp>
        <p:nvSpPr>
          <p:cNvPr id="6" name="TextBox 5">
            <a:extLst>
              <a:ext uri="{FF2B5EF4-FFF2-40B4-BE49-F238E27FC236}">
                <a16:creationId xmlns:a16="http://schemas.microsoft.com/office/drawing/2014/main" id="{063A2964-AD22-B32E-A9AB-E0447011E585}"/>
              </a:ext>
            </a:extLst>
          </p:cNvPr>
          <p:cNvSpPr txBox="1"/>
          <p:nvPr/>
        </p:nvSpPr>
        <p:spPr>
          <a:xfrm>
            <a:off x="0" y="2438142"/>
            <a:ext cx="12192000" cy="523220"/>
          </a:xfrm>
          <a:prstGeom prst="rect">
            <a:avLst/>
          </a:prstGeom>
          <a:noFill/>
        </p:spPr>
        <p:txBody>
          <a:bodyPr wrap="square">
            <a:spAutoFit/>
          </a:bodyPr>
          <a:lstStyle/>
          <a:p>
            <a:pPr algn="ctr"/>
            <a:r>
              <a:rPr lang="en-US" sz="2800" dirty="0"/>
              <a:t>(undergraduate professor, 2026)</a:t>
            </a:r>
            <a:endParaRPr lang="en-US" dirty="0"/>
          </a:p>
        </p:txBody>
      </p:sp>
      <p:sp>
        <p:nvSpPr>
          <p:cNvPr id="9" name="TextBox 8">
            <a:extLst>
              <a:ext uri="{FF2B5EF4-FFF2-40B4-BE49-F238E27FC236}">
                <a16:creationId xmlns:a16="http://schemas.microsoft.com/office/drawing/2014/main" id="{E5361C26-BA15-400B-B0CB-6C2EFFE4993C}"/>
              </a:ext>
            </a:extLst>
          </p:cNvPr>
          <p:cNvSpPr txBox="1"/>
          <p:nvPr/>
        </p:nvSpPr>
        <p:spPr>
          <a:xfrm>
            <a:off x="1059979" y="4246106"/>
            <a:ext cx="10293821" cy="523220"/>
          </a:xfrm>
          <a:prstGeom prst="rect">
            <a:avLst/>
          </a:prstGeom>
          <a:noFill/>
        </p:spPr>
        <p:txBody>
          <a:bodyPr wrap="square" rtlCol="0">
            <a:spAutoFit/>
          </a:bodyPr>
          <a:lstStyle/>
          <a:p>
            <a:pPr marL="238125" indent="-238125">
              <a:buFont typeface="Arial" panose="020B0604020202020204" pitchFamily="34" charset="0"/>
              <a:buChar char="•"/>
            </a:pPr>
            <a:r>
              <a:rPr lang="en-US" sz="2800" dirty="0"/>
              <a:t>“Closed” means: There are no new books being added</a:t>
            </a:r>
          </a:p>
        </p:txBody>
      </p:sp>
      <p:sp>
        <p:nvSpPr>
          <p:cNvPr id="12" name="TextBox 11">
            <a:extLst>
              <a:ext uri="{FF2B5EF4-FFF2-40B4-BE49-F238E27FC236}">
                <a16:creationId xmlns:a16="http://schemas.microsoft.com/office/drawing/2014/main" id="{8D742580-150B-5937-EF20-22EE2D268634}"/>
              </a:ext>
            </a:extLst>
          </p:cNvPr>
          <p:cNvSpPr txBox="1"/>
          <p:nvPr/>
        </p:nvSpPr>
        <p:spPr>
          <a:xfrm>
            <a:off x="949089" y="3172847"/>
            <a:ext cx="10293821" cy="861774"/>
          </a:xfrm>
          <a:prstGeom prst="rect">
            <a:avLst/>
          </a:prstGeom>
          <a:noFill/>
        </p:spPr>
        <p:txBody>
          <a:bodyPr wrap="square" rtlCol="0">
            <a:spAutoFit/>
          </a:bodyPr>
          <a:lstStyle/>
          <a:p>
            <a:pPr algn="ctr"/>
            <a:r>
              <a:rPr lang="en-US" sz="5000" u="sng" dirty="0"/>
              <a:t>#2: “Closed”</a:t>
            </a:r>
          </a:p>
        </p:txBody>
      </p:sp>
    </p:spTree>
    <p:extLst>
      <p:ext uri="{BB962C8B-B14F-4D97-AF65-F5344CB8AC3E}">
        <p14:creationId xmlns:p14="http://schemas.microsoft.com/office/powerpoint/2010/main" val="104949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A2AD9-B90C-6EC4-E641-7F69C53B1F25}"/>
            </a:ext>
          </a:extLst>
        </p:cNvPr>
        <p:cNvGrpSpPr/>
        <p:nvPr/>
      </p:nvGrpSpPr>
      <p:grpSpPr>
        <a:xfrm>
          <a:off x="0" y="0"/>
          <a:ext cx="0" cy="0"/>
          <a:chOff x="0" y="0"/>
          <a:chExt cx="0" cy="0"/>
        </a:xfrm>
      </p:grpSpPr>
      <p:pic>
        <p:nvPicPr>
          <p:cNvPr id="15" name="Picture 14" descr=", AI generated">
            <a:extLst>
              <a:ext uri="{FF2B5EF4-FFF2-40B4-BE49-F238E27FC236}">
                <a16:creationId xmlns:a16="http://schemas.microsoft.com/office/drawing/2014/main" id="{3B48C98B-0120-A242-D635-95DA72B5F184}"/>
              </a:ext>
            </a:extLst>
          </p:cNvPr>
          <p:cNvPicPr>
            <a:picLocks noChangeAspect="1"/>
          </p:cNvPicPr>
          <p:nvPr/>
        </p:nvPicPr>
        <p:blipFill>
          <a:blip r:embed="rId2"/>
          <a:srcRect/>
          <a:stretch>
            <a:fillRect/>
          </a:stretch>
        </p:blipFill>
        <p:spPr>
          <a:xfrm>
            <a:off x="7707064" y="3429000"/>
            <a:ext cx="3383662" cy="3225052"/>
          </a:xfrm>
          <a:prstGeom prst="rect">
            <a:avLst/>
          </a:prstGeom>
          <a:ln>
            <a:solidFill>
              <a:schemeClr val="bg1"/>
            </a:solidFill>
          </a:ln>
        </p:spPr>
      </p:pic>
      <p:pic>
        <p:nvPicPr>
          <p:cNvPr id="11" name="Picture 10" descr="Generated image: Stick Figure Presenting an Ancient Scroll">
            <a:extLst>
              <a:ext uri="{FF2B5EF4-FFF2-40B4-BE49-F238E27FC236}">
                <a16:creationId xmlns:a16="http://schemas.microsoft.com/office/drawing/2014/main" id="{A6FAFA9A-2F82-1C1A-0889-70D15E201DB4}"/>
              </a:ext>
            </a:extLst>
          </p:cNvPr>
          <p:cNvPicPr>
            <a:picLocks noChangeAspect="1"/>
          </p:cNvPicPr>
          <p:nvPr/>
        </p:nvPicPr>
        <p:blipFill>
          <a:blip r:embed="rId3"/>
          <a:stretch>
            <a:fillRect/>
          </a:stretch>
        </p:blipFill>
        <p:spPr>
          <a:xfrm flipH="1">
            <a:off x="12233412" y="3467100"/>
            <a:ext cx="3310740" cy="3158497"/>
          </a:xfrm>
          <a:prstGeom prst="rect">
            <a:avLst/>
          </a:prstGeom>
        </p:spPr>
      </p:pic>
      <p:sp>
        <p:nvSpPr>
          <p:cNvPr id="2" name="Title 1">
            <a:extLst>
              <a:ext uri="{FF2B5EF4-FFF2-40B4-BE49-F238E27FC236}">
                <a16:creationId xmlns:a16="http://schemas.microsoft.com/office/drawing/2014/main" id="{48862708-65BA-B3E9-93CA-01EBB4265049}"/>
              </a:ext>
            </a:extLst>
          </p:cNvPr>
          <p:cNvSpPr>
            <a:spLocks noGrp="1"/>
          </p:cNvSpPr>
          <p:nvPr>
            <p:ph type="title"/>
          </p:nvPr>
        </p:nvSpPr>
        <p:spPr>
          <a:xfrm>
            <a:off x="838200" y="-3368675"/>
            <a:ext cx="10515600" cy="1325563"/>
          </a:xfrm>
        </p:spPr>
        <p:txBody>
          <a:bodyPr/>
          <a:lstStyle/>
          <a:p>
            <a:r>
              <a:rPr lang="en-US" dirty="0"/>
              <a:t>What is “the Canon”?</a:t>
            </a:r>
          </a:p>
        </p:txBody>
      </p:sp>
      <p:sp>
        <p:nvSpPr>
          <p:cNvPr id="3" name="Content Placeholder 2">
            <a:extLst>
              <a:ext uri="{FF2B5EF4-FFF2-40B4-BE49-F238E27FC236}">
                <a16:creationId xmlns:a16="http://schemas.microsoft.com/office/drawing/2014/main" id="{D329A816-1239-BE6E-D350-BAC6D04E9034}"/>
              </a:ext>
            </a:extLst>
          </p:cNvPr>
          <p:cNvSpPr>
            <a:spLocks noGrp="1"/>
          </p:cNvSpPr>
          <p:nvPr>
            <p:ph idx="1"/>
          </p:nvPr>
        </p:nvSpPr>
        <p:spPr>
          <a:xfrm>
            <a:off x="-983974" y="-2045255"/>
            <a:ext cx="10515600" cy="1325563"/>
          </a:xfrm>
        </p:spPr>
        <p:txBody>
          <a:bodyPr/>
          <a:lstStyle/>
          <a:p>
            <a:r>
              <a:rPr lang="en-US" dirty="0"/>
              <a:t>“Much of the present confusion over the problem of canon turns on the failure to reach an agreement regarding terminology” (Brevard Childs as quoted by M. Kruger, </a:t>
            </a:r>
            <a:r>
              <a:rPr lang="en-US" i="1" dirty="0"/>
              <a:t>Canon Revisited</a:t>
            </a:r>
            <a:r>
              <a:rPr lang="en-US" dirty="0"/>
              <a:t>, p. 27)</a:t>
            </a:r>
          </a:p>
        </p:txBody>
      </p:sp>
      <p:sp>
        <p:nvSpPr>
          <p:cNvPr id="5" name="TextBox 4">
            <a:extLst>
              <a:ext uri="{FF2B5EF4-FFF2-40B4-BE49-F238E27FC236}">
                <a16:creationId xmlns:a16="http://schemas.microsoft.com/office/drawing/2014/main" id="{61A965B7-C2E2-4AD6-79CF-A1618EAF6E9A}"/>
              </a:ext>
            </a:extLst>
          </p:cNvPr>
          <p:cNvSpPr txBox="1"/>
          <p:nvPr/>
        </p:nvSpPr>
        <p:spPr>
          <a:xfrm>
            <a:off x="1059979" y="-2332951"/>
            <a:ext cx="10515600" cy="2246769"/>
          </a:xfrm>
          <a:prstGeom prst="rect">
            <a:avLst/>
          </a:prstGeom>
          <a:noFill/>
        </p:spPr>
        <p:txBody>
          <a:bodyPr wrap="square">
            <a:spAutoFit/>
          </a:bodyPr>
          <a:lstStyle/>
          <a:p>
            <a:pPr marL="285750" indent="-285750">
              <a:buFont typeface="Arial" panose="020B0604020202020204" pitchFamily="34" charset="0"/>
              <a:buChar char="•"/>
            </a:pPr>
            <a:r>
              <a:rPr lang="en-US" sz="2800" dirty="0"/>
              <a:t>Metzger: “Still more basic are the questions of whether the canon is a collection of authoritative books or an authoritative collection of books—and in either case whether the collection can be held to reflect the divine intention within the history of salvation” (Metzger, p. 1)</a:t>
            </a:r>
          </a:p>
        </p:txBody>
      </p:sp>
      <p:sp>
        <p:nvSpPr>
          <p:cNvPr id="7" name="TextBox 6">
            <a:extLst>
              <a:ext uri="{FF2B5EF4-FFF2-40B4-BE49-F238E27FC236}">
                <a16:creationId xmlns:a16="http://schemas.microsoft.com/office/drawing/2014/main" id="{F3D43D4C-B504-1F4D-11F5-ABFBF263A1D4}"/>
              </a:ext>
            </a:extLst>
          </p:cNvPr>
          <p:cNvSpPr txBox="1"/>
          <p:nvPr/>
        </p:nvSpPr>
        <p:spPr>
          <a:xfrm>
            <a:off x="0" y="-1722960"/>
            <a:ext cx="12192000" cy="523220"/>
          </a:xfrm>
          <a:prstGeom prst="rect">
            <a:avLst/>
          </a:prstGeom>
          <a:noFill/>
        </p:spPr>
        <p:txBody>
          <a:bodyPr wrap="square">
            <a:spAutoFit/>
          </a:bodyPr>
          <a:lstStyle/>
          <a:p>
            <a:pPr algn="ctr"/>
            <a:r>
              <a:rPr lang="en-US" sz="2800" b="1" dirty="0"/>
              <a:t>the canon is “a closed list of authoritative, sacred texts”</a:t>
            </a:r>
            <a:endParaRPr lang="en-US" sz="2800" dirty="0"/>
          </a:p>
        </p:txBody>
      </p:sp>
      <p:sp>
        <p:nvSpPr>
          <p:cNvPr id="8" name="TextBox 7">
            <a:extLst>
              <a:ext uri="{FF2B5EF4-FFF2-40B4-BE49-F238E27FC236}">
                <a16:creationId xmlns:a16="http://schemas.microsoft.com/office/drawing/2014/main" id="{4CD913F2-2FE8-4551-18C0-BBDB540F1BC8}"/>
              </a:ext>
            </a:extLst>
          </p:cNvPr>
          <p:cNvSpPr txBox="1"/>
          <p:nvPr/>
        </p:nvSpPr>
        <p:spPr>
          <a:xfrm>
            <a:off x="-5330741" y="5713869"/>
            <a:ext cx="4125395" cy="523220"/>
          </a:xfrm>
          <a:prstGeom prst="rect">
            <a:avLst/>
          </a:prstGeom>
          <a:noFill/>
        </p:spPr>
        <p:txBody>
          <a:bodyPr wrap="square">
            <a:spAutoFit/>
          </a:bodyPr>
          <a:lstStyle/>
          <a:p>
            <a:pPr marL="285750" indent="-285750">
              <a:buFont typeface="Arial" panose="020B0604020202020204" pitchFamily="34" charset="0"/>
              <a:buChar char="•"/>
            </a:pPr>
            <a:r>
              <a:rPr lang="en-US" sz="2800" dirty="0"/>
              <a:t>Definition for this study:</a:t>
            </a:r>
            <a:endParaRPr lang="en-US" sz="2800" b="1" dirty="0"/>
          </a:p>
        </p:txBody>
      </p:sp>
      <p:sp>
        <p:nvSpPr>
          <p:cNvPr id="6" name="TextBox 5">
            <a:extLst>
              <a:ext uri="{FF2B5EF4-FFF2-40B4-BE49-F238E27FC236}">
                <a16:creationId xmlns:a16="http://schemas.microsoft.com/office/drawing/2014/main" id="{89FD2767-2865-D9F6-9BE2-FCE700333CCD}"/>
              </a:ext>
            </a:extLst>
          </p:cNvPr>
          <p:cNvSpPr txBox="1"/>
          <p:nvPr/>
        </p:nvSpPr>
        <p:spPr>
          <a:xfrm>
            <a:off x="0" y="-1295658"/>
            <a:ext cx="12192000" cy="523220"/>
          </a:xfrm>
          <a:prstGeom prst="rect">
            <a:avLst/>
          </a:prstGeom>
          <a:noFill/>
        </p:spPr>
        <p:txBody>
          <a:bodyPr wrap="square">
            <a:spAutoFit/>
          </a:bodyPr>
          <a:lstStyle/>
          <a:p>
            <a:pPr algn="ctr"/>
            <a:r>
              <a:rPr lang="en-US" sz="2800" dirty="0"/>
              <a:t>(undergraduate professor, 2026)</a:t>
            </a:r>
            <a:endParaRPr lang="en-US" dirty="0"/>
          </a:p>
        </p:txBody>
      </p:sp>
      <p:sp>
        <p:nvSpPr>
          <p:cNvPr id="9" name="TextBox 8">
            <a:extLst>
              <a:ext uri="{FF2B5EF4-FFF2-40B4-BE49-F238E27FC236}">
                <a16:creationId xmlns:a16="http://schemas.microsoft.com/office/drawing/2014/main" id="{93168118-A889-5AB3-49E3-B471B9E709D9}"/>
              </a:ext>
            </a:extLst>
          </p:cNvPr>
          <p:cNvSpPr txBox="1"/>
          <p:nvPr/>
        </p:nvSpPr>
        <p:spPr>
          <a:xfrm>
            <a:off x="1059979" y="1445756"/>
            <a:ext cx="10293821" cy="523220"/>
          </a:xfrm>
          <a:prstGeom prst="rect">
            <a:avLst/>
          </a:prstGeom>
          <a:noFill/>
        </p:spPr>
        <p:txBody>
          <a:bodyPr wrap="square" rtlCol="0">
            <a:spAutoFit/>
          </a:bodyPr>
          <a:lstStyle/>
          <a:p>
            <a:pPr marL="238125" indent="-238125">
              <a:buFont typeface="Arial" panose="020B0604020202020204" pitchFamily="34" charset="0"/>
              <a:buChar char="•"/>
            </a:pPr>
            <a:r>
              <a:rPr lang="en-US" sz="2800" dirty="0"/>
              <a:t>“Closed” means: There are no new books being added</a:t>
            </a:r>
          </a:p>
        </p:txBody>
      </p:sp>
      <p:sp>
        <p:nvSpPr>
          <p:cNvPr id="12" name="TextBox 11">
            <a:extLst>
              <a:ext uri="{FF2B5EF4-FFF2-40B4-BE49-F238E27FC236}">
                <a16:creationId xmlns:a16="http://schemas.microsoft.com/office/drawing/2014/main" id="{B671DB7B-CD63-86C8-E86D-0AFB8F0ACC2B}"/>
              </a:ext>
            </a:extLst>
          </p:cNvPr>
          <p:cNvSpPr txBox="1"/>
          <p:nvPr/>
        </p:nvSpPr>
        <p:spPr>
          <a:xfrm>
            <a:off x="949089" y="372497"/>
            <a:ext cx="10293821" cy="861774"/>
          </a:xfrm>
          <a:prstGeom prst="rect">
            <a:avLst/>
          </a:prstGeom>
          <a:noFill/>
        </p:spPr>
        <p:txBody>
          <a:bodyPr wrap="square" rtlCol="0">
            <a:spAutoFit/>
          </a:bodyPr>
          <a:lstStyle/>
          <a:p>
            <a:pPr algn="ctr"/>
            <a:r>
              <a:rPr lang="en-US" sz="5000" u="sng" dirty="0"/>
              <a:t>#2: “Closed”</a:t>
            </a:r>
          </a:p>
        </p:txBody>
      </p:sp>
      <p:pic>
        <p:nvPicPr>
          <p:cNvPr id="4" name="Picture 3" descr="Generated image: Stick Figure Reading an Open Book">
            <a:extLst>
              <a:ext uri="{FF2B5EF4-FFF2-40B4-BE49-F238E27FC236}">
                <a16:creationId xmlns:a16="http://schemas.microsoft.com/office/drawing/2014/main" id="{9A5839B4-092A-33A1-36E4-7F9479CC4DA5}"/>
              </a:ext>
            </a:extLst>
          </p:cNvPr>
          <p:cNvPicPr>
            <a:picLocks noChangeAspect="1"/>
          </p:cNvPicPr>
          <p:nvPr/>
        </p:nvPicPr>
        <p:blipFill>
          <a:blip r:embed="rId4"/>
          <a:stretch>
            <a:fillRect/>
          </a:stretch>
        </p:blipFill>
        <p:spPr>
          <a:xfrm>
            <a:off x="636342" y="3393729"/>
            <a:ext cx="3310741" cy="3310741"/>
          </a:xfrm>
          <a:prstGeom prst="rect">
            <a:avLst/>
          </a:prstGeom>
        </p:spPr>
      </p:pic>
      <p:sp>
        <p:nvSpPr>
          <p:cNvPr id="13" name="Oval Callout 12">
            <a:extLst>
              <a:ext uri="{FF2B5EF4-FFF2-40B4-BE49-F238E27FC236}">
                <a16:creationId xmlns:a16="http://schemas.microsoft.com/office/drawing/2014/main" id="{AD7A5D32-E7D1-03AC-6CB3-3AB0884E5893}"/>
              </a:ext>
            </a:extLst>
          </p:cNvPr>
          <p:cNvSpPr/>
          <p:nvPr/>
        </p:nvSpPr>
        <p:spPr>
          <a:xfrm>
            <a:off x="2599765" y="2180462"/>
            <a:ext cx="3496235" cy="1943304"/>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“I love my 66 books!”</a:t>
            </a:r>
          </a:p>
        </p:txBody>
      </p:sp>
      <p:sp>
        <p:nvSpPr>
          <p:cNvPr id="14" name="Oval Callout 13">
            <a:extLst>
              <a:ext uri="{FF2B5EF4-FFF2-40B4-BE49-F238E27FC236}">
                <a16:creationId xmlns:a16="http://schemas.microsoft.com/office/drawing/2014/main" id="{38675C71-BDC5-AB21-2229-938F6CACF1F2}"/>
              </a:ext>
            </a:extLst>
          </p:cNvPr>
          <p:cNvSpPr/>
          <p:nvPr/>
        </p:nvSpPr>
        <p:spPr>
          <a:xfrm flipH="1">
            <a:off x="5432611" y="1968975"/>
            <a:ext cx="3687805" cy="1943304"/>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“You need this </a:t>
            </a:r>
            <a:r>
              <a:rPr lang="en-US" sz="3600" i="1" dirty="0"/>
              <a:t>Gospel of Thomas</a:t>
            </a:r>
            <a:r>
              <a:rPr lang="en-US" sz="3600" dirty="0"/>
              <a:t>!”</a:t>
            </a:r>
          </a:p>
        </p:txBody>
      </p:sp>
      <p:sp>
        <p:nvSpPr>
          <p:cNvPr id="16" name="Oval Callout 15">
            <a:extLst>
              <a:ext uri="{FF2B5EF4-FFF2-40B4-BE49-F238E27FC236}">
                <a16:creationId xmlns:a16="http://schemas.microsoft.com/office/drawing/2014/main" id="{9D5B4D65-BA37-FE32-3BE6-88C4D3181403}"/>
              </a:ext>
            </a:extLst>
          </p:cNvPr>
          <p:cNvSpPr/>
          <p:nvPr/>
        </p:nvSpPr>
        <p:spPr>
          <a:xfrm>
            <a:off x="2599765" y="2180462"/>
            <a:ext cx="3496235" cy="1943304"/>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“No way, my canon is closed!”</a:t>
            </a:r>
          </a:p>
        </p:txBody>
      </p:sp>
    </p:spTree>
    <p:extLst>
      <p:ext uri="{BB962C8B-B14F-4D97-AF65-F5344CB8AC3E}">
        <p14:creationId xmlns:p14="http://schemas.microsoft.com/office/powerpoint/2010/main" val="2094752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0.05248 0.00139 L -0.3681 0.00139 " pathEditMode="relative" rAng="0" ptsTypes="AA">
                                      <p:cBhvr>
                                        <p:cTn id="11" dur="2000" fill="hold"/>
                                        <p:tgtEl>
                                          <p:spTgt spid="11"/>
                                        </p:tgtEl>
                                        <p:attrNameLst>
                                          <p:attrName>ppt_x</p:attrName>
                                          <p:attrName>ppt_y</p:attrName>
                                        </p:attrNameLst>
                                      </p:cBhvr>
                                      <p:rCtr x="-21029" y="0"/>
                                    </p:animMotion>
                                  </p:childTnLst>
                                </p:cTn>
                              </p:par>
                            </p:childTnLst>
                          </p:cTn>
                        </p:par>
                        <p:par>
                          <p:cTn id="12" fill="hold">
                            <p:stCondLst>
                              <p:cond delay="2000"/>
                            </p:stCondLst>
                            <p:childTnLst>
                              <p:par>
                                <p:cTn id="13" presetID="1"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11"/>
                                        </p:tgtEl>
                                        <p:attrNameLst>
                                          <p:attrName>style.visibility</p:attrName>
                                        </p:attrNameLst>
                                      </p:cBhvr>
                                      <p:to>
                                        <p:strVal val="hidden"/>
                                      </p:to>
                                    </p:set>
                                  </p:childTnLst>
                                </p:cTn>
                              </p:par>
                            </p:childTnLst>
                          </p:cTn>
                        </p:par>
                        <p:par>
                          <p:cTn id="17" fill="hold">
                            <p:stCondLst>
                              <p:cond delay="2000"/>
                            </p:stCondLst>
                            <p:childTnLst>
                              <p:par>
                                <p:cTn id="18" presetID="22" presetClass="entr" presetSubtype="4"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down)">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down)">
                                      <p:cBhvr>
                                        <p:cTn id="2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B55B1-6896-3C39-C649-12FFC7EFB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C6F030-57D8-FB45-87B3-12D83864091D}"/>
              </a:ext>
            </a:extLst>
          </p:cNvPr>
          <p:cNvSpPr>
            <a:spLocks noGrp="1"/>
          </p:cNvSpPr>
          <p:nvPr>
            <p:ph type="title"/>
          </p:nvPr>
        </p:nvSpPr>
        <p:spPr/>
        <p:txBody>
          <a:bodyPr/>
          <a:lstStyle/>
          <a:p>
            <a:r>
              <a:rPr lang="en-US" dirty="0"/>
              <a:t>What is “the Canon”?</a:t>
            </a:r>
          </a:p>
        </p:txBody>
      </p:sp>
      <p:sp>
        <p:nvSpPr>
          <p:cNvPr id="3" name="Content Placeholder 2">
            <a:extLst>
              <a:ext uri="{FF2B5EF4-FFF2-40B4-BE49-F238E27FC236}">
                <a16:creationId xmlns:a16="http://schemas.microsoft.com/office/drawing/2014/main" id="{5C6E5C94-B990-07D2-7F23-699F35B96F3A}"/>
              </a:ext>
            </a:extLst>
          </p:cNvPr>
          <p:cNvSpPr>
            <a:spLocks noGrp="1"/>
          </p:cNvSpPr>
          <p:nvPr>
            <p:ph idx="1"/>
          </p:nvPr>
        </p:nvSpPr>
        <p:spPr>
          <a:xfrm>
            <a:off x="-983974" y="-2045255"/>
            <a:ext cx="10515600" cy="1325563"/>
          </a:xfrm>
        </p:spPr>
        <p:txBody>
          <a:bodyPr/>
          <a:lstStyle/>
          <a:p>
            <a:r>
              <a:rPr lang="en-US" dirty="0"/>
              <a:t>“Much of the present confusion over the problem of canon turns on the failure to reach an agreement regarding terminology” (Brevard Childs as quoted by M. Kruger, </a:t>
            </a:r>
            <a:r>
              <a:rPr lang="en-US" i="1" dirty="0"/>
              <a:t>Canon Revisited</a:t>
            </a:r>
            <a:r>
              <a:rPr lang="en-US" dirty="0"/>
              <a:t>, p. 27)</a:t>
            </a:r>
          </a:p>
        </p:txBody>
      </p:sp>
      <p:sp>
        <p:nvSpPr>
          <p:cNvPr id="5" name="TextBox 4">
            <a:extLst>
              <a:ext uri="{FF2B5EF4-FFF2-40B4-BE49-F238E27FC236}">
                <a16:creationId xmlns:a16="http://schemas.microsoft.com/office/drawing/2014/main" id="{9E79A8D1-69C0-24AB-5BCC-C1B9F6EF6D3E}"/>
              </a:ext>
            </a:extLst>
          </p:cNvPr>
          <p:cNvSpPr txBox="1"/>
          <p:nvPr/>
        </p:nvSpPr>
        <p:spPr>
          <a:xfrm>
            <a:off x="1059979" y="-2332951"/>
            <a:ext cx="10515600" cy="2246769"/>
          </a:xfrm>
          <a:prstGeom prst="rect">
            <a:avLst/>
          </a:prstGeom>
          <a:noFill/>
        </p:spPr>
        <p:txBody>
          <a:bodyPr wrap="square">
            <a:spAutoFit/>
          </a:bodyPr>
          <a:lstStyle/>
          <a:p>
            <a:pPr marL="285750" indent="-285750">
              <a:buFont typeface="Arial" panose="020B0604020202020204" pitchFamily="34" charset="0"/>
              <a:buChar char="•"/>
            </a:pPr>
            <a:r>
              <a:rPr lang="en-US" sz="2800" dirty="0"/>
              <a:t>Metzger: “Still more basic are the questions of whether the canon is a collection of authoritative books or an authoritative collection of books—and in either case whether the collection can be held to reflect the divine intention within the history of salvation” (Metzger, p. 1)</a:t>
            </a:r>
          </a:p>
        </p:txBody>
      </p:sp>
      <p:sp>
        <p:nvSpPr>
          <p:cNvPr id="7" name="TextBox 6">
            <a:extLst>
              <a:ext uri="{FF2B5EF4-FFF2-40B4-BE49-F238E27FC236}">
                <a16:creationId xmlns:a16="http://schemas.microsoft.com/office/drawing/2014/main" id="{4EA64E91-31C2-9189-39FD-9097C9EA6E9D}"/>
              </a:ext>
            </a:extLst>
          </p:cNvPr>
          <p:cNvSpPr txBox="1"/>
          <p:nvPr/>
        </p:nvSpPr>
        <p:spPr>
          <a:xfrm>
            <a:off x="0" y="2010840"/>
            <a:ext cx="12192000" cy="523220"/>
          </a:xfrm>
          <a:prstGeom prst="rect">
            <a:avLst/>
          </a:prstGeom>
          <a:noFill/>
        </p:spPr>
        <p:txBody>
          <a:bodyPr wrap="square">
            <a:spAutoFit/>
          </a:bodyPr>
          <a:lstStyle/>
          <a:p>
            <a:pPr algn="ctr"/>
            <a:r>
              <a:rPr lang="en-US" sz="2800" b="1" dirty="0"/>
              <a:t>the canon is “a closed list of authoritative, sacred texts”</a:t>
            </a:r>
            <a:endParaRPr lang="en-US" sz="2800" dirty="0"/>
          </a:p>
        </p:txBody>
      </p:sp>
      <p:sp>
        <p:nvSpPr>
          <p:cNvPr id="8" name="TextBox 7">
            <a:extLst>
              <a:ext uri="{FF2B5EF4-FFF2-40B4-BE49-F238E27FC236}">
                <a16:creationId xmlns:a16="http://schemas.microsoft.com/office/drawing/2014/main" id="{53003671-506B-6B9C-68CB-1F2A923FCD32}"/>
              </a:ext>
            </a:extLst>
          </p:cNvPr>
          <p:cNvSpPr txBox="1"/>
          <p:nvPr/>
        </p:nvSpPr>
        <p:spPr>
          <a:xfrm>
            <a:off x="-5330741" y="5713869"/>
            <a:ext cx="4125395" cy="523220"/>
          </a:xfrm>
          <a:prstGeom prst="rect">
            <a:avLst/>
          </a:prstGeom>
          <a:noFill/>
        </p:spPr>
        <p:txBody>
          <a:bodyPr wrap="square">
            <a:spAutoFit/>
          </a:bodyPr>
          <a:lstStyle/>
          <a:p>
            <a:pPr marL="285750" indent="-285750">
              <a:buFont typeface="Arial" panose="020B0604020202020204" pitchFamily="34" charset="0"/>
              <a:buChar char="•"/>
            </a:pPr>
            <a:r>
              <a:rPr lang="en-US" sz="2800" dirty="0"/>
              <a:t>Definition for this study:</a:t>
            </a:r>
            <a:endParaRPr lang="en-US" sz="2800" b="1" dirty="0"/>
          </a:p>
        </p:txBody>
      </p:sp>
      <p:sp>
        <p:nvSpPr>
          <p:cNvPr id="6" name="TextBox 5">
            <a:extLst>
              <a:ext uri="{FF2B5EF4-FFF2-40B4-BE49-F238E27FC236}">
                <a16:creationId xmlns:a16="http://schemas.microsoft.com/office/drawing/2014/main" id="{0340354B-B067-E8DF-C5A6-95E1BF394260}"/>
              </a:ext>
            </a:extLst>
          </p:cNvPr>
          <p:cNvSpPr txBox="1"/>
          <p:nvPr/>
        </p:nvSpPr>
        <p:spPr>
          <a:xfrm>
            <a:off x="0" y="2438142"/>
            <a:ext cx="12192000" cy="523220"/>
          </a:xfrm>
          <a:prstGeom prst="rect">
            <a:avLst/>
          </a:prstGeom>
          <a:noFill/>
        </p:spPr>
        <p:txBody>
          <a:bodyPr wrap="square">
            <a:spAutoFit/>
          </a:bodyPr>
          <a:lstStyle/>
          <a:p>
            <a:pPr algn="ctr"/>
            <a:r>
              <a:rPr lang="en-US" sz="2800" dirty="0"/>
              <a:t>(undergraduate professor, 2026)</a:t>
            </a:r>
            <a:endParaRPr lang="en-US" dirty="0"/>
          </a:p>
        </p:txBody>
      </p:sp>
      <p:sp>
        <p:nvSpPr>
          <p:cNvPr id="9" name="TextBox 8">
            <a:extLst>
              <a:ext uri="{FF2B5EF4-FFF2-40B4-BE49-F238E27FC236}">
                <a16:creationId xmlns:a16="http://schemas.microsoft.com/office/drawing/2014/main" id="{48CDDFC9-558B-651B-6349-24874EF601AF}"/>
              </a:ext>
            </a:extLst>
          </p:cNvPr>
          <p:cNvSpPr txBox="1"/>
          <p:nvPr/>
        </p:nvSpPr>
        <p:spPr>
          <a:xfrm>
            <a:off x="1059979" y="4246106"/>
            <a:ext cx="10293821" cy="954107"/>
          </a:xfrm>
          <a:prstGeom prst="rect">
            <a:avLst/>
          </a:prstGeom>
          <a:noFill/>
        </p:spPr>
        <p:txBody>
          <a:bodyPr wrap="square" rtlCol="0">
            <a:spAutoFit/>
          </a:bodyPr>
          <a:lstStyle/>
          <a:p>
            <a:pPr marL="238125" indent="-238125">
              <a:buFont typeface="Arial" panose="020B0604020202020204" pitchFamily="34" charset="0"/>
              <a:buChar char="•"/>
            </a:pPr>
            <a:r>
              <a:rPr lang="en-US" sz="2800" dirty="0"/>
              <a:t>“Authoritative” means something like: “Ought to be listened to”</a:t>
            </a:r>
          </a:p>
          <a:p>
            <a:pPr marL="238125" indent="-238125">
              <a:buFont typeface="Arial" panose="020B0604020202020204" pitchFamily="34" charset="0"/>
              <a:buChar char="•"/>
            </a:pPr>
            <a:r>
              <a:rPr lang="en-US" sz="2800" dirty="0"/>
              <a:t>“Sacred” means: “holy,” “important,” etc.</a:t>
            </a:r>
          </a:p>
        </p:txBody>
      </p:sp>
      <p:sp>
        <p:nvSpPr>
          <p:cNvPr id="12" name="TextBox 11">
            <a:extLst>
              <a:ext uri="{FF2B5EF4-FFF2-40B4-BE49-F238E27FC236}">
                <a16:creationId xmlns:a16="http://schemas.microsoft.com/office/drawing/2014/main" id="{09EF90D4-7824-2F40-904E-47FB8E9188AF}"/>
              </a:ext>
            </a:extLst>
          </p:cNvPr>
          <p:cNvSpPr txBox="1"/>
          <p:nvPr/>
        </p:nvSpPr>
        <p:spPr>
          <a:xfrm>
            <a:off x="949089" y="3172847"/>
            <a:ext cx="10293821" cy="861774"/>
          </a:xfrm>
          <a:prstGeom prst="rect">
            <a:avLst/>
          </a:prstGeom>
          <a:noFill/>
        </p:spPr>
        <p:txBody>
          <a:bodyPr wrap="square" rtlCol="0">
            <a:spAutoFit/>
          </a:bodyPr>
          <a:lstStyle/>
          <a:p>
            <a:pPr algn="ctr"/>
            <a:r>
              <a:rPr lang="en-US" sz="5000" u="sng" dirty="0"/>
              <a:t>#3: “Authoritative, Sacred”</a:t>
            </a:r>
          </a:p>
        </p:txBody>
      </p:sp>
    </p:spTree>
    <p:extLst>
      <p:ext uri="{BB962C8B-B14F-4D97-AF65-F5344CB8AC3E}">
        <p14:creationId xmlns:p14="http://schemas.microsoft.com/office/powerpoint/2010/main" val="37999806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A5B12-931E-2C40-E799-20DD9178CC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A0A1D-9D6B-380F-7BAC-F3ADB1C42E59}"/>
              </a:ext>
            </a:extLst>
          </p:cNvPr>
          <p:cNvSpPr>
            <a:spLocks noGrp="1"/>
          </p:cNvSpPr>
          <p:nvPr>
            <p:ph type="title"/>
          </p:nvPr>
        </p:nvSpPr>
        <p:spPr>
          <a:xfrm>
            <a:off x="838200" y="-1859915"/>
            <a:ext cx="10515600" cy="1325563"/>
          </a:xfrm>
        </p:spPr>
        <p:txBody>
          <a:bodyPr/>
          <a:lstStyle/>
          <a:p>
            <a:r>
              <a:rPr lang="en-US" dirty="0"/>
              <a:t>What is “the Canon”?</a:t>
            </a:r>
          </a:p>
        </p:txBody>
      </p:sp>
      <p:sp>
        <p:nvSpPr>
          <p:cNvPr id="3" name="Content Placeholder 2">
            <a:extLst>
              <a:ext uri="{FF2B5EF4-FFF2-40B4-BE49-F238E27FC236}">
                <a16:creationId xmlns:a16="http://schemas.microsoft.com/office/drawing/2014/main" id="{5FEBB178-7F98-058D-A4BC-932D589CA01D}"/>
              </a:ext>
            </a:extLst>
          </p:cNvPr>
          <p:cNvSpPr>
            <a:spLocks noGrp="1"/>
          </p:cNvSpPr>
          <p:nvPr>
            <p:ph idx="1"/>
          </p:nvPr>
        </p:nvSpPr>
        <p:spPr>
          <a:xfrm>
            <a:off x="-983974" y="-2045255"/>
            <a:ext cx="10515600" cy="1325563"/>
          </a:xfrm>
        </p:spPr>
        <p:txBody>
          <a:bodyPr/>
          <a:lstStyle/>
          <a:p>
            <a:r>
              <a:rPr lang="en-US" dirty="0"/>
              <a:t>“Much of the present confusion over the problem of canon turns on the failure to reach an agreement regarding terminology” (Brevard Childs as quoted by M. Kruger, </a:t>
            </a:r>
            <a:r>
              <a:rPr lang="en-US" i="1" dirty="0"/>
              <a:t>Canon Revisited</a:t>
            </a:r>
            <a:r>
              <a:rPr lang="en-US" dirty="0"/>
              <a:t>, p. 27)</a:t>
            </a:r>
          </a:p>
        </p:txBody>
      </p:sp>
      <p:sp>
        <p:nvSpPr>
          <p:cNvPr id="5" name="TextBox 4">
            <a:extLst>
              <a:ext uri="{FF2B5EF4-FFF2-40B4-BE49-F238E27FC236}">
                <a16:creationId xmlns:a16="http://schemas.microsoft.com/office/drawing/2014/main" id="{04E4EAD0-1012-9219-E86A-87FB5614938B}"/>
              </a:ext>
            </a:extLst>
          </p:cNvPr>
          <p:cNvSpPr txBox="1"/>
          <p:nvPr/>
        </p:nvSpPr>
        <p:spPr>
          <a:xfrm>
            <a:off x="1059979" y="-2332951"/>
            <a:ext cx="10515600" cy="2246769"/>
          </a:xfrm>
          <a:prstGeom prst="rect">
            <a:avLst/>
          </a:prstGeom>
          <a:noFill/>
        </p:spPr>
        <p:txBody>
          <a:bodyPr wrap="square">
            <a:spAutoFit/>
          </a:bodyPr>
          <a:lstStyle/>
          <a:p>
            <a:pPr marL="285750" indent="-285750">
              <a:buFont typeface="Arial" panose="020B0604020202020204" pitchFamily="34" charset="0"/>
              <a:buChar char="•"/>
            </a:pPr>
            <a:r>
              <a:rPr lang="en-US" sz="2800" dirty="0"/>
              <a:t>Metzger: “Still more basic are the questions of whether the canon is a collection of authoritative books or an authoritative collection of books—and in either case whether the collection can be held to reflect the divine intention within the history of salvation” (Metzger, p. 1)</a:t>
            </a:r>
          </a:p>
        </p:txBody>
      </p:sp>
      <p:sp>
        <p:nvSpPr>
          <p:cNvPr id="7" name="TextBox 6">
            <a:extLst>
              <a:ext uri="{FF2B5EF4-FFF2-40B4-BE49-F238E27FC236}">
                <a16:creationId xmlns:a16="http://schemas.microsoft.com/office/drawing/2014/main" id="{A07CDC5D-D620-91D8-2CBB-83BA4187F4C9}"/>
              </a:ext>
            </a:extLst>
          </p:cNvPr>
          <p:cNvSpPr txBox="1"/>
          <p:nvPr/>
        </p:nvSpPr>
        <p:spPr>
          <a:xfrm>
            <a:off x="0" y="471600"/>
            <a:ext cx="12192000" cy="523220"/>
          </a:xfrm>
          <a:prstGeom prst="rect">
            <a:avLst/>
          </a:prstGeom>
          <a:noFill/>
        </p:spPr>
        <p:txBody>
          <a:bodyPr wrap="square">
            <a:spAutoFit/>
          </a:bodyPr>
          <a:lstStyle/>
          <a:p>
            <a:pPr algn="ctr"/>
            <a:r>
              <a:rPr lang="en-US" sz="2800" b="1" dirty="0"/>
              <a:t>the canon is “a closed list of authoritative, sacred texts”</a:t>
            </a:r>
            <a:endParaRPr lang="en-US" sz="2800" dirty="0"/>
          </a:p>
        </p:txBody>
      </p:sp>
      <p:sp>
        <p:nvSpPr>
          <p:cNvPr id="8" name="TextBox 7">
            <a:extLst>
              <a:ext uri="{FF2B5EF4-FFF2-40B4-BE49-F238E27FC236}">
                <a16:creationId xmlns:a16="http://schemas.microsoft.com/office/drawing/2014/main" id="{ADD630F5-5EF2-EE2A-9BBD-7617FC04D6E8}"/>
              </a:ext>
            </a:extLst>
          </p:cNvPr>
          <p:cNvSpPr txBox="1"/>
          <p:nvPr/>
        </p:nvSpPr>
        <p:spPr>
          <a:xfrm>
            <a:off x="-5330741" y="5713869"/>
            <a:ext cx="4125395" cy="523220"/>
          </a:xfrm>
          <a:prstGeom prst="rect">
            <a:avLst/>
          </a:prstGeom>
          <a:noFill/>
        </p:spPr>
        <p:txBody>
          <a:bodyPr wrap="square">
            <a:spAutoFit/>
          </a:bodyPr>
          <a:lstStyle/>
          <a:p>
            <a:pPr marL="285750" indent="-285750">
              <a:buFont typeface="Arial" panose="020B0604020202020204" pitchFamily="34" charset="0"/>
              <a:buChar char="•"/>
            </a:pPr>
            <a:r>
              <a:rPr lang="en-US" sz="2800" dirty="0"/>
              <a:t>Definition for this study:</a:t>
            </a:r>
            <a:endParaRPr lang="en-US" sz="2800" b="1" dirty="0"/>
          </a:p>
        </p:txBody>
      </p:sp>
      <p:sp>
        <p:nvSpPr>
          <p:cNvPr id="6" name="TextBox 5">
            <a:extLst>
              <a:ext uri="{FF2B5EF4-FFF2-40B4-BE49-F238E27FC236}">
                <a16:creationId xmlns:a16="http://schemas.microsoft.com/office/drawing/2014/main" id="{2003FD8D-0DD8-B722-ED57-62E06828AAA6}"/>
              </a:ext>
            </a:extLst>
          </p:cNvPr>
          <p:cNvSpPr txBox="1"/>
          <p:nvPr/>
        </p:nvSpPr>
        <p:spPr>
          <a:xfrm>
            <a:off x="0" y="898902"/>
            <a:ext cx="12192000" cy="523220"/>
          </a:xfrm>
          <a:prstGeom prst="rect">
            <a:avLst/>
          </a:prstGeom>
          <a:noFill/>
        </p:spPr>
        <p:txBody>
          <a:bodyPr wrap="square">
            <a:spAutoFit/>
          </a:bodyPr>
          <a:lstStyle/>
          <a:p>
            <a:pPr algn="ctr"/>
            <a:r>
              <a:rPr lang="en-US" sz="2800" dirty="0"/>
              <a:t>(undergraduate professor, 2026)</a:t>
            </a:r>
            <a:endParaRPr lang="en-US" dirty="0"/>
          </a:p>
        </p:txBody>
      </p:sp>
      <p:pic>
        <p:nvPicPr>
          <p:cNvPr id="10" name="Picture 9" descr="Generated image: Stick Figure Reading an Open Book">
            <a:extLst>
              <a:ext uri="{FF2B5EF4-FFF2-40B4-BE49-F238E27FC236}">
                <a16:creationId xmlns:a16="http://schemas.microsoft.com/office/drawing/2014/main" id="{37CA2E7B-06D4-D9B2-81C0-BE8A46C3A022}"/>
              </a:ext>
            </a:extLst>
          </p:cNvPr>
          <p:cNvPicPr>
            <a:picLocks noChangeAspect="1"/>
          </p:cNvPicPr>
          <p:nvPr/>
        </p:nvPicPr>
        <p:blipFill>
          <a:blip r:embed="rId2"/>
          <a:stretch>
            <a:fillRect/>
          </a:stretch>
        </p:blipFill>
        <p:spPr>
          <a:xfrm>
            <a:off x="636342" y="3393729"/>
            <a:ext cx="3310741" cy="3310741"/>
          </a:xfrm>
          <a:prstGeom prst="rect">
            <a:avLst/>
          </a:prstGeom>
        </p:spPr>
      </p:pic>
      <p:pic>
        <p:nvPicPr>
          <p:cNvPr id="11" name="Picture 10" descr=", AI generated">
            <a:extLst>
              <a:ext uri="{FF2B5EF4-FFF2-40B4-BE49-F238E27FC236}">
                <a16:creationId xmlns:a16="http://schemas.microsoft.com/office/drawing/2014/main" id="{B85CCFB9-18C0-5B8A-153A-6F5AE62CCBE9}"/>
              </a:ext>
            </a:extLst>
          </p:cNvPr>
          <p:cNvPicPr>
            <a:picLocks noChangeAspect="1"/>
          </p:cNvPicPr>
          <p:nvPr/>
        </p:nvPicPr>
        <p:blipFill>
          <a:blip r:embed="rId3"/>
          <a:srcRect/>
          <a:stretch>
            <a:fillRect/>
          </a:stretch>
        </p:blipFill>
        <p:spPr>
          <a:xfrm>
            <a:off x="7707064" y="3429000"/>
            <a:ext cx="3383662" cy="3225052"/>
          </a:xfrm>
          <a:prstGeom prst="rect">
            <a:avLst/>
          </a:prstGeom>
          <a:ln>
            <a:solidFill>
              <a:schemeClr val="bg1"/>
            </a:solidFill>
          </a:ln>
        </p:spPr>
      </p:pic>
      <p:pic>
        <p:nvPicPr>
          <p:cNvPr id="13" name="Picture 12" descr="Generated image: Stick Figure Presenting an Ancient Scroll">
            <a:extLst>
              <a:ext uri="{FF2B5EF4-FFF2-40B4-BE49-F238E27FC236}">
                <a16:creationId xmlns:a16="http://schemas.microsoft.com/office/drawing/2014/main" id="{1C9F54AD-9A6F-19D2-73BE-FA4796DC33CE}"/>
              </a:ext>
            </a:extLst>
          </p:cNvPr>
          <p:cNvPicPr>
            <a:picLocks noChangeAspect="1"/>
          </p:cNvPicPr>
          <p:nvPr/>
        </p:nvPicPr>
        <p:blipFill>
          <a:blip r:embed="rId4"/>
          <a:stretch>
            <a:fillRect/>
          </a:stretch>
        </p:blipFill>
        <p:spPr>
          <a:xfrm flipH="1">
            <a:off x="12233412" y="3467100"/>
            <a:ext cx="3310740" cy="3158497"/>
          </a:xfrm>
          <a:prstGeom prst="rect">
            <a:avLst/>
          </a:prstGeom>
        </p:spPr>
      </p:pic>
      <p:sp>
        <p:nvSpPr>
          <p:cNvPr id="16" name="Oval Callout 15">
            <a:extLst>
              <a:ext uri="{FF2B5EF4-FFF2-40B4-BE49-F238E27FC236}">
                <a16:creationId xmlns:a16="http://schemas.microsoft.com/office/drawing/2014/main" id="{3A7C8C8E-72B5-035E-061F-52BE4BB17C69}"/>
              </a:ext>
            </a:extLst>
          </p:cNvPr>
          <p:cNvSpPr/>
          <p:nvPr/>
        </p:nvSpPr>
        <p:spPr>
          <a:xfrm>
            <a:off x="2599765" y="2180462"/>
            <a:ext cx="3496235" cy="1943304"/>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“I love my 66 books!”</a:t>
            </a:r>
          </a:p>
        </p:txBody>
      </p:sp>
      <p:sp>
        <p:nvSpPr>
          <p:cNvPr id="17" name="Oval Callout 16">
            <a:extLst>
              <a:ext uri="{FF2B5EF4-FFF2-40B4-BE49-F238E27FC236}">
                <a16:creationId xmlns:a16="http://schemas.microsoft.com/office/drawing/2014/main" id="{42647E6A-BB9F-B043-AC01-2A24A8E4A396}"/>
              </a:ext>
            </a:extLst>
          </p:cNvPr>
          <p:cNvSpPr/>
          <p:nvPr/>
        </p:nvSpPr>
        <p:spPr>
          <a:xfrm flipH="1">
            <a:off x="4750420" y="1422122"/>
            <a:ext cx="4369996" cy="2490157"/>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“What do you think about </a:t>
            </a:r>
            <a:r>
              <a:rPr lang="en-US" sz="3600" i="1" dirty="0"/>
              <a:t>The Wisdom of Solomon</a:t>
            </a:r>
            <a:r>
              <a:rPr lang="en-US" sz="3600" dirty="0"/>
              <a:t>?”</a:t>
            </a:r>
          </a:p>
        </p:txBody>
      </p:sp>
      <p:sp>
        <p:nvSpPr>
          <p:cNvPr id="18" name="Oval Callout 17">
            <a:extLst>
              <a:ext uri="{FF2B5EF4-FFF2-40B4-BE49-F238E27FC236}">
                <a16:creationId xmlns:a16="http://schemas.microsoft.com/office/drawing/2014/main" id="{A4207822-57DF-BA88-B375-0D7249DF685F}"/>
              </a:ext>
            </a:extLst>
          </p:cNvPr>
          <p:cNvSpPr/>
          <p:nvPr/>
        </p:nvSpPr>
        <p:spPr>
          <a:xfrm>
            <a:off x="2575051" y="1922496"/>
            <a:ext cx="3496235" cy="2238341"/>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“That’s a good book; you should read it!”</a:t>
            </a:r>
          </a:p>
        </p:txBody>
      </p:sp>
      <p:sp>
        <p:nvSpPr>
          <p:cNvPr id="19" name="Oval Callout 18">
            <a:extLst>
              <a:ext uri="{FF2B5EF4-FFF2-40B4-BE49-F238E27FC236}">
                <a16:creationId xmlns:a16="http://schemas.microsoft.com/office/drawing/2014/main" id="{983E0397-233F-2CED-2587-DCEEC46B9B6B}"/>
              </a:ext>
            </a:extLst>
          </p:cNvPr>
          <p:cNvSpPr/>
          <p:nvPr/>
        </p:nvSpPr>
        <p:spPr>
          <a:xfrm flipH="1">
            <a:off x="4746868" y="1422121"/>
            <a:ext cx="4369996" cy="2490157"/>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“Wait, you think it should be in the canon?”</a:t>
            </a:r>
          </a:p>
        </p:txBody>
      </p:sp>
      <p:sp>
        <p:nvSpPr>
          <p:cNvPr id="20" name="Oval Callout 19">
            <a:extLst>
              <a:ext uri="{FF2B5EF4-FFF2-40B4-BE49-F238E27FC236}">
                <a16:creationId xmlns:a16="http://schemas.microsoft.com/office/drawing/2014/main" id="{3921A6FE-05D4-F055-F7B4-927E2C2ADB77}"/>
              </a:ext>
            </a:extLst>
          </p:cNvPr>
          <p:cNvSpPr/>
          <p:nvPr/>
        </p:nvSpPr>
        <p:spPr>
          <a:xfrm>
            <a:off x="2579167" y="1926612"/>
            <a:ext cx="3496235" cy="2238341"/>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“No! It is just a helpful book”</a:t>
            </a:r>
          </a:p>
        </p:txBody>
      </p:sp>
      <p:sp>
        <p:nvSpPr>
          <p:cNvPr id="21" name="Oval Callout 20">
            <a:extLst>
              <a:ext uri="{FF2B5EF4-FFF2-40B4-BE49-F238E27FC236}">
                <a16:creationId xmlns:a16="http://schemas.microsoft.com/office/drawing/2014/main" id="{4289878D-D305-52F6-DCB2-A50196849766}"/>
              </a:ext>
            </a:extLst>
          </p:cNvPr>
          <p:cNvSpPr/>
          <p:nvPr/>
        </p:nvSpPr>
        <p:spPr>
          <a:xfrm flipH="1">
            <a:off x="4746868" y="1416076"/>
            <a:ext cx="4369996" cy="2490157"/>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“What about this [Apocryphal book]</a:t>
            </a:r>
            <a:r>
              <a:rPr lang="en-US" sz="3600" baseline="30000" dirty="0"/>
              <a:t>1</a:t>
            </a:r>
            <a:r>
              <a:rPr lang="en-US" sz="3600" dirty="0"/>
              <a:t>?”</a:t>
            </a:r>
          </a:p>
        </p:txBody>
      </p:sp>
      <p:sp>
        <p:nvSpPr>
          <p:cNvPr id="23" name="Oval Callout 22">
            <a:extLst>
              <a:ext uri="{FF2B5EF4-FFF2-40B4-BE49-F238E27FC236}">
                <a16:creationId xmlns:a16="http://schemas.microsoft.com/office/drawing/2014/main" id="{E2C38C8A-5DF9-1EF9-3CC0-5EE6C11C78B1}"/>
              </a:ext>
            </a:extLst>
          </p:cNvPr>
          <p:cNvSpPr/>
          <p:nvPr/>
        </p:nvSpPr>
        <p:spPr>
          <a:xfrm>
            <a:off x="2430937" y="467485"/>
            <a:ext cx="6270118" cy="3655038"/>
          </a:xfrm>
          <a:prstGeom prst="wedgeEllipseCallout">
            <a:avLst>
              <a:gd name="adj1" fmla="val -46772"/>
              <a:gd name="adj2" fmla="val 56530"/>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“That is an apocryphal book! That is heresy! False teachers wrote that and claimed it was an ancient book!”</a:t>
            </a:r>
          </a:p>
        </p:txBody>
      </p:sp>
      <p:sp>
        <p:nvSpPr>
          <p:cNvPr id="24" name="TextBox 23">
            <a:extLst>
              <a:ext uri="{FF2B5EF4-FFF2-40B4-BE49-F238E27FC236}">
                <a16:creationId xmlns:a16="http://schemas.microsoft.com/office/drawing/2014/main" id="{605C3492-442B-E7BC-49FA-CC4324CD2959}"/>
              </a:ext>
            </a:extLst>
          </p:cNvPr>
          <p:cNvSpPr txBox="1"/>
          <p:nvPr/>
        </p:nvSpPr>
        <p:spPr>
          <a:xfrm>
            <a:off x="3657208" y="5877029"/>
            <a:ext cx="4365127" cy="923330"/>
          </a:xfrm>
          <a:prstGeom prst="rect">
            <a:avLst/>
          </a:prstGeom>
          <a:noFill/>
        </p:spPr>
        <p:txBody>
          <a:bodyPr wrap="square" rtlCol="0">
            <a:spAutoFit/>
          </a:bodyPr>
          <a:lstStyle/>
          <a:p>
            <a:r>
              <a:rPr lang="en-US" baseline="30000" dirty="0"/>
              <a:t>1 </a:t>
            </a:r>
            <a:r>
              <a:rPr lang="en-US" i="1" dirty="0"/>
              <a:t>Athanasius does not give an example of an ‘apocryphal book.’ but may mean NT apocryphal like ‘Gospel of Thomas’</a:t>
            </a:r>
            <a:endParaRPr lang="en-US" dirty="0"/>
          </a:p>
        </p:txBody>
      </p:sp>
      <p:sp>
        <p:nvSpPr>
          <p:cNvPr id="25" name="TextBox 24">
            <a:extLst>
              <a:ext uri="{FF2B5EF4-FFF2-40B4-BE49-F238E27FC236}">
                <a16:creationId xmlns:a16="http://schemas.microsoft.com/office/drawing/2014/main" id="{AE05E63E-B3A5-192F-9ECE-A44B279545E9}"/>
              </a:ext>
            </a:extLst>
          </p:cNvPr>
          <p:cNvSpPr txBox="1"/>
          <p:nvPr/>
        </p:nvSpPr>
        <p:spPr>
          <a:xfrm>
            <a:off x="-46486" y="3389058"/>
            <a:ext cx="2111829" cy="523220"/>
          </a:xfrm>
          <a:prstGeom prst="rect">
            <a:avLst/>
          </a:prstGeom>
          <a:noFill/>
        </p:spPr>
        <p:txBody>
          <a:bodyPr wrap="square" rtlCol="0">
            <a:spAutoFit/>
          </a:bodyPr>
          <a:lstStyle/>
          <a:p>
            <a:pPr algn="ctr"/>
            <a:r>
              <a:rPr lang="en-US" sz="2800" b="1" dirty="0"/>
              <a:t>Athanasius</a:t>
            </a:r>
          </a:p>
        </p:txBody>
      </p:sp>
    </p:spTree>
    <p:extLst>
      <p:ext uri="{BB962C8B-B14F-4D97-AF65-F5344CB8AC3E}">
        <p14:creationId xmlns:p14="http://schemas.microsoft.com/office/powerpoint/2010/main" val="2687026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0.05248 0.00139 L -0.3681 0.00139 " pathEditMode="relative" rAng="0" ptsTypes="AA">
                                      <p:cBhvr>
                                        <p:cTn id="11" dur="2000" fill="hold"/>
                                        <p:tgtEl>
                                          <p:spTgt spid="13"/>
                                        </p:tgtEl>
                                        <p:attrNameLst>
                                          <p:attrName>ppt_x</p:attrName>
                                          <p:attrName>ppt_y</p:attrName>
                                        </p:attrNameLst>
                                      </p:cBhvr>
                                      <p:rCtr x="-21029" y="0"/>
                                    </p:animMotion>
                                  </p:childTnLst>
                                </p:cTn>
                              </p:par>
                            </p:childTnLst>
                          </p:cTn>
                        </p:par>
                        <p:par>
                          <p:cTn id="12" fill="hold">
                            <p:stCondLst>
                              <p:cond delay="2000"/>
                            </p:stCondLst>
                            <p:childTnLst>
                              <p:par>
                                <p:cTn id="13" presetID="1"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13"/>
                                        </p:tgtEl>
                                        <p:attrNameLst>
                                          <p:attrName>style.visibility</p:attrName>
                                        </p:attrNameLst>
                                      </p:cBhvr>
                                      <p:to>
                                        <p:strVal val="hidden"/>
                                      </p:to>
                                    </p:set>
                                  </p:childTnLst>
                                </p:cTn>
                              </p:par>
                            </p:childTnLst>
                          </p:cTn>
                        </p:par>
                        <p:par>
                          <p:cTn id="17" fill="hold">
                            <p:stCondLst>
                              <p:cond delay="2000"/>
                            </p:stCondLst>
                            <p:childTnLst>
                              <p:par>
                                <p:cTn id="18" presetID="22" presetClass="entr" presetSubtype="4"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down)">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down)">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down)">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down)">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down)">
                                      <p:cBhvr>
                                        <p:cTn id="40" dur="500"/>
                                        <p:tgtEl>
                                          <p:spTgt spid="21"/>
                                        </p:tgtEl>
                                      </p:cBhvr>
                                    </p:animEffect>
                                  </p:childTnLst>
                                </p:cTn>
                              </p:par>
                            </p:childTnLst>
                          </p:cTn>
                        </p:par>
                        <p:par>
                          <p:cTn id="41" fill="hold">
                            <p:stCondLst>
                              <p:cond delay="500"/>
                            </p:stCondLst>
                            <p:childTnLst>
                              <p:par>
                                <p:cTn id="42" presetID="1" presetClass="entr" presetSubtype="0"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wipe(down)">
                                      <p:cBhvr>
                                        <p:cTn id="48" dur="500"/>
                                        <p:tgtEl>
                                          <p:spTgt spid="23"/>
                                        </p:tgtEl>
                                      </p:cBhvr>
                                    </p:animEffect>
                                  </p:childTnLst>
                                </p:cTn>
                              </p:par>
                              <p:par>
                                <p:cTn id="49" presetID="1" presetClass="exit" presetSubtype="0" fill="hold" grpId="1" nodeType="withEffect">
                                  <p:stCondLst>
                                    <p:cond delay="0"/>
                                  </p:stCondLst>
                                  <p:childTnLst>
                                    <p:set>
                                      <p:cBhvr>
                                        <p:cTn id="50"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3" grpId="0" animBg="1"/>
      <p:bldP spid="24" grpId="0"/>
      <p:bldP spid="24"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E09A3-25F7-95C2-DAC0-508984E4F617}"/>
              </a:ext>
            </a:extLst>
          </p:cNvPr>
          <p:cNvSpPr>
            <a:spLocks noGrp="1"/>
          </p:cNvSpPr>
          <p:nvPr>
            <p:ph type="title"/>
          </p:nvPr>
        </p:nvSpPr>
        <p:spPr/>
        <p:txBody>
          <a:bodyPr/>
          <a:lstStyle/>
          <a:p>
            <a:r>
              <a:rPr lang="en-US" dirty="0"/>
              <a:t>Pushback to this Definition (by M. Kruger)</a:t>
            </a:r>
          </a:p>
        </p:txBody>
      </p:sp>
      <p:sp>
        <p:nvSpPr>
          <p:cNvPr id="3" name="Content Placeholder 2">
            <a:extLst>
              <a:ext uri="{FF2B5EF4-FFF2-40B4-BE49-F238E27FC236}">
                <a16:creationId xmlns:a16="http://schemas.microsoft.com/office/drawing/2014/main" id="{9AEE4884-C1F4-486B-1AAC-1E88CAF7F2BD}"/>
              </a:ext>
            </a:extLst>
          </p:cNvPr>
          <p:cNvSpPr>
            <a:spLocks noGrp="1"/>
          </p:cNvSpPr>
          <p:nvPr>
            <p:ph idx="1"/>
          </p:nvPr>
        </p:nvSpPr>
        <p:spPr>
          <a:xfrm>
            <a:off x="838200" y="1825624"/>
            <a:ext cx="10515600" cy="4865107"/>
          </a:xfrm>
        </p:spPr>
        <p:txBody>
          <a:bodyPr>
            <a:normAutofit lnSpcReduction="10000"/>
          </a:bodyPr>
          <a:lstStyle/>
          <a:p>
            <a:r>
              <a:rPr lang="en-US" dirty="0"/>
              <a:t>Notes Sundberg’s version: “the canon…[is] a final, fixed, closed list” (</a:t>
            </a:r>
            <a:r>
              <a:rPr lang="en-US" i="1" dirty="0"/>
              <a:t>Canon Revisited</a:t>
            </a:r>
            <a:r>
              <a:rPr lang="en-US" dirty="0"/>
              <a:t>, p. 35)</a:t>
            </a:r>
          </a:p>
          <a:p>
            <a:r>
              <a:rPr lang="en-US" dirty="0"/>
              <a:t>Canon ≠ Scripture, the Canon is </a:t>
            </a:r>
            <a:r>
              <a:rPr lang="en-US" i="1" dirty="0"/>
              <a:t>made up of </a:t>
            </a:r>
            <a:r>
              <a:rPr lang="en-US" dirty="0"/>
              <a:t> “Scripture”</a:t>
            </a:r>
          </a:p>
          <a:p>
            <a:r>
              <a:rPr lang="en-US" dirty="0"/>
              <a:t>“the strict demarcation between Scripture and canon may seem clear to Sundberg, it seems difficult to imagine these two concepts being separated within the minds of, say, second-century Christians. In order to recognize a certain book to be Scripture in the first place, an early Christian would have needed to be able to say another book in his library was </a:t>
            </a:r>
            <a:r>
              <a:rPr lang="en-US" i="1" dirty="0"/>
              <a:t>not</a:t>
            </a:r>
            <a:r>
              <a:rPr lang="en-US" dirty="0"/>
              <a:t> Scripture…. </a:t>
            </a:r>
            <a:r>
              <a:rPr lang="en-US" dirty="0">
                <a:solidFill>
                  <a:schemeClr val="accent2"/>
                </a:solidFill>
              </a:rPr>
              <a:t>the term </a:t>
            </a:r>
            <a:r>
              <a:rPr lang="en-US" i="1" dirty="0">
                <a:solidFill>
                  <a:schemeClr val="accent2"/>
                </a:solidFill>
              </a:rPr>
              <a:t>Scripture</a:t>
            </a:r>
            <a:r>
              <a:rPr lang="en-US" dirty="0">
                <a:solidFill>
                  <a:schemeClr val="accent2"/>
                </a:solidFill>
              </a:rPr>
              <a:t> already implies exclusion and limitation to some degree, making a sharp distinction between Scripture and canon more difficult to sustain</a:t>
            </a:r>
            <a:r>
              <a:rPr lang="en-US" dirty="0"/>
              <a:t>” (p. 36)</a:t>
            </a:r>
          </a:p>
        </p:txBody>
      </p:sp>
    </p:spTree>
    <p:extLst>
      <p:ext uri="{BB962C8B-B14F-4D97-AF65-F5344CB8AC3E}">
        <p14:creationId xmlns:p14="http://schemas.microsoft.com/office/powerpoint/2010/main" val="1663589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5E78D-3559-378F-3FBC-E7076198D6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C1BB3B-D503-CF6D-EE70-3A1FD252A100}"/>
              </a:ext>
            </a:extLst>
          </p:cNvPr>
          <p:cNvSpPr>
            <a:spLocks noGrp="1"/>
          </p:cNvSpPr>
          <p:nvPr>
            <p:ph type="title"/>
          </p:nvPr>
        </p:nvSpPr>
        <p:spPr/>
        <p:txBody>
          <a:bodyPr/>
          <a:lstStyle/>
          <a:p>
            <a:r>
              <a:rPr lang="en-US" dirty="0"/>
              <a:t>Pushback to this Definition (by M. Kruger)</a:t>
            </a:r>
          </a:p>
        </p:txBody>
      </p:sp>
      <p:sp>
        <p:nvSpPr>
          <p:cNvPr id="3" name="Content Placeholder 2">
            <a:extLst>
              <a:ext uri="{FF2B5EF4-FFF2-40B4-BE49-F238E27FC236}">
                <a16:creationId xmlns:a16="http://schemas.microsoft.com/office/drawing/2014/main" id="{F3AF21DE-AECD-6FB4-B8B3-FEB5D225F4DD}"/>
              </a:ext>
            </a:extLst>
          </p:cNvPr>
          <p:cNvSpPr>
            <a:spLocks noGrp="1"/>
          </p:cNvSpPr>
          <p:nvPr>
            <p:ph idx="1"/>
          </p:nvPr>
        </p:nvSpPr>
        <p:spPr/>
        <p:txBody>
          <a:bodyPr>
            <a:normAutofit fontScale="92500" lnSpcReduction="10000"/>
          </a:bodyPr>
          <a:lstStyle/>
          <a:p>
            <a:r>
              <a:rPr lang="en-US" dirty="0"/>
              <a:t>“before this time most of the New Testament books had already been functioning with sacred authority for generations, and their place in the New Testament corpus was fully secure. The supposed closing of the canon in the fourth century neither changed their status nor increased their authority—it was already as high as it could be. In regard to the function of these books, one could rightly say there was already a canon, or at least the category of a canon, well before the fourth century. Sundberg’s definition is so focused on the final stage of the canon’s development that it misses the fact that it is, after all, a </a:t>
            </a:r>
            <a:r>
              <a:rPr lang="en-US" i="1" dirty="0"/>
              <a:t>stage</a:t>
            </a:r>
            <a:r>
              <a:rPr lang="en-US" dirty="0"/>
              <a:t>—and therefore is intimately connected to, and dependent on, what has come before…. </a:t>
            </a:r>
            <a:r>
              <a:rPr lang="en-US" dirty="0">
                <a:solidFill>
                  <a:schemeClr val="accent2"/>
                </a:solidFill>
              </a:rPr>
              <a:t>the concept of canon cannot be reduced to a single point of time. It is best conceived of as a continuum</a:t>
            </a:r>
            <a:r>
              <a:rPr lang="en-US" dirty="0"/>
              <a:t>—less like a dot and more like a line” (p. 37)</a:t>
            </a:r>
          </a:p>
        </p:txBody>
      </p:sp>
    </p:spTree>
    <p:extLst>
      <p:ext uri="{BB962C8B-B14F-4D97-AF65-F5344CB8AC3E}">
        <p14:creationId xmlns:p14="http://schemas.microsoft.com/office/powerpoint/2010/main" val="1802415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78DEE-CC7C-6A6A-F926-9D77634E4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BEC585-7BE8-BE13-A1A8-9E22BB4A3BE8}"/>
              </a:ext>
            </a:extLst>
          </p:cNvPr>
          <p:cNvSpPr>
            <a:spLocks noGrp="1"/>
          </p:cNvSpPr>
          <p:nvPr>
            <p:ph type="title"/>
          </p:nvPr>
        </p:nvSpPr>
        <p:spPr/>
        <p:txBody>
          <a:bodyPr/>
          <a:lstStyle/>
          <a:p>
            <a:r>
              <a:rPr lang="en-US" dirty="0"/>
              <a:t>Pushback to this Definition (by M. Kruger)</a:t>
            </a:r>
          </a:p>
        </p:txBody>
      </p:sp>
      <p:sp>
        <p:nvSpPr>
          <p:cNvPr id="3" name="Content Placeholder 2">
            <a:extLst>
              <a:ext uri="{FF2B5EF4-FFF2-40B4-BE49-F238E27FC236}">
                <a16:creationId xmlns:a16="http://schemas.microsoft.com/office/drawing/2014/main" id="{8EBA2A58-9A31-EB84-618B-33094678489C}"/>
              </a:ext>
            </a:extLst>
          </p:cNvPr>
          <p:cNvSpPr>
            <a:spLocks noGrp="1"/>
          </p:cNvSpPr>
          <p:nvPr>
            <p:ph idx="1"/>
          </p:nvPr>
        </p:nvSpPr>
        <p:spPr>
          <a:xfrm>
            <a:off x="838200" y="2010278"/>
            <a:ext cx="10515600" cy="2913643"/>
          </a:xfrm>
        </p:spPr>
        <p:txBody>
          <a:bodyPr>
            <a:normAutofit/>
          </a:bodyPr>
          <a:lstStyle/>
          <a:p>
            <a:pPr marL="0" indent="0" algn="ctr">
              <a:buNone/>
            </a:pPr>
            <a:r>
              <a:rPr lang="en-US" sz="4000" dirty="0"/>
              <a:t>“from the perspective of God’s revelational activity, a canon exists as soon as the New Testament books are written—</a:t>
            </a:r>
            <a:r>
              <a:rPr lang="en-US" sz="4000" dirty="0">
                <a:solidFill>
                  <a:schemeClr val="accent2"/>
                </a:solidFill>
              </a:rPr>
              <a:t>the canon is always the books God has given to the corporate church, no more, no less</a:t>
            </a:r>
            <a:r>
              <a:rPr lang="en-US" sz="4000" dirty="0"/>
              <a:t>” (p. 38)</a:t>
            </a:r>
          </a:p>
          <a:p>
            <a:pPr marL="0" indent="0">
              <a:buNone/>
            </a:pPr>
            <a:endParaRPr lang="en-US" dirty="0"/>
          </a:p>
        </p:txBody>
      </p:sp>
    </p:spTree>
    <p:extLst>
      <p:ext uri="{BB962C8B-B14F-4D97-AF65-F5344CB8AC3E}">
        <p14:creationId xmlns:p14="http://schemas.microsoft.com/office/powerpoint/2010/main" val="2860538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D503C-0269-EF32-0853-B868FE253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7E6EC-5478-4B8F-C717-5D442A1E2A81}"/>
              </a:ext>
            </a:extLst>
          </p:cNvPr>
          <p:cNvSpPr>
            <a:spLocks noGrp="1"/>
          </p:cNvSpPr>
          <p:nvPr>
            <p:ph type="title"/>
          </p:nvPr>
        </p:nvSpPr>
        <p:spPr/>
        <p:txBody>
          <a:bodyPr/>
          <a:lstStyle/>
          <a:p>
            <a:r>
              <a:rPr lang="en-US" dirty="0"/>
              <a:t>Pushback to Kruger</a:t>
            </a:r>
          </a:p>
        </p:txBody>
      </p:sp>
      <p:sp>
        <p:nvSpPr>
          <p:cNvPr id="3" name="Content Placeholder 2">
            <a:extLst>
              <a:ext uri="{FF2B5EF4-FFF2-40B4-BE49-F238E27FC236}">
                <a16:creationId xmlns:a16="http://schemas.microsoft.com/office/drawing/2014/main" id="{D049853C-FCAA-3027-64BD-72BCBC0DA100}"/>
              </a:ext>
            </a:extLst>
          </p:cNvPr>
          <p:cNvSpPr>
            <a:spLocks noGrp="1"/>
          </p:cNvSpPr>
          <p:nvPr>
            <p:ph idx="1"/>
          </p:nvPr>
        </p:nvSpPr>
        <p:spPr>
          <a:xfrm>
            <a:off x="838200" y="1825624"/>
            <a:ext cx="10515600" cy="4865107"/>
          </a:xfrm>
        </p:spPr>
        <p:txBody>
          <a:bodyPr>
            <a:normAutofit/>
          </a:bodyPr>
          <a:lstStyle/>
          <a:p>
            <a:r>
              <a:rPr lang="en-US" sz="3600" dirty="0"/>
              <a:t>The question is, “</a:t>
            </a:r>
            <a:r>
              <a:rPr lang="en-US" sz="3600" i="1" dirty="0"/>
              <a:t>Which</a:t>
            </a:r>
            <a:r>
              <a:rPr lang="en-US" sz="3600" dirty="0"/>
              <a:t> books did God give us?”</a:t>
            </a:r>
          </a:p>
          <a:p>
            <a:r>
              <a:rPr lang="en-US" sz="3600" dirty="0"/>
              <a:t>It is true that the books we should have in our canon are books “from God,” but the ancient church debated on </a:t>
            </a:r>
            <a:r>
              <a:rPr lang="en-US" sz="3600" i="1" dirty="0"/>
              <a:t>which</a:t>
            </a:r>
            <a:r>
              <a:rPr lang="en-US" sz="3600" dirty="0"/>
              <a:t> books those were!</a:t>
            </a:r>
          </a:p>
          <a:p>
            <a:r>
              <a:rPr lang="en-US" sz="3600" dirty="0"/>
              <a:t>We will not be abandoning the definition of “canon,” but Kruger does give a good reminder that God had a part to play in the creation of the books</a:t>
            </a:r>
          </a:p>
        </p:txBody>
      </p:sp>
    </p:spTree>
    <p:extLst>
      <p:ext uri="{BB962C8B-B14F-4D97-AF65-F5344CB8AC3E}">
        <p14:creationId xmlns:p14="http://schemas.microsoft.com/office/powerpoint/2010/main" val="3740811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B40C7-F82F-9352-986E-521A6C6A0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A02EF5-8BFD-8700-D4FA-EFD3C4304EB5}"/>
              </a:ext>
            </a:extLst>
          </p:cNvPr>
          <p:cNvSpPr>
            <a:spLocks noGrp="1"/>
          </p:cNvSpPr>
          <p:nvPr>
            <p:ph type="title"/>
          </p:nvPr>
        </p:nvSpPr>
        <p:spPr/>
        <p:txBody>
          <a:bodyPr/>
          <a:lstStyle/>
          <a:p>
            <a:r>
              <a:rPr lang="en-US" dirty="0"/>
              <a:t>Misunderstanding “Scripture” in the NT</a:t>
            </a:r>
          </a:p>
        </p:txBody>
      </p:sp>
      <p:sp>
        <p:nvSpPr>
          <p:cNvPr id="3" name="Content Placeholder 2">
            <a:extLst>
              <a:ext uri="{FF2B5EF4-FFF2-40B4-BE49-F238E27FC236}">
                <a16:creationId xmlns:a16="http://schemas.microsoft.com/office/drawing/2014/main" id="{F3308F8B-8BEC-9AAE-D88F-6302361B18A8}"/>
              </a:ext>
            </a:extLst>
          </p:cNvPr>
          <p:cNvSpPr>
            <a:spLocks noGrp="1"/>
          </p:cNvSpPr>
          <p:nvPr>
            <p:ph idx="1"/>
          </p:nvPr>
        </p:nvSpPr>
        <p:spPr>
          <a:xfrm>
            <a:off x="838200" y="1825624"/>
            <a:ext cx="10515600" cy="4865107"/>
          </a:xfrm>
        </p:spPr>
        <p:txBody>
          <a:bodyPr>
            <a:normAutofit/>
          </a:bodyPr>
          <a:lstStyle/>
          <a:p>
            <a:r>
              <a:rPr lang="en-US" sz="3600" dirty="0"/>
              <a:t>2 Timothy 3:16-17: “All Scripture” = </a:t>
            </a:r>
            <a:r>
              <a:rPr lang="en-US" sz="3600" u="sng" dirty="0"/>
              <a:t>OT Scripture</a:t>
            </a:r>
            <a:r>
              <a:rPr lang="en-US" sz="3600" dirty="0"/>
              <a:t>, not “All the Bible” (NT canon not formed yet)</a:t>
            </a:r>
          </a:p>
          <a:p>
            <a:pPr marL="0" indent="0">
              <a:buNone/>
            </a:pPr>
            <a:endParaRPr lang="en-US" sz="3600" dirty="0"/>
          </a:p>
          <a:p>
            <a:r>
              <a:rPr lang="en-US" sz="3600" dirty="0"/>
              <a:t>2 Peter 3:16 (c. 60AD-90AD) = Paul’s letters being equated with </a:t>
            </a:r>
            <a:r>
              <a:rPr lang="en-US" sz="3600" u="sng" dirty="0"/>
              <a:t>OT Scripture</a:t>
            </a:r>
            <a:r>
              <a:rPr lang="en-US" sz="3600" dirty="0"/>
              <a:t> BUT STILL not “All the Bible” (NT canon not formed yet) </a:t>
            </a:r>
          </a:p>
        </p:txBody>
      </p:sp>
    </p:spTree>
    <p:extLst>
      <p:ext uri="{BB962C8B-B14F-4D97-AF65-F5344CB8AC3E}">
        <p14:creationId xmlns:p14="http://schemas.microsoft.com/office/powerpoint/2010/main" val="30490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17A58-01E1-CCC8-3F86-DC9C2B9A1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8A008-416B-BE24-100E-69549BE562FE}"/>
              </a:ext>
            </a:extLst>
          </p:cNvPr>
          <p:cNvSpPr>
            <a:spLocks noGrp="1"/>
          </p:cNvSpPr>
          <p:nvPr>
            <p:ph type="ctrTitle"/>
          </p:nvPr>
        </p:nvSpPr>
        <p:spPr>
          <a:xfrm>
            <a:off x="0" y="1435100"/>
            <a:ext cx="12192000" cy="2387600"/>
          </a:xfrm>
        </p:spPr>
        <p:txBody>
          <a:bodyPr>
            <a:normAutofit fontScale="90000"/>
          </a:bodyPr>
          <a:lstStyle/>
          <a:p>
            <a:pPr algn="ctr"/>
            <a:r>
              <a:rPr lang="en-US" b="1" dirty="0"/>
              <a:t>Class 2:</a:t>
            </a:r>
            <a:br>
              <a:rPr lang="en-US" b="1" dirty="0"/>
            </a:br>
            <a:r>
              <a:rPr lang="en-US" dirty="0"/>
              <a:t>History of Canon Discussion (19</a:t>
            </a:r>
            <a:r>
              <a:rPr lang="en-US" baseline="30000" dirty="0"/>
              <a:t>th</a:t>
            </a:r>
            <a:r>
              <a:rPr lang="en-US" dirty="0"/>
              <a:t> century)</a:t>
            </a:r>
          </a:p>
        </p:txBody>
      </p:sp>
      <p:sp>
        <p:nvSpPr>
          <p:cNvPr id="3" name="Subtitle 2">
            <a:extLst>
              <a:ext uri="{FF2B5EF4-FFF2-40B4-BE49-F238E27FC236}">
                <a16:creationId xmlns:a16="http://schemas.microsoft.com/office/drawing/2014/main" id="{4EEC99B1-7018-B5DB-B062-835C42BE8C22}"/>
              </a:ext>
            </a:extLst>
          </p:cNvPr>
          <p:cNvSpPr>
            <a:spLocks noGrp="1"/>
          </p:cNvSpPr>
          <p:nvPr>
            <p:ph type="subTitle" idx="1"/>
          </p:nvPr>
        </p:nvSpPr>
        <p:spPr>
          <a:xfrm>
            <a:off x="1524000" y="3924300"/>
            <a:ext cx="9144000" cy="1651000"/>
          </a:xfrm>
        </p:spPr>
        <p:txBody>
          <a:bodyPr/>
          <a:lstStyle/>
          <a:p>
            <a:pPr algn="ctr"/>
            <a:r>
              <a:rPr lang="en-US" dirty="0"/>
              <a:t>Based on B. Metzger, </a:t>
            </a:r>
            <a:r>
              <a:rPr lang="en-US" i="1" dirty="0"/>
              <a:t>The Canon of the New Testament: Its Origin, Development, and Significance, </a:t>
            </a:r>
            <a:r>
              <a:rPr lang="en-US" dirty="0"/>
              <a:t>Oxford (1987)</a:t>
            </a:r>
          </a:p>
        </p:txBody>
      </p:sp>
    </p:spTree>
    <p:extLst>
      <p:ext uri="{BB962C8B-B14F-4D97-AF65-F5344CB8AC3E}">
        <p14:creationId xmlns:p14="http://schemas.microsoft.com/office/powerpoint/2010/main" val="700579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EB5A4-79B5-F097-B72D-4C510CE48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EA5B15-E07E-42F7-E9A0-E0650CD78F94}"/>
              </a:ext>
            </a:extLst>
          </p:cNvPr>
          <p:cNvSpPr>
            <a:spLocks noGrp="1"/>
          </p:cNvSpPr>
          <p:nvPr>
            <p:ph type="title"/>
          </p:nvPr>
        </p:nvSpPr>
        <p:spPr/>
        <p:txBody>
          <a:bodyPr/>
          <a:lstStyle/>
          <a:p>
            <a:r>
              <a:rPr lang="en-US" dirty="0"/>
              <a:t>Download Slides</a:t>
            </a:r>
          </a:p>
        </p:txBody>
      </p:sp>
      <p:sp>
        <p:nvSpPr>
          <p:cNvPr id="3" name="Content Placeholder 2">
            <a:extLst>
              <a:ext uri="{FF2B5EF4-FFF2-40B4-BE49-F238E27FC236}">
                <a16:creationId xmlns:a16="http://schemas.microsoft.com/office/drawing/2014/main" id="{162B70B3-5DA2-5133-473A-BC4FDA30B91F}"/>
              </a:ext>
            </a:extLst>
          </p:cNvPr>
          <p:cNvSpPr>
            <a:spLocks noGrp="1"/>
          </p:cNvSpPr>
          <p:nvPr>
            <p:ph idx="1"/>
          </p:nvPr>
        </p:nvSpPr>
        <p:spPr>
          <a:xfrm>
            <a:off x="838200" y="1825625"/>
            <a:ext cx="9906000" cy="803275"/>
          </a:xfrm>
        </p:spPr>
        <p:txBody>
          <a:bodyPr>
            <a:normAutofit fontScale="92500"/>
          </a:bodyPr>
          <a:lstStyle/>
          <a:p>
            <a:r>
              <a:rPr lang="en-US" sz="4400" dirty="0"/>
              <a:t>https://</a:t>
            </a:r>
            <a:r>
              <a:rPr lang="en-US" sz="4400" dirty="0" err="1"/>
              <a:t>joshuahaub.com</a:t>
            </a:r>
            <a:r>
              <a:rPr lang="en-US" sz="4400" dirty="0"/>
              <a:t>/notes/</a:t>
            </a:r>
            <a:r>
              <a:rPr lang="en-US" sz="4400" dirty="0" err="1"/>
              <a:t>nt</a:t>
            </a:r>
            <a:r>
              <a:rPr lang="en-US" sz="4400" dirty="0"/>
              <a:t>-canon/</a:t>
            </a:r>
          </a:p>
        </p:txBody>
      </p:sp>
      <p:pic>
        <p:nvPicPr>
          <p:cNvPr id="4" name="Picture 3">
            <a:extLst>
              <a:ext uri="{FF2B5EF4-FFF2-40B4-BE49-F238E27FC236}">
                <a16:creationId xmlns:a16="http://schemas.microsoft.com/office/drawing/2014/main" id="{600A9F09-EC77-5E26-2923-802377961B5A}"/>
              </a:ext>
            </a:extLst>
          </p:cNvPr>
          <p:cNvPicPr>
            <a:picLocks noChangeAspect="1"/>
          </p:cNvPicPr>
          <p:nvPr/>
        </p:nvPicPr>
        <p:blipFill>
          <a:blip r:embed="rId2"/>
          <a:stretch>
            <a:fillRect/>
          </a:stretch>
        </p:blipFill>
        <p:spPr>
          <a:xfrm>
            <a:off x="7962900" y="2628900"/>
            <a:ext cx="4229100" cy="4229100"/>
          </a:xfrm>
          <a:prstGeom prst="rect">
            <a:avLst/>
          </a:prstGeom>
        </p:spPr>
      </p:pic>
    </p:spTree>
    <p:extLst>
      <p:ext uri="{BB962C8B-B14F-4D97-AF65-F5344CB8AC3E}">
        <p14:creationId xmlns:p14="http://schemas.microsoft.com/office/powerpoint/2010/main" val="3865190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33D17-ABF1-E906-2DAC-585F2A1F22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B016D-F045-121C-10AC-ED776EA4D027}"/>
              </a:ext>
            </a:extLst>
          </p:cNvPr>
          <p:cNvSpPr>
            <a:spLocks noGrp="1"/>
          </p:cNvSpPr>
          <p:nvPr>
            <p:ph type="title"/>
          </p:nvPr>
        </p:nvSpPr>
        <p:spPr/>
        <p:txBody>
          <a:bodyPr/>
          <a:lstStyle/>
          <a:p>
            <a:r>
              <a:rPr lang="en-US" dirty="0"/>
              <a:t>History of Canon Discussion</a:t>
            </a:r>
          </a:p>
        </p:txBody>
      </p:sp>
      <p:sp>
        <p:nvSpPr>
          <p:cNvPr id="3" name="Content Placeholder 2">
            <a:extLst>
              <a:ext uri="{FF2B5EF4-FFF2-40B4-BE49-F238E27FC236}">
                <a16:creationId xmlns:a16="http://schemas.microsoft.com/office/drawing/2014/main" id="{4AD34373-4A94-1407-3812-5DA660CBF11D}"/>
              </a:ext>
            </a:extLst>
          </p:cNvPr>
          <p:cNvSpPr>
            <a:spLocks noGrp="1"/>
          </p:cNvSpPr>
          <p:nvPr>
            <p:ph idx="1"/>
          </p:nvPr>
        </p:nvSpPr>
        <p:spPr/>
        <p:txBody>
          <a:bodyPr/>
          <a:lstStyle/>
          <a:p>
            <a:r>
              <a:rPr lang="en-US" dirty="0"/>
              <a:t>Middle Ages: few quotes about the NT books</a:t>
            </a:r>
          </a:p>
          <a:p>
            <a:r>
              <a:rPr lang="en-US" dirty="0"/>
              <a:t>Renaissance / Reformation: occasional questions about authorship of Hebrews, several of the Catholic Epistles, and Revelation, but “no one dared seriously to dispute their canonicity” (Metzger: p. 11)</a:t>
            </a:r>
          </a:p>
          <a:p>
            <a:r>
              <a:rPr lang="en-US" dirty="0"/>
              <a:t>Luther: Hebrews, James, Jude, and Revelation are “inferior” but did not omit them from their translations of the NT (p. 11)</a:t>
            </a:r>
          </a:p>
          <a:p>
            <a:r>
              <a:rPr lang="en-US" dirty="0"/>
              <a:t>Questions about the Canon arouse because of the Deistic movement</a:t>
            </a:r>
          </a:p>
        </p:txBody>
      </p:sp>
    </p:spTree>
    <p:extLst>
      <p:ext uri="{BB962C8B-B14F-4D97-AF65-F5344CB8AC3E}">
        <p14:creationId xmlns:p14="http://schemas.microsoft.com/office/powerpoint/2010/main" val="3165679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32E34-DC20-3F93-8381-9136D8CC81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5A75BB-0856-A247-A9AF-8B2B4B1E7E1D}"/>
              </a:ext>
            </a:extLst>
          </p:cNvPr>
          <p:cNvSpPr>
            <a:spLocks noGrp="1"/>
          </p:cNvSpPr>
          <p:nvPr>
            <p:ph type="title"/>
          </p:nvPr>
        </p:nvSpPr>
        <p:spPr>
          <a:xfrm>
            <a:off x="838200" y="365125"/>
            <a:ext cx="11353800" cy="1325563"/>
          </a:xfrm>
        </p:spPr>
        <p:txBody>
          <a:bodyPr/>
          <a:lstStyle/>
          <a:p>
            <a:r>
              <a:rPr lang="en-US" dirty="0"/>
              <a:t>History of Canon Discussion</a:t>
            </a:r>
          </a:p>
        </p:txBody>
      </p:sp>
      <p:sp>
        <p:nvSpPr>
          <p:cNvPr id="6" name="Rectangle 5">
            <a:extLst>
              <a:ext uri="{FF2B5EF4-FFF2-40B4-BE49-F238E27FC236}">
                <a16:creationId xmlns:a16="http://schemas.microsoft.com/office/drawing/2014/main" id="{B9501302-2CF8-BBE2-7128-FEE81EF3F1C5}"/>
              </a:ext>
            </a:extLst>
          </p:cNvPr>
          <p:cNvSpPr/>
          <p:nvPr/>
        </p:nvSpPr>
        <p:spPr>
          <a:xfrm>
            <a:off x="6030518" y="3404039"/>
            <a:ext cx="13605641"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BF19084-A183-0E11-2A26-3FE711FB33FE}"/>
              </a:ext>
            </a:extLst>
          </p:cNvPr>
          <p:cNvSpPr/>
          <p:nvPr/>
        </p:nvSpPr>
        <p:spPr>
          <a:xfrm rot="16200000">
            <a:off x="5863472" y="3112376"/>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B9B4BE8-79DC-D6A8-C01A-7E1B2C304D2B}"/>
              </a:ext>
            </a:extLst>
          </p:cNvPr>
          <p:cNvSpPr txBox="1"/>
          <p:nvPr/>
        </p:nvSpPr>
        <p:spPr>
          <a:xfrm>
            <a:off x="5428304" y="2390609"/>
            <a:ext cx="1453662" cy="523220"/>
          </a:xfrm>
          <a:prstGeom prst="rect">
            <a:avLst/>
          </a:prstGeom>
          <a:noFill/>
        </p:spPr>
        <p:txBody>
          <a:bodyPr wrap="square" rtlCol="0">
            <a:spAutoFit/>
          </a:bodyPr>
          <a:lstStyle/>
          <a:p>
            <a:r>
              <a:rPr lang="en-US" sz="2800" b="1" dirty="0"/>
              <a:t>100 AD</a:t>
            </a:r>
          </a:p>
        </p:txBody>
      </p:sp>
      <p:sp>
        <p:nvSpPr>
          <p:cNvPr id="10" name="TextBox 9">
            <a:extLst>
              <a:ext uri="{FF2B5EF4-FFF2-40B4-BE49-F238E27FC236}">
                <a16:creationId xmlns:a16="http://schemas.microsoft.com/office/drawing/2014/main" id="{5209C81D-5202-0149-A56F-951A05E8C3A6}"/>
              </a:ext>
            </a:extLst>
          </p:cNvPr>
          <p:cNvSpPr txBox="1"/>
          <p:nvPr/>
        </p:nvSpPr>
        <p:spPr>
          <a:xfrm>
            <a:off x="4862204" y="3676574"/>
            <a:ext cx="2459736" cy="954107"/>
          </a:xfrm>
          <a:prstGeom prst="rect">
            <a:avLst/>
          </a:prstGeom>
          <a:noFill/>
        </p:spPr>
        <p:txBody>
          <a:bodyPr wrap="square" rtlCol="0">
            <a:spAutoFit/>
          </a:bodyPr>
          <a:lstStyle/>
          <a:p>
            <a:pPr algn="ctr"/>
            <a:r>
              <a:rPr lang="en-US" sz="2800" dirty="0"/>
              <a:t>NT writings completed</a:t>
            </a:r>
          </a:p>
        </p:txBody>
      </p:sp>
    </p:spTree>
    <p:extLst>
      <p:ext uri="{BB962C8B-B14F-4D97-AF65-F5344CB8AC3E}">
        <p14:creationId xmlns:p14="http://schemas.microsoft.com/office/powerpoint/2010/main" val="3690747053"/>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08FC-A93E-53BC-363D-3F8561BFD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BD7D0-FF18-51A2-B6D5-1236747764D9}"/>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0900D2AE-F512-A443-2A7A-FDFC06AC0DB4}"/>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54137B3-EEFB-AE13-FCAD-C1DAFC958959}"/>
              </a:ext>
            </a:extLst>
          </p:cNvPr>
          <p:cNvSpPr/>
          <p:nvPr/>
        </p:nvSpPr>
        <p:spPr>
          <a:xfrm rot="16200000">
            <a:off x="-1612148" y="3112376"/>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8B51732-D1CB-D0DA-C99A-8D73EFCB9A22}"/>
              </a:ext>
            </a:extLst>
          </p:cNvPr>
          <p:cNvSpPr txBox="1"/>
          <p:nvPr/>
        </p:nvSpPr>
        <p:spPr>
          <a:xfrm>
            <a:off x="-2047316" y="2390609"/>
            <a:ext cx="1453662" cy="523220"/>
          </a:xfrm>
          <a:prstGeom prst="rect">
            <a:avLst/>
          </a:prstGeom>
          <a:noFill/>
        </p:spPr>
        <p:txBody>
          <a:bodyPr wrap="square" rtlCol="0">
            <a:spAutoFit/>
          </a:bodyPr>
          <a:lstStyle/>
          <a:p>
            <a:r>
              <a:rPr lang="en-US" sz="2800" b="1" dirty="0"/>
              <a:t>100 AD</a:t>
            </a:r>
          </a:p>
        </p:txBody>
      </p:sp>
      <p:sp>
        <p:nvSpPr>
          <p:cNvPr id="10" name="TextBox 9">
            <a:extLst>
              <a:ext uri="{FF2B5EF4-FFF2-40B4-BE49-F238E27FC236}">
                <a16:creationId xmlns:a16="http://schemas.microsoft.com/office/drawing/2014/main" id="{4942E8FB-9A00-485E-6167-A40C9C77055A}"/>
              </a:ext>
            </a:extLst>
          </p:cNvPr>
          <p:cNvSpPr txBox="1"/>
          <p:nvPr/>
        </p:nvSpPr>
        <p:spPr>
          <a:xfrm>
            <a:off x="-2613416" y="3676574"/>
            <a:ext cx="2459736" cy="954107"/>
          </a:xfrm>
          <a:prstGeom prst="rect">
            <a:avLst/>
          </a:prstGeom>
          <a:noFill/>
        </p:spPr>
        <p:txBody>
          <a:bodyPr wrap="square" rtlCol="0">
            <a:spAutoFit/>
          </a:bodyPr>
          <a:lstStyle/>
          <a:p>
            <a:pPr algn="ctr"/>
            <a:r>
              <a:rPr lang="en-US" sz="2800" dirty="0"/>
              <a:t>NT writings completed</a:t>
            </a:r>
          </a:p>
        </p:txBody>
      </p:sp>
      <p:sp>
        <p:nvSpPr>
          <p:cNvPr id="3" name="Rectangle 2">
            <a:extLst>
              <a:ext uri="{FF2B5EF4-FFF2-40B4-BE49-F238E27FC236}">
                <a16:creationId xmlns:a16="http://schemas.microsoft.com/office/drawing/2014/main" id="{5D24A4FF-69FD-4DF0-78D2-48624E904287}"/>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81E84C3-4794-6007-91E2-A9B190EE44FD}"/>
              </a:ext>
            </a:extLst>
          </p:cNvPr>
          <p:cNvSpPr txBox="1"/>
          <p:nvPr/>
        </p:nvSpPr>
        <p:spPr>
          <a:xfrm>
            <a:off x="5369169" y="2408649"/>
            <a:ext cx="1453662" cy="523220"/>
          </a:xfrm>
          <a:prstGeom prst="rect">
            <a:avLst/>
          </a:prstGeom>
          <a:noFill/>
        </p:spPr>
        <p:txBody>
          <a:bodyPr wrap="square" rtlCol="0">
            <a:spAutoFit/>
          </a:bodyPr>
          <a:lstStyle/>
          <a:p>
            <a:r>
              <a:rPr lang="en-US" sz="2800" b="1" dirty="0"/>
              <a:t>367 AD</a:t>
            </a:r>
          </a:p>
        </p:txBody>
      </p:sp>
      <p:sp>
        <p:nvSpPr>
          <p:cNvPr id="5" name="TextBox 4">
            <a:extLst>
              <a:ext uri="{FF2B5EF4-FFF2-40B4-BE49-F238E27FC236}">
                <a16:creationId xmlns:a16="http://schemas.microsoft.com/office/drawing/2014/main" id="{34D4640D-09AC-489F-4647-64E4F8CD2936}"/>
              </a:ext>
            </a:extLst>
          </p:cNvPr>
          <p:cNvSpPr txBox="1"/>
          <p:nvPr/>
        </p:nvSpPr>
        <p:spPr>
          <a:xfrm>
            <a:off x="4803069" y="3691113"/>
            <a:ext cx="2459736" cy="954107"/>
          </a:xfrm>
          <a:prstGeom prst="rect">
            <a:avLst/>
          </a:prstGeom>
          <a:noFill/>
        </p:spPr>
        <p:txBody>
          <a:bodyPr wrap="square" rtlCol="0">
            <a:spAutoFit/>
          </a:bodyPr>
          <a:lstStyle/>
          <a:p>
            <a:pPr algn="ctr"/>
            <a:r>
              <a:rPr lang="en-US" sz="2800" dirty="0"/>
              <a:t>Athanasius: OT/NT</a:t>
            </a:r>
          </a:p>
        </p:txBody>
      </p:sp>
    </p:spTree>
    <p:extLst>
      <p:ext uri="{BB962C8B-B14F-4D97-AF65-F5344CB8AC3E}">
        <p14:creationId xmlns:p14="http://schemas.microsoft.com/office/powerpoint/2010/main" val="32545244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22AEC-0368-5532-1D9C-F043B558A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1FDAF-63DA-A010-0587-73ED0AA31F51}"/>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8E73A6BA-51D4-92C6-952F-50FFC101DCD7}"/>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F84DCB5-3496-C988-1CB4-17CCDD0E5BAA}"/>
              </a:ext>
            </a:extLst>
          </p:cNvPr>
          <p:cNvSpPr/>
          <p:nvPr/>
        </p:nvSpPr>
        <p:spPr>
          <a:xfrm rot="16200000">
            <a:off x="-1612148" y="3112376"/>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660AFC5-81A9-F058-2D6F-758A8BC1B7D3}"/>
              </a:ext>
            </a:extLst>
          </p:cNvPr>
          <p:cNvSpPr txBox="1"/>
          <p:nvPr/>
        </p:nvSpPr>
        <p:spPr>
          <a:xfrm>
            <a:off x="-2047316" y="2390609"/>
            <a:ext cx="1453662" cy="523220"/>
          </a:xfrm>
          <a:prstGeom prst="rect">
            <a:avLst/>
          </a:prstGeom>
          <a:noFill/>
        </p:spPr>
        <p:txBody>
          <a:bodyPr wrap="square" rtlCol="0">
            <a:spAutoFit/>
          </a:bodyPr>
          <a:lstStyle/>
          <a:p>
            <a:r>
              <a:rPr lang="en-US" sz="2800" b="1" dirty="0"/>
              <a:t>100 AD</a:t>
            </a:r>
          </a:p>
        </p:txBody>
      </p:sp>
      <p:sp>
        <p:nvSpPr>
          <p:cNvPr id="10" name="TextBox 9">
            <a:extLst>
              <a:ext uri="{FF2B5EF4-FFF2-40B4-BE49-F238E27FC236}">
                <a16:creationId xmlns:a16="http://schemas.microsoft.com/office/drawing/2014/main" id="{21C16867-C860-F268-D157-BE5ADB04C266}"/>
              </a:ext>
            </a:extLst>
          </p:cNvPr>
          <p:cNvSpPr txBox="1"/>
          <p:nvPr/>
        </p:nvSpPr>
        <p:spPr>
          <a:xfrm>
            <a:off x="-2613416" y="3676574"/>
            <a:ext cx="2459736" cy="954107"/>
          </a:xfrm>
          <a:prstGeom prst="rect">
            <a:avLst/>
          </a:prstGeom>
          <a:noFill/>
        </p:spPr>
        <p:txBody>
          <a:bodyPr wrap="square" rtlCol="0">
            <a:spAutoFit/>
          </a:bodyPr>
          <a:lstStyle/>
          <a:p>
            <a:pPr algn="ctr"/>
            <a:r>
              <a:rPr lang="en-US" sz="2800" dirty="0"/>
              <a:t>NT writings completed</a:t>
            </a:r>
          </a:p>
        </p:txBody>
      </p:sp>
      <p:sp>
        <p:nvSpPr>
          <p:cNvPr id="3" name="Rectangle 2">
            <a:extLst>
              <a:ext uri="{FF2B5EF4-FFF2-40B4-BE49-F238E27FC236}">
                <a16:creationId xmlns:a16="http://schemas.microsoft.com/office/drawing/2014/main" id="{FE50B887-3AE7-FC32-F989-AD55DBE5E1F2}"/>
              </a:ext>
            </a:extLst>
          </p:cNvPr>
          <p:cNvSpPr/>
          <p:nvPr/>
        </p:nvSpPr>
        <p:spPr>
          <a:xfrm rot="16200000">
            <a:off x="-163483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A4582C0-86E7-F96B-BFA1-0CE4B39FD2DF}"/>
              </a:ext>
            </a:extLst>
          </p:cNvPr>
          <p:cNvSpPr txBox="1"/>
          <p:nvPr/>
        </p:nvSpPr>
        <p:spPr>
          <a:xfrm>
            <a:off x="-2133063" y="2408649"/>
            <a:ext cx="1453662" cy="523220"/>
          </a:xfrm>
          <a:prstGeom prst="rect">
            <a:avLst/>
          </a:prstGeom>
          <a:noFill/>
        </p:spPr>
        <p:txBody>
          <a:bodyPr wrap="square" rtlCol="0">
            <a:spAutoFit/>
          </a:bodyPr>
          <a:lstStyle/>
          <a:p>
            <a:r>
              <a:rPr lang="en-US" sz="2800" b="1" dirty="0"/>
              <a:t>367 AD</a:t>
            </a:r>
          </a:p>
        </p:txBody>
      </p:sp>
      <p:sp>
        <p:nvSpPr>
          <p:cNvPr id="5" name="TextBox 4">
            <a:extLst>
              <a:ext uri="{FF2B5EF4-FFF2-40B4-BE49-F238E27FC236}">
                <a16:creationId xmlns:a16="http://schemas.microsoft.com/office/drawing/2014/main" id="{65A1A991-7EBF-7A7F-5F7A-AFFC609F3A68}"/>
              </a:ext>
            </a:extLst>
          </p:cNvPr>
          <p:cNvSpPr txBox="1"/>
          <p:nvPr/>
        </p:nvSpPr>
        <p:spPr>
          <a:xfrm>
            <a:off x="-2699163" y="3691113"/>
            <a:ext cx="2459736" cy="954107"/>
          </a:xfrm>
          <a:prstGeom prst="rect">
            <a:avLst/>
          </a:prstGeom>
          <a:noFill/>
        </p:spPr>
        <p:txBody>
          <a:bodyPr wrap="square" rtlCol="0">
            <a:spAutoFit/>
          </a:bodyPr>
          <a:lstStyle/>
          <a:p>
            <a:pPr algn="ctr"/>
            <a:r>
              <a:rPr lang="en-US" sz="2800" dirty="0"/>
              <a:t>Athanasius: OT/NT</a:t>
            </a:r>
          </a:p>
        </p:txBody>
      </p:sp>
      <p:sp>
        <p:nvSpPr>
          <p:cNvPr id="13" name="Rectangle 12">
            <a:extLst>
              <a:ext uri="{FF2B5EF4-FFF2-40B4-BE49-F238E27FC236}">
                <a16:creationId xmlns:a16="http://schemas.microsoft.com/office/drawing/2014/main" id="{56F891E2-D513-710A-204D-E1EFEE8E7EFB}"/>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396138B-0C06-C1B9-C670-A10D7701A1AF}"/>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Renaissance and Reformation</a:t>
            </a:r>
          </a:p>
        </p:txBody>
      </p:sp>
      <p:sp>
        <p:nvSpPr>
          <p:cNvPr id="15" name="TextBox 14">
            <a:extLst>
              <a:ext uri="{FF2B5EF4-FFF2-40B4-BE49-F238E27FC236}">
                <a16:creationId xmlns:a16="http://schemas.microsoft.com/office/drawing/2014/main" id="{B42F064E-14FE-59A1-C501-AD88F8F368E5}"/>
              </a:ext>
            </a:extLst>
          </p:cNvPr>
          <p:cNvSpPr txBox="1"/>
          <p:nvPr/>
        </p:nvSpPr>
        <p:spPr>
          <a:xfrm>
            <a:off x="3684638" y="3676573"/>
            <a:ext cx="4822722" cy="954107"/>
          </a:xfrm>
          <a:prstGeom prst="rect">
            <a:avLst/>
          </a:prstGeom>
          <a:noFill/>
        </p:spPr>
        <p:txBody>
          <a:bodyPr wrap="square" rtlCol="0">
            <a:spAutoFit/>
          </a:bodyPr>
          <a:lstStyle/>
          <a:p>
            <a:pPr algn="ctr"/>
            <a:r>
              <a:rPr lang="en-US" sz="2800" dirty="0"/>
              <a:t>Luther: “inferior” books, but still includes in his NT</a:t>
            </a:r>
          </a:p>
        </p:txBody>
      </p:sp>
    </p:spTree>
    <p:extLst>
      <p:ext uri="{BB962C8B-B14F-4D97-AF65-F5344CB8AC3E}">
        <p14:creationId xmlns:p14="http://schemas.microsoft.com/office/powerpoint/2010/main" val="398561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F7598-571A-CD67-2E73-9B153894D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1563C-3D66-BB6B-4D83-0EE2EC12D813}"/>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FA6B100A-D17A-5562-5BD9-86696FBCDC73}"/>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2D3A719-5730-84D4-220A-F4C56F52E438}"/>
              </a:ext>
            </a:extLst>
          </p:cNvPr>
          <p:cNvSpPr/>
          <p:nvPr/>
        </p:nvSpPr>
        <p:spPr>
          <a:xfrm rot="16200000">
            <a:off x="-1612148" y="3112376"/>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3EF67F3-0D54-F704-F47F-8BDF7005E393}"/>
              </a:ext>
            </a:extLst>
          </p:cNvPr>
          <p:cNvSpPr txBox="1"/>
          <p:nvPr/>
        </p:nvSpPr>
        <p:spPr>
          <a:xfrm>
            <a:off x="-2047316" y="2390609"/>
            <a:ext cx="1453662" cy="523220"/>
          </a:xfrm>
          <a:prstGeom prst="rect">
            <a:avLst/>
          </a:prstGeom>
          <a:noFill/>
        </p:spPr>
        <p:txBody>
          <a:bodyPr wrap="square" rtlCol="0">
            <a:spAutoFit/>
          </a:bodyPr>
          <a:lstStyle/>
          <a:p>
            <a:r>
              <a:rPr lang="en-US" sz="2800" b="1" dirty="0"/>
              <a:t>100 AD</a:t>
            </a:r>
          </a:p>
        </p:txBody>
      </p:sp>
      <p:sp>
        <p:nvSpPr>
          <p:cNvPr id="10" name="TextBox 9">
            <a:extLst>
              <a:ext uri="{FF2B5EF4-FFF2-40B4-BE49-F238E27FC236}">
                <a16:creationId xmlns:a16="http://schemas.microsoft.com/office/drawing/2014/main" id="{41F90682-B40E-55AB-EF66-A0E1FE3EE778}"/>
              </a:ext>
            </a:extLst>
          </p:cNvPr>
          <p:cNvSpPr txBox="1"/>
          <p:nvPr/>
        </p:nvSpPr>
        <p:spPr>
          <a:xfrm>
            <a:off x="-2613416" y="3676574"/>
            <a:ext cx="2459736" cy="954107"/>
          </a:xfrm>
          <a:prstGeom prst="rect">
            <a:avLst/>
          </a:prstGeom>
          <a:noFill/>
        </p:spPr>
        <p:txBody>
          <a:bodyPr wrap="square" rtlCol="0">
            <a:spAutoFit/>
          </a:bodyPr>
          <a:lstStyle/>
          <a:p>
            <a:pPr algn="ctr"/>
            <a:r>
              <a:rPr lang="en-US" sz="2800" dirty="0"/>
              <a:t>NT writings completed</a:t>
            </a:r>
          </a:p>
        </p:txBody>
      </p:sp>
      <p:sp>
        <p:nvSpPr>
          <p:cNvPr id="3" name="Rectangle 2">
            <a:extLst>
              <a:ext uri="{FF2B5EF4-FFF2-40B4-BE49-F238E27FC236}">
                <a16:creationId xmlns:a16="http://schemas.microsoft.com/office/drawing/2014/main" id="{5A9CB593-287A-C453-2D8E-1CB832B80DEB}"/>
              </a:ext>
            </a:extLst>
          </p:cNvPr>
          <p:cNvSpPr/>
          <p:nvPr/>
        </p:nvSpPr>
        <p:spPr>
          <a:xfrm rot="16200000">
            <a:off x="-163483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E0D38A1-E074-FC3D-D150-2E89549A09D0}"/>
              </a:ext>
            </a:extLst>
          </p:cNvPr>
          <p:cNvSpPr txBox="1"/>
          <p:nvPr/>
        </p:nvSpPr>
        <p:spPr>
          <a:xfrm>
            <a:off x="-2133063" y="2408649"/>
            <a:ext cx="1453662" cy="523220"/>
          </a:xfrm>
          <a:prstGeom prst="rect">
            <a:avLst/>
          </a:prstGeom>
          <a:noFill/>
        </p:spPr>
        <p:txBody>
          <a:bodyPr wrap="square" rtlCol="0">
            <a:spAutoFit/>
          </a:bodyPr>
          <a:lstStyle/>
          <a:p>
            <a:r>
              <a:rPr lang="en-US" sz="2800" b="1" dirty="0"/>
              <a:t>367 AD</a:t>
            </a:r>
          </a:p>
        </p:txBody>
      </p:sp>
      <p:sp>
        <p:nvSpPr>
          <p:cNvPr id="5" name="TextBox 4">
            <a:extLst>
              <a:ext uri="{FF2B5EF4-FFF2-40B4-BE49-F238E27FC236}">
                <a16:creationId xmlns:a16="http://schemas.microsoft.com/office/drawing/2014/main" id="{F873F5A5-9137-C7D7-4D71-6F26FFDBFDC0}"/>
              </a:ext>
            </a:extLst>
          </p:cNvPr>
          <p:cNvSpPr txBox="1"/>
          <p:nvPr/>
        </p:nvSpPr>
        <p:spPr>
          <a:xfrm>
            <a:off x="-2699163" y="3691113"/>
            <a:ext cx="2459736" cy="954107"/>
          </a:xfrm>
          <a:prstGeom prst="rect">
            <a:avLst/>
          </a:prstGeom>
          <a:noFill/>
        </p:spPr>
        <p:txBody>
          <a:bodyPr wrap="square" rtlCol="0">
            <a:spAutoFit/>
          </a:bodyPr>
          <a:lstStyle/>
          <a:p>
            <a:pPr algn="ctr"/>
            <a:r>
              <a:rPr lang="en-US" sz="2800" dirty="0"/>
              <a:t>Athanasius: OT/NT</a:t>
            </a:r>
          </a:p>
        </p:txBody>
      </p:sp>
      <p:sp>
        <p:nvSpPr>
          <p:cNvPr id="13" name="Rectangle 12">
            <a:extLst>
              <a:ext uri="{FF2B5EF4-FFF2-40B4-BE49-F238E27FC236}">
                <a16:creationId xmlns:a16="http://schemas.microsoft.com/office/drawing/2014/main" id="{71A4454D-7215-FEE7-E8B0-E788A9DD0205}"/>
              </a:ext>
            </a:extLst>
          </p:cNvPr>
          <p:cNvSpPr/>
          <p:nvPr/>
        </p:nvSpPr>
        <p:spPr>
          <a:xfrm rot="16200000">
            <a:off x="-3512579"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1BD6172-0281-A26B-E709-133418382889}"/>
              </a:ext>
            </a:extLst>
          </p:cNvPr>
          <p:cNvSpPr txBox="1"/>
          <p:nvPr/>
        </p:nvSpPr>
        <p:spPr>
          <a:xfrm>
            <a:off x="-6454882" y="2423618"/>
            <a:ext cx="6341805" cy="523220"/>
          </a:xfrm>
          <a:prstGeom prst="rect">
            <a:avLst/>
          </a:prstGeom>
          <a:noFill/>
        </p:spPr>
        <p:txBody>
          <a:bodyPr wrap="square" rtlCol="0">
            <a:spAutoFit/>
          </a:bodyPr>
          <a:lstStyle/>
          <a:p>
            <a:pPr algn="ctr"/>
            <a:r>
              <a:rPr lang="en-US" sz="2800" b="1" dirty="0"/>
              <a:t>Renaissance and Reformation</a:t>
            </a:r>
          </a:p>
        </p:txBody>
      </p:sp>
      <p:sp>
        <p:nvSpPr>
          <p:cNvPr id="15" name="TextBox 14">
            <a:extLst>
              <a:ext uri="{FF2B5EF4-FFF2-40B4-BE49-F238E27FC236}">
                <a16:creationId xmlns:a16="http://schemas.microsoft.com/office/drawing/2014/main" id="{4EEA87AF-DA85-4AA1-AE26-A9498F39295E}"/>
              </a:ext>
            </a:extLst>
          </p:cNvPr>
          <p:cNvSpPr txBox="1"/>
          <p:nvPr/>
        </p:nvSpPr>
        <p:spPr>
          <a:xfrm>
            <a:off x="-5695341" y="3676573"/>
            <a:ext cx="4822722" cy="954107"/>
          </a:xfrm>
          <a:prstGeom prst="rect">
            <a:avLst/>
          </a:prstGeom>
          <a:noFill/>
        </p:spPr>
        <p:txBody>
          <a:bodyPr wrap="square" rtlCol="0">
            <a:spAutoFit/>
          </a:bodyPr>
          <a:lstStyle/>
          <a:p>
            <a:pPr algn="ctr"/>
            <a:r>
              <a:rPr lang="en-US" sz="2800" dirty="0"/>
              <a:t>Luther: “inferior” books, but still includes in his NT</a:t>
            </a:r>
          </a:p>
        </p:txBody>
      </p:sp>
      <p:sp>
        <p:nvSpPr>
          <p:cNvPr id="7" name="Rectangle 6">
            <a:extLst>
              <a:ext uri="{FF2B5EF4-FFF2-40B4-BE49-F238E27FC236}">
                <a16:creationId xmlns:a16="http://schemas.microsoft.com/office/drawing/2014/main" id="{51E6C4F2-FB28-5CDB-9290-A9FDE07F828A}"/>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2A5071C-BEF9-EF08-896D-C3B0C858289D}"/>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1698</a:t>
            </a:r>
          </a:p>
        </p:txBody>
      </p:sp>
      <p:sp>
        <p:nvSpPr>
          <p:cNvPr id="12" name="TextBox 11">
            <a:extLst>
              <a:ext uri="{FF2B5EF4-FFF2-40B4-BE49-F238E27FC236}">
                <a16:creationId xmlns:a16="http://schemas.microsoft.com/office/drawing/2014/main" id="{B2ACF4E8-6C38-AC1B-2D1E-A07994DB9A1B}"/>
              </a:ext>
            </a:extLst>
          </p:cNvPr>
          <p:cNvSpPr txBox="1"/>
          <p:nvPr/>
        </p:nvSpPr>
        <p:spPr>
          <a:xfrm>
            <a:off x="3684638" y="3676573"/>
            <a:ext cx="4822722" cy="523220"/>
          </a:xfrm>
          <a:prstGeom prst="rect">
            <a:avLst/>
          </a:prstGeom>
          <a:noFill/>
        </p:spPr>
        <p:txBody>
          <a:bodyPr wrap="square" rtlCol="0">
            <a:spAutoFit/>
          </a:bodyPr>
          <a:lstStyle/>
          <a:p>
            <a:pPr algn="ctr"/>
            <a:r>
              <a:rPr lang="en-US" sz="2800" dirty="0"/>
              <a:t>John Toland</a:t>
            </a:r>
          </a:p>
        </p:txBody>
      </p:sp>
      <p:sp>
        <p:nvSpPr>
          <p:cNvPr id="16" name="TextBox 15">
            <a:extLst>
              <a:ext uri="{FF2B5EF4-FFF2-40B4-BE49-F238E27FC236}">
                <a16:creationId xmlns:a16="http://schemas.microsoft.com/office/drawing/2014/main" id="{11D5B8CD-0244-FE2E-4254-AD7A4DD114F0}"/>
              </a:ext>
            </a:extLst>
          </p:cNvPr>
          <p:cNvSpPr txBox="1"/>
          <p:nvPr/>
        </p:nvSpPr>
        <p:spPr>
          <a:xfrm>
            <a:off x="1660170" y="4165287"/>
            <a:ext cx="8997786" cy="2677656"/>
          </a:xfrm>
          <a:prstGeom prst="rect">
            <a:avLst/>
          </a:prstGeom>
          <a:noFill/>
        </p:spPr>
        <p:txBody>
          <a:bodyPr wrap="square" rtlCol="0">
            <a:spAutoFit/>
          </a:bodyPr>
          <a:lstStyle/>
          <a:p>
            <a:pPr algn="ctr"/>
            <a:r>
              <a:rPr lang="en-US" sz="2800" dirty="0"/>
              <a:t>“He disputed the royal authorship of the </a:t>
            </a:r>
            <a:r>
              <a:rPr lang="en-US" sz="2800" i="1" dirty="0"/>
              <a:t>Eikon </a:t>
            </a:r>
            <a:r>
              <a:rPr lang="en-US" sz="2800" i="1" dirty="0" err="1"/>
              <a:t>Basilike</a:t>
            </a:r>
            <a:r>
              <a:rPr lang="en-US" sz="2800" dirty="0"/>
              <a:t>…Toland took occasion to insinuate that, as people were mistaken on [the authorship of </a:t>
            </a:r>
            <a:r>
              <a:rPr lang="en-US" sz="2800" i="1" dirty="0"/>
              <a:t>Eikon </a:t>
            </a:r>
            <a:r>
              <a:rPr lang="en-US" sz="2800" i="1" dirty="0" err="1"/>
              <a:t>Basilike</a:t>
            </a:r>
            <a:r>
              <a:rPr lang="en-US" sz="2800" dirty="0"/>
              <a:t>], so </a:t>
            </a:r>
            <a:r>
              <a:rPr lang="en-US" sz="2800" b="1" dirty="0"/>
              <a:t>they might be also about the authenticity of many of the early writings of Christianity</a:t>
            </a:r>
            <a:r>
              <a:rPr lang="en-US" sz="2800" dirty="0"/>
              <a:t>, including presumably books of the New Testament” (p. 12) </a:t>
            </a:r>
          </a:p>
        </p:txBody>
      </p:sp>
    </p:spTree>
    <p:extLst>
      <p:ext uri="{BB962C8B-B14F-4D97-AF65-F5344CB8AC3E}">
        <p14:creationId xmlns:p14="http://schemas.microsoft.com/office/powerpoint/2010/main" val="32104042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p:bldP spid="12" grpId="0"/>
      <p:bldP spid="1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D1BAD-0798-44C0-477C-E2D0B2DF7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F6E45-B76B-7B17-E1FC-1CD5F5019764}"/>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D1855F19-1EF4-2C14-DFA2-8057CEF20FA2}"/>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C93638C-286E-D0C5-34E3-B309E08DE0AC}"/>
              </a:ext>
            </a:extLst>
          </p:cNvPr>
          <p:cNvSpPr/>
          <p:nvPr/>
        </p:nvSpPr>
        <p:spPr>
          <a:xfrm rot="16200000">
            <a:off x="-1612148" y="3112376"/>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0CDC21B-0116-F1CD-0423-EDC6B268B0CC}"/>
              </a:ext>
            </a:extLst>
          </p:cNvPr>
          <p:cNvSpPr txBox="1"/>
          <p:nvPr/>
        </p:nvSpPr>
        <p:spPr>
          <a:xfrm>
            <a:off x="-2047316" y="2390609"/>
            <a:ext cx="1453662" cy="523220"/>
          </a:xfrm>
          <a:prstGeom prst="rect">
            <a:avLst/>
          </a:prstGeom>
          <a:noFill/>
        </p:spPr>
        <p:txBody>
          <a:bodyPr wrap="square" rtlCol="0">
            <a:spAutoFit/>
          </a:bodyPr>
          <a:lstStyle/>
          <a:p>
            <a:r>
              <a:rPr lang="en-US" sz="2800" b="1" dirty="0"/>
              <a:t>100 AD</a:t>
            </a:r>
          </a:p>
        </p:txBody>
      </p:sp>
      <p:sp>
        <p:nvSpPr>
          <p:cNvPr id="10" name="TextBox 9">
            <a:extLst>
              <a:ext uri="{FF2B5EF4-FFF2-40B4-BE49-F238E27FC236}">
                <a16:creationId xmlns:a16="http://schemas.microsoft.com/office/drawing/2014/main" id="{0768BD8D-472E-74CC-FCAF-2670E42E9EBD}"/>
              </a:ext>
            </a:extLst>
          </p:cNvPr>
          <p:cNvSpPr txBox="1"/>
          <p:nvPr/>
        </p:nvSpPr>
        <p:spPr>
          <a:xfrm>
            <a:off x="-2613416" y="3676574"/>
            <a:ext cx="2459736" cy="954107"/>
          </a:xfrm>
          <a:prstGeom prst="rect">
            <a:avLst/>
          </a:prstGeom>
          <a:noFill/>
        </p:spPr>
        <p:txBody>
          <a:bodyPr wrap="square" rtlCol="0">
            <a:spAutoFit/>
          </a:bodyPr>
          <a:lstStyle/>
          <a:p>
            <a:pPr algn="ctr"/>
            <a:r>
              <a:rPr lang="en-US" sz="2800" dirty="0"/>
              <a:t>NT writings completed</a:t>
            </a:r>
          </a:p>
        </p:txBody>
      </p:sp>
      <p:sp>
        <p:nvSpPr>
          <p:cNvPr id="3" name="Rectangle 2">
            <a:extLst>
              <a:ext uri="{FF2B5EF4-FFF2-40B4-BE49-F238E27FC236}">
                <a16:creationId xmlns:a16="http://schemas.microsoft.com/office/drawing/2014/main" id="{1D5F6D8F-E5E0-C283-242F-662B3BF2C70C}"/>
              </a:ext>
            </a:extLst>
          </p:cNvPr>
          <p:cNvSpPr/>
          <p:nvPr/>
        </p:nvSpPr>
        <p:spPr>
          <a:xfrm rot="16200000">
            <a:off x="-163483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8D37EE4-1332-A068-A44E-D0740C707BA0}"/>
              </a:ext>
            </a:extLst>
          </p:cNvPr>
          <p:cNvSpPr txBox="1"/>
          <p:nvPr/>
        </p:nvSpPr>
        <p:spPr>
          <a:xfrm>
            <a:off x="-2133063" y="2408649"/>
            <a:ext cx="1453662" cy="523220"/>
          </a:xfrm>
          <a:prstGeom prst="rect">
            <a:avLst/>
          </a:prstGeom>
          <a:noFill/>
        </p:spPr>
        <p:txBody>
          <a:bodyPr wrap="square" rtlCol="0">
            <a:spAutoFit/>
          </a:bodyPr>
          <a:lstStyle/>
          <a:p>
            <a:r>
              <a:rPr lang="en-US" sz="2800" b="1" dirty="0"/>
              <a:t>367 AD</a:t>
            </a:r>
          </a:p>
        </p:txBody>
      </p:sp>
      <p:sp>
        <p:nvSpPr>
          <p:cNvPr id="5" name="TextBox 4">
            <a:extLst>
              <a:ext uri="{FF2B5EF4-FFF2-40B4-BE49-F238E27FC236}">
                <a16:creationId xmlns:a16="http://schemas.microsoft.com/office/drawing/2014/main" id="{0C734561-EDE8-A64A-6C35-3D961FEAD5F1}"/>
              </a:ext>
            </a:extLst>
          </p:cNvPr>
          <p:cNvSpPr txBox="1"/>
          <p:nvPr/>
        </p:nvSpPr>
        <p:spPr>
          <a:xfrm>
            <a:off x="-2699163" y="3691113"/>
            <a:ext cx="2459736" cy="954107"/>
          </a:xfrm>
          <a:prstGeom prst="rect">
            <a:avLst/>
          </a:prstGeom>
          <a:noFill/>
        </p:spPr>
        <p:txBody>
          <a:bodyPr wrap="square" rtlCol="0">
            <a:spAutoFit/>
          </a:bodyPr>
          <a:lstStyle/>
          <a:p>
            <a:pPr algn="ctr"/>
            <a:r>
              <a:rPr lang="en-US" sz="2800" dirty="0"/>
              <a:t>Athanasius: OT/NT</a:t>
            </a:r>
          </a:p>
        </p:txBody>
      </p:sp>
      <p:sp>
        <p:nvSpPr>
          <p:cNvPr id="13" name="Rectangle 12">
            <a:extLst>
              <a:ext uri="{FF2B5EF4-FFF2-40B4-BE49-F238E27FC236}">
                <a16:creationId xmlns:a16="http://schemas.microsoft.com/office/drawing/2014/main" id="{D3F3A11F-E6EC-5F76-3604-7853E67A9B6E}"/>
              </a:ext>
            </a:extLst>
          </p:cNvPr>
          <p:cNvSpPr/>
          <p:nvPr/>
        </p:nvSpPr>
        <p:spPr>
          <a:xfrm rot="16200000">
            <a:off x="-3512579"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FCBA367-7FD6-38AB-F5D4-51FE43D87EDA}"/>
              </a:ext>
            </a:extLst>
          </p:cNvPr>
          <p:cNvSpPr txBox="1"/>
          <p:nvPr/>
        </p:nvSpPr>
        <p:spPr>
          <a:xfrm>
            <a:off x="-6454882" y="2423618"/>
            <a:ext cx="6341805" cy="523220"/>
          </a:xfrm>
          <a:prstGeom prst="rect">
            <a:avLst/>
          </a:prstGeom>
          <a:noFill/>
        </p:spPr>
        <p:txBody>
          <a:bodyPr wrap="square" rtlCol="0">
            <a:spAutoFit/>
          </a:bodyPr>
          <a:lstStyle/>
          <a:p>
            <a:pPr algn="ctr"/>
            <a:r>
              <a:rPr lang="en-US" sz="2800" b="1" dirty="0"/>
              <a:t>Renaissance and Reformation</a:t>
            </a:r>
          </a:p>
        </p:txBody>
      </p:sp>
      <p:sp>
        <p:nvSpPr>
          <p:cNvPr id="15" name="TextBox 14">
            <a:extLst>
              <a:ext uri="{FF2B5EF4-FFF2-40B4-BE49-F238E27FC236}">
                <a16:creationId xmlns:a16="http://schemas.microsoft.com/office/drawing/2014/main" id="{239757AA-DE18-C26A-0413-26B8F4E8A37F}"/>
              </a:ext>
            </a:extLst>
          </p:cNvPr>
          <p:cNvSpPr txBox="1"/>
          <p:nvPr/>
        </p:nvSpPr>
        <p:spPr>
          <a:xfrm>
            <a:off x="-5695341" y="3676573"/>
            <a:ext cx="4822722" cy="954107"/>
          </a:xfrm>
          <a:prstGeom prst="rect">
            <a:avLst/>
          </a:prstGeom>
          <a:noFill/>
        </p:spPr>
        <p:txBody>
          <a:bodyPr wrap="square" rtlCol="0">
            <a:spAutoFit/>
          </a:bodyPr>
          <a:lstStyle/>
          <a:p>
            <a:pPr algn="ctr"/>
            <a:r>
              <a:rPr lang="en-US" sz="2800" dirty="0"/>
              <a:t>Luther: “inferior” books, but still includes in his NT</a:t>
            </a:r>
          </a:p>
        </p:txBody>
      </p:sp>
      <p:sp>
        <p:nvSpPr>
          <p:cNvPr id="7" name="Rectangle 6">
            <a:extLst>
              <a:ext uri="{FF2B5EF4-FFF2-40B4-BE49-F238E27FC236}">
                <a16:creationId xmlns:a16="http://schemas.microsoft.com/office/drawing/2014/main" id="{5ADE62DD-DE75-1D55-EFCD-926305D1968A}"/>
              </a:ext>
            </a:extLst>
          </p:cNvPr>
          <p:cNvSpPr/>
          <p:nvPr/>
        </p:nvSpPr>
        <p:spPr>
          <a:xfrm rot="16200000">
            <a:off x="-494927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71AF61B-62BC-86BD-7F46-C032C031DB9F}"/>
              </a:ext>
            </a:extLst>
          </p:cNvPr>
          <p:cNvSpPr txBox="1"/>
          <p:nvPr/>
        </p:nvSpPr>
        <p:spPr>
          <a:xfrm>
            <a:off x="-7891573" y="2423618"/>
            <a:ext cx="6341805" cy="523220"/>
          </a:xfrm>
          <a:prstGeom prst="rect">
            <a:avLst/>
          </a:prstGeom>
          <a:noFill/>
        </p:spPr>
        <p:txBody>
          <a:bodyPr wrap="square" rtlCol="0">
            <a:spAutoFit/>
          </a:bodyPr>
          <a:lstStyle/>
          <a:p>
            <a:pPr algn="ctr"/>
            <a:r>
              <a:rPr lang="en-US" sz="2800" b="1" dirty="0"/>
              <a:t>1698</a:t>
            </a:r>
          </a:p>
        </p:txBody>
      </p:sp>
      <p:sp>
        <p:nvSpPr>
          <p:cNvPr id="12" name="TextBox 11">
            <a:extLst>
              <a:ext uri="{FF2B5EF4-FFF2-40B4-BE49-F238E27FC236}">
                <a16:creationId xmlns:a16="http://schemas.microsoft.com/office/drawing/2014/main" id="{C64E30DF-EEA7-3027-B394-B93366C4AF0A}"/>
              </a:ext>
            </a:extLst>
          </p:cNvPr>
          <p:cNvSpPr txBox="1"/>
          <p:nvPr/>
        </p:nvSpPr>
        <p:spPr>
          <a:xfrm>
            <a:off x="-7132032" y="3676573"/>
            <a:ext cx="4822722" cy="523220"/>
          </a:xfrm>
          <a:prstGeom prst="rect">
            <a:avLst/>
          </a:prstGeom>
          <a:noFill/>
        </p:spPr>
        <p:txBody>
          <a:bodyPr wrap="square" rtlCol="0">
            <a:spAutoFit/>
          </a:bodyPr>
          <a:lstStyle/>
          <a:p>
            <a:pPr algn="ctr"/>
            <a:r>
              <a:rPr lang="en-US" sz="2800" dirty="0"/>
              <a:t>John Toland</a:t>
            </a:r>
          </a:p>
        </p:txBody>
      </p:sp>
      <p:sp>
        <p:nvSpPr>
          <p:cNvPr id="16" name="TextBox 15">
            <a:extLst>
              <a:ext uri="{FF2B5EF4-FFF2-40B4-BE49-F238E27FC236}">
                <a16:creationId xmlns:a16="http://schemas.microsoft.com/office/drawing/2014/main" id="{8B714225-5777-6EF9-BF53-D6F351408E7E}"/>
              </a:ext>
            </a:extLst>
          </p:cNvPr>
          <p:cNvSpPr txBox="1"/>
          <p:nvPr/>
        </p:nvSpPr>
        <p:spPr>
          <a:xfrm>
            <a:off x="-9156500" y="4165287"/>
            <a:ext cx="8997786" cy="2677656"/>
          </a:xfrm>
          <a:prstGeom prst="rect">
            <a:avLst/>
          </a:prstGeom>
          <a:noFill/>
        </p:spPr>
        <p:txBody>
          <a:bodyPr wrap="square" rtlCol="0">
            <a:spAutoFit/>
          </a:bodyPr>
          <a:lstStyle/>
          <a:p>
            <a:pPr algn="ctr"/>
            <a:r>
              <a:rPr lang="en-US" sz="2800" dirty="0"/>
              <a:t>“He disputed the royal authorship of the </a:t>
            </a:r>
            <a:r>
              <a:rPr lang="en-US" sz="2800" i="1" dirty="0"/>
              <a:t>Eikon </a:t>
            </a:r>
            <a:r>
              <a:rPr lang="en-US" sz="2800" i="1" dirty="0" err="1"/>
              <a:t>Basilike</a:t>
            </a:r>
            <a:r>
              <a:rPr lang="en-US" sz="2800" dirty="0"/>
              <a:t>…Toland took occasion to insinuate that, as people were mistaken on [the authorship of </a:t>
            </a:r>
            <a:r>
              <a:rPr lang="en-US" sz="2800" i="1" dirty="0"/>
              <a:t>Eikon </a:t>
            </a:r>
            <a:r>
              <a:rPr lang="en-US" sz="2800" i="1" dirty="0" err="1"/>
              <a:t>Basilike</a:t>
            </a:r>
            <a:r>
              <a:rPr lang="en-US" sz="2800" dirty="0"/>
              <a:t>], so </a:t>
            </a:r>
            <a:r>
              <a:rPr lang="en-US" sz="2800" b="1" dirty="0"/>
              <a:t>they might be also about the authenticity of many of the early writings of Christianity</a:t>
            </a:r>
            <a:r>
              <a:rPr lang="en-US" sz="2800" dirty="0"/>
              <a:t>, including presumably books of the New Testament” (p. 12) </a:t>
            </a:r>
          </a:p>
        </p:txBody>
      </p:sp>
      <p:sp>
        <p:nvSpPr>
          <p:cNvPr id="17" name="Rectangle 16">
            <a:extLst>
              <a:ext uri="{FF2B5EF4-FFF2-40B4-BE49-F238E27FC236}">
                <a16:creationId xmlns:a16="http://schemas.microsoft.com/office/drawing/2014/main" id="{873511C3-8E97-C71F-7C69-7E0DD7EE90A8}"/>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909D21F-1EB5-3789-AE42-1CB10CC32FB3}"/>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Jan 30, 1699</a:t>
            </a:r>
          </a:p>
        </p:txBody>
      </p:sp>
      <p:sp>
        <p:nvSpPr>
          <p:cNvPr id="19" name="TextBox 18">
            <a:extLst>
              <a:ext uri="{FF2B5EF4-FFF2-40B4-BE49-F238E27FC236}">
                <a16:creationId xmlns:a16="http://schemas.microsoft.com/office/drawing/2014/main" id="{B7D75F28-C02F-E75D-1FBD-C5DB6BCFD20F}"/>
              </a:ext>
            </a:extLst>
          </p:cNvPr>
          <p:cNvSpPr txBox="1"/>
          <p:nvPr/>
        </p:nvSpPr>
        <p:spPr>
          <a:xfrm>
            <a:off x="3684638" y="3676573"/>
            <a:ext cx="4822722" cy="523220"/>
          </a:xfrm>
          <a:prstGeom prst="rect">
            <a:avLst/>
          </a:prstGeom>
          <a:noFill/>
        </p:spPr>
        <p:txBody>
          <a:bodyPr wrap="square" rtlCol="0">
            <a:spAutoFit/>
          </a:bodyPr>
          <a:lstStyle/>
          <a:p>
            <a:pPr algn="ctr"/>
            <a:r>
              <a:rPr lang="en-US" sz="2800" dirty="0"/>
              <a:t>Reverend Offspring Blackall</a:t>
            </a:r>
          </a:p>
        </p:txBody>
      </p:sp>
      <p:sp>
        <p:nvSpPr>
          <p:cNvPr id="21" name="TextBox 20">
            <a:extLst>
              <a:ext uri="{FF2B5EF4-FFF2-40B4-BE49-F238E27FC236}">
                <a16:creationId xmlns:a16="http://schemas.microsoft.com/office/drawing/2014/main" id="{08A8771B-6B8B-6FE5-B751-16755ABC1391}"/>
              </a:ext>
            </a:extLst>
          </p:cNvPr>
          <p:cNvSpPr txBox="1"/>
          <p:nvPr/>
        </p:nvSpPr>
        <p:spPr>
          <a:xfrm>
            <a:off x="1660170" y="4165287"/>
            <a:ext cx="8997786" cy="1384995"/>
          </a:xfrm>
          <a:prstGeom prst="rect">
            <a:avLst/>
          </a:prstGeom>
          <a:noFill/>
        </p:spPr>
        <p:txBody>
          <a:bodyPr wrap="square" rtlCol="0">
            <a:spAutoFit/>
          </a:bodyPr>
          <a:lstStyle/>
          <a:p>
            <a:pPr algn="ctr"/>
            <a:r>
              <a:rPr lang="en-US" sz="2800" dirty="0"/>
              <a:t>    - Preached a sermon before the House of Commons</a:t>
            </a:r>
          </a:p>
          <a:p>
            <a:pPr algn="ctr"/>
            <a:r>
              <a:rPr lang="en-US" sz="2800" dirty="0"/>
              <a:t>- A chaplain of King William’s “charged Toland with creating a scandal by what he had written” (p. 12)</a:t>
            </a:r>
          </a:p>
        </p:txBody>
      </p:sp>
    </p:spTree>
    <p:extLst>
      <p:ext uri="{BB962C8B-B14F-4D97-AF65-F5344CB8AC3E}">
        <p14:creationId xmlns:p14="http://schemas.microsoft.com/office/powerpoint/2010/main" val="2926869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19" grpId="0"/>
      <p:bldP spid="2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5279C-1326-09F4-261A-B50F929EB5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A4CB4-25FF-60D6-916E-B8480351223F}"/>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4540DC24-3070-A2D3-5B14-C95058371FCF}"/>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FFA06B8-808E-E5E4-11A7-881383169E92}"/>
              </a:ext>
            </a:extLst>
          </p:cNvPr>
          <p:cNvSpPr/>
          <p:nvPr/>
        </p:nvSpPr>
        <p:spPr>
          <a:xfrm rot="16200000">
            <a:off x="-1612148" y="3112376"/>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A5F5837-1AD7-EFFB-DC00-C23F166F11E2}"/>
              </a:ext>
            </a:extLst>
          </p:cNvPr>
          <p:cNvSpPr txBox="1"/>
          <p:nvPr/>
        </p:nvSpPr>
        <p:spPr>
          <a:xfrm>
            <a:off x="-2047316" y="2390609"/>
            <a:ext cx="1453662" cy="523220"/>
          </a:xfrm>
          <a:prstGeom prst="rect">
            <a:avLst/>
          </a:prstGeom>
          <a:noFill/>
        </p:spPr>
        <p:txBody>
          <a:bodyPr wrap="square" rtlCol="0">
            <a:spAutoFit/>
          </a:bodyPr>
          <a:lstStyle/>
          <a:p>
            <a:r>
              <a:rPr lang="en-US" sz="2800" b="1" dirty="0"/>
              <a:t>100 AD</a:t>
            </a:r>
          </a:p>
        </p:txBody>
      </p:sp>
      <p:sp>
        <p:nvSpPr>
          <p:cNvPr id="10" name="TextBox 9">
            <a:extLst>
              <a:ext uri="{FF2B5EF4-FFF2-40B4-BE49-F238E27FC236}">
                <a16:creationId xmlns:a16="http://schemas.microsoft.com/office/drawing/2014/main" id="{73FCADAC-D17F-4CF7-6011-CF7FDB3066B4}"/>
              </a:ext>
            </a:extLst>
          </p:cNvPr>
          <p:cNvSpPr txBox="1"/>
          <p:nvPr/>
        </p:nvSpPr>
        <p:spPr>
          <a:xfrm>
            <a:off x="-2613416" y="3676574"/>
            <a:ext cx="2459736" cy="954107"/>
          </a:xfrm>
          <a:prstGeom prst="rect">
            <a:avLst/>
          </a:prstGeom>
          <a:noFill/>
        </p:spPr>
        <p:txBody>
          <a:bodyPr wrap="square" rtlCol="0">
            <a:spAutoFit/>
          </a:bodyPr>
          <a:lstStyle/>
          <a:p>
            <a:pPr algn="ctr"/>
            <a:r>
              <a:rPr lang="en-US" sz="2800" dirty="0"/>
              <a:t>NT writings completed</a:t>
            </a:r>
          </a:p>
        </p:txBody>
      </p:sp>
      <p:sp>
        <p:nvSpPr>
          <p:cNvPr id="3" name="Rectangle 2">
            <a:extLst>
              <a:ext uri="{FF2B5EF4-FFF2-40B4-BE49-F238E27FC236}">
                <a16:creationId xmlns:a16="http://schemas.microsoft.com/office/drawing/2014/main" id="{704B4ADD-E3D4-4A26-D745-1EA42109DA5B}"/>
              </a:ext>
            </a:extLst>
          </p:cNvPr>
          <p:cNvSpPr/>
          <p:nvPr/>
        </p:nvSpPr>
        <p:spPr>
          <a:xfrm rot="16200000">
            <a:off x="-163483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49D0FDA-EDF8-DCF5-B17B-7436C01DD784}"/>
              </a:ext>
            </a:extLst>
          </p:cNvPr>
          <p:cNvSpPr txBox="1"/>
          <p:nvPr/>
        </p:nvSpPr>
        <p:spPr>
          <a:xfrm>
            <a:off x="-2133063" y="2408649"/>
            <a:ext cx="1453662" cy="523220"/>
          </a:xfrm>
          <a:prstGeom prst="rect">
            <a:avLst/>
          </a:prstGeom>
          <a:noFill/>
        </p:spPr>
        <p:txBody>
          <a:bodyPr wrap="square" rtlCol="0">
            <a:spAutoFit/>
          </a:bodyPr>
          <a:lstStyle/>
          <a:p>
            <a:r>
              <a:rPr lang="en-US" sz="2800" b="1" dirty="0"/>
              <a:t>367 AD</a:t>
            </a:r>
          </a:p>
        </p:txBody>
      </p:sp>
      <p:sp>
        <p:nvSpPr>
          <p:cNvPr id="5" name="TextBox 4">
            <a:extLst>
              <a:ext uri="{FF2B5EF4-FFF2-40B4-BE49-F238E27FC236}">
                <a16:creationId xmlns:a16="http://schemas.microsoft.com/office/drawing/2014/main" id="{7D388803-0A37-6F37-0317-682059A26ADC}"/>
              </a:ext>
            </a:extLst>
          </p:cNvPr>
          <p:cNvSpPr txBox="1"/>
          <p:nvPr/>
        </p:nvSpPr>
        <p:spPr>
          <a:xfrm>
            <a:off x="-2699163" y="3691113"/>
            <a:ext cx="2459736" cy="954107"/>
          </a:xfrm>
          <a:prstGeom prst="rect">
            <a:avLst/>
          </a:prstGeom>
          <a:noFill/>
        </p:spPr>
        <p:txBody>
          <a:bodyPr wrap="square" rtlCol="0">
            <a:spAutoFit/>
          </a:bodyPr>
          <a:lstStyle/>
          <a:p>
            <a:pPr algn="ctr"/>
            <a:r>
              <a:rPr lang="en-US" sz="2800" dirty="0"/>
              <a:t>Athanasius: OT/NT</a:t>
            </a:r>
          </a:p>
        </p:txBody>
      </p:sp>
      <p:sp>
        <p:nvSpPr>
          <p:cNvPr id="13" name="Rectangle 12">
            <a:extLst>
              <a:ext uri="{FF2B5EF4-FFF2-40B4-BE49-F238E27FC236}">
                <a16:creationId xmlns:a16="http://schemas.microsoft.com/office/drawing/2014/main" id="{DEFA2EB1-AA2A-7A6C-EF1E-3EEC0C4DDDA0}"/>
              </a:ext>
            </a:extLst>
          </p:cNvPr>
          <p:cNvSpPr/>
          <p:nvPr/>
        </p:nvSpPr>
        <p:spPr>
          <a:xfrm rot="16200000">
            <a:off x="-3512579"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7BD56D7-6444-3FD1-77E8-902B2A0249A1}"/>
              </a:ext>
            </a:extLst>
          </p:cNvPr>
          <p:cNvSpPr txBox="1"/>
          <p:nvPr/>
        </p:nvSpPr>
        <p:spPr>
          <a:xfrm>
            <a:off x="-6454882" y="2423618"/>
            <a:ext cx="6341805" cy="523220"/>
          </a:xfrm>
          <a:prstGeom prst="rect">
            <a:avLst/>
          </a:prstGeom>
          <a:noFill/>
        </p:spPr>
        <p:txBody>
          <a:bodyPr wrap="square" rtlCol="0">
            <a:spAutoFit/>
          </a:bodyPr>
          <a:lstStyle/>
          <a:p>
            <a:pPr algn="ctr"/>
            <a:r>
              <a:rPr lang="en-US" sz="2800" b="1" dirty="0"/>
              <a:t>Renaissance and Reformation</a:t>
            </a:r>
          </a:p>
        </p:txBody>
      </p:sp>
      <p:sp>
        <p:nvSpPr>
          <p:cNvPr id="15" name="TextBox 14">
            <a:extLst>
              <a:ext uri="{FF2B5EF4-FFF2-40B4-BE49-F238E27FC236}">
                <a16:creationId xmlns:a16="http://schemas.microsoft.com/office/drawing/2014/main" id="{5F1E9786-C711-5A02-4812-6489A319C799}"/>
              </a:ext>
            </a:extLst>
          </p:cNvPr>
          <p:cNvSpPr txBox="1"/>
          <p:nvPr/>
        </p:nvSpPr>
        <p:spPr>
          <a:xfrm>
            <a:off x="-5695341" y="3676573"/>
            <a:ext cx="4822722" cy="954107"/>
          </a:xfrm>
          <a:prstGeom prst="rect">
            <a:avLst/>
          </a:prstGeom>
          <a:noFill/>
        </p:spPr>
        <p:txBody>
          <a:bodyPr wrap="square" rtlCol="0">
            <a:spAutoFit/>
          </a:bodyPr>
          <a:lstStyle/>
          <a:p>
            <a:pPr algn="ctr"/>
            <a:r>
              <a:rPr lang="en-US" sz="2800" dirty="0"/>
              <a:t>Luther: “inferior” books, but still includes in his NT</a:t>
            </a:r>
          </a:p>
        </p:txBody>
      </p:sp>
      <p:sp>
        <p:nvSpPr>
          <p:cNvPr id="7" name="Rectangle 6">
            <a:extLst>
              <a:ext uri="{FF2B5EF4-FFF2-40B4-BE49-F238E27FC236}">
                <a16:creationId xmlns:a16="http://schemas.microsoft.com/office/drawing/2014/main" id="{09E0A839-0D30-17C3-8852-C6BB1D7FADD9}"/>
              </a:ext>
            </a:extLst>
          </p:cNvPr>
          <p:cNvSpPr/>
          <p:nvPr/>
        </p:nvSpPr>
        <p:spPr>
          <a:xfrm rot="16200000">
            <a:off x="-494927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3E8C8F5-C216-BC14-69D3-F3CF339F14CD}"/>
              </a:ext>
            </a:extLst>
          </p:cNvPr>
          <p:cNvSpPr txBox="1"/>
          <p:nvPr/>
        </p:nvSpPr>
        <p:spPr>
          <a:xfrm>
            <a:off x="-7891573" y="2423618"/>
            <a:ext cx="6341805" cy="523220"/>
          </a:xfrm>
          <a:prstGeom prst="rect">
            <a:avLst/>
          </a:prstGeom>
          <a:noFill/>
        </p:spPr>
        <p:txBody>
          <a:bodyPr wrap="square" rtlCol="0">
            <a:spAutoFit/>
          </a:bodyPr>
          <a:lstStyle/>
          <a:p>
            <a:pPr algn="ctr"/>
            <a:r>
              <a:rPr lang="en-US" sz="2800" b="1" dirty="0"/>
              <a:t>1698</a:t>
            </a:r>
          </a:p>
        </p:txBody>
      </p:sp>
      <p:sp>
        <p:nvSpPr>
          <p:cNvPr id="12" name="TextBox 11">
            <a:extLst>
              <a:ext uri="{FF2B5EF4-FFF2-40B4-BE49-F238E27FC236}">
                <a16:creationId xmlns:a16="http://schemas.microsoft.com/office/drawing/2014/main" id="{88145D9A-984F-1AED-9FBB-39B7A8778B90}"/>
              </a:ext>
            </a:extLst>
          </p:cNvPr>
          <p:cNvSpPr txBox="1"/>
          <p:nvPr/>
        </p:nvSpPr>
        <p:spPr>
          <a:xfrm>
            <a:off x="-7132032" y="3676573"/>
            <a:ext cx="4822722" cy="523220"/>
          </a:xfrm>
          <a:prstGeom prst="rect">
            <a:avLst/>
          </a:prstGeom>
          <a:noFill/>
        </p:spPr>
        <p:txBody>
          <a:bodyPr wrap="square" rtlCol="0">
            <a:spAutoFit/>
          </a:bodyPr>
          <a:lstStyle/>
          <a:p>
            <a:pPr algn="ctr"/>
            <a:r>
              <a:rPr lang="en-US" sz="2800" dirty="0"/>
              <a:t>John Toland</a:t>
            </a:r>
          </a:p>
        </p:txBody>
      </p:sp>
      <p:sp>
        <p:nvSpPr>
          <p:cNvPr id="16" name="TextBox 15">
            <a:extLst>
              <a:ext uri="{FF2B5EF4-FFF2-40B4-BE49-F238E27FC236}">
                <a16:creationId xmlns:a16="http://schemas.microsoft.com/office/drawing/2014/main" id="{9E9A26C5-4EE3-8029-4DA3-04B52F5E4A2E}"/>
              </a:ext>
            </a:extLst>
          </p:cNvPr>
          <p:cNvSpPr txBox="1"/>
          <p:nvPr/>
        </p:nvSpPr>
        <p:spPr>
          <a:xfrm>
            <a:off x="-9156500" y="4165287"/>
            <a:ext cx="8997786" cy="2677656"/>
          </a:xfrm>
          <a:prstGeom prst="rect">
            <a:avLst/>
          </a:prstGeom>
          <a:noFill/>
        </p:spPr>
        <p:txBody>
          <a:bodyPr wrap="square" rtlCol="0">
            <a:spAutoFit/>
          </a:bodyPr>
          <a:lstStyle/>
          <a:p>
            <a:pPr algn="ctr"/>
            <a:r>
              <a:rPr lang="en-US" sz="2800" dirty="0"/>
              <a:t>“He disputed the royal authorship of the </a:t>
            </a:r>
            <a:r>
              <a:rPr lang="en-US" sz="2800" i="1" dirty="0"/>
              <a:t>Eikon </a:t>
            </a:r>
            <a:r>
              <a:rPr lang="en-US" sz="2800" i="1" dirty="0" err="1"/>
              <a:t>Basilike</a:t>
            </a:r>
            <a:r>
              <a:rPr lang="en-US" sz="2800" dirty="0"/>
              <a:t>…Toland took occasion to insinuate that, as people were mistaken on [the authorship of </a:t>
            </a:r>
            <a:r>
              <a:rPr lang="en-US" sz="2800" i="1" dirty="0"/>
              <a:t>Eikon </a:t>
            </a:r>
            <a:r>
              <a:rPr lang="en-US" sz="2800" i="1" dirty="0" err="1"/>
              <a:t>Basilike</a:t>
            </a:r>
            <a:r>
              <a:rPr lang="en-US" sz="2800" dirty="0"/>
              <a:t>], so </a:t>
            </a:r>
            <a:r>
              <a:rPr lang="en-US" sz="2800" b="1" dirty="0"/>
              <a:t>they might be also about the authenticity of many of the early writings of Christianity</a:t>
            </a:r>
            <a:r>
              <a:rPr lang="en-US" sz="2800" dirty="0"/>
              <a:t>, including presumably books of the New Testament” (p. 12) </a:t>
            </a:r>
          </a:p>
        </p:txBody>
      </p:sp>
      <p:sp>
        <p:nvSpPr>
          <p:cNvPr id="17" name="Rectangle 16">
            <a:extLst>
              <a:ext uri="{FF2B5EF4-FFF2-40B4-BE49-F238E27FC236}">
                <a16:creationId xmlns:a16="http://schemas.microsoft.com/office/drawing/2014/main" id="{4DD1F03C-49A6-5F38-8844-61887660A4CC}"/>
              </a:ext>
            </a:extLst>
          </p:cNvPr>
          <p:cNvSpPr/>
          <p:nvPr/>
        </p:nvSpPr>
        <p:spPr>
          <a:xfrm rot="16200000">
            <a:off x="-4922518"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F7C566B-D5E6-B295-51A9-E7B7B38EA17D}"/>
              </a:ext>
            </a:extLst>
          </p:cNvPr>
          <p:cNvSpPr txBox="1"/>
          <p:nvPr/>
        </p:nvSpPr>
        <p:spPr>
          <a:xfrm>
            <a:off x="-7864821" y="2423618"/>
            <a:ext cx="6341805" cy="523220"/>
          </a:xfrm>
          <a:prstGeom prst="rect">
            <a:avLst/>
          </a:prstGeom>
          <a:noFill/>
        </p:spPr>
        <p:txBody>
          <a:bodyPr wrap="square" rtlCol="0">
            <a:spAutoFit/>
          </a:bodyPr>
          <a:lstStyle/>
          <a:p>
            <a:pPr algn="ctr"/>
            <a:r>
              <a:rPr lang="en-US" sz="2800" b="1" dirty="0"/>
              <a:t>Jan 30, 1699</a:t>
            </a:r>
          </a:p>
        </p:txBody>
      </p:sp>
      <p:sp>
        <p:nvSpPr>
          <p:cNvPr id="19" name="TextBox 18">
            <a:extLst>
              <a:ext uri="{FF2B5EF4-FFF2-40B4-BE49-F238E27FC236}">
                <a16:creationId xmlns:a16="http://schemas.microsoft.com/office/drawing/2014/main" id="{004B65A6-6B29-E579-6473-20DBAA13294A}"/>
              </a:ext>
            </a:extLst>
          </p:cNvPr>
          <p:cNvSpPr txBox="1"/>
          <p:nvPr/>
        </p:nvSpPr>
        <p:spPr>
          <a:xfrm>
            <a:off x="-7105280" y="3676573"/>
            <a:ext cx="4822722" cy="523220"/>
          </a:xfrm>
          <a:prstGeom prst="rect">
            <a:avLst/>
          </a:prstGeom>
          <a:noFill/>
        </p:spPr>
        <p:txBody>
          <a:bodyPr wrap="square" rtlCol="0">
            <a:spAutoFit/>
          </a:bodyPr>
          <a:lstStyle/>
          <a:p>
            <a:pPr algn="ctr"/>
            <a:r>
              <a:rPr lang="en-US" sz="2800" dirty="0"/>
              <a:t>Reverend Offspring Blackall</a:t>
            </a:r>
          </a:p>
        </p:txBody>
      </p:sp>
      <p:sp>
        <p:nvSpPr>
          <p:cNvPr id="21" name="TextBox 20">
            <a:extLst>
              <a:ext uri="{FF2B5EF4-FFF2-40B4-BE49-F238E27FC236}">
                <a16:creationId xmlns:a16="http://schemas.microsoft.com/office/drawing/2014/main" id="{9E8C5460-5DA8-37FB-0927-7D0EAFBC6F88}"/>
              </a:ext>
            </a:extLst>
          </p:cNvPr>
          <p:cNvSpPr txBox="1"/>
          <p:nvPr/>
        </p:nvSpPr>
        <p:spPr>
          <a:xfrm>
            <a:off x="-9129748" y="4165287"/>
            <a:ext cx="8997786" cy="1384995"/>
          </a:xfrm>
          <a:prstGeom prst="rect">
            <a:avLst/>
          </a:prstGeom>
          <a:noFill/>
        </p:spPr>
        <p:txBody>
          <a:bodyPr wrap="square" rtlCol="0">
            <a:spAutoFit/>
          </a:bodyPr>
          <a:lstStyle/>
          <a:p>
            <a:pPr algn="ctr"/>
            <a:r>
              <a:rPr lang="en-US" sz="2800" dirty="0"/>
              <a:t>    - Preached a sermon before the House of Commons</a:t>
            </a:r>
          </a:p>
          <a:p>
            <a:pPr algn="ctr"/>
            <a:r>
              <a:rPr lang="en-US" sz="2800" dirty="0"/>
              <a:t>- A chaplain of King William’s “charged Toland with creating a scandal by what he had written” (p. 12)</a:t>
            </a:r>
          </a:p>
        </p:txBody>
      </p:sp>
      <p:sp>
        <p:nvSpPr>
          <p:cNvPr id="20" name="Rectangle 19">
            <a:extLst>
              <a:ext uri="{FF2B5EF4-FFF2-40B4-BE49-F238E27FC236}">
                <a16:creationId xmlns:a16="http://schemas.microsoft.com/office/drawing/2014/main" id="{AC5FC15B-7F13-291F-BFD5-722C4F9F9941}"/>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CFE4408-C326-E4EA-1668-019AD2D2E48B}"/>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B64BCC8A-5383-6E08-04B1-280D24B085B0}"/>
              </a:ext>
            </a:extLst>
          </p:cNvPr>
          <p:cNvSpPr txBox="1"/>
          <p:nvPr/>
        </p:nvSpPr>
        <p:spPr>
          <a:xfrm>
            <a:off x="3684638" y="3676573"/>
            <a:ext cx="4822722" cy="523220"/>
          </a:xfrm>
          <a:prstGeom prst="rect">
            <a:avLst/>
          </a:prstGeom>
          <a:noFill/>
        </p:spPr>
        <p:txBody>
          <a:bodyPr wrap="square" rtlCol="0">
            <a:spAutoFit/>
          </a:bodyPr>
          <a:lstStyle/>
          <a:p>
            <a:pPr algn="ctr"/>
            <a:r>
              <a:rPr lang="en-US" sz="2800" dirty="0"/>
              <a:t>John Toland</a:t>
            </a:r>
          </a:p>
        </p:txBody>
      </p:sp>
      <p:sp>
        <p:nvSpPr>
          <p:cNvPr id="24" name="TextBox 23">
            <a:extLst>
              <a:ext uri="{FF2B5EF4-FFF2-40B4-BE49-F238E27FC236}">
                <a16:creationId xmlns:a16="http://schemas.microsoft.com/office/drawing/2014/main" id="{DC71A7CD-40A7-DAD6-1016-9E3B56E0EE99}"/>
              </a:ext>
            </a:extLst>
          </p:cNvPr>
          <p:cNvSpPr txBox="1"/>
          <p:nvPr/>
        </p:nvSpPr>
        <p:spPr>
          <a:xfrm>
            <a:off x="1660170" y="4165287"/>
            <a:ext cx="8997786" cy="2677656"/>
          </a:xfrm>
          <a:prstGeom prst="rect">
            <a:avLst/>
          </a:prstGeom>
          <a:noFill/>
        </p:spPr>
        <p:txBody>
          <a:bodyPr wrap="square" rtlCol="0">
            <a:spAutoFit/>
          </a:bodyPr>
          <a:lstStyle/>
          <a:p>
            <a:pPr algn="ctr"/>
            <a:r>
              <a:rPr lang="en-US" sz="2800" dirty="0"/>
              <a:t>Response: claimed that his earlier statements were only about the apocryphal writings, not the NT</a:t>
            </a:r>
          </a:p>
          <a:p>
            <a:pPr algn="ctr"/>
            <a:r>
              <a:rPr lang="en-US" sz="2800" dirty="0"/>
              <a:t>“In the next breath, however, Toland raised questions that must, on the face of it, cast down on the validity of accepting as canonical several books of the New Testament” (p. 12)</a:t>
            </a:r>
          </a:p>
        </p:txBody>
      </p:sp>
      <p:sp>
        <p:nvSpPr>
          <p:cNvPr id="27" name="TextBox 26">
            <a:extLst>
              <a:ext uri="{FF2B5EF4-FFF2-40B4-BE49-F238E27FC236}">
                <a16:creationId xmlns:a16="http://schemas.microsoft.com/office/drawing/2014/main" id="{3D6C541A-683C-75DA-FFEC-F94573846090}"/>
              </a:ext>
            </a:extLst>
          </p:cNvPr>
          <p:cNvSpPr txBox="1"/>
          <p:nvPr/>
        </p:nvSpPr>
        <p:spPr>
          <a:xfrm>
            <a:off x="0" y="6957578"/>
            <a:ext cx="12192000" cy="1384995"/>
          </a:xfrm>
          <a:prstGeom prst="rect">
            <a:avLst/>
          </a:prstGeom>
          <a:noFill/>
        </p:spPr>
        <p:txBody>
          <a:bodyPr wrap="square" rtlCol="0">
            <a:spAutoFit/>
          </a:bodyPr>
          <a:lstStyle/>
          <a:p>
            <a:pPr algn="ctr"/>
            <a:r>
              <a:rPr lang="en-US" sz="2800" dirty="0"/>
              <a:t>“Thus he admitted that several spurious pieces are quoted by the Fathers as of equal authority with those that are generally received in the New Testament” (p. 12)</a:t>
            </a:r>
          </a:p>
        </p:txBody>
      </p:sp>
      <p:sp>
        <p:nvSpPr>
          <p:cNvPr id="28" name="TextBox 27">
            <a:extLst>
              <a:ext uri="{FF2B5EF4-FFF2-40B4-BE49-F238E27FC236}">
                <a16:creationId xmlns:a16="http://schemas.microsoft.com/office/drawing/2014/main" id="{EB63B884-C7C5-EA12-17F0-7A6DE1812F8F}"/>
              </a:ext>
            </a:extLst>
          </p:cNvPr>
          <p:cNvSpPr txBox="1"/>
          <p:nvPr/>
        </p:nvSpPr>
        <p:spPr>
          <a:xfrm>
            <a:off x="0" y="8302220"/>
            <a:ext cx="12192000" cy="3539430"/>
          </a:xfrm>
          <a:prstGeom prst="rect">
            <a:avLst/>
          </a:prstGeom>
          <a:noFill/>
        </p:spPr>
        <p:txBody>
          <a:bodyPr wrap="square">
            <a:spAutoFit/>
          </a:bodyPr>
          <a:lstStyle/>
          <a:p>
            <a:pPr algn="ctr"/>
            <a:r>
              <a:rPr lang="en-US" sz="2800" dirty="0"/>
              <a:t>“He urged also that he could not understand why the writings of Mark and Luke should be accepted as canonical whereas those attributed to Clement of Rome and Barnabas are </a:t>
            </a:r>
            <a:r>
              <a:rPr lang="en-US" sz="2800" dirty="0" err="1"/>
              <a:t>fefused</a:t>
            </a:r>
            <a:r>
              <a:rPr lang="en-US" sz="2800" dirty="0"/>
              <a:t>, since all four authors were equally companions and fellow-</a:t>
            </a:r>
            <a:r>
              <a:rPr lang="en-US" sz="2800" dirty="0" err="1"/>
              <a:t>labourers</a:t>
            </a:r>
            <a:r>
              <a:rPr lang="en-US" sz="2800" dirty="0"/>
              <a:t> with the apostles. In fact, Toland went so far as to declare, in so many words, that there is not one single book of the New Testament which was not refused by some of the ancient writers as being unjustly attributed to the apostles and as actually forged by their adversaries” (p. 12-13)</a:t>
            </a:r>
          </a:p>
        </p:txBody>
      </p:sp>
    </p:spTree>
    <p:extLst>
      <p:ext uri="{BB962C8B-B14F-4D97-AF65-F5344CB8AC3E}">
        <p14:creationId xmlns:p14="http://schemas.microsoft.com/office/powerpoint/2010/main" val="2988140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4">
                                            <p:txEl>
                                              <p:pRg st="0" end="0"/>
                                            </p:txEl>
                                          </p:spTgt>
                                        </p:tgtEl>
                                        <p:attrNameLst>
                                          <p:attrName>style.visibility</p:attrName>
                                        </p:attrNameLst>
                                      </p:cBhvr>
                                      <p:to>
                                        <p:strVal val="visible"/>
                                      </p:to>
                                    </p:set>
                                    <p:animEffect transition="in" filter="fade">
                                      <p:cBhvr>
                                        <p:cTn id="19" dur="500"/>
                                        <p:tgtEl>
                                          <p:spTgt spid="24">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4">
                                            <p:txEl>
                                              <p:pRg st="1" end="1"/>
                                            </p:txEl>
                                          </p:spTgt>
                                        </p:tgtEl>
                                        <p:attrNameLst>
                                          <p:attrName>style.visibility</p:attrName>
                                        </p:attrNameLst>
                                      </p:cBhvr>
                                      <p:to>
                                        <p:strVal val="visible"/>
                                      </p:to>
                                    </p:set>
                                    <p:animEffect transition="in" filter="fade">
                                      <p:cBhvr>
                                        <p:cTn id="24" dur="500"/>
                                        <p:tgtEl>
                                          <p:spTgt spid="2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p:bldP spid="2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D84B0-B635-A2D5-2800-836E62155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3DCD0-CF2E-6E72-D1AA-6350A58777D7}"/>
              </a:ext>
            </a:extLst>
          </p:cNvPr>
          <p:cNvSpPr>
            <a:spLocks noGrp="1"/>
          </p:cNvSpPr>
          <p:nvPr>
            <p:ph type="title"/>
          </p:nvPr>
        </p:nvSpPr>
        <p:spPr>
          <a:xfrm>
            <a:off x="838200" y="-1993065"/>
            <a:ext cx="10515600" cy="1325563"/>
          </a:xfrm>
        </p:spPr>
        <p:txBody>
          <a:bodyPr/>
          <a:lstStyle/>
          <a:p>
            <a:r>
              <a:rPr lang="en-US" dirty="0"/>
              <a:t>History of Canon Discussion</a:t>
            </a:r>
          </a:p>
        </p:txBody>
      </p:sp>
      <p:sp>
        <p:nvSpPr>
          <p:cNvPr id="6" name="Rectangle 5">
            <a:extLst>
              <a:ext uri="{FF2B5EF4-FFF2-40B4-BE49-F238E27FC236}">
                <a16:creationId xmlns:a16="http://schemas.microsoft.com/office/drawing/2014/main" id="{5011EC06-EC1A-3FE1-AE1D-8FC78016A2E2}"/>
              </a:ext>
            </a:extLst>
          </p:cNvPr>
          <p:cNvSpPr/>
          <p:nvPr/>
        </p:nvSpPr>
        <p:spPr>
          <a:xfrm>
            <a:off x="-1445103" y="104584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7A691F7-19D5-5100-855E-1C345A91FD43}"/>
              </a:ext>
            </a:extLst>
          </p:cNvPr>
          <p:cNvSpPr/>
          <p:nvPr/>
        </p:nvSpPr>
        <p:spPr>
          <a:xfrm rot="16200000">
            <a:off x="5867400" y="73921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75B1AE5-2207-4CE6-2361-A708CADBEFE6}"/>
              </a:ext>
            </a:extLst>
          </p:cNvPr>
          <p:cNvSpPr txBox="1"/>
          <p:nvPr/>
        </p:nvSpPr>
        <p:spPr>
          <a:xfrm>
            <a:off x="2925097" y="6542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D6ECF68F-C54B-C1BE-FC55-45DEE57BD18D}"/>
              </a:ext>
            </a:extLst>
          </p:cNvPr>
          <p:cNvSpPr txBox="1"/>
          <p:nvPr/>
        </p:nvSpPr>
        <p:spPr>
          <a:xfrm>
            <a:off x="3684638" y="1318383"/>
            <a:ext cx="4822722" cy="523220"/>
          </a:xfrm>
          <a:prstGeom prst="rect">
            <a:avLst/>
          </a:prstGeom>
          <a:noFill/>
        </p:spPr>
        <p:txBody>
          <a:bodyPr wrap="square" rtlCol="0">
            <a:spAutoFit/>
          </a:bodyPr>
          <a:lstStyle/>
          <a:p>
            <a:pPr algn="ctr"/>
            <a:r>
              <a:rPr lang="en-US" sz="2800" dirty="0"/>
              <a:t>John Toland</a:t>
            </a:r>
          </a:p>
        </p:txBody>
      </p:sp>
      <p:sp>
        <p:nvSpPr>
          <p:cNvPr id="25" name="TextBox 24">
            <a:extLst>
              <a:ext uri="{FF2B5EF4-FFF2-40B4-BE49-F238E27FC236}">
                <a16:creationId xmlns:a16="http://schemas.microsoft.com/office/drawing/2014/main" id="{8C5E98BB-00E5-F5FB-2E21-9C240C88DC68}"/>
              </a:ext>
            </a:extLst>
          </p:cNvPr>
          <p:cNvSpPr txBox="1"/>
          <p:nvPr/>
        </p:nvSpPr>
        <p:spPr>
          <a:xfrm>
            <a:off x="0" y="1988012"/>
            <a:ext cx="12192000" cy="1384995"/>
          </a:xfrm>
          <a:prstGeom prst="rect">
            <a:avLst/>
          </a:prstGeom>
          <a:noFill/>
        </p:spPr>
        <p:txBody>
          <a:bodyPr wrap="square" rtlCol="0">
            <a:spAutoFit/>
          </a:bodyPr>
          <a:lstStyle/>
          <a:p>
            <a:pPr algn="ctr"/>
            <a:r>
              <a:rPr lang="en-US" sz="2800" dirty="0"/>
              <a:t>“Thus he admitted that several spurious pieces are quoted by the Fathers as of equal authority with those that are generally received in the New Testament” (p. 12)</a:t>
            </a:r>
          </a:p>
        </p:txBody>
      </p:sp>
      <p:sp>
        <p:nvSpPr>
          <p:cNvPr id="26" name="TextBox 25">
            <a:extLst>
              <a:ext uri="{FF2B5EF4-FFF2-40B4-BE49-F238E27FC236}">
                <a16:creationId xmlns:a16="http://schemas.microsoft.com/office/drawing/2014/main" id="{DCC043C0-1449-F416-1E23-600887675F69}"/>
              </a:ext>
            </a:extLst>
          </p:cNvPr>
          <p:cNvSpPr txBox="1"/>
          <p:nvPr/>
        </p:nvSpPr>
        <p:spPr>
          <a:xfrm>
            <a:off x="1660170" y="-2672837"/>
            <a:ext cx="8997786" cy="2677656"/>
          </a:xfrm>
          <a:prstGeom prst="rect">
            <a:avLst/>
          </a:prstGeom>
          <a:noFill/>
        </p:spPr>
        <p:txBody>
          <a:bodyPr wrap="square" rtlCol="0">
            <a:spAutoFit/>
          </a:bodyPr>
          <a:lstStyle/>
          <a:p>
            <a:pPr algn="ctr"/>
            <a:r>
              <a:rPr lang="en-US" sz="2800" dirty="0"/>
              <a:t>Response: claimed that his earlier statements were only about the apocryphal writings, not the NT</a:t>
            </a:r>
          </a:p>
          <a:p>
            <a:pPr algn="ctr"/>
            <a:r>
              <a:rPr lang="en-US" sz="2800" dirty="0"/>
              <a:t>“In the next breath, however, Toland raised questions that must, on the face of it cast down on the validity of accepting as canonical several books of the New Testament” (p. 12)</a:t>
            </a:r>
          </a:p>
        </p:txBody>
      </p:sp>
      <p:sp>
        <p:nvSpPr>
          <p:cNvPr id="28" name="TextBox 27">
            <a:extLst>
              <a:ext uri="{FF2B5EF4-FFF2-40B4-BE49-F238E27FC236}">
                <a16:creationId xmlns:a16="http://schemas.microsoft.com/office/drawing/2014/main" id="{EA56B1B6-5287-0E1C-5822-8BB26AB4F32A}"/>
              </a:ext>
            </a:extLst>
          </p:cNvPr>
          <p:cNvSpPr txBox="1"/>
          <p:nvPr/>
        </p:nvSpPr>
        <p:spPr>
          <a:xfrm>
            <a:off x="0" y="3332654"/>
            <a:ext cx="12192000" cy="3539430"/>
          </a:xfrm>
          <a:prstGeom prst="rect">
            <a:avLst/>
          </a:prstGeom>
          <a:noFill/>
        </p:spPr>
        <p:txBody>
          <a:bodyPr wrap="square">
            <a:spAutoFit/>
          </a:bodyPr>
          <a:lstStyle/>
          <a:p>
            <a:pPr algn="ctr"/>
            <a:r>
              <a:rPr lang="en-US" sz="2800" dirty="0"/>
              <a:t>“He urged also that he could not understand why the writings of Mark and Luke should be accepted as canonical whereas those attributed to Clement of Rome and Barnabas are refused, since all four authors were equally companions and fellow-</a:t>
            </a:r>
            <a:r>
              <a:rPr lang="en-US" sz="2800" dirty="0" err="1"/>
              <a:t>labourers</a:t>
            </a:r>
            <a:r>
              <a:rPr lang="en-US" sz="2800" dirty="0"/>
              <a:t> with the apostles. In fact, Toland went so far as to declare, in so many words, that there is not one single book of the New Testament which was not refused by some of the ancient writers as being unjustly attributed to the apostles and as actually forged by their adversaries” (p. 12-13)</a:t>
            </a:r>
          </a:p>
        </p:txBody>
      </p:sp>
      <p:sp>
        <p:nvSpPr>
          <p:cNvPr id="29" name="TextBox 28">
            <a:extLst>
              <a:ext uri="{FF2B5EF4-FFF2-40B4-BE49-F238E27FC236}">
                <a16:creationId xmlns:a16="http://schemas.microsoft.com/office/drawing/2014/main" id="{7723457E-F81B-4D28-61E7-7B925F071008}"/>
              </a:ext>
            </a:extLst>
          </p:cNvPr>
          <p:cNvSpPr txBox="1"/>
          <p:nvPr/>
        </p:nvSpPr>
        <p:spPr>
          <a:xfrm>
            <a:off x="1660170" y="-3110166"/>
            <a:ext cx="8997786" cy="2677656"/>
          </a:xfrm>
          <a:prstGeom prst="rect">
            <a:avLst/>
          </a:prstGeom>
          <a:noFill/>
        </p:spPr>
        <p:txBody>
          <a:bodyPr wrap="square" rtlCol="0">
            <a:spAutoFit/>
          </a:bodyPr>
          <a:lstStyle/>
          <a:p>
            <a:pPr algn="ctr"/>
            <a:r>
              <a:rPr lang="en-US" sz="2800" dirty="0"/>
              <a:t>Response: claimed that his earlier statements were only about the apocryphal writings, not the NT</a:t>
            </a:r>
          </a:p>
          <a:p>
            <a:pPr algn="ctr"/>
            <a:r>
              <a:rPr lang="en-US" sz="2800" dirty="0"/>
              <a:t>“In the next breath, however, Toland raised questions that must, on the face of it, cast down on the validity of accepting as canonical several books of the New Testament” (p. 12)</a:t>
            </a:r>
          </a:p>
        </p:txBody>
      </p:sp>
    </p:spTree>
    <p:extLst>
      <p:ext uri="{BB962C8B-B14F-4D97-AF65-F5344CB8AC3E}">
        <p14:creationId xmlns:p14="http://schemas.microsoft.com/office/powerpoint/2010/main" val="1810582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0A817-53AE-41A4-F943-1FC87CCFE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407C0-C6B3-B606-21EC-8A80D7E23BB8}"/>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8678CFD5-EFE1-1E3A-18F9-39159D0CB3DB}"/>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9E02DDC-C305-6EFE-418E-ADB03C6EF1E4}"/>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1D5B21A-E99A-4B4D-68A9-859D33B3DFE3}"/>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C05CD5F4-5C7B-C087-64DA-103E32F7FB2D}"/>
              </a:ext>
            </a:extLst>
          </p:cNvPr>
          <p:cNvSpPr txBox="1"/>
          <p:nvPr/>
        </p:nvSpPr>
        <p:spPr>
          <a:xfrm>
            <a:off x="3684638" y="3676573"/>
            <a:ext cx="4822722" cy="523220"/>
          </a:xfrm>
          <a:prstGeom prst="rect">
            <a:avLst/>
          </a:prstGeom>
          <a:noFill/>
        </p:spPr>
        <p:txBody>
          <a:bodyPr wrap="square" rtlCol="0">
            <a:spAutoFit/>
          </a:bodyPr>
          <a:lstStyle/>
          <a:p>
            <a:pPr algn="ctr"/>
            <a:r>
              <a:rPr lang="en-US" sz="2800" dirty="0"/>
              <a:t>John Toland</a:t>
            </a:r>
          </a:p>
        </p:txBody>
      </p:sp>
    </p:spTree>
    <p:extLst>
      <p:ext uri="{BB962C8B-B14F-4D97-AF65-F5344CB8AC3E}">
        <p14:creationId xmlns:p14="http://schemas.microsoft.com/office/powerpoint/2010/main" val="906010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172E1-BB92-493F-A918-BD62E32DF7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7F9FA-CAF8-EDEA-FCDA-E9E03776294A}"/>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125B8628-AC40-8C96-40EA-0F74209F0312}"/>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9B01331-63E0-7749-5D1C-02EB9D01823E}"/>
              </a:ext>
            </a:extLst>
          </p:cNvPr>
          <p:cNvSpPr/>
          <p:nvPr/>
        </p:nvSpPr>
        <p:spPr>
          <a:xfrm rot="16200000">
            <a:off x="-3475395"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709D705-9515-AA4E-2CED-6F89B8DBE3DD}"/>
              </a:ext>
            </a:extLst>
          </p:cNvPr>
          <p:cNvSpPr txBox="1"/>
          <p:nvPr/>
        </p:nvSpPr>
        <p:spPr>
          <a:xfrm>
            <a:off x="-6417698"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2C57F4E9-B4EA-2519-BA8A-9243BF0D4BC8}"/>
              </a:ext>
            </a:extLst>
          </p:cNvPr>
          <p:cNvSpPr txBox="1"/>
          <p:nvPr/>
        </p:nvSpPr>
        <p:spPr>
          <a:xfrm>
            <a:off x="-5658157" y="3676573"/>
            <a:ext cx="4822722" cy="523220"/>
          </a:xfrm>
          <a:prstGeom prst="rect">
            <a:avLst/>
          </a:prstGeom>
          <a:noFill/>
        </p:spPr>
        <p:txBody>
          <a:bodyPr wrap="square" rtlCol="0">
            <a:spAutoFit/>
          </a:bodyPr>
          <a:lstStyle/>
          <a:p>
            <a:pPr algn="ctr"/>
            <a:r>
              <a:rPr lang="en-US" sz="2800" dirty="0"/>
              <a:t>John Toland</a:t>
            </a:r>
          </a:p>
        </p:txBody>
      </p:sp>
      <p:sp>
        <p:nvSpPr>
          <p:cNvPr id="3" name="Rectangle 2">
            <a:extLst>
              <a:ext uri="{FF2B5EF4-FFF2-40B4-BE49-F238E27FC236}">
                <a16:creationId xmlns:a16="http://schemas.microsoft.com/office/drawing/2014/main" id="{2A4EA4CD-58C7-8E8D-37D9-D9B83C77C417}"/>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BAB3398-8367-20DA-006B-A84CD1722EA5}"/>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1700-1719</a:t>
            </a:r>
          </a:p>
        </p:txBody>
      </p:sp>
      <p:sp>
        <p:nvSpPr>
          <p:cNvPr id="5" name="TextBox 4">
            <a:extLst>
              <a:ext uri="{FF2B5EF4-FFF2-40B4-BE49-F238E27FC236}">
                <a16:creationId xmlns:a16="http://schemas.microsoft.com/office/drawing/2014/main" id="{3638E378-1346-CF9C-1366-67CB878A09DB}"/>
              </a:ext>
            </a:extLst>
          </p:cNvPr>
          <p:cNvSpPr txBox="1"/>
          <p:nvPr/>
        </p:nvSpPr>
        <p:spPr>
          <a:xfrm>
            <a:off x="3684638" y="3676573"/>
            <a:ext cx="4822722" cy="954107"/>
          </a:xfrm>
          <a:prstGeom prst="rect">
            <a:avLst/>
          </a:prstGeom>
          <a:noFill/>
        </p:spPr>
        <p:txBody>
          <a:bodyPr wrap="square" rtlCol="0">
            <a:spAutoFit/>
          </a:bodyPr>
          <a:lstStyle/>
          <a:p>
            <a:pPr algn="ctr"/>
            <a:r>
              <a:rPr lang="en-US" sz="2800" dirty="0"/>
              <a:t>Samuel Clarke, Stephen Nye, John Richardson, and others</a:t>
            </a:r>
          </a:p>
        </p:txBody>
      </p:sp>
      <p:sp>
        <p:nvSpPr>
          <p:cNvPr id="7" name="TextBox 6">
            <a:extLst>
              <a:ext uri="{FF2B5EF4-FFF2-40B4-BE49-F238E27FC236}">
                <a16:creationId xmlns:a16="http://schemas.microsoft.com/office/drawing/2014/main" id="{3BF31409-FEFB-7CF7-F442-EA6E15B4AC11}"/>
              </a:ext>
            </a:extLst>
          </p:cNvPr>
          <p:cNvSpPr txBox="1"/>
          <p:nvPr/>
        </p:nvSpPr>
        <p:spPr>
          <a:xfrm>
            <a:off x="0" y="4761635"/>
            <a:ext cx="12192000" cy="1815882"/>
          </a:xfrm>
          <a:prstGeom prst="rect">
            <a:avLst/>
          </a:prstGeom>
          <a:noFill/>
        </p:spPr>
        <p:txBody>
          <a:bodyPr wrap="square" rtlCol="0">
            <a:spAutoFit/>
          </a:bodyPr>
          <a:lstStyle/>
          <a:p>
            <a:pPr algn="ctr"/>
            <a:r>
              <a:rPr lang="en-US" sz="2800" dirty="0"/>
              <a:t>- Strongly denounced Toland</a:t>
            </a:r>
          </a:p>
          <a:p>
            <a:pPr algn="ctr"/>
            <a:r>
              <a:rPr lang="en-US" sz="2800" dirty="0"/>
              <a:t>- Richardson: “What the Apostles Wrote, and what they </a:t>
            </a:r>
            <a:r>
              <a:rPr lang="en-US" sz="2800" dirty="0" err="1"/>
              <a:t>Authoriz’d</a:t>
            </a:r>
            <a:r>
              <a:rPr lang="en-US" sz="2800" dirty="0"/>
              <a:t>, can be known in no other way, then by the Testimonies of those who </a:t>
            </a:r>
            <a:r>
              <a:rPr lang="en-US" sz="2800" dirty="0" err="1"/>
              <a:t>liv’d</a:t>
            </a:r>
            <a:r>
              <a:rPr lang="en-US" sz="2800" dirty="0"/>
              <a:t> at the same time with them, and the Tradition of those who succeeded them” (p. 13)</a:t>
            </a:r>
          </a:p>
        </p:txBody>
      </p:sp>
    </p:spTree>
    <p:extLst>
      <p:ext uri="{BB962C8B-B14F-4D97-AF65-F5344CB8AC3E}">
        <p14:creationId xmlns:p14="http://schemas.microsoft.com/office/powerpoint/2010/main" val="3941359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52490-DB12-CE35-FB21-298DE8F1C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0670D8-B0B2-7688-AC7B-A92301F221B8}"/>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1DCBA06D-0387-5750-85C3-33029A2F6E1F}"/>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5B01EBC-B708-841A-57CE-48A9F8C40FA0}"/>
              </a:ext>
            </a:extLst>
          </p:cNvPr>
          <p:cNvSpPr/>
          <p:nvPr/>
        </p:nvSpPr>
        <p:spPr>
          <a:xfrm rot="16200000">
            <a:off x="-3475395"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78F8836-B02F-E77F-369F-8706E0387EB8}"/>
              </a:ext>
            </a:extLst>
          </p:cNvPr>
          <p:cNvSpPr txBox="1"/>
          <p:nvPr/>
        </p:nvSpPr>
        <p:spPr>
          <a:xfrm>
            <a:off x="-6417698"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CCE9B671-3971-A24E-C5FE-0CDE86CC1B77}"/>
              </a:ext>
            </a:extLst>
          </p:cNvPr>
          <p:cNvSpPr txBox="1"/>
          <p:nvPr/>
        </p:nvSpPr>
        <p:spPr>
          <a:xfrm>
            <a:off x="-5658157" y="3676573"/>
            <a:ext cx="4822722" cy="523220"/>
          </a:xfrm>
          <a:prstGeom prst="rect">
            <a:avLst/>
          </a:prstGeom>
          <a:noFill/>
        </p:spPr>
        <p:txBody>
          <a:bodyPr wrap="square" rtlCol="0">
            <a:spAutoFit/>
          </a:bodyPr>
          <a:lstStyle/>
          <a:p>
            <a:pPr algn="ctr"/>
            <a:r>
              <a:rPr lang="en-US" sz="2800" dirty="0"/>
              <a:t>John Toland</a:t>
            </a:r>
          </a:p>
        </p:txBody>
      </p:sp>
      <p:sp>
        <p:nvSpPr>
          <p:cNvPr id="3" name="Rectangle 2">
            <a:extLst>
              <a:ext uri="{FF2B5EF4-FFF2-40B4-BE49-F238E27FC236}">
                <a16:creationId xmlns:a16="http://schemas.microsoft.com/office/drawing/2014/main" id="{8B69D8D6-E9EB-5655-7559-14677E3C27FC}"/>
              </a:ext>
            </a:extLst>
          </p:cNvPr>
          <p:cNvSpPr/>
          <p:nvPr/>
        </p:nvSpPr>
        <p:spPr>
          <a:xfrm rot="16200000">
            <a:off x="-3549314"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BC1BA3B-747D-060F-24F0-10535F38151C}"/>
              </a:ext>
            </a:extLst>
          </p:cNvPr>
          <p:cNvSpPr txBox="1"/>
          <p:nvPr/>
        </p:nvSpPr>
        <p:spPr>
          <a:xfrm>
            <a:off x="-6491617" y="2423618"/>
            <a:ext cx="6341805" cy="523220"/>
          </a:xfrm>
          <a:prstGeom prst="rect">
            <a:avLst/>
          </a:prstGeom>
          <a:noFill/>
        </p:spPr>
        <p:txBody>
          <a:bodyPr wrap="square" rtlCol="0">
            <a:spAutoFit/>
          </a:bodyPr>
          <a:lstStyle/>
          <a:p>
            <a:pPr algn="ctr"/>
            <a:r>
              <a:rPr lang="en-US" sz="2800" b="1" dirty="0"/>
              <a:t>1700-1719</a:t>
            </a:r>
          </a:p>
        </p:txBody>
      </p:sp>
      <p:sp>
        <p:nvSpPr>
          <p:cNvPr id="5" name="TextBox 4">
            <a:extLst>
              <a:ext uri="{FF2B5EF4-FFF2-40B4-BE49-F238E27FC236}">
                <a16:creationId xmlns:a16="http://schemas.microsoft.com/office/drawing/2014/main" id="{17C24C16-E8DB-DF36-FFCC-45ED4907A31D}"/>
              </a:ext>
            </a:extLst>
          </p:cNvPr>
          <p:cNvSpPr txBox="1"/>
          <p:nvPr/>
        </p:nvSpPr>
        <p:spPr>
          <a:xfrm>
            <a:off x="-5732076" y="3676573"/>
            <a:ext cx="4822722" cy="954107"/>
          </a:xfrm>
          <a:prstGeom prst="rect">
            <a:avLst/>
          </a:prstGeom>
          <a:noFill/>
        </p:spPr>
        <p:txBody>
          <a:bodyPr wrap="square" rtlCol="0">
            <a:spAutoFit/>
          </a:bodyPr>
          <a:lstStyle/>
          <a:p>
            <a:pPr algn="ctr"/>
            <a:r>
              <a:rPr lang="en-US" sz="2800" dirty="0"/>
              <a:t>Samuel Clarke, Stephen Nye, John Richardson, and others</a:t>
            </a:r>
          </a:p>
        </p:txBody>
      </p:sp>
      <p:sp>
        <p:nvSpPr>
          <p:cNvPr id="7" name="TextBox 6">
            <a:extLst>
              <a:ext uri="{FF2B5EF4-FFF2-40B4-BE49-F238E27FC236}">
                <a16:creationId xmlns:a16="http://schemas.microsoft.com/office/drawing/2014/main" id="{F652D1E8-E819-860A-8661-B5B5C59B9311}"/>
              </a:ext>
            </a:extLst>
          </p:cNvPr>
          <p:cNvSpPr txBox="1"/>
          <p:nvPr/>
        </p:nvSpPr>
        <p:spPr>
          <a:xfrm>
            <a:off x="0" y="4392669"/>
            <a:ext cx="12192000" cy="1384995"/>
          </a:xfrm>
          <a:prstGeom prst="rect">
            <a:avLst/>
          </a:prstGeom>
          <a:noFill/>
        </p:spPr>
        <p:txBody>
          <a:bodyPr wrap="square" rtlCol="0">
            <a:spAutoFit/>
          </a:bodyPr>
          <a:lstStyle/>
          <a:p>
            <a:pPr algn="ctr"/>
            <a:r>
              <a:rPr lang="en-US" sz="2800" dirty="0"/>
              <a:t>Used the “New and Full Method” of looking at ancient records to find early testimony or traditions of people concerning NT books written close to them in time </a:t>
            </a:r>
          </a:p>
        </p:txBody>
      </p:sp>
      <p:sp>
        <p:nvSpPr>
          <p:cNvPr id="8" name="Rectangle 7">
            <a:extLst>
              <a:ext uri="{FF2B5EF4-FFF2-40B4-BE49-F238E27FC236}">
                <a16:creationId xmlns:a16="http://schemas.microsoft.com/office/drawing/2014/main" id="{EDEC1109-9CB8-C523-DA64-8C3DCC3638A5}"/>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071AB9C-E75A-41A2-62B0-00A73B5E2012}"/>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1726-1727</a:t>
            </a:r>
          </a:p>
        </p:txBody>
      </p:sp>
      <p:sp>
        <p:nvSpPr>
          <p:cNvPr id="10" name="TextBox 9">
            <a:extLst>
              <a:ext uri="{FF2B5EF4-FFF2-40B4-BE49-F238E27FC236}">
                <a16:creationId xmlns:a16="http://schemas.microsoft.com/office/drawing/2014/main" id="{8C10249B-B207-2376-FA97-DCAFDF387C04}"/>
              </a:ext>
            </a:extLst>
          </p:cNvPr>
          <p:cNvSpPr txBox="1"/>
          <p:nvPr/>
        </p:nvSpPr>
        <p:spPr>
          <a:xfrm>
            <a:off x="3684638" y="3676573"/>
            <a:ext cx="4822722" cy="523220"/>
          </a:xfrm>
          <a:prstGeom prst="rect">
            <a:avLst/>
          </a:prstGeom>
          <a:noFill/>
        </p:spPr>
        <p:txBody>
          <a:bodyPr wrap="square" rtlCol="0">
            <a:spAutoFit/>
          </a:bodyPr>
          <a:lstStyle/>
          <a:p>
            <a:pPr algn="ctr"/>
            <a:r>
              <a:rPr lang="en-US" sz="2800" dirty="0"/>
              <a:t>Jeremiah Jones</a:t>
            </a:r>
          </a:p>
        </p:txBody>
      </p:sp>
      <p:sp>
        <p:nvSpPr>
          <p:cNvPr id="11" name="TextBox 10">
            <a:extLst>
              <a:ext uri="{FF2B5EF4-FFF2-40B4-BE49-F238E27FC236}">
                <a16:creationId xmlns:a16="http://schemas.microsoft.com/office/drawing/2014/main" id="{5F80C3CA-0080-38A3-E3B5-A1C320698374}"/>
              </a:ext>
            </a:extLst>
          </p:cNvPr>
          <p:cNvSpPr txBox="1"/>
          <p:nvPr/>
        </p:nvSpPr>
        <p:spPr>
          <a:xfrm>
            <a:off x="-12310928" y="4761635"/>
            <a:ext cx="12192000" cy="1815882"/>
          </a:xfrm>
          <a:prstGeom prst="rect">
            <a:avLst/>
          </a:prstGeom>
          <a:noFill/>
        </p:spPr>
        <p:txBody>
          <a:bodyPr wrap="square" rtlCol="0">
            <a:spAutoFit/>
          </a:bodyPr>
          <a:lstStyle/>
          <a:p>
            <a:pPr algn="ctr"/>
            <a:r>
              <a:rPr lang="en-US" sz="2800" dirty="0"/>
              <a:t>- Strongly denounced Toland</a:t>
            </a:r>
          </a:p>
          <a:p>
            <a:pPr algn="ctr"/>
            <a:r>
              <a:rPr lang="en-US" sz="2800" dirty="0"/>
              <a:t>- Richardson: “What the Apostles Wrote, and what they </a:t>
            </a:r>
            <a:r>
              <a:rPr lang="en-US" sz="2800" dirty="0" err="1"/>
              <a:t>Authoriz’d</a:t>
            </a:r>
            <a:r>
              <a:rPr lang="en-US" sz="2800" dirty="0"/>
              <a:t>, can be known in no other way, then by the Testimonies of those who </a:t>
            </a:r>
            <a:r>
              <a:rPr lang="en-US" sz="2800" dirty="0" err="1"/>
              <a:t>liv’d</a:t>
            </a:r>
            <a:r>
              <a:rPr lang="en-US" sz="2800" dirty="0"/>
              <a:t> at the same time with them, and the Tradition of those who succeeded them” (p. 13)</a:t>
            </a:r>
          </a:p>
        </p:txBody>
      </p:sp>
      <p:sp>
        <p:nvSpPr>
          <p:cNvPr id="12" name="TextBox 11">
            <a:extLst>
              <a:ext uri="{FF2B5EF4-FFF2-40B4-BE49-F238E27FC236}">
                <a16:creationId xmlns:a16="http://schemas.microsoft.com/office/drawing/2014/main" id="{1D762DA3-921B-BBD9-7A08-4A42E8A8AF77}"/>
              </a:ext>
            </a:extLst>
          </p:cNvPr>
          <p:cNvSpPr txBox="1"/>
          <p:nvPr/>
        </p:nvSpPr>
        <p:spPr>
          <a:xfrm>
            <a:off x="-1" y="4392668"/>
            <a:ext cx="12192000" cy="954107"/>
          </a:xfrm>
          <a:prstGeom prst="rect">
            <a:avLst/>
          </a:prstGeom>
          <a:noFill/>
        </p:spPr>
        <p:txBody>
          <a:bodyPr wrap="square" rtlCol="0">
            <a:spAutoFit/>
          </a:bodyPr>
          <a:lstStyle/>
          <a:p>
            <a:pPr algn="ctr"/>
            <a:r>
              <a:rPr lang="en-US" sz="2800" dirty="0"/>
              <a:t>Jones made available for  the first time an English translation of the text of dozens of apocryphal writings” (p. 14)</a:t>
            </a:r>
          </a:p>
        </p:txBody>
      </p:sp>
    </p:spTree>
    <p:extLst>
      <p:ext uri="{BB962C8B-B14F-4D97-AF65-F5344CB8AC3E}">
        <p14:creationId xmlns:p14="http://schemas.microsoft.com/office/powerpoint/2010/main" val="41858110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1" nodeType="clickEffect">
                                  <p:stCondLst>
                                    <p:cond delay="0"/>
                                  </p:stCondLst>
                                  <p:childTnLst>
                                    <p:set>
                                      <p:cBhvr>
                                        <p:cTn id="23" dur="1" fill="hold">
                                          <p:stCondLst>
                                            <p:cond delay="0"/>
                                          </p:stCondLst>
                                        </p:cTn>
                                        <p:tgtEl>
                                          <p:spTgt spid="7"/>
                                        </p:tgtEl>
                                        <p:attrNameLst>
                                          <p:attrName>style.visibility</p:attrName>
                                        </p:attrNameLst>
                                      </p:cBhvr>
                                      <p:to>
                                        <p:strVal val="hidden"/>
                                      </p:to>
                                    </p:set>
                                  </p:childTnLst>
                                </p:cTn>
                              </p:par>
                              <p:par>
                                <p:cTn id="24" presetID="1"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animBg="1"/>
      <p:bldP spid="9" grpId="0"/>
      <p:bldP spid="10" grpId="0"/>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B97E9-58C5-A5D7-B52D-2818A7D087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06B18D-CCEA-4EF0-CB81-420CC8AF9BF4}"/>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4C79D9C3-3603-0113-81C3-21BAA72C77E2}"/>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5E4DFBC-0EC2-CE40-3717-FF6F41F2F8A7}"/>
              </a:ext>
            </a:extLst>
          </p:cNvPr>
          <p:cNvSpPr txBox="1"/>
          <p:nvPr/>
        </p:nvSpPr>
        <p:spPr>
          <a:xfrm>
            <a:off x="-6417698"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31D8B171-CEE3-3575-4698-F54C268C82FD}"/>
              </a:ext>
            </a:extLst>
          </p:cNvPr>
          <p:cNvSpPr txBox="1"/>
          <p:nvPr/>
        </p:nvSpPr>
        <p:spPr>
          <a:xfrm>
            <a:off x="-5658157" y="3676573"/>
            <a:ext cx="4822722" cy="523220"/>
          </a:xfrm>
          <a:prstGeom prst="rect">
            <a:avLst/>
          </a:prstGeom>
          <a:noFill/>
        </p:spPr>
        <p:txBody>
          <a:bodyPr wrap="square" rtlCol="0">
            <a:spAutoFit/>
          </a:bodyPr>
          <a:lstStyle/>
          <a:p>
            <a:pPr algn="ctr"/>
            <a:r>
              <a:rPr lang="en-US" sz="2800" dirty="0"/>
              <a:t>John Toland</a:t>
            </a:r>
          </a:p>
        </p:txBody>
      </p:sp>
      <p:sp>
        <p:nvSpPr>
          <p:cNvPr id="4" name="TextBox 3">
            <a:extLst>
              <a:ext uri="{FF2B5EF4-FFF2-40B4-BE49-F238E27FC236}">
                <a16:creationId xmlns:a16="http://schemas.microsoft.com/office/drawing/2014/main" id="{70D77643-96BF-7652-25F3-93D735472AB9}"/>
              </a:ext>
            </a:extLst>
          </p:cNvPr>
          <p:cNvSpPr txBox="1"/>
          <p:nvPr/>
        </p:nvSpPr>
        <p:spPr>
          <a:xfrm>
            <a:off x="-6491617" y="2423618"/>
            <a:ext cx="6341805" cy="523220"/>
          </a:xfrm>
          <a:prstGeom prst="rect">
            <a:avLst/>
          </a:prstGeom>
          <a:noFill/>
        </p:spPr>
        <p:txBody>
          <a:bodyPr wrap="square" rtlCol="0">
            <a:spAutoFit/>
          </a:bodyPr>
          <a:lstStyle/>
          <a:p>
            <a:pPr algn="ctr"/>
            <a:r>
              <a:rPr lang="en-US" sz="2800" b="1" dirty="0"/>
              <a:t>1700-1719</a:t>
            </a:r>
          </a:p>
        </p:txBody>
      </p:sp>
      <p:sp>
        <p:nvSpPr>
          <p:cNvPr id="5" name="TextBox 4">
            <a:extLst>
              <a:ext uri="{FF2B5EF4-FFF2-40B4-BE49-F238E27FC236}">
                <a16:creationId xmlns:a16="http://schemas.microsoft.com/office/drawing/2014/main" id="{A212832B-0438-5251-040F-BF515871581F}"/>
              </a:ext>
            </a:extLst>
          </p:cNvPr>
          <p:cNvSpPr txBox="1"/>
          <p:nvPr/>
        </p:nvSpPr>
        <p:spPr>
          <a:xfrm>
            <a:off x="-5732076" y="3676573"/>
            <a:ext cx="4822722" cy="954107"/>
          </a:xfrm>
          <a:prstGeom prst="rect">
            <a:avLst/>
          </a:prstGeom>
          <a:noFill/>
        </p:spPr>
        <p:txBody>
          <a:bodyPr wrap="square" rtlCol="0">
            <a:spAutoFit/>
          </a:bodyPr>
          <a:lstStyle/>
          <a:p>
            <a:pPr algn="ctr"/>
            <a:r>
              <a:rPr lang="en-US" sz="2800" dirty="0"/>
              <a:t>Samuel Clarke, Stephen Nye, John Richardson, and others</a:t>
            </a:r>
          </a:p>
        </p:txBody>
      </p:sp>
      <p:sp>
        <p:nvSpPr>
          <p:cNvPr id="8" name="Rectangle 7">
            <a:extLst>
              <a:ext uri="{FF2B5EF4-FFF2-40B4-BE49-F238E27FC236}">
                <a16:creationId xmlns:a16="http://schemas.microsoft.com/office/drawing/2014/main" id="{D58056BB-F52C-728F-8333-5B5B366E20D7}"/>
              </a:ext>
            </a:extLst>
          </p:cNvPr>
          <p:cNvSpPr/>
          <p:nvPr/>
        </p:nvSpPr>
        <p:spPr>
          <a:xfrm rot="16200000">
            <a:off x="18211818"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34C387E-D881-3367-0B4A-0579046D786A}"/>
              </a:ext>
            </a:extLst>
          </p:cNvPr>
          <p:cNvSpPr txBox="1"/>
          <p:nvPr/>
        </p:nvSpPr>
        <p:spPr>
          <a:xfrm>
            <a:off x="-12310928" y="4761635"/>
            <a:ext cx="12192000" cy="1815882"/>
          </a:xfrm>
          <a:prstGeom prst="rect">
            <a:avLst/>
          </a:prstGeom>
          <a:noFill/>
        </p:spPr>
        <p:txBody>
          <a:bodyPr wrap="square" rtlCol="0">
            <a:spAutoFit/>
          </a:bodyPr>
          <a:lstStyle/>
          <a:p>
            <a:pPr algn="ctr"/>
            <a:r>
              <a:rPr lang="en-US" sz="2800" dirty="0"/>
              <a:t>- Strongly denounced Toland</a:t>
            </a:r>
          </a:p>
          <a:p>
            <a:pPr algn="ctr"/>
            <a:r>
              <a:rPr lang="en-US" sz="2800" dirty="0"/>
              <a:t>- Richardson: “What the Apostles Wrote, and what they </a:t>
            </a:r>
            <a:r>
              <a:rPr lang="en-US" sz="2800" dirty="0" err="1"/>
              <a:t>Authoriz’d</a:t>
            </a:r>
            <a:r>
              <a:rPr lang="en-US" sz="2800" dirty="0"/>
              <a:t>, can be known in no other way, then by the Testimonies of those who </a:t>
            </a:r>
            <a:r>
              <a:rPr lang="en-US" sz="2800" dirty="0" err="1"/>
              <a:t>liv’d</a:t>
            </a:r>
            <a:r>
              <a:rPr lang="en-US" sz="2800" dirty="0"/>
              <a:t> at the same time with them, and the Tradition of those who succeeded them” (p. 13)</a:t>
            </a:r>
          </a:p>
        </p:txBody>
      </p:sp>
      <p:sp>
        <p:nvSpPr>
          <p:cNvPr id="13" name="Rectangle 12">
            <a:extLst>
              <a:ext uri="{FF2B5EF4-FFF2-40B4-BE49-F238E27FC236}">
                <a16:creationId xmlns:a16="http://schemas.microsoft.com/office/drawing/2014/main" id="{69F1A783-9488-9701-4FDB-17BE0272425C}"/>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1FB01D3-0B32-61DD-BDC9-0B4667265B31}"/>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1699 (in France)</a:t>
            </a:r>
          </a:p>
        </p:txBody>
      </p:sp>
      <p:sp>
        <p:nvSpPr>
          <p:cNvPr id="15" name="TextBox 14">
            <a:extLst>
              <a:ext uri="{FF2B5EF4-FFF2-40B4-BE49-F238E27FC236}">
                <a16:creationId xmlns:a16="http://schemas.microsoft.com/office/drawing/2014/main" id="{B93FC1C0-1FC1-E8C0-2C2C-5675333DA7AA}"/>
              </a:ext>
            </a:extLst>
          </p:cNvPr>
          <p:cNvSpPr txBox="1"/>
          <p:nvPr/>
        </p:nvSpPr>
        <p:spPr>
          <a:xfrm>
            <a:off x="3684638" y="3676573"/>
            <a:ext cx="4822722" cy="523220"/>
          </a:xfrm>
          <a:prstGeom prst="rect">
            <a:avLst/>
          </a:prstGeom>
          <a:noFill/>
        </p:spPr>
        <p:txBody>
          <a:bodyPr wrap="square" rtlCol="0">
            <a:spAutoFit/>
          </a:bodyPr>
          <a:lstStyle/>
          <a:p>
            <a:pPr algn="ctr"/>
            <a:r>
              <a:rPr lang="en-US" sz="2800" dirty="0"/>
              <a:t>Jacques Basnage</a:t>
            </a:r>
          </a:p>
        </p:txBody>
      </p:sp>
      <p:sp>
        <p:nvSpPr>
          <p:cNvPr id="16" name="TextBox 15">
            <a:extLst>
              <a:ext uri="{FF2B5EF4-FFF2-40B4-BE49-F238E27FC236}">
                <a16:creationId xmlns:a16="http://schemas.microsoft.com/office/drawing/2014/main" id="{09F0AF2D-E437-973A-3374-A20046803B10}"/>
              </a:ext>
            </a:extLst>
          </p:cNvPr>
          <p:cNvSpPr txBox="1"/>
          <p:nvPr/>
        </p:nvSpPr>
        <p:spPr>
          <a:xfrm>
            <a:off x="0" y="4392669"/>
            <a:ext cx="12192000" cy="1815882"/>
          </a:xfrm>
          <a:prstGeom prst="rect">
            <a:avLst/>
          </a:prstGeom>
          <a:noFill/>
        </p:spPr>
        <p:txBody>
          <a:bodyPr wrap="square" rtlCol="0">
            <a:spAutoFit/>
          </a:bodyPr>
          <a:lstStyle/>
          <a:p>
            <a:pPr algn="ctr"/>
            <a:r>
              <a:rPr lang="en-US" sz="2800" dirty="0"/>
              <a:t>Found that during the first 3 centuries “there was no decision concerning the limits of the New Testament canon, but each local church had the liberty to choose or reject individual books; this freedom was most noticeable among Eastern Churches in rejecting the Apocalypse” (p. 16)</a:t>
            </a:r>
          </a:p>
        </p:txBody>
      </p:sp>
    </p:spTree>
    <p:extLst>
      <p:ext uri="{BB962C8B-B14F-4D97-AF65-F5344CB8AC3E}">
        <p14:creationId xmlns:p14="http://schemas.microsoft.com/office/powerpoint/2010/main" val="38168036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1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BB646-7913-5BC0-1C06-0F16D23A02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DB195-A8FF-E9A1-7EC9-884D10518B77}"/>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25DF6C1F-D3B8-3016-1ACF-BF5BBD2089B1}"/>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FA3FFC6-9772-471A-F8C6-1C35A203D464}"/>
              </a:ext>
            </a:extLst>
          </p:cNvPr>
          <p:cNvSpPr txBox="1"/>
          <p:nvPr/>
        </p:nvSpPr>
        <p:spPr>
          <a:xfrm>
            <a:off x="-6417698"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4DD88CE1-7341-34DC-5486-38F4504D8234}"/>
              </a:ext>
            </a:extLst>
          </p:cNvPr>
          <p:cNvSpPr txBox="1"/>
          <p:nvPr/>
        </p:nvSpPr>
        <p:spPr>
          <a:xfrm>
            <a:off x="-5658157" y="3676573"/>
            <a:ext cx="4822722" cy="523220"/>
          </a:xfrm>
          <a:prstGeom prst="rect">
            <a:avLst/>
          </a:prstGeom>
          <a:noFill/>
        </p:spPr>
        <p:txBody>
          <a:bodyPr wrap="square" rtlCol="0">
            <a:spAutoFit/>
          </a:bodyPr>
          <a:lstStyle/>
          <a:p>
            <a:pPr algn="ctr"/>
            <a:r>
              <a:rPr lang="en-US" sz="2800" dirty="0"/>
              <a:t>John Toland</a:t>
            </a:r>
          </a:p>
        </p:txBody>
      </p:sp>
      <p:sp>
        <p:nvSpPr>
          <p:cNvPr id="4" name="TextBox 3">
            <a:extLst>
              <a:ext uri="{FF2B5EF4-FFF2-40B4-BE49-F238E27FC236}">
                <a16:creationId xmlns:a16="http://schemas.microsoft.com/office/drawing/2014/main" id="{18906923-0B85-800C-AAE0-6A9CF90815D3}"/>
              </a:ext>
            </a:extLst>
          </p:cNvPr>
          <p:cNvSpPr txBox="1"/>
          <p:nvPr/>
        </p:nvSpPr>
        <p:spPr>
          <a:xfrm>
            <a:off x="-6491617" y="2423618"/>
            <a:ext cx="6341805" cy="523220"/>
          </a:xfrm>
          <a:prstGeom prst="rect">
            <a:avLst/>
          </a:prstGeom>
          <a:noFill/>
        </p:spPr>
        <p:txBody>
          <a:bodyPr wrap="square" rtlCol="0">
            <a:spAutoFit/>
          </a:bodyPr>
          <a:lstStyle/>
          <a:p>
            <a:pPr algn="ctr"/>
            <a:r>
              <a:rPr lang="en-US" sz="2800" b="1" dirty="0"/>
              <a:t>1700-1719</a:t>
            </a:r>
          </a:p>
        </p:txBody>
      </p:sp>
      <p:sp>
        <p:nvSpPr>
          <p:cNvPr id="5" name="TextBox 4">
            <a:extLst>
              <a:ext uri="{FF2B5EF4-FFF2-40B4-BE49-F238E27FC236}">
                <a16:creationId xmlns:a16="http://schemas.microsoft.com/office/drawing/2014/main" id="{B3DAC4F4-3529-1002-2D7E-C6AEB93B8CBE}"/>
              </a:ext>
            </a:extLst>
          </p:cNvPr>
          <p:cNvSpPr txBox="1"/>
          <p:nvPr/>
        </p:nvSpPr>
        <p:spPr>
          <a:xfrm>
            <a:off x="-5732076" y="3676573"/>
            <a:ext cx="4822722" cy="954107"/>
          </a:xfrm>
          <a:prstGeom prst="rect">
            <a:avLst/>
          </a:prstGeom>
          <a:noFill/>
        </p:spPr>
        <p:txBody>
          <a:bodyPr wrap="square" rtlCol="0">
            <a:spAutoFit/>
          </a:bodyPr>
          <a:lstStyle/>
          <a:p>
            <a:pPr algn="ctr"/>
            <a:r>
              <a:rPr lang="en-US" sz="2800" dirty="0"/>
              <a:t>Samuel Clarke, Stephen Nye, John Richardson, and others</a:t>
            </a:r>
          </a:p>
        </p:txBody>
      </p:sp>
      <p:sp>
        <p:nvSpPr>
          <p:cNvPr id="7" name="TextBox 6">
            <a:extLst>
              <a:ext uri="{FF2B5EF4-FFF2-40B4-BE49-F238E27FC236}">
                <a16:creationId xmlns:a16="http://schemas.microsoft.com/office/drawing/2014/main" id="{FD24492B-2FC1-FF58-94B1-AE8B4FFC9A87}"/>
              </a:ext>
            </a:extLst>
          </p:cNvPr>
          <p:cNvSpPr txBox="1"/>
          <p:nvPr/>
        </p:nvSpPr>
        <p:spPr>
          <a:xfrm>
            <a:off x="-12569670" y="4392669"/>
            <a:ext cx="12192000" cy="1384995"/>
          </a:xfrm>
          <a:prstGeom prst="rect">
            <a:avLst/>
          </a:prstGeom>
          <a:noFill/>
        </p:spPr>
        <p:txBody>
          <a:bodyPr wrap="square" rtlCol="0">
            <a:spAutoFit/>
          </a:bodyPr>
          <a:lstStyle/>
          <a:p>
            <a:pPr algn="ctr"/>
            <a:r>
              <a:rPr lang="en-US" sz="2800" dirty="0"/>
              <a:t>Used the “New and Full Method” of looking at ancient records to find early testimony or traditions of people concerning NT books written close to them in time </a:t>
            </a:r>
          </a:p>
        </p:txBody>
      </p:sp>
      <p:sp>
        <p:nvSpPr>
          <p:cNvPr id="9" name="TextBox 8">
            <a:extLst>
              <a:ext uri="{FF2B5EF4-FFF2-40B4-BE49-F238E27FC236}">
                <a16:creationId xmlns:a16="http://schemas.microsoft.com/office/drawing/2014/main" id="{2D8DE4B7-7197-3607-464B-445B6AB88B23}"/>
              </a:ext>
            </a:extLst>
          </p:cNvPr>
          <p:cNvSpPr txBox="1"/>
          <p:nvPr/>
        </p:nvSpPr>
        <p:spPr>
          <a:xfrm>
            <a:off x="-9644573" y="2423618"/>
            <a:ext cx="6341805" cy="523220"/>
          </a:xfrm>
          <a:prstGeom prst="rect">
            <a:avLst/>
          </a:prstGeom>
          <a:noFill/>
        </p:spPr>
        <p:txBody>
          <a:bodyPr wrap="square" rtlCol="0">
            <a:spAutoFit/>
          </a:bodyPr>
          <a:lstStyle/>
          <a:p>
            <a:pPr algn="ctr"/>
            <a:r>
              <a:rPr lang="en-US" sz="2800" b="1" dirty="0"/>
              <a:t>1726-1727</a:t>
            </a:r>
          </a:p>
        </p:txBody>
      </p:sp>
      <p:sp>
        <p:nvSpPr>
          <p:cNvPr id="10" name="TextBox 9">
            <a:extLst>
              <a:ext uri="{FF2B5EF4-FFF2-40B4-BE49-F238E27FC236}">
                <a16:creationId xmlns:a16="http://schemas.microsoft.com/office/drawing/2014/main" id="{04062D7E-89C1-E79C-7B32-D73F46F0EFA2}"/>
              </a:ext>
            </a:extLst>
          </p:cNvPr>
          <p:cNvSpPr txBox="1"/>
          <p:nvPr/>
        </p:nvSpPr>
        <p:spPr>
          <a:xfrm>
            <a:off x="-8885032" y="3676573"/>
            <a:ext cx="4822722" cy="523220"/>
          </a:xfrm>
          <a:prstGeom prst="rect">
            <a:avLst/>
          </a:prstGeom>
          <a:noFill/>
        </p:spPr>
        <p:txBody>
          <a:bodyPr wrap="square" rtlCol="0">
            <a:spAutoFit/>
          </a:bodyPr>
          <a:lstStyle/>
          <a:p>
            <a:pPr algn="ctr"/>
            <a:r>
              <a:rPr lang="en-US" sz="2800" dirty="0"/>
              <a:t>Jeremiah Jones</a:t>
            </a:r>
          </a:p>
        </p:txBody>
      </p:sp>
      <p:sp>
        <p:nvSpPr>
          <p:cNvPr id="11" name="TextBox 10">
            <a:extLst>
              <a:ext uri="{FF2B5EF4-FFF2-40B4-BE49-F238E27FC236}">
                <a16:creationId xmlns:a16="http://schemas.microsoft.com/office/drawing/2014/main" id="{98E3CCAC-E1D4-CCA6-5307-020E5C6E3ACE}"/>
              </a:ext>
            </a:extLst>
          </p:cNvPr>
          <p:cNvSpPr txBox="1"/>
          <p:nvPr/>
        </p:nvSpPr>
        <p:spPr>
          <a:xfrm>
            <a:off x="-12310928" y="4761635"/>
            <a:ext cx="12192000" cy="1815882"/>
          </a:xfrm>
          <a:prstGeom prst="rect">
            <a:avLst/>
          </a:prstGeom>
          <a:noFill/>
        </p:spPr>
        <p:txBody>
          <a:bodyPr wrap="square" rtlCol="0">
            <a:spAutoFit/>
          </a:bodyPr>
          <a:lstStyle/>
          <a:p>
            <a:pPr algn="ctr"/>
            <a:r>
              <a:rPr lang="en-US" sz="2800" dirty="0"/>
              <a:t>- Strongly denounced Toland</a:t>
            </a:r>
          </a:p>
          <a:p>
            <a:pPr algn="ctr"/>
            <a:r>
              <a:rPr lang="en-US" sz="2800" dirty="0"/>
              <a:t>- Richardson: “What the Apostles Wrote, and what they </a:t>
            </a:r>
            <a:r>
              <a:rPr lang="en-US" sz="2800" dirty="0" err="1"/>
              <a:t>Authoriz’d</a:t>
            </a:r>
            <a:r>
              <a:rPr lang="en-US" sz="2800" dirty="0"/>
              <a:t>, can be known in no other way, then by the Testimonies of those who </a:t>
            </a:r>
            <a:r>
              <a:rPr lang="en-US" sz="2800" dirty="0" err="1"/>
              <a:t>liv’d</a:t>
            </a:r>
            <a:r>
              <a:rPr lang="en-US" sz="2800" dirty="0"/>
              <a:t> at the same time with them, and the Tradition of those who succeeded them” (p. 13)</a:t>
            </a:r>
          </a:p>
        </p:txBody>
      </p:sp>
      <p:sp>
        <p:nvSpPr>
          <p:cNvPr id="12" name="TextBox 11">
            <a:extLst>
              <a:ext uri="{FF2B5EF4-FFF2-40B4-BE49-F238E27FC236}">
                <a16:creationId xmlns:a16="http://schemas.microsoft.com/office/drawing/2014/main" id="{03B4DC08-AA7F-A2D2-6BF0-A2EED239CC56}"/>
              </a:ext>
            </a:extLst>
          </p:cNvPr>
          <p:cNvSpPr txBox="1"/>
          <p:nvPr/>
        </p:nvSpPr>
        <p:spPr>
          <a:xfrm>
            <a:off x="-12569671" y="4392668"/>
            <a:ext cx="12192000" cy="954107"/>
          </a:xfrm>
          <a:prstGeom prst="rect">
            <a:avLst/>
          </a:prstGeom>
          <a:noFill/>
        </p:spPr>
        <p:txBody>
          <a:bodyPr wrap="square" rtlCol="0">
            <a:spAutoFit/>
          </a:bodyPr>
          <a:lstStyle/>
          <a:p>
            <a:pPr algn="ctr"/>
            <a:r>
              <a:rPr lang="en-US" sz="2800" dirty="0"/>
              <a:t>Jones made available for  the first time an English translation of the text of dozens of apocryphal writings” (p. 14)</a:t>
            </a:r>
          </a:p>
        </p:txBody>
      </p:sp>
      <p:sp>
        <p:nvSpPr>
          <p:cNvPr id="14" name="TextBox 13">
            <a:extLst>
              <a:ext uri="{FF2B5EF4-FFF2-40B4-BE49-F238E27FC236}">
                <a16:creationId xmlns:a16="http://schemas.microsoft.com/office/drawing/2014/main" id="{4C7389C3-A0F3-7AAB-2636-856B095CFA39}"/>
              </a:ext>
            </a:extLst>
          </p:cNvPr>
          <p:cNvSpPr txBox="1"/>
          <p:nvPr/>
        </p:nvSpPr>
        <p:spPr>
          <a:xfrm>
            <a:off x="-9427049" y="2423618"/>
            <a:ext cx="6341805" cy="523220"/>
          </a:xfrm>
          <a:prstGeom prst="rect">
            <a:avLst/>
          </a:prstGeom>
          <a:noFill/>
        </p:spPr>
        <p:txBody>
          <a:bodyPr wrap="square" rtlCol="0">
            <a:spAutoFit/>
          </a:bodyPr>
          <a:lstStyle/>
          <a:p>
            <a:pPr algn="ctr"/>
            <a:r>
              <a:rPr lang="en-US" sz="2800" b="1" dirty="0"/>
              <a:t>1699 (in France)</a:t>
            </a:r>
          </a:p>
        </p:txBody>
      </p:sp>
      <p:sp>
        <p:nvSpPr>
          <p:cNvPr id="15" name="TextBox 14">
            <a:extLst>
              <a:ext uri="{FF2B5EF4-FFF2-40B4-BE49-F238E27FC236}">
                <a16:creationId xmlns:a16="http://schemas.microsoft.com/office/drawing/2014/main" id="{F4A13230-43EE-6D40-E2B4-D137073DF257}"/>
              </a:ext>
            </a:extLst>
          </p:cNvPr>
          <p:cNvSpPr txBox="1"/>
          <p:nvPr/>
        </p:nvSpPr>
        <p:spPr>
          <a:xfrm>
            <a:off x="-8667508" y="3676573"/>
            <a:ext cx="4822722" cy="523220"/>
          </a:xfrm>
          <a:prstGeom prst="rect">
            <a:avLst/>
          </a:prstGeom>
          <a:noFill/>
        </p:spPr>
        <p:txBody>
          <a:bodyPr wrap="square" rtlCol="0">
            <a:spAutoFit/>
          </a:bodyPr>
          <a:lstStyle/>
          <a:p>
            <a:pPr algn="ctr"/>
            <a:r>
              <a:rPr lang="en-US" sz="2800" dirty="0"/>
              <a:t>Jacques Basnage</a:t>
            </a:r>
          </a:p>
        </p:txBody>
      </p:sp>
      <p:sp>
        <p:nvSpPr>
          <p:cNvPr id="16" name="TextBox 15">
            <a:extLst>
              <a:ext uri="{FF2B5EF4-FFF2-40B4-BE49-F238E27FC236}">
                <a16:creationId xmlns:a16="http://schemas.microsoft.com/office/drawing/2014/main" id="{960054EB-57A5-969E-2562-FF268AF79FD5}"/>
              </a:ext>
            </a:extLst>
          </p:cNvPr>
          <p:cNvSpPr txBox="1"/>
          <p:nvPr/>
        </p:nvSpPr>
        <p:spPr>
          <a:xfrm>
            <a:off x="-12352146" y="4392669"/>
            <a:ext cx="12192000" cy="1815882"/>
          </a:xfrm>
          <a:prstGeom prst="rect">
            <a:avLst/>
          </a:prstGeom>
          <a:noFill/>
        </p:spPr>
        <p:txBody>
          <a:bodyPr wrap="square" rtlCol="0">
            <a:spAutoFit/>
          </a:bodyPr>
          <a:lstStyle/>
          <a:p>
            <a:pPr algn="ctr"/>
            <a:r>
              <a:rPr lang="en-US" sz="2800" dirty="0"/>
              <a:t>Found that during the first 3 centuries “there was no decision concerning the limits of the New Testament canon, but each local church had the liberty to choose or reject individual books; this freedom was most noticeable among Eastern Churches in rejecting the Apocalypse” (p. 16)</a:t>
            </a:r>
          </a:p>
        </p:txBody>
      </p:sp>
      <p:sp>
        <p:nvSpPr>
          <p:cNvPr id="17" name="Rectangle 16">
            <a:extLst>
              <a:ext uri="{FF2B5EF4-FFF2-40B4-BE49-F238E27FC236}">
                <a16:creationId xmlns:a16="http://schemas.microsoft.com/office/drawing/2014/main" id="{4A252BAA-54C4-BC55-5392-2F2FF96ED205}"/>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B1FCF82-9D5D-CE25-FB3B-E3F5480DD924}"/>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1804-1812</a:t>
            </a:r>
          </a:p>
        </p:txBody>
      </p:sp>
      <p:sp>
        <p:nvSpPr>
          <p:cNvPr id="19" name="TextBox 18">
            <a:extLst>
              <a:ext uri="{FF2B5EF4-FFF2-40B4-BE49-F238E27FC236}">
                <a16:creationId xmlns:a16="http://schemas.microsoft.com/office/drawing/2014/main" id="{8CCAF172-4651-AF71-78CB-83A9B64E5DA3}"/>
              </a:ext>
            </a:extLst>
          </p:cNvPr>
          <p:cNvSpPr txBox="1"/>
          <p:nvPr/>
        </p:nvSpPr>
        <p:spPr>
          <a:xfrm>
            <a:off x="3684638" y="3676573"/>
            <a:ext cx="4822722" cy="523220"/>
          </a:xfrm>
          <a:prstGeom prst="rect">
            <a:avLst/>
          </a:prstGeom>
          <a:noFill/>
        </p:spPr>
        <p:txBody>
          <a:bodyPr wrap="square" rtlCol="0">
            <a:spAutoFit/>
          </a:bodyPr>
          <a:lstStyle/>
          <a:p>
            <a:pPr algn="ctr"/>
            <a:r>
              <a:rPr lang="en-US" sz="2800" dirty="0"/>
              <a:t>J. G. Eichhorn</a:t>
            </a:r>
          </a:p>
        </p:txBody>
      </p:sp>
      <p:sp>
        <p:nvSpPr>
          <p:cNvPr id="21" name="TextBox 20">
            <a:extLst>
              <a:ext uri="{FF2B5EF4-FFF2-40B4-BE49-F238E27FC236}">
                <a16:creationId xmlns:a16="http://schemas.microsoft.com/office/drawing/2014/main" id="{57A6F8BC-2E28-67A2-A238-6399F6F8DD45}"/>
              </a:ext>
            </a:extLst>
          </p:cNvPr>
          <p:cNvSpPr txBox="1"/>
          <p:nvPr/>
        </p:nvSpPr>
        <p:spPr>
          <a:xfrm>
            <a:off x="0" y="4392669"/>
            <a:ext cx="12192000" cy="1384995"/>
          </a:xfrm>
          <a:prstGeom prst="rect">
            <a:avLst/>
          </a:prstGeom>
          <a:noFill/>
        </p:spPr>
        <p:txBody>
          <a:bodyPr wrap="square" rtlCol="0">
            <a:spAutoFit/>
          </a:bodyPr>
          <a:lstStyle/>
          <a:p>
            <a:pPr algn="ctr"/>
            <a:r>
              <a:rPr lang="en-US" sz="2800" dirty="0"/>
              <a:t>“The first to attribute to Marcion the stimulus to collect the New Testament writings, and argued that the core of the future canon was established by about AD 175” (p. 18)</a:t>
            </a:r>
          </a:p>
        </p:txBody>
      </p:sp>
      <p:sp>
        <p:nvSpPr>
          <p:cNvPr id="26" name="Rectangle 25">
            <a:extLst>
              <a:ext uri="{FF2B5EF4-FFF2-40B4-BE49-F238E27FC236}">
                <a16:creationId xmlns:a16="http://schemas.microsoft.com/office/drawing/2014/main" id="{1DDCF93E-51AD-5D5B-353D-05DF419F9901}"/>
              </a:ext>
            </a:extLst>
          </p:cNvPr>
          <p:cNvSpPr/>
          <p:nvPr/>
        </p:nvSpPr>
        <p:spPr>
          <a:xfrm rot="16200000">
            <a:off x="-6039533" y="3097406"/>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50863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19" grpId="0"/>
      <p:bldP spid="2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BD67A-4E34-F902-C925-0B485B20F5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1072CD-1EC4-E1F3-5B66-FC3FD4561F22}"/>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D1F38579-EF36-2122-19F0-FDC3A7982275}"/>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0898AC5-381D-9CA2-128B-817B5377A61C}"/>
              </a:ext>
            </a:extLst>
          </p:cNvPr>
          <p:cNvSpPr/>
          <p:nvPr/>
        </p:nvSpPr>
        <p:spPr>
          <a:xfrm rot="16200000">
            <a:off x="-3475395"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DC5DFAC-FB90-517B-41B5-74AED4328100}"/>
              </a:ext>
            </a:extLst>
          </p:cNvPr>
          <p:cNvSpPr txBox="1"/>
          <p:nvPr/>
        </p:nvSpPr>
        <p:spPr>
          <a:xfrm>
            <a:off x="-6417698"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18B664AC-0DC5-5D04-92D3-23C3ED152BB0}"/>
              </a:ext>
            </a:extLst>
          </p:cNvPr>
          <p:cNvSpPr txBox="1"/>
          <p:nvPr/>
        </p:nvSpPr>
        <p:spPr>
          <a:xfrm>
            <a:off x="-5658157" y="3676573"/>
            <a:ext cx="4822722" cy="523220"/>
          </a:xfrm>
          <a:prstGeom prst="rect">
            <a:avLst/>
          </a:prstGeom>
          <a:noFill/>
        </p:spPr>
        <p:txBody>
          <a:bodyPr wrap="square" rtlCol="0">
            <a:spAutoFit/>
          </a:bodyPr>
          <a:lstStyle/>
          <a:p>
            <a:pPr algn="ctr"/>
            <a:r>
              <a:rPr lang="en-US" sz="2800" dirty="0"/>
              <a:t>John Toland</a:t>
            </a:r>
          </a:p>
        </p:txBody>
      </p:sp>
      <p:sp>
        <p:nvSpPr>
          <p:cNvPr id="3" name="Rectangle 2">
            <a:extLst>
              <a:ext uri="{FF2B5EF4-FFF2-40B4-BE49-F238E27FC236}">
                <a16:creationId xmlns:a16="http://schemas.microsoft.com/office/drawing/2014/main" id="{29CCA5EA-CBF7-723A-15AE-AF0FA4B6A2EF}"/>
              </a:ext>
            </a:extLst>
          </p:cNvPr>
          <p:cNvSpPr/>
          <p:nvPr/>
        </p:nvSpPr>
        <p:spPr>
          <a:xfrm rot="16200000">
            <a:off x="-3549314"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42AE6D3-8656-0A9E-AFCD-69A581391BE6}"/>
              </a:ext>
            </a:extLst>
          </p:cNvPr>
          <p:cNvSpPr txBox="1"/>
          <p:nvPr/>
        </p:nvSpPr>
        <p:spPr>
          <a:xfrm>
            <a:off x="-6491617" y="2423618"/>
            <a:ext cx="6341805" cy="523220"/>
          </a:xfrm>
          <a:prstGeom prst="rect">
            <a:avLst/>
          </a:prstGeom>
          <a:noFill/>
        </p:spPr>
        <p:txBody>
          <a:bodyPr wrap="square" rtlCol="0">
            <a:spAutoFit/>
          </a:bodyPr>
          <a:lstStyle/>
          <a:p>
            <a:pPr algn="ctr"/>
            <a:r>
              <a:rPr lang="en-US" sz="2800" b="1" dirty="0"/>
              <a:t>1700-1719</a:t>
            </a:r>
          </a:p>
        </p:txBody>
      </p:sp>
      <p:sp>
        <p:nvSpPr>
          <p:cNvPr id="5" name="TextBox 4">
            <a:extLst>
              <a:ext uri="{FF2B5EF4-FFF2-40B4-BE49-F238E27FC236}">
                <a16:creationId xmlns:a16="http://schemas.microsoft.com/office/drawing/2014/main" id="{C78FC507-5705-08D4-E2C8-F271C58C4118}"/>
              </a:ext>
            </a:extLst>
          </p:cNvPr>
          <p:cNvSpPr txBox="1"/>
          <p:nvPr/>
        </p:nvSpPr>
        <p:spPr>
          <a:xfrm>
            <a:off x="-5732076" y="3676573"/>
            <a:ext cx="4822722" cy="954107"/>
          </a:xfrm>
          <a:prstGeom prst="rect">
            <a:avLst/>
          </a:prstGeom>
          <a:noFill/>
        </p:spPr>
        <p:txBody>
          <a:bodyPr wrap="square" rtlCol="0">
            <a:spAutoFit/>
          </a:bodyPr>
          <a:lstStyle/>
          <a:p>
            <a:pPr algn="ctr"/>
            <a:r>
              <a:rPr lang="en-US" sz="2800" dirty="0"/>
              <a:t>Samuel Clarke, Stephen Nye, John Richardson, and others</a:t>
            </a:r>
          </a:p>
        </p:txBody>
      </p:sp>
      <p:sp>
        <p:nvSpPr>
          <p:cNvPr id="7" name="TextBox 6">
            <a:extLst>
              <a:ext uri="{FF2B5EF4-FFF2-40B4-BE49-F238E27FC236}">
                <a16:creationId xmlns:a16="http://schemas.microsoft.com/office/drawing/2014/main" id="{75960E91-7CA2-8715-1715-DD7970530D97}"/>
              </a:ext>
            </a:extLst>
          </p:cNvPr>
          <p:cNvSpPr txBox="1"/>
          <p:nvPr/>
        </p:nvSpPr>
        <p:spPr>
          <a:xfrm>
            <a:off x="-12569670" y="4392669"/>
            <a:ext cx="12192000" cy="1384995"/>
          </a:xfrm>
          <a:prstGeom prst="rect">
            <a:avLst/>
          </a:prstGeom>
          <a:noFill/>
        </p:spPr>
        <p:txBody>
          <a:bodyPr wrap="square" rtlCol="0">
            <a:spAutoFit/>
          </a:bodyPr>
          <a:lstStyle/>
          <a:p>
            <a:pPr algn="ctr"/>
            <a:r>
              <a:rPr lang="en-US" sz="2800" dirty="0"/>
              <a:t>Used the “New and Full Method” of looking at ancient records to find early testimony or traditions of people concerning NT books written close to them in time </a:t>
            </a:r>
          </a:p>
        </p:txBody>
      </p:sp>
      <p:sp>
        <p:nvSpPr>
          <p:cNvPr id="9" name="TextBox 8">
            <a:extLst>
              <a:ext uri="{FF2B5EF4-FFF2-40B4-BE49-F238E27FC236}">
                <a16:creationId xmlns:a16="http://schemas.microsoft.com/office/drawing/2014/main" id="{4D46B5F3-8769-665F-5ECA-1DA2A3249E7B}"/>
              </a:ext>
            </a:extLst>
          </p:cNvPr>
          <p:cNvSpPr txBox="1"/>
          <p:nvPr/>
        </p:nvSpPr>
        <p:spPr>
          <a:xfrm>
            <a:off x="-9644573" y="2423618"/>
            <a:ext cx="6341805" cy="523220"/>
          </a:xfrm>
          <a:prstGeom prst="rect">
            <a:avLst/>
          </a:prstGeom>
          <a:noFill/>
        </p:spPr>
        <p:txBody>
          <a:bodyPr wrap="square" rtlCol="0">
            <a:spAutoFit/>
          </a:bodyPr>
          <a:lstStyle/>
          <a:p>
            <a:pPr algn="ctr"/>
            <a:r>
              <a:rPr lang="en-US" sz="2800" b="1" dirty="0"/>
              <a:t>1726-1727</a:t>
            </a:r>
          </a:p>
        </p:txBody>
      </p:sp>
      <p:sp>
        <p:nvSpPr>
          <p:cNvPr id="10" name="TextBox 9">
            <a:extLst>
              <a:ext uri="{FF2B5EF4-FFF2-40B4-BE49-F238E27FC236}">
                <a16:creationId xmlns:a16="http://schemas.microsoft.com/office/drawing/2014/main" id="{495AB1CB-0991-2FF5-41A2-AD835E26C943}"/>
              </a:ext>
            </a:extLst>
          </p:cNvPr>
          <p:cNvSpPr txBox="1"/>
          <p:nvPr/>
        </p:nvSpPr>
        <p:spPr>
          <a:xfrm>
            <a:off x="-8885032" y="3676573"/>
            <a:ext cx="4822722" cy="523220"/>
          </a:xfrm>
          <a:prstGeom prst="rect">
            <a:avLst/>
          </a:prstGeom>
          <a:noFill/>
        </p:spPr>
        <p:txBody>
          <a:bodyPr wrap="square" rtlCol="0">
            <a:spAutoFit/>
          </a:bodyPr>
          <a:lstStyle/>
          <a:p>
            <a:pPr algn="ctr"/>
            <a:r>
              <a:rPr lang="en-US" sz="2800" dirty="0"/>
              <a:t>Jeremiah Jones</a:t>
            </a:r>
          </a:p>
        </p:txBody>
      </p:sp>
      <p:sp>
        <p:nvSpPr>
          <p:cNvPr id="11" name="TextBox 10">
            <a:extLst>
              <a:ext uri="{FF2B5EF4-FFF2-40B4-BE49-F238E27FC236}">
                <a16:creationId xmlns:a16="http://schemas.microsoft.com/office/drawing/2014/main" id="{A6BAB564-4151-EE49-A955-BB53B12277E6}"/>
              </a:ext>
            </a:extLst>
          </p:cNvPr>
          <p:cNvSpPr txBox="1"/>
          <p:nvPr/>
        </p:nvSpPr>
        <p:spPr>
          <a:xfrm>
            <a:off x="-12310928" y="4761635"/>
            <a:ext cx="12192000" cy="1815882"/>
          </a:xfrm>
          <a:prstGeom prst="rect">
            <a:avLst/>
          </a:prstGeom>
          <a:noFill/>
        </p:spPr>
        <p:txBody>
          <a:bodyPr wrap="square" rtlCol="0">
            <a:spAutoFit/>
          </a:bodyPr>
          <a:lstStyle/>
          <a:p>
            <a:pPr algn="ctr"/>
            <a:r>
              <a:rPr lang="en-US" sz="2800" dirty="0"/>
              <a:t>- Strongly denounced Toland</a:t>
            </a:r>
          </a:p>
          <a:p>
            <a:pPr algn="ctr"/>
            <a:r>
              <a:rPr lang="en-US" sz="2800" dirty="0"/>
              <a:t>- Richardson: “What the Apostles Wrote, and what they </a:t>
            </a:r>
            <a:r>
              <a:rPr lang="en-US" sz="2800" dirty="0" err="1"/>
              <a:t>Authoriz’d</a:t>
            </a:r>
            <a:r>
              <a:rPr lang="en-US" sz="2800" dirty="0"/>
              <a:t>, can be known in no other way, then by the Testimonies of those who </a:t>
            </a:r>
            <a:r>
              <a:rPr lang="en-US" sz="2800" dirty="0" err="1"/>
              <a:t>liv’d</a:t>
            </a:r>
            <a:r>
              <a:rPr lang="en-US" sz="2800" dirty="0"/>
              <a:t> at the same time with them, and the Tradition of those who succeeded them” (p. 13)</a:t>
            </a:r>
          </a:p>
        </p:txBody>
      </p:sp>
      <p:sp>
        <p:nvSpPr>
          <p:cNvPr id="12" name="TextBox 11">
            <a:extLst>
              <a:ext uri="{FF2B5EF4-FFF2-40B4-BE49-F238E27FC236}">
                <a16:creationId xmlns:a16="http://schemas.microsoft.com/office/drawing/2014/main" id="{F78A655A-08D7-E07C-2E74-DBE5F9DD480E}"/>
              </a:ext>
            </a:extLst>
          </p:cNvPr>
          <p:cNvSpPr txBox="1"/>
          <p:nvPr/>
        </p:nvSpPr>
        <p:spPr>
          <a:xfrm>
            <a:off x="-12569671" y="4392668"/>
            <a:ext cx="12192000" cy="954107"/>
          </a:xfrm>
          <a:prstGeom prst="rect">
            <a:avLst/>
          </a:prstGeom>
          <a:noFill/>
        </p:spPr>
        <p:txBody>
          <a:bodyPr wrap="square" rtlCol="0">
            <a:spAutoFit/>
          </a:bodyPr>
          <a:lstStyle/>
          <a:p>
            <a:pPr algn="ctr"/>
            <a:r>
              <a:rPr lang="en-US" sz="2800" dirty="0"/>
              <a:t>Jones made available for  the first time an English translation of the text of dozens of apocryphal writings” (p. 14)</a:t>
            </a:r>
          </a:p>
        </p:txBody>
      </p:sp>
      <p:sp>
        <p:nvSpPr>
          <p:cNvPr id="14" name="TextBox 13">
            <a:extLst>
              <a:ext uri="{FF2B5EF4-FFF2-40B4-BE49-F238E27FC236}">
                <a16:creationId xmlns:a16="http://schemas.microsoft.com/office/drawing/2014/main" id="{DD783ED4-9A78-6F7A-B8B2-4BA565193B23}"/>
              </a:ext>
            </a:extLst>
          </p:cNvPr>
          <p:cNvSpPr txBox="1"/>
          <p:nvPr/>
        </p:nvSpPr>
        <p:spPr>
          <a:xfrm>
            <a:off x="-9427049" y="2423618"/>
            <a:ext cx="6341805" cy="523220"/>
          </a:xfrm>
          <a:prstGeom prst="rect">
            <a:avLst/>
          </a:prstGeom>
          <a:noFill/>
        </p:spPr>
        <p:txBody>
          <a:bodyPr wrap="square" rtlCol="0">
            <a:spAutoFit/>
          </a:bodyPr>
          <a:lstStyle/>
          <a:p>
            <a:pPr algn="ctr"/>
            <a:r>
              <a:rPr lang="en-US" sz="2800" b="1" dirty="0"/>
              <a:t>1699 (in France)</a:t>
            </a:r>
          </a:p>
        </p:txBody>
      </p:sp>
      <p:sp>
        <p:nvSpPr>
          <p:cNvPr id="15" name="TextBox 14">
            <a:extLst>
              <a:ext uri="{FF2B5EF4-FFF2-40B4-BE49-F238E27FC236}">
                <a16:creationId xmlns:a16="http://schemas.microsoft.com/office/drawing/2014/main" id="{DA84CE4E-A02E-1BDD-89D8-14BE11DC999B}"/>
              </a:ext>
            </a:extLst>
          </p:cNvPr>
          <p:cNvSpPr txBox="1"/>
          <p:nvPr/>
        </p:nvSpPr>
        <p:spPr>
          <a:xfrm>
            <a:off x="-8667508" y="3676573"/>
            <a:ext cx="4822722" cy="523220"/>
          </a:xfrm>
          <a:prstGeom prst="rect">
            <a:avLst/>
          </a:prstGeom>
          <a:noFill/>
        </p:spPr>
        <p:txBody>
          <a:bodyPr wrap="square" rtlCol="0">
            <a:spAutoFit/>
          </a:bodyPr>
          <a:lstStyle/>
          <a:p>
            <a:pPr algn="ctr"/>
            <a:r>
              <a:rPr lang="en-US" sz="2800" dirty="0"/>
              <a:t>Jacques Basnage</a:t>
            </a:r>
          </a:p>
        </p:txBody>
      </p:sp>
      <p:sp>
        <p:nvSpPr>
          <p:cNvPr id="16" name="TextBox 15">
            <a:extLst>
              <a:ext uri="{FF2B5EF4-FFF2-40B4-BE49-F238E27FC236}">
                <a16:creationId xmlns:a16="http://schemas.microsoft.com/office/drawing/2014/main" id="{A7015791-8582-16DA-0586-8CA1189C67D9}"/>
              </a:ext>
            </a:extLst>
          </p:cNvPr>
          <p:cNvSpPr txBox="1"/>
          <p:nvPr/>
        </p:nvSpPr>
        <p:spPr>
          <a:xfrm>
            <a:off x="-12352146" y="4392669"/>
            <a:ext cx="12192000" cy="1815882"/>
          </a:xfrm>
          <a:prstGeom prst="rect">
            <a:avLst/>
          </a:prstGeom>
          <a:noFill/>
        </p:spPr>
        <p:txBody>
          <a:bodyPr wrap="square" rtlCol="0">
            <a:spAutoFit/>
          </a:bodyPr>
          <a:lstStyle/>
          <a:p>
            <a:pPr algn="ctr"/>
            <a:r>
              <a:rPr lang="en-US" sz="2800" dirty="0"/>
              <a:t>Found that during the first 3 centuries “there was no decision concerning the limits of the New Testament canon, but each local church had the liberty to choose or reject individual books; this freedom was most noticeable among Eastern Churches in rejecting the Apocalypse” (p. 16)</a:t>
            </a:r>
          </a:p>
        </p:txBody>
      </p:sp>
      <p:sp>
        <p:nvSpPr>
          <p:cNvPr id="18" name="TextBox 17">
            <a:extLst>
              <a:ext uri="{FF2B5EF4-FFF2-40B4-BE49-F238E27FC236}">
                <a16:creationId xmlns:a16="http://schemas.microsoft.com/office/drawing/2014/main" id="{A0DBD448-952F-12BC-686C-BD740595AB0E}"/>
              </a:ext>
            </a:extLst>
          </p:cNvPr>
          <p:cNvSpPr txBox="1"/>
          <p:nvPr/>
        </p:nvSpPr>
        <p:spPr>
          <a:xfrm>
            <a:off x="-9386634" y="2423618"/>
            <a:ext cx="6341805" cy="523220"/>
          </a:xfrm>
          <a:prstGeom prst="rect">
            <a:avLst/>
          </a:prstGeom>
          <a:noFill/>
        </p:spPr>
        <p:txBody>
          <a:bodyPr wrap="square" rtlCol="0">
            <a:spAutoFit/>
          </a:bodyPr>
          <a:lstStyle/>
          <a:p>
            <a:pPr algn="ctr"/>
            <a:r>
              <a:rPr lang="en-US" sz="2800" b="1" dirty="0"/>
              <a:t>1804-1812</a:t>
            </a:r>
          </a:p>
        </p:txBody>
      </p:sp>
      <p:sp>
        <p:nvSpPr>
          <p:cNvPr id="19" name="TextBox 18">
            <a:extLst>
              <a:ext uri="{FF2B5EF4-FFF2-40B4-BE49-F238E27FC236}">
                <a16:creationId xmlns:a16="http://schemas.microsoft.com/office/drawing/2014/main" id="{5401747D-5190-EC0D-7E59-83B7B784C33F}"/>
              </a:ext>
            </a:extLst>
          </p:cNvPr>
          <p:cNvSpPr txBox="1"/>
          <p:nvPr/>
        </p:nvSpPr>
        <p:spPr>
          <a:xfrm>
            <a:off x="-8627093" y="3676573"/>
            <a:ext cx="4822722" cy="523220"/>
          </a:xfrm>
          <a:prstGeom prst="rect">
            <a:avLst/>
          </a:prstGeom>
          <a:noFill/>
        </p:spPr>
        <p:txBody>
          <a:bodyPr wrap="square" rtlCol="0">
            <a:spAutoFit/>
          </a:bodyPr>
          <a:lstStyle/>
          <a:p>
            <a:pPr algn="ctr"/>
            <a:r>
              <a:rPr lang="en-US" sz="2800" dirty="0"/>
              <a:t>J. G. Eichhorn</a:t>
            </a:r>
          </a:p>
        </p:txBody>
      </p:sp>
      <p:sp>
        <p:nvSpPr>
          <p:cNvPr id="21" name="TextBox 20">
            <a:extLst>
              <a:ext uri="{FF2B5EF4-FFF2-40B4-BE49-F238E27FC236}">
                <a16:creationId xmlns:a16="http://schemas.microsoft.com/office/drawing/2014/main" id="{832BE66A-00D0-6E05-FB26-C95BDD5BF2D4}"/>
              </a:ext>
            </a:extLst>
          </p:cNvPr>
          <p:cNvSpPr txBox="1"/>
          <p:nvPr/>
        </p:nvSpPr>
        <p:spPr>
          <a:xfrm>
            <a:off x="-12311731" y="4392669"/>
            <a:ext cx="12192000" cy="1384995"/>
          </a:xfrm>
          <a:prstGeom prst="rect">
            <a:avLst/>
          </a:prstGeom>
          <a:noFill/>
        </p:spPr>
        <p:txBody>
          <a:bodyPr wrap="square" rtlCol="0">
            <a:spAutoFit/>
          </a:bodyPr>
          <a:lstStyle/>
          <a:p>
            <a:pPr algn="ctr"/>
            <a:r>
              <a:rPr lang="en-US" sz="2800" dirty="0"/>
              <a:t>“The first to attribute to Marcion the stimulus to collect the New Testament writings, and argued that the core of the future canon was established by about AD 175” (p. 18)</a:t>
            </a:r>
          </a:p>
        </p:txBody>
      </p:sp>
      <p:sp>
        <p:nvSpPr>
          <p:cNvPr id="24" name="Rectangle 23">
            <a:extLst>
              <a:ext uri="{FF2B5EF4-FFF2-40B4-BE49-F238E27FC236}">
                <a16:creationId xmlns:a16="http://schemas.microsoft.com/office/drawing/2014/main" id="{15CDEF6D-A092-EE88-6468-DBBC6C8C0701}"/>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7106AE2-538D-6D88-4DB7-FF3B8B2B339F}"/>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1826</a:t>
            </a:r>
          </a:p>
        </p:txBody>
      </p:sp>
      <p:sp>
        <p:nvSpPr>
          <p:cNvPr id="26" name="TextBox 25">
            <a:extLst>
              <a:ext uri="{FF2B5EF4-FFF2-40B4-BE49-F238E27FC236}">
                <a16:creationId xmlns:a16="http://schemas.microsoft.com/office/drawing/2014/main" id="{47D7BE02-26C6-9437-505B-6EBEEA3B79D4}"/>
              </a:ext>
            </a:extLst>
          </p:cNvPr>
          <p:cNvSpPr txBox="1"/>
          <p:nvPr/>
        </p:nvSpPr>
        <p:spPr>
          <a:xfrm>
            <a:off x="3684638" y="3676573"/>
            <a:ext cx="4822722" cy="523220"/>
          </a:xfrm>
          <a:prstGeom prst="rect">
            <a:avLst/>
          </a:prstGeom>
          <a:noFill/>
        </p:spPr>
        <p:txBody>
          <a:bodyPr wrap="square" rtlCol="0">
            <a:spAutoFit/>
          </a:bodyPr>
          <a:lstStyle/>
          <a:p>
            <a:pPr algn="ctr"/>
            <a:r>
              <a:rPr lang="en-US" sz="2800" dirty="0"/>
              <a:t>W. M. L. De Wette</a:t>
            </a:r>
          </a:p>
        </p:txBody>
      </p:sp>
      <p:sp>
        <p:nvSpPr>
          <p:cNvPr id="27" name="TextBox 26">
            <a:extLst>
              <a:ext uri="{FF2B5EF4-FFF2-40B4-BE49-F238E27FC236}">
                <a16:creationId xmlns:a16="http://schemas.microsoft.com/office/drawing/2014/main" id="{91961E94-E8A6-F8E5-09DE-2D81EDEA4CAD}"/>
              </a:ext>
            </a:extLst>
          </p:cNvPr>
          <p:cNvSpPr txBox="1"/>
          <p:nvPr/>
        </p:nvSpPr>
        <p:spPr>
          <a:xfrm>
            <a:off x="0" y="4392669"/>
            <a:ext cx="12192000" cy="954107"/>
          </a:xfrm>
          <a:prstGeom prst="rect">
            <a:avLst/>
          </a:prstGeom>
          <a:noFill/>
        </p:spPr>
        <p:txBody>
          <a:bodyPr wrap="square" rtlCol="0">
            <a:spAutoFit/>
          </a:bodyPr>
          <a:lstStyle/>
          <a:p>
            <a:pPr algn="ctr"/>
            <a:r>
              <a:rPr lang="en-US" sz="2800" dirty="0"/>
              <a:t>“Extended the history of the gradual development of the canon up to the year 400” (p. 18)</a:t>
            </a:r>
          </a:p>
        </p:txBody>
      </p:sp>
    </p:spTree>
    <p:extLst>
      <p:ext uri="{BB962C8B-B14F-4D97-AF65-F5344CB8AC3E}">
        <p14:creationId xmlns:p14="http://schemas.microsoft.com/office/powerpoint/2010/main" val="1724711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26" grpId="0"/>
      <p:bldP spid="2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6ECA7-3BF2-EB6A-A200-A7638F07B6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113C2C-EBAD-A13E-73B0-F76A40D46CFA}"/>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CF4B2D4B-DBD3-2EB1-33D0-762906B49562}"/>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76A8172-ED0D-8B28-A1BA-785123EE66C5}"/>
              </a:ext>
            </a:extLst>
          </p:cNvPr>
          <p:cNvSpPr/>
          <p:nvPr/>
        </p:nvSpPr>
        <p:spPr>
          <a:xfrm rot="16200000">
            <a:off x="-3475395"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6CE53A0-0AA5-A8FC-1CF7-5FF20BB90FC0}"/>
              </a:ext>
            </a:extLst>
          </p:cNvPr>
          <p:cNvSpPr txBox="1"/>
          <p:nvPr/>
        </p:nvSpPr>
        <p:spPr>
          <a:xfrm>
            <a:off x="-6417698"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6818B1C0-AF9F-02B5-3AEC-27DF620B49CD}"/>
              </a:ext>
            </a:extLst>
          </p:cNvPr>
          <p:cNvSpPr txBox="1"/>
          <p:nvPr/>
        </p:nvSpPr>
        <p:spPr>
          <a:xfrm>
            <a:off x="-5658157" y="3676573"/>
            <a:ext cx="4822722" cy="523220"/>
          </a:xfrm>
          <a:prstGeom prst="rect">
            <a:avLst/>
          </a:prstGeom>
          <a:noFill/>
        </p:spPr>
        <p:txBody>
          <a:bodyPr wrap="square" rtlCol="0">
            <a:spAutoFit/>
          </a:bodyPr>
          <a:lstStyle/>
          <a:p>
            <a:pPr algn="ctr"/>
            <a:r>
              <a:rPr lang="en-US" sz="2800" dirty="0"/>
              <a:t>John Toland</a:t>
            </a:r>
          </a:p>
        </p:txBody>
      </p:sp>
      <p:sp>
        <p:nvSpPr>
          <p:cNvPr id="3" name="Rectangle 2">
            <a:extLst>
              <a:ext uri="{FF2B5EF4-FFF2-40B4-BE49-F238E27FC236}">
                <a16:creationId xmlns:a16="http://schemas.microsoft.com/office/drawing/2014/main" id="{714E697A-39B5-3F83-A86F-6B50873421E6}"/>
              </a:ext>
            </a:extLst>
          </p:cNvPr>
          <p:cNvSpPr/>
          <p:nvPr/>
        </p:nvSpPr>
        <p:spPr>
          <a:xfrm rot="16200000">
            <a:off x="-3549314"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8F3C2B1-D17C-C9BD-B54A-B1968B607FE0}"/>
              </a:ext>
            </a:extLst>
          </p:cNvPr>
          <p:cNvSpPr txBox="1"/>
          <p:nvPr/>
        </p:nvSpPr>
        <p:spPr>
          <a:xfrm>
            <a:off x="-6491617" y="2423618"/>
            <a:ext cx="6341805" cy="523220"/>
          </a:xfrm>
          <a:prstGeom prst="rect">
            <a:avLst/>
          </a:prstGeom>
          <a:noFill/>
        </p:spPr>
        <p:txBody>
          <a:bodyPr wrap="square" rtlCol="0">
            <a:spAutoFit/>
          </a:bodyPr>
          <a:lstStyle/>
          <a:p>
            <a:pPr algn="ctr"/>
            <a:r>
              <a:rPr lang="en-US" sz="2800" b="1" dirty="0"/>
              <a:t>1700-1719</a:t>
            </a:r>
          </a:p>
        </p:txBody>
      </p:sp>
      <p:sp>
        <p:nvSpPr>
          <p:cNvPr id="5" name="TextBox 4">
            <a:extLst>
              <a:ext uri="{FF2B5EF4-FFF2-40B4-BE49-F238E27FC236}">
                <a16:creationId xmlns:a16="http://schemas.microsoft.com/office/drawing/2014/main" id="{83DD605A-8897-300B-F507-31D45F819CAD}"/>
              </a:ext>
            </a:extLst>
          </p:cNvPr>
          <p:cNvSpPr txBox="1"/>
          <p:nvPr/>
        </p:nvSpPr>
        <p:spPr>
          <a:xfrm>
            <a:off x="-5732076" y="3676573"/>
            <a:ext cx="4822722" cy="954107"/>
          </a:xfrm>
          <a:prstGeom prst="rect">
            <a:avLst/>
          </a:prstGeom>
          <a:noFill/>
        </p:spPr>
        <p:txBody>
          <a:bodyPr wrap="square" rtlCol="0">
            <a:spAutoFit/>
          </a:bodyPr>
          <a:lstStyle/>
          <a:p>
            <a:pPr algn="ctr"/>
            <a:r>
              <a:rPr lang="en-US" sz="2800" dirty="0"/>
              <a:t>Samuel Clarke, Stephen Nye, John Richardson, and others</a:t>
            </a:r>
          </a:p>
        </p:txBody>
      </p:sp>
      <p:sp>
        <p:nvSpPr>
          <p:cNvPr id="7" name="TextBox 6">
            <a:extLst>
              <a:ext uri="{FF2B5EF4-FFF2-40B4-BE49-F238E27FC236}">
                <a16:creationId xmlns:a16="http://schemas.microsoft.com/office/drawing/2014/main" id="{505C6F08-756F-DBD6-00B3-4E2682C8A161}"/>
              </a:ext>
            </a:extLst>
          </p:cNvPr>
          <p:cNvSpPr txBox="1"/>
          <p:nvPr/>
        </p:nvSpPr>
        <p:spPr>
          <a:xfrm>
            <a:off x="-12569670" y="4392669"/>
            <a:ext cx="12192000" cy="1384995"/>
          </a:xfrm>
          <a:prstGeom prst="rect">
            <a:avLst/>
          </a:prstGeom>
          <a:noFill/>
        </p:spPr>
        <p:txBody>
          <a:bodyPr wrap="square" rtlCol="0">
            <a:spAutoFit/>
          </a:bodyPr>
          <a:lstStyle/>
          <a:p>
            <a:pPr algn="ctr"/>
            <a:r>
              <a:rPr lang="en-US" sz="2800" dirty="0"/>
              <a:t>Used the “New and Full Method” of looking at ancient records to find early testimony or traditions of people concerning NT books written close to them in time </a:t>
            </a:r>
          </a:p>
        </p:txBody>
      </p:sp>
      <p:sp>
        <p:nvSpPr>
          <p:cNvPr id="9" name="TextBox 8">
            <a:extLst>
              <a:ext uri="{FF2B5EF4-FFF2-40B4-BE49-F238E27FC236}">
                <a16:creationId xmlns:a16="http://schemas.microsoft.com/office/drawing/2014/main" id="{C55CAB09-DF2F-327B-50F2-38BD7910E51F}"/>
              </a:ext>
            </a:extLst>
          </p:cNvPr>
          <p:cNvSpPr txBox="1"/>
          <p:nvPr/>
        </p:nvSpPr>
        <p:spPr>
          <a:xfrm>
            <a:off x="-9644573" y="2423618"/>
            <a:ext cx="6341805" cy="523220"/>
          </a:xfrm>
          <a:prstGeom prst="rect">
            <a:avLst/>
          </a:prstGeom>
          <a:noFill/>
        </p:spPr>
        <p:txBody>
          <a:bodyPr wrap="square" rtlCol="0">
            <a:spAutoFit/>
          </a:bodyPr>
          <a:lstStyle/>
          <a:p>
            <a:pPr algn="ctr"/>
            <a:r>
              <a:rPr lang="en-US" sz="2800" b="1" dirty="0"/>
              <a:t>1726-1727</a:t>
            </a:r>
          </a:p>
        </p:txBody>
      </p:sp>
      <p:sp>
        <p:nvSpPr>
          <p:cNvPr id="10" name="TextBox 9">
            <a:extLst>
              <a:ext uri="{FF2B5EF4-FFF2-40B4-BE49-F238E27FC236}">
                <a16:creationId xmlns:a16="http://schemas.microsoft.com/office/drawing/2014/main" id="{5D61E8C2-72D5-9FD8-C22D-89FAFD7B6FC8}"/>
              </a:ext>
            </a:extLst>
          </p:cNvPr>
          <p:cNvSpPr txBox="1"/>
          <p:nvPr/>
        </p:nvSpPr>
        <p:spPr>
          <a:xfrm>
            <a:off x="-8885032" y="3676573"/>
            <a:ext cx="4822722" cy="523220"/>
          </a:xfrm>
          <a:prstGeom prst="rect">
            <a:avLst/>
          </a:prstGeom>
          <a:noFill/>
        </p:spPr>
        <p:txBody>
          <a:bodyPr wrap="square" rtlCol="0">
            <a:spAutoFit/>
          </a:bodyPr>
          <a:lstStyle/>
          <a:p>
            <a:pPr algn="ctr"/>
            <a:r>
              <a:rPr lang="en-US" sz="2800" dirty="0"/>
              <a:t>Jeremiah Jones</a:t>
            </a:r>
          </a:p>
        </p:txBody>
      </p:sp>
      <p:sp>
        <p:nvSpPr>
          <p:cNvPr id="11" name="TextBox 10">
            <a:extLst>
              <a:ext uri="{FF2B5EF4-FFF2-40B4-BE49-F238E27FC236}">
                <a16:creationId xmlns:a16="http://schemas.microsoft.com/office/drawing/2014/main" id="{72234D9C-E1F3-E623-D900-2513965F02D1}"/>
              </a:ext>
            </a:extLst>
          </p:cNvPr>
          <p:cNvSpPr txBox="1"/>
          <p:nvPr/>
        </p:nvSpPr>
        <p:spPr>
          <a:xfrm>
            <a:off x="-12310928" y="4761635"/>
            <a:ext cx="12192000" cy="1815882"/>
          </a:xfrm>
          <a:prstGeom prst="rect">
            <a:avLst/>
          </a:prstGeom>
          <a:noFill/>
        </p:spPr>
        <p:txBody>
          <a:bodyPr wrap="square" rtlCol="0">
            <a:spAutoFit/>
          </a:bodyPr>
          <a:lstStyle/>
          <a:p>
            <a:pPr algn="ctr"/>
            <a:r>
              <a:rPr lang="en-US" sz="2800" dirty="0"/>
              <a:t>- Strongly denounced Toland</a:t>
            </a:r>
          </a:p>
          <a:p>
            <a:pPr algn="ctr"/>
            <a:r>
              <a:rPr lang="en-US" sz="2800" dirty="0"/>
              <a:t>- Richardson: “What the Apostles Wrote, and what they </a:t>
            </a:r>
            <a:r>
              <a:rPr lang="en-US" sz="2800" dirty="0" err="1"/>
              <a:t>Authoriz’d</a:t>
            </a:r>
            <a:r>
              <a:rPr lang="en-US" sz="2800" dirty="0"/>
              <a:t>, can be known in no other way, then by the Testimonies of those who </a:t>
            </a:r>
            <a:r>
              <a:rPr lang="en-US" sz="2800" dirty="0" err="1"/>
              <a:t>liv’d</a:t>
            </a:r>
            <a:r>
              <a:rPr lang="en-US" sz="2800" dirty="0"/>
              <a:t> at the same time with them, and the Tradition of those who succeeded them” (p. 13)</a:t>
            </a:r>
          </a:p>
        </p:txBody>
      </p:sp>
      <p:sp>
        <p:nvSpPr>
          <p:cNvPr id="12" name="TextBox 11">
            <a:extLst>
              <a:ext uri="{FF2B5EF4-FFF2-40B4-BE49-F238E27FC236}">
                <a16:creationId xmlns:a16="http://schemas.microsoft.com/office/drawing/2014/main" id="{108F9A4C-29ED-4B5F-94EC-6170A7490212}"/>
              </a:ext>
            </a:extLst>
          </p:cNvPr>
          <p:cNvSpPr txBox="1"/>
          <p:nvPr/>
        </p:nvSpPr>
        <p:spPr>
          <a:xfrm>
            <a:off x="-12569671" y="4392668"/>
            <a:ext cx="12192000" cy="954107"/>
          </a:xfrm>
          <a:prstGeom prst="rect">
            <a:avLst/>
          </a:prstGeom>
          <a:noFill/>
        </p:spPr>
        <p:txBody>
          <a:bodyPr wrap="square" rtlCol="0">
            <a:spAutoFit/>
          </a:bodyPr>
          <a:lstStyle/>
          <a:p>
            <a:pPr algn="ctr"/>
            <a:r>
              <a:rPr lang="en-US" sz="2800" dirty="0"/>
              <a:t>Jones made available for  the first time an English translation of the text of dozens of apocryphal writings” (p. 14)</a:t>
            </a:r>
          </a:p>
        </p:txBody>
      </p:sp>
      <p:sp>
        <p:nvSpPr>
          <p:cNvPr id="14" name="TextBox 13">
            <a:extLst>
              <a:ext uri="{FF2B5EF4-FFF2-40B4-BE49-F238E27FC236}">
                <a16:creationId xmlns:a16="http://schemas.microsoft.com/office/drawing/2014/main" id="{94708B49-B1C8-A460-D58E-9ECCD31AD95A}"/>
              </a:ext>
            </a:extLst>
          </p:cNvPr>
          <p:cNvSpPr txBox="1"/>
          <p:nvPr/>
        </p:nvSpPr>
        <p:spPr>
          <a:xfrm>
            <a:off x="-9427049" y="2423618"/>
            <a:ext cx="6341805" cy="523220"/>
          </a:xfrm>
          <a:prstGeom prst="rect">
            <a:avLst/>
          </a:prstGeom>
          <a:noFill/>
        </p:spPr>
        <p:txBody>
          <a:bodyPr wrap="square" rtlCol="0">
            <a:spAutoFit/>
          </a:bodyPr>
          <a:lstStyle/>
          <a:p>
            <a:pPr algn="ctr"/>
            <a:r>
              <a:rPr lang="en-US" sz="2800" b="1" dirty="0"/>
              <a:t>1699 (in France)</a:t>
            </a:r>
          </a:p>
        </p:txBody>
      </p:sp>
      <p:sp>
        <p:nvSpPr>
          <p:cNvPr id="15" name="TextBox 14">
            <a:extLst>
              <a:ext uri="{FF2B5EF4-FFF2-40B4-BE49-F238E27FC236}">
                <a16:creationId xmlns:a16="http://schemas.microsoft.com/office/drawing/2014/main" id="{4DB07511-E275-2262-B830-9916FFBC9560}"/>
              </a:ext>
            </a:extLst>
          </p:cNvPr>
          <p:cNvSpPr txBox="1"/>
          <p:nvPr/>
        </p:nvSpPr>
        <p:spPr>
          <a:xfrm>
            <a:off x="-8667508" y="3676573"/>
            <a:ext cx="4822722" cy="523220"/>
          </a:xfrm>
          <a:prstGeom prst="rect">
            <a:avLst/>
          </a:prstGeom>
          <a:noFill/>
        </p:spPr>
        <p:txBody>
          <a:bodyPr wrap="square" rtlCol="0">
            <a:spAutoFit/>
          </a:bodyPr>
          <a:lstStyle/>
          <a:p>
            <a:pPr algn="ctr"/>
            <a:r>
              <a:rPr lang="en-US" sz="2800" dirty="0"/>
              <a:t>Jacques Basnage</a:t>
            </a:r>
          </a:p>
        </p:txBody>
      </p:sp>
      <p:sp>
        <p:nvSpPr>
          <p:cNvPr id="16" name="TextBox 15">
            <a:extLst>
              <a:ext uri="{FF2B5EF4-FFF2-40B4-BE49-F238E27FC236}">
                <a16:creationId xmlns:a16="http://schemas.microsoft.com/office/drawing/2014/main" id="{B4FA16A2-A167-3006-EAA7-9E9E43C09AA1}"/>
              </a:ext>
            </a:extLst>
          </p:cNvPr>
          <p:cNvSpPr txBox="1"/>
          <p:nvPr/>
        </p:nvSpPr>
        <p:spPr>
          <a:xfrm>
            <a:off x="-12352146" y="4392669"/>
            <a:ext cx="12192000" cy="1815882"/>
          </a:xfrm>
          <a:prstGeom prst="rect">
            <a:avLst/>
          </a:prstGeom>
          <a:noFill/>
        </p:spPr>
        <p:txBody>
          <a:bodyPr wrap="square" rtlCol="0">
            <a:spAutoFit/>
          </a:bodyPr>
          <a:lstStyle/>
          <a:p>
            <a:pPr algn="ctr"/>
            <a:r>
              <a:rPr lang="en-US" sz="2800" dirty="0"/>
              <a:t>Found that during the first 3 centuries “there was no decision concerning the limits of the New Testament canon, but each local church had the liberty to choose or reject individual books; this freedom was most noticeable among Eastern Churches in rejecting the Apocalypse” (p. 16)</a:t>
            </a:r>
          </a:p>
        </p:txBody>
      </p:sp>
      <p:sp>
        <p:nvSpPr>
          <p:cNvPr id="18" name="TextBox 17">
            <a:extLst>
              <a:ext uri="{FF2B5EF4-FFF2-40B4-BE49-F238E27FC236}">
                <a16:creationId xmlns:a16="http://schemas.microsoft.com/office/drawing/2014/main" id="{2401CB2F-75A4-D607-8001-3333BEEFE92C}"/>
              </a:ext>
            </a:extLst>
          </p:cNvPr>
          <p:cNvSpPr txBox="1"/>
          <p:nvPr/>
        </p:nvSpPr>
        <p:spPr>
          <a:xfrm>
            <a:off x="-9386634" y="2423618"/>
            <a:ext cx="6341805" cy="523220"/>
          </a:xfrm>
          <a:prstGeom prst="rect">
            <a:avLst/>
          </a:prstGeom>
          <a:noFill/>
        </p:spPr>
        <p:txBody>
          <a:bodyPr wrap="square" rtlCol="0">
            <a:spAutoFit/>
          </a:bodyPr>
          <a:lstStyle/>
          <a:p>
            <a:pPr algn="ctr"/>
            <a:r>
              <a:rPr lang="en-US" sz="2800" b="1" dirty="0"/>
              <a:t>1804-1812</a:t>
            </a:r>
          </a:p>
        </p:txBody>
      </p:sp>
      <p:sp>
        <p:nvSpPr>
          <p:cNvPr id="19" name="TextBox 18">
            <a:extLst>
              <a:ext uri="{FF2B5EF4-FFF2-40B4-BE49-F238E27FC236}">
                <a16:creationId xmlns:a16="http://schemas.microsoft.com/office/drawing/2014/main" id="{6351B449-C80F-ABB0-B394-DA90E696EE9C}"/>
              </a:ext>
            </a:extLst>
          </p:cNvPr>
          <p:cNvSpPr txBox="1"/>
          <p:nvPr/>
        </p:nvSpPr>
        <p:spPr>
          <a:xfrm>
            <a:off x="-8627093" y="3676573"/>
            <a:ext cx="4822722" cy="523220"/>
          </a:xfrm>
          <a:prstGeom prst="rect">
            <a:avLst/>
          </a:prstGeom>
          <a:noFill/>
        </p:spPr>
        <p:txBody>
          <a:bodyPr wrap="square" rtlCol="0">
            <a:spAutoFit/>
          </a:bodyPr>
          <a:lstStyle/>
          <a:p>
            <a:pPr algn="ctr"/>
            <a:r>
              <a:rPr lang="en-US" sz="2800" dirty="0"/>
              <a:t>J. G. Eichhorn</a:t>
            </a:r>
          </a:p>
        </p:txBody>
      </p:sp>
      <p:sp>
        <p:nvSpPr>
          <p:cNvPr id="21" name="TextBox 20">
            <a:extLst>
              <a:ext uri="{FF2B5EF4-FFF2-40B4-BE49-F238E27FC236}">
                <a16:creationId xmlns:a16="http://schemas.microsoft.com/office/drawing/2014/main" id="{B069E05D-78C5-09BF-67E5-477500D326B7}"/>
              </a:ext>
            </a:extLst>
          </p:cNvPr>
          <p:cNvSpPr txBox="1"/>
          <p:nvPr/>
        </p:nvSpPr>
        <p:spPr>
          <a:xfrm>
            <a:off x="-12311731" y="4392669"/>
            <a:ext cx="12192000" cy="1384995"/>
          </a:xfrm>
          <a:prstGeom prst="rect">
            <a:avLst/>
          </a:prstGeom>
          <a:noFill/>
        </p:spPr>
        <p:txBody>
          <a:bodyPr wrap="square" rtlCol="0">
            <a:spAutoFit/>
          </a:bodyPr>
          <a:lstStyle/>
          <a:p>
            <a:pPr algn="ctr"/>
            <a:r>
              <a:rPr lang="en-US" sz="2800" dirty="0"/>
              <a:t>“The first to attribute to Marcion the stimulus to collect the New Testament writings, and argued that the core of the future canon was established by about AD 175” (p. 18)</a:t>
            </a:r>
          </a:p>
        </p:txBody>
      </p:sp>
      <p:sp>
        <p:nvSpPr>
          <p:cNvPr id="24" name="Rectangle 23">
            <a:extLst>
              <a:ext uri="{FF2B5EF4-FFF2-40B4-BE49-F238E27FC236}">
                <a16:creationId xmlns:a16="http://schemas.microsoft.com/office/drawing/2014/main" id="{4B33B111-578E-E961-E8D2-C86DDF8082A3}"/>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F930ED5-02BB-A116-C38F-12F893B877F4}"/>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1826 (in America)</a:t>
            </a:r>
          </a:p>
        </p:txBody>
      </p:sp>
      <p:sp>
        <p:nvSpPr>
          <p:cNvPr id="26" name="TextBox 25">
            <a:extLst>
              <a:ext uri="{FF2B5EF4-FFF2-40B4-BE49-F238E27FC236}">
                <a16:creationId xmlns:a16="http://schemas.microsoft.com/office/drawing/2014/main" id="{38A3BAF0-7A8E-EADD-0028-E4DE617FB880}"/>
              </a:ext>
            </a:extLst>
          </p:cNvPr>
          <p:cNvSpPr txBox="1"/>
          <p:nvPr/>
        </p:nvSpPr>
        <p:spPr>
          <a:xfrm>
            <a:off x="3684638" y="3676573"/>
            <a:ext cx="4822722" cy="523220"/>
          </a:xfrm>
          <a:prstGeom prst="rect">
            <a:avLst/>
          </a:prstGeom>
          <a:noFill/>
        </p:spPr>
        <p:txBody>
          <a:bodyPr wrap="square" rtlCol="0">
            <a:spAutoFit/>
          </a:bodyPr>
          <a:lstStyle/>
          <a:p>
            <a:pPr algn="ctr"/>
            <a:r>
              <a:rPr lang="en-US" sz="2800" dirty="0"/>
              <a:t>Archibald Alexander</a:t>
            </a:r>
          </a:p>
        </p:txBody>
      </p:sp>
      <p:sp>
        <p:nvSpPr>
          <p:cNvPr id="27" name="TextBox 26">
            <a:extLst>
              <a:ext uri="{FF2B5EF4-FFF2-40B4-BE49-F238E27FC236}">
                <a16:creationId xmlns:a16="http://schemas.microsoft.com/office/drawing/2014/main" id="{A074C6C9-DB0E-7F1E-70C8-150F35D11B91}"/>
              </a:ext>
            </a:extLst>
          </p:cNvPr>
          <p:cNvSpPr txBox="1"/>
          <p:nvPr/>
        </p:nvSpPr>
        <p:spPr>
          <a:xfrm>
            <a:off x="0" y="4392669"/>
            <a:ext cx="12192000" cy="2246769"/>
          </a:xfrm>
          <a:prstGeom prst="rect">
            <a:avLst/>
          </a:prstGeom>
          <a:noFill/>
        </p:spPr>
        <p:txBody>
          <a:bodyPr wrap="square" rtlCol="0">
            <a:spAutoFit/>
          </a:bodyPr>
          <a:lstStyle/>
          <a:p>
            <a:pPr marL="457200" indent="-457200" algn="ctr">
              <a:buFontTx/>
              <a:buChar char="-"/>
            </a:pPr>
            <a:r>
              <a:rPr lang="en-US" sz="2800" dirty="0"/>
              <a:t>Wrote the first book (in the US) dealing solely with the Biblical canon</a:t>
            </a:r>
          </a:p>
          <a:p>
            <a:pPr marL="457200" indent="-457200" algn="ctr">
              <a:buFontTx/>
              <a:buChar char="-"/>
            </a:pPr>
            <a:r>
              <a:rPr lang="en-US" sz="2800" dirty="0"/>
              <a:t>“Argued that </a:t>
            </a:r>
            <a:r>
              <a:rPr lang="en-US" sz="2800" b="1" u="sng" dirty="0"/>
              <a:t>the criterion of New Testament canonicity is apostolic authorship</a:t>
            </a:r>
            <a:r>
              <a:rPr lang="en-US" sz="2800" dirty="0"/>
              <a:t>, whether direct or indirect (the latter in the case of Mark and Luke). Apostolicity is to be established by historically verified testimonies of patristic writers of the early Christian centuries” (p. 18)</a:t>
            </a:r>
          </a:p>
        </p:txBody>
      </p:sp>
    </p:spTree>
    <p:extLst>
      <p:ext uri="{BB962C8B-B14F-4D97-AF65-F5344CB8AC3E}">
        <p14:creationId xmlns:p14="http://schemas.microsoft.com/office/powerpoint/2010/main" val="16476873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589CD-05C5-E6D1-5CEB-9862703B29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9B4FC-22D9-865E-1AE3-5922A508ABE0}"/>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6C408D2F-5A3A-2C0D-65E4-A61312F91940}"/>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FD9E27E-EB29-F905-F55D-18CA5E631E69}"/>
              </a:ext>
            </a:extLst>
          </p:cNvPr>
          <p:cNvSpPr/>
          <p:nvPr/>
        </p:nvSpPr>
        <p:spPr>
          <a:xfrm rot="16200000">
            <a:off x="-3475395"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643D05E-281D-B73B-9DD8-D1DF45803A69}"/>
              </a:ext>
            </a:extLst>
          </p:cNvPr>
          <p:cNvSpPr txBox="1"/>
          <p:nvPr/>
        </p:nvSpPr>
        <p:spPr>
          <a:xfrm>
            <a:off x="-6417698"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6F9324D1-00C8-CDE5-C1E8-6CAE82DCA8ED}"/>
              </a:ext>
            </a:extLst>
          </p:cNvPr>
          <p:cNvSpPr txBox="1"/>
          <p:nvPr/>
        </p:nvSpPr>
        <p:spPr>
          <a:xfrm>
            <a:off x="-5658157" y="3676573"/>
            <a:ext cx="4822722" cy="523220"/>
          </a:xfrm>
          <a:prstGeom prst="rect">
            <a:avLst/>
          </a:prstGeom>
          <a:noFill/>
        </p:spPr>
        <p:txBody>
          <a:bodyPr wrap="square" rtlCol="0">
            <a:spAutoFit/>
          </a:bodyPr>
          <a:lstStyle/>
          <a:p>
            <a:pPr algn="ctr"/>
            <a:r>
              <a:rPr lang="en-US" sz="2800" dirty="0"/>
              <a:t>John Toland</a:t>
            </a:r>
          </a:p>
        </p:txBody>
      </p:sp>
      <p:sp>
        <p:nvSpPr>
          <p:cNvPr id="3" name="Rectangle 2">
            <a:extLst>
              <a:ext uri="{FF2B5EF4-FFF2-40B4-BE49-F238E27FC236}">
                <a16:creationId xmlns:a16="http://schemas.microsoft.com/office/drawing/2014/main" id="{9319C3D8-78D2-C420-92E4-E767AC66D5DD}"/>
              </a:ext>
            </a:extLst>
          </p:cNvPr>
          <p:cNvSpPr/>
          <p:nvPr/>
        </p:nvSpPr>
        <p:spPr>
          <a:xfrm rot="16200000">
            <a:off x="-3549314"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492CDC2-E817-F79E-DE28-497C81BDFE0B}"/>
              </a:ext>
            </a:extLst>
          </p:cNvPr>
          <p:cNvSpPr txBox="1"/>
          <p:nvPr/>
        </p:nvSpPr>
        <p:spPr>
          <a:xfrm>
            <a:off x="-6491617" y="2423618"/>
            <a:ext cx="6341805" cy="523220"/>
          </a:xfrm>
          <a:prstGeom prst="rect">
            <a:avLst/>
          </a:prstGeom>
          <a:noFill/>
        </p:spPr>
        <p:txBody>
          <a:bodyPr wrap="square" rtlCol="0">
            <a:spAutoFit/>
          </a:bodyPr>
          <a:lstStyle/>
          <a:p>
            <a:pPr algn="ctr"/>
            <a:r>
              <a:rPr lang="en-US" sz="2800" b="1" dirty="0"/>
              <a:t>1700-1719</a:t>
            </a:r>
          </a:p>
        </p:txBody>
      </p:sp>
      <p:sp>
        <p:nvSpPr>
          <p:cNvPr id="5" name="TextBox 4">
            <a:extLst>
              <a:ext uri="{FF2B5EF4-FFF2-40B4-BE49-F238E27FC236}">
                <a16:creationId xmlns:a16="http://schemas.microsoft.com/office/drawing/2014/main" id="{7EF33931-BD70-A384-3184-8772401AFACA}"/>
              </a:ext>
            </a:extLst>
          </p:cNvPr>
          <p:cNvSpPr txBox="1"/>
          <p:nvPr/>
        </p:nvSpPr>
        <p:spPr>
          <a:xfrm>
            <a:off x="-5732076" y="3676573"/>
            <a:ext cx="4822722" cy="954107"/>
          </a:xfrm>
          <a:prstGeom prst="rect">
            <a:avLst/>
          </a:prstGeom>
          <a:noFill/>
        </p:spPr>
        <p:txBody>
          <a:bodyPr wrap="square" rtlCol="0">
            <a:spAutoFit/>
          </a:bodyPr>
          <a:lstStyle/>
          <a:p>
            <a:pPr algn="ctr"/>
            <a:r>
              <a:rPr lang="en-US" sz="2800" dirty="0"/>
              <a:t>Samuel Clarke, Stephen Nye, John Richardson, and others</a:t>
            </a:r>
          </a:p>
        </p:txBody>
      </p:sp>
      <p:sp>
        <p:nvSpPr>
          <p:cNvPr id="7" name="TextBox 6">
            <a:extLst>
              <a:ext uri="{FF2B5EF4-FFF2-40B4-BE49-F238E27FC236}">
                <a16:creationId xmlns:a16="http://schemas.microsoft.com/office/drawing/2014/main" id="{C72F20F6-D10D-D4E3-AC5A-08A32D4A2175}"/>
              </a:ext>
            </a:extLst>
          </p:cNvPr>
          <p:cNvSpPr txBox="1"/>
          <p:nvPr/>
        </p:nvSpPr>
        <p:spPr>
          <a:xfrm>
            <a:off x="-12569670" y="4392669"/>
            <a:ext cx="12192000" cy="1384995"/>
          </a:xfrm>
          <a:prstGeom prst="rect">
            <a:avLst/>
          </a:prstGeom>
          <a:noFill/>
        </p:spPr>
        <p:txBody>
          <a:bodyPr wrap="square" rtlCol="0">
            <a:spAutoFit/>
          </a:bodyPr>
          <a:lstStyle/>
          <a:p>
            <a:pPr algn="ctr"/>
            <a:r>
              <a:rPr lang="en-US" sz="2800" dirty="0"/>
              <a:t>Used the “New and Full Method” of looking at ancient records to find early testimony or traditions of people concerning NT books written close to them in time </a:t>
            </a:r>
          </a:p>
        </p:txBody>
      </p:sp>
      <p:sp>
        <p:nvSpPr>
          <p:cNvPr id="9" name="TextBox 8">
            <a:extLst>
              <a:ext uri="{FF2B5EF4-FFF2-40B4-BE49-F238E27FC236}">
                <a16:creationId xmlns:a16="http://schemas.microsoft.com/office/drawing/2014/main" id="{E8493828-42F5-20F9-1AFA-FE9AE9DA24D9}"/>
              </a:ext>
            </a:extLst>
          </p:cNvPr>
          <p:cNvSpPr txBox="1"/>
          <p:nvPr/>
        </p:nvSpPr>
        <p:spPr>
          <a:xfrm>
            <a:off x="-9644573" y="2423618"/>
            <a:ext cx="6341805" cy="523220"/>
          </a:xfrm>
          <a:prstGeom prst="rect">
            <a:avLst/>
          </a:prstGeom>
          <a:noFill/>
        </p:spPr>
        <p:txBody>
          <a:bodyPr wrap="square" rtlCol="0">
            <a:spAutoFit/>
          </a:bodyPr>
          <a:lstStyle/>
          <a:p>
            <a:pPr algn="ctr"/>
            <a:r>
              <a:rPr lang="en-US" sz="2800" b="1" dirty="0"/>
              <a:t>1726-1727</a:t>
            </a:r>
          </a:p>
        </p:txBody>
      </p:sp>
      <p:sp>
        <p:nvSpPr>
          <p:cNvPr id="10" name="TextBox 9">
            <a:extLst>
              <a:ext uri="{FF2B5EF4-FFF2-40B4-BE49-F238E27FC236}">
                <a16:creationId xmlns:a16="http://schemas.microsoft.com/office/drawing/2014/main" id="{6C7889C4-728C-9C4D-3FB5-1A492E61D59F}"/>
              </a:ext>
            </a:extLst>
          </p:cNvPr>
          <p:cNvSpPr txBox="1"/>
          <p:nvPr/>
        </p:nvSpPr>
        <p:spPr>
          <a:xfrm>
            <a:off x="-8885032" y="3676573"/>
            <a:ext cx="4822722" cy="523220"/>
          </a:xfrm>
          <a:prstGeom prst="rect">
            <a:avLst/>
          </a:prstGeom>
          <a:noFill/>
        </p:spPr>
        <p:txBody>
          <a:bodyPr wrap="square" rtlCol="0">
            <a:spAutoFit/>
          </a:bodyPr>
          <a:lstStyle/>
          <a:p>
            <a:pPr algn="ctr"/>
            <a:r>
              <a:rPr lang="en-US" sz="2800" dirty="0"/>
              <a:t>Jeremiah Jones</a:t>
            </a:r>
          </a:p>
        </p:txBody>
      </p:sp>
      <p:sp>
        <p:nvSpPr>
          <p:cNvPr id="11" name="TextBox 10">
            <a:extLst>
              <a:ext uri="{FF2B5EF4-FFF2-40B4-BE49-F238E27FC236}">
                <a16:creationId xmlns:a16="http://schemas.microsoft.com/office/drawing/2014/main" id="{DB29020A-A208-5D37-4182-89070EBE5ED7}"/>
              </a:ext>
            </a:extLst>
          </p:cNvPr>
          <p:cNvSpPr txBox="1"/>
          <p:nvPr/>
        </p:nvSpPr>
        <p:spPr>
          <a:xfrm>
            <a:off x="-12310928" y="4761635"/>
            <a:ext cx="12192000" cy="1815882"/>
          </a:xfrm>
          <a:prstGeom prst="rect">
            <a:avLst/>
          </a:prstGeom>
          <a:noFill/>
        </p:spPr>
        <p:txBody>
          <a:bodyPr wrap="square" rtlCol="0">
            <a:spAutoFit/>
          </a:bodyPr>
          <a:lstStyle/>
          <a:p>
            <a:pPr algn="ctr"/>
            <a:r>
              <a:rPr lang="en-US" sz="2800" dirty="0"/>
              <a:t>- Strongly denounced Toland</a:t>
            </a:r>
          </a:p>
          <a:p>
            <a:pPr algn="ctr"/>
            <a:r>
              <a:rPr lang="en-US" sz="2800" dirty="0"/>
              <a:t>- Richardson: “What the Apostles Wrote, and what they </a:t>
            </a:r>
            <a:r>
              <a:rPr lang="en-US" sz="2800" dirty="0" err="1"/>
              <a:t>Authoriz’d</a:t>
            </a:r>
            <a:r>
              <a:rPr lang="en-US" sz="2800" dirty="0"/>
              <a:t>, can be known in no other way, then by the Testimonies of those who </a:t>
            </a:r>
            <a:r>
              <a:rPr lang="en-US" sz="2800" dirty="0" err="1"/>
              <a:t>liv’d</a:t>
            </a:r>
            <a:r>
              <a:rPr lang="en-US" sz="2800" dirty="0"/>
              <a:t> at the same time with them, and the Tradition of those who succeeded them” (p. 13)</a:t>
            </a:r>
          </a:p>
        </p:txBody>
      </p:sp>
      <p:sp>
        <p:nvSpPr>
          <p:cNvPr id="12" name="TextBox 11">
            <a:extLst>
              <a:ext uri="{FF2B5EF4-FFF2-40B4-BE49-F238E27FC236}">
                <a16:creationId xmlns:a16="http://schemas.microsoft.com/office/drawing/2014/main" id="{50CCAE70-7E0D-C182-6668-BBEB415627CA}"/>
              </a:ext>
            </a:extLst>
          </p:cNvPr>
          <p:cNvSpPr txBox="1"/>
          <p:nvPr/>
        </p:nvSpPr>
        <p:spPr>
          <a:xfrm>
            <a:off x="-12569671" y="4392668"/>
            <a:ext cx="12192000" cy="954107"/>
          </a:xfrm>
          <a:prstGeom prst="rect">
            <a:avLst/>
          </a:prstGeom>
          <a:noFill/>
        </p:spPr>
        <p:txBody>
          <a:bodyPr wrap="square" rtlCol="0">
            <a:spAutoFit/>
          </a:bodyPr>
          <a:lstStyle/>
          <a:p>
            <a:pPr algn="ctr"/>
            <a:r>
              <a:rPr lang="en-US" sz="2800" dirty="0"/>
              <a:t>Jones made available for  the first time an English translation of the text of dozens of apocryphal writings” (p. 14)</a:t>
            </a:r>
          </a:p>
        </p:txBody>
      </p:sp>
      <p:sp>
        <p:nvSpPr>
          <p:cNvPr id="14" name="TextBox 13">
            <a:extLst>
              <a:ext uri="{FF2B5EF4-FFF2-40B4-BE49-F238E27FC236}">
                <a16:creationId xmlns:a16="http://schemas.microsoft.com/office/drawing/2014/main" id="{FEA9FFF7-7DAC-631D-18F5-6047F7952073}"/>
              </a:ext>
            </a:extLst>
          </p:cNvPr>
          <p:cNvSpPr txBox="1"/>
          <p:nvPr/>
        </p:nvSpPr>
        <p:spPr>
          <a:xfrm>
            <a:off x="-9427049" y="2423618"/>
            <a:ext cx="6341805" cy="523220"/>
          </a:xfrm>
          <a:prstGeom prst="rect">
            <a:avLst/>
          </a:prstGeom>
          <a:noFill/>
        </p:spPr>
        <p:txBody>
          <a:bodyPr wrap="square" rtlCol="0">
            <a:spAutoFit/>
          </a:bodyPr>
          <a:lstStyle/>
          <a:p>
            <a:pPr algn="ctr"/>
            <a:r>
              <a:rPr lang="en-US" sz="2800" b="1" dirty="0"/>
              <a:t>1699 (in France)</a:t>
            </a:r>
          </a:p>
        </p:txBody>
      </p:sp>
      <p:sp>
        <p:nvSpPr>
          <p:cNvPr id="15" name="TextBox 14">
            <a:extLst>
              <a:ext uri="{FF2B5EF4-FFF2-40B4-BE49-F238E27FC236}">
                <a16:creationId xmlns:a16="http://schemas.microsoft.com/office/drawing/2014/main" id="{8C96DE7C-39AC-A498-BEA1-B99194728BF2}"/>
              </a:ext>
            </a:extLst>
          </p:cNvPr>
          <p:cNvSpPr txBox="1"/>
          <p:nvPr/>
        </p:nvSpPr>
        <p:spPr>
          <a:xfrm>
            <a:off x="-8667508" y="3676573"/>
            <a:ext cx="4822722" cy="523220"/>
          </a:xfrm>
          <a:prstGeom prst="rect">
            <a:avLst/>
          </a:prstGeom>
          <a:noFill/>
        </p:spPr>
        <p:txBody>
          <a:bodyPr wrap="square" rtlCol="0">
            <a:spAutoFit/>
          </a:bodyPr>
          <a:lstStyle/>
          <a:p>
            <a:pPr algn="ctr"/>
            <a:r>
              <a:rPr lang="en-US" sz="2800" dirty="0"/>
              <a:t>Jacques Basnage</a:t>
            </a:r>
          </a:p>
        </p:txBody>
      </p:sp>
      <p:sp>
        <p:nvSpPr>
          <p:cNvPr id="16" name="TextBox 15">
            <a:extLst>
              <a:ext uri="{FF2B5EF4-FFF2-40B4-BE49-F238E27FC236}">
                <a16:creationId xmlns:a16="http://schemas.microsoft.com/office/drawing/2014/main" id="{1C2689F1-DE34-642F-4481-387377212800}"/>
              </a:ext>
            </a:extLst>
          </p:cNvPr>
          <p:cNvSpPr txBox="1"/>
          <p:nvPr/>
        </p:nvSpPr>
        <p:spPr>
          <a:xfrm>
            <a:off x="-12352146" y="4392669"/>
            <a:ext cx="12192000" cy="1815882"/>
          </a:xfrm>
          <a:prstGeom prst="rect">
            <a:avLst/>
          </a:prstGeom>
          <a:noFill/>
        </p:spPr>
        <p:txBody>
          <a:bodyPr wrap="square" rtlCol="0">
            <a:spAutoFit/>
          </a:bodyPr>
          <a:lstStyle/>
          <a:p>
            <a:pPr algn="ctr"/>
            <a:r>
              <a:rPr lang="en-US" sz="2800" dirty="0"/>
              <a:t>Found that during the first 3 centuries “there was no decision concerning the limits of the New Testament canon, but each local church had the liberty to choose or reject individual books; this freedom was most noticeable among Eastern Churches in rejecting the Apocalypse” (p. 16)</a:t>
            </a:r>
          </a:p>
        </p:txBody>
      </p:sp>
      <p:sp>
        <p:nvSpPr>
          <p:cNvPr id="18" name="TextBox 17">
            <a:extLst>
              <a:ext uri="{FF2B5EF4-FFF2-40B4-BE49-F238E27FC236}">
                <a16:creationId xmlns:a16="http://schemas.microsoft.com/office/drawing/2014/main" id="{53A00C80-3B28-22F3-B9F0-2550AF97B3DB}"/>
              </a:ext>
            </a:extLst>
          </p:cNvPr>
          <p:cNvSpPr txBox="1"/>
          <p:nvPr/>
        </p:nvSpPr>
        <p:spPr>
          <a:xfrm>
            <a:off x="-9386634" y="2423618"/>
            <a:ext cx="6341805" cy="523220"/>
          </a:xfrm>
          <a:prstGeom prst="rect">
            <a:avLst/>
          </a:prstGeom>
          <a:noFill/>
        </p:spPr>
        <p:txBody>
          <a:bodyPr wrap="square" rtlCol="0">
            <a:spAutoFit/>
          </a:bodyPr>
          <a:lstStyle/>
          <a:p>
            <a:pPr algn="ctr"/>
            <a:r>
              <a:rPr lang="en-US" sz="2800" b="1" dirty="0"/>
              <a:t>1804-1812</a:t>
            </a:r>
          </a:p>
        </p:txBody>
      </p:sp>
      <p:sp>
        <p:nvSpPr>
          <p:cNvPr id="19" name="TextBox 18">
            <a:extLst>
              <a:ext uri="{FF2B5EF4-FFF2-40B4-BE49-F238E27FC236}">
                <a16:creationId xmlns:a16="http://schemas.microsoft.com/office/drawing/2014/main" id="{035C7C0C-A08D-4DFE-EE64-E8A7ED67CBB3}"/>
              </a:ext>
            </a:extLst>
          </p:cNvPr>
          <p:cNvSpPr txBox="1"/>
          <p:nvPr/>
        </p:nvSpPr>
        <p:spPr>
          <a:xfrm>
            <a:off x="-8627093" y="3676573"/>
            <a:ext cx="4822722" cy="523220"/>
          </a:xfrm>
          <a:prstGeom prst="rect">
            <a:avLst/>
          </a:prstGeom>
          <a:noFill/>
        </p:spPr>
        <p:txBody>
          <a:bodyPr wrap="square" rtlCol="0">
            <a:spAutoFit/>
          </a:bodyPr>
          <a:lstStyle/>
          <a:p>
            <a:pPr algn="ctr"/>
            <a:r>
              <a:rPr lang="en-US" sz="2800" dirty="0"/>
              <a:t>J. G. Eichhorn</a:t>
            </a:r>
          </a:p>
        </p:txBody>
      </p:sp>
      <p:sp>
        <p:nvSpPr>
          <p:cNvPr id="21" name="TextBox 20">
            <a:extLst>
              <a:ext uri="{FF2B5EF4-FFF2-40B4-BE49-F238E27FC236}">
                <a16:creationId xmlns:a16="http://schemas.microsoft.com/office/drawing/2014/main" id="{AC7A9EAD-5837-A60C-52E3-2CF315190204}"/>
              </a:ext>
            </a:extLst>
          </p:cNvPr>
          <p:cNvSpPr txBox="1"/>
          <p:nvPr/>
        </p:nvSpPr>
        <p:spPr>
          <a:xfrm>
            <a:off x="-12311731" y="4392669"/>
            <a:ext cx="12192000" cy="1384995"/>
          </a:xfrm>
          <a:prstGeom prst="rect">
            <a:avLst/>
          </a:prstGeom>
          <a:noFill/>
        </p:spPr>
        <p:txBody>
          <a:bodyPr wrap="square" rtlCol="0">
            <a:spAutoFit/>
          </a:bodyPr>
          <a:lstStyle/>
          <a:p>
            <a:pPr algn="ctr"/>
            <a:r>
              <a:rPr lang="en-US" sz="2800" dirty="0"/>
              <a:t>“The first to attribute to Marcion the stimulus to collect the New Testament writings, and argued that the core of the future canon was established by about AD 175” (p. 18)</a:t>
            </a:r>
          </a:p>
        </p:txBody>
      </p:sp>
      <p:sp>
        <p:nvSpPr>
          <p:cNvPr id="24" name="Rectangle 23">
            <a:extLst>
              <a:ext uri="{FF2B5EF4-FFF2-40B4-BE49-F238E27FC236}">
                <a16:creationId xmlns:a16="http://schemas.microsoft.com/office/drawing/2014/main" id="{CCDCCCB6-25C7-BB91-9AE3-3C6D0E996524}"/>
              </a:ext>
            </a:extLst>
          </p:cNvPr>
          <p:cNvSpPr/>
          <p:nvPr/>
        </p:nvSpPr>
        <p:spPr>
          <a:xfrm rot="16200000">
            <a:off x="-6422136"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0B74D8A-CCE9-F956-F385-438F2E6108A3}"/>
              </a:ext>
            </a:extLst>
          </p:cNvPr>
          <p:cNvSpPr txBox="1"/>
          <p:nvPr/>
        </p:nvSpPr>
        <p:spPr>
          <a:xfrm>
            <a:off x="-9364439" y="2423618"/>
            <a:ext cx="6341805" cy="523220"/>
          </a:xfrm>
          <a:prstGeom prst="rect">
            <a:avLst/>
          </a:prstGeom>
          <a:noFill/>
        </p:spPr>
        <p:txBody>
          <a:bodyPr wrap="square" rtlCol="0">
            <a:spAutoFit/>
          </a:bodyPr>
          <a:lstStyle/>
          <a:p>
            <a:pPr algn="ctr"/>
            <a:r>
              <a:rPr lang="en-US" sz="2800" b="1" dirty="0"/>
              <a:t>1826 (in America)</a:t>
            </a:r>
          </a:p>
        </p:txBody>
      </p:sp>
      <p:sp>
        <p:nvSpPr>
          <p:cNvPr id="26" name="TextBox 25">
            <a:extLst>
              <a:ext uri="{FF2B5EF4-FFF2-40B4-BE49-F238E27FC236}">
                <a16:creationId xmlns:a16="http://schemas.microsoft.com/office/drawing/2014/main" id="{F55F73D8-C714-38F3-3F50-50BEE446C568}"/>
              </a:ext>
            </a:extLst>
          </p:cNvPr>
          <p:cNvSpPr txBox="1"/>
          <p:nvPr/>
        </p:nvSpPr>
        <p:spPr>
          <a:xfrm>
            <a:off x="-8604898" y="3676573"/>
            <a:ext cx="4822722" cy="523220"/>
          </a:xfrm>
          <a:prstGeom prst="rect">
            <a:avLst/>
          </a:prstGeom>
          <a:noFill/>
        </p:spPr>
        <p:txBody>
          <a:bodyPr wrap="square" rtlCol="0">
            <a:spAutoFit/>
          </a:bodyPr>
          <a:lstStyle/>
          <a:p>
            <a:pPr algn="ctr"/>
            <a:r>
              <a:rPr lang="en-US" sz="2800" dirty="0"/>
              <a:t>Archibald Alexander</a:t>
            </a:r>
          </a:p>
        </p:txBody>
      </p:sp>
      <p:sp>
        <p:nvSpPr>
          <p:cNvPr id="27" name="TextBox 26">
            <a:extLst>
              <a:ext uri="{FF2B5EF4-FFF2-40B4-BE49-F238E27FC236}">
                <a16:creationId xmlns:a16="http://schemas.microsoft.com/office/drawing/2014/main" id="{B193A4C1-194E-B5DD-F63F-028D6A5AF492}"/>
              </a:ext>
            </a:extLst>
          </p:cNvPr>
          <p:cNvSpPr txBox="1"/>
          <p:nvPr/>
        </p:nvSpPr>
        <p:spPr>
          <a:xfrm>
            <a:off x="-12289536" y="4392669"/>
            <a:ext cx="12192000" cy="2246769"/>
          </a:xfrm>
          <a:prstGeom prst="rect">
            <a:avLst/>
          </a:prstGeom>
          <a:noFill/>
        </p:spPr>
        <p:txBody>
          <a:bodyPr wrap="square" rtlCol="0">
            <a:spAutoFit/>
          </a:bodyPr>
          <a:lstStyle/>
          <a:p>
            <a:pPr marL="457200" indent="-457200" algn="ctr">
              <a:buFontTx/>
              <a:buChar char="-"/>
            </a:pPr>
            <a:r>
              <a:rPr lang="en-US" sz="2800" dirty="0"/>
              <a:t>Wrote the first book (in the US) dealing solely with the Biblical canon</a:t>
            </a:r>
          </a:p>
          <a:p>
            <a:pPr marL="457200" indent="-457200" algn="ctr">
              <a:buFontTx/>
              <a:buChar char="-"/>
            </a:pPr>
            <a:r>
              <a:rPr lang="en-US" sz="2800" dirty="0"/>
              <a:t>“Argued that </a:t>
            </a:r>
            <a:r>
              <a:rPr lang="en-US" sz="2800" b="1" u="sng" dirty="0"/>
              <a:t>the criterion of New Testament canonicity is apostolic authorship</a:t>
            </a:r>
            <a:r>
              <a:rPr lang="en-US" sz="2800" dirty="0"/>
              <a:t>, whether direct or indirect (the latter in the case of Mark and Luke). Apostolicity is to be established by historically verified testimonies of patristic writers of the early Christian centuries” (p. 18)</a:t>
            </a:r>
          </a:p>
        </p:txBody>
      </p:sp>
      <p:sp>
        <p:nvSpPr>
          <p:cNvPr id="8" name="Rectangle 7">
            <a:extLst>
              <a:ext uri="{FF2B5EF4-FFF2-40B4-BE49-F238E27FC236}">
                <a16:creationId xmlns:a16="http://schemas.microsoft.com/office/drawing/2014/main" id="{282CE0A7-7595-625C-8042-898B2FD2E932}"/>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F2B3B20-3E2F-4843-5F75-67C9EDE74AD1}"/>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1866</a:t>
            </a:r>
          </a:p>
        </p:txBody>
      </p:sp>
      <p:sp>
        <p:nvSpPr>
          <p:cNvPr id="17" name="TextBox 16">
            <a:extLst>
              <a:ext uri="{FF2B5EF4-FFF2-40B4-BE49-F238E27FC236}">
                <a16:creationId xmlns:a16="http://schemas.microsoft.com/office/drawing/2014/main" id="{37273273-D70E-248A-7F13-EC95E4706DF2}"/>
              </a:ext>
            </a:extLst>
          </p:cNvPr>
          <p:cNvSpPr txBox="1"/>
          <p:nvPr/>
        </p:nvSpPr>
        <p:spPr>
          <a:xfrm>
            <a:off x="3684638" y="3676573"/>
            <a:ext cx="4822722" cy="523220"/>
          </a:xfrm>
          <a:prstGeom prst="rect">
            <a:avLst/>
          </a:prstGeom>
          <a:noFill/>
        </p:spPr>
        <p:txBody>
          <a:bodyPr wrap="square" rtlCol="0">
            <a:spAutoFit/>
          </a:bodyPr>
          <a:lstStyle/>
          <a:p>
            <a:pPr algn="ctr"/>
            <a:r>
              <a:rPr lang="en-US" sz="2800" dirty="0"/>
              <a:t>Constantin von Tischendorf</a:t>
            </a:r>
          </a:p>
        </p:txBody>
      </p:sp>
      <p:sp>
        <p:nvSpPr>
          <p:cNvPr id="28" name="TextBox 27">
            <a:extLst>
              <a:ext uri="{FF2B5EF4-FFF2-40B4-BE49-F238E27FC236}">
                <a16:creationId xmlns:a16="http://schemas.microsoft.com/office/drawing/2014/main" id="{2F5907C0-C77E-7770-5256-3859FCFCBD7F}"/>
              </a:ext>
            </a:extLst>
          </p:cNvPr>
          <p:cNvSpPr txBox="1"/>
          <p:nvPr/>
        </p:nvSpPr>
        <p:spPr>
          <a:xfrm>
            <a:off x="0" y="4392669"/>
            <a:ext cx="12192000" cy="954107"/>
          </a:xfrm>
          <a:prstGeom prst="rect">
            <a:avLst/>
          </a:prstGeom>
          <a:noFill/>
        </p:spPr>
        <p:txBody>
          <a:bodyPr wrap="square" rtlCol="0">
            <a:spAutoFit/>
          </a:bodyPr>
          <a:lstStyle/>
          <a:p>
            <a:pPr algn="ctr"/>
            <a:r>
              <a:rPr lang="en-US" sz="2800" dirty="0"/>
              <a:t>Argued  the canon of the NT was established by the beginning of the 2</a:t>
            </a:r>
            <a:r>
              <a:rPr lang="en-US" sz="2800" baseline="30000" dirty="0"/>
              <a:t>nd</a:t>
            </a:r>
            <a:r>
              <a:rPr lang="en-US" sz="2800" dirty="0"/>
              <a:t> century</a:t>
            </a:r>
          </a:p>
        </p:txBody>
      </p:sp>
    </p:spTree>
    <p:extLst>
      <p:ext uri="{BB962C8B-B14F-4D97-AF65-F5344CB8AC3E}">
        <p14:creationId xmlns:p14="http://schemas.microsoft.com/office/powerpoint/2010/main" val="997158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500"/>
                                        <p:tgtEl>
                                          <p:spTgt spid="17"/>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p:bldP spid="17" grpId="0"/>
      <p:bldP spid="2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3901C-4B4A-D2C7-ADE7-78A584FCCB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B132E-9FCF-9FE2-3320-B2F674E85497}"/>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6D1A54F9-A943-C719-D38B-FAA1708D3F19}"/>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4E8D589-E2A0-6C19-EEF6-B391ED3D6C9C}"/>
              </a:ext>
            </a:extLst>
          </p:cNvPr>
          <p:cNvSpPr/>
          <p:nvPr/>
        </p:nvSpPr>
        <p:spPr>
          <a:xfrm rot="16200000">
            <a:off x="-3475395"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81B7D0D-D599-493B-ACE4-61185B810ADE}"/>
              </a:ext>
            </a:extLst>
          </p:cNvPr>
          <p:cNvSpPr txBox="1"/>
          <p:nvPr/>
        </p:nvSpPr>
        <p:spPr>
          <a:xfrm>
            <a:off x="-6417698"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EC1B4E4C-8091-1990-6318-AEE84298B72E}"/>
              </a:ext>
            </a:extLst>
          </p:cNvPr>
          <p:cNvSpPr txBox="1"/>
          <p:nvPr/>
        </p:nvSpPr>
        <p:spPr>
          <a:xfrm>
            <a:off x="-5658157" y="3676573"/>
            <a:ext cx="4822722" cy="523220"/>
          </a:xfrm>
          <a:prstGeom prst="rect">
            <a:avLst/>
          </a:prstGeom>
          <a:noFill/>
        </p:spPr>
        <p:txBody>
          <a:bodyPr wrap="square" rtlCol="0">
            <a:spAutoFit/>
          </a:bodyPr>
          <a:lstStyle/>
          <a:p>
            <a:pPr algn="ctr"/>
            <a:r>
              <a:rPr lang="en-US" sz="2800" dirty="0"/>
              <a:t>John Toland</a:t>
            </a:r>
          </a:p>
        </p:txBody>
      </p:sp>
      <p:sp>
        <p:nvSpPr>
          <p:cNvPr id="3" name="Rectangle 2">
            <a:extLst>
              <a:ext uri="{FF2B5EF4-FFF2-40B4-BE49-F238E27FC236}">
                <a16:creationId xmlns:a16="http://schemas.microsoft.com/office/drawing/2014/main" id="{B12A14F1-9E0B-8506-EBB6-A63957DC0E52}"/>
              </a:ext>
            </a:extLst>
          </p:cNvPr>
          <p:cNvSpPr/>
          <p:nvPr/>
        </p:nvSpPr>
        <p:spPr>
          <a:xfrm rot="16200000">
            <a:off x="-3549314"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A4B9691-2526-EA27-58A7-3C571D718E2E}"/>
              </a:ext>
            </a:extLst>
          </p:cNvPr>
          <p:cNvSpPr txBox="1"/>
          <p:nvPr/>
        </p:nvSpPr>
        <p:spPr>
          <a:xfrm>
            <a:off x="-6491617" y="2423618"/>
            <a:ext cx="6341805" cy="523220"/>
          </a:xfrm>
          <a:prstGeom prst="rect">
            <a:avLst/>
          </a:prstGeom>
          <a:noFill/>
        </p:spPr>
        <p:txBody>
          <a:bodyPr wrap="square" rtlCol="0">
            <a:spAutoFit/>
          </a:bodyPr>
          <a:lstStyle/>
          <a:p>
            <a:pPr algn="ctr"/>
            <a:r>
              <a:rPr lang="en-US" sz="2800" b="1" dirty="0"/>
              <a:t>1700-1719</a:t>
            </a:r>
          </a:p>
        </p:txBody>
      </p:sp>
      <p:sp>
        <p:nvSpPr>
          <p:cNvPr id="5" name="TextBox 4">
            <a:extLst>
              <a:ext uri="{FF2B5EF4-FFF2-40B4-BE49-F238E27FC236}">
                <a16:creationId xmlns:a16="http://schemas.microsoft.com/office/drawing/2014/main" id="{26A0EFF5-3B66-2F3C-392C-95A168527285}"/>
              </a:ext>
            </a:extLst>
          </p:cNvPr>
          <p:cNvSpPr txBox="1"/>
          <p:nvPr/>
        </p:nvSpPr>
        <p:spPr>
          <a:xfrm>
            <a:off x="-5732076" y="3676573"/>
            <a:ext cx="4822722" cy="954107"/>
          </a:xfrm>
          <a:prstGeom prst="rect">
            <a:avLst/>
          </a:prstGeom>
          <a:noFill/>
        </p:spPr>
        <p:txBody>
          <a:bodyPr wrap="square" rtlCol="0">
            <a:spAutoFit/>
          </a:bodyPr>
          <a:lstStyle/>
          <a:p>
            <a:pPr algn="ctr"/>
            <a:r>
              <a:rPr lang="en-US" sz="2800" dirty="0"/>
              <a:t>Samuel Clarke, Stephen Nye, John Richardson, and others</a:t>
            </a:r>
          </a:p>
        </p:txBody>
      </p:sp>
      <p:sp>
        <p:nvSpPr>
          <p:cNvPr id="7" name="TextBox 6">
            <a:extLst>
              <a:ext uri="{FF2B5EF4-FFF2-40B4-BE49-F238E27FC236}">
                <a16:creationId xmlns:a16="http://schemas.microsoft.com/office/drawing/2014/main" id="{FE003076-AE65-4CA3-A644-DD6B4FAEC52B}"/>
              </a:ext>
            </a:extLst>
          </p:cNvPr>
          <p:cNvSpPr txBox="1"/>
          <p:nvPr/>
        </p:nvSpPr>
        <p:spPr>
          <a:xfrm>
            <a:off x="-12569670" y="4392669"/>
            <a:ext cx="12192000" cy="1384995"/>
          </a:xfrm>
          <a:prstGeom prst="rect">
            <a:avLst/>
          </a:prstGeom>
          <a:noFill/>
        </p:spPr>
        <p:txBody>
          <a:bodyPr wrap="square" rtlCol="0">
            <a:spAutoFit/>
          </a:bodyPr>
          <a:lstStyle/>
          <a:p>
            <a:pPr algn="ctr"/>
            <a:r>
              <a:rPr lang="en-US" sz="2800" dirty="0"/>
              <a:t>Used the “New and Full Method” of looking at ancient records to find early testimony or traditions of people concerning NT books written close to them in time </a:t>
            </a:r>
          </a:p>
        </p:txBody>
      </p:sp>
      <p:sp>
        <p:nvSpPr>
          <p:cNvPr id="9" name="TextBox 8">
            <a:extLst>
              <a:ext uri="{FF2B5EF4-FFF2-40B4-BE49-F238E27FC236}">
                <a16:creationId xmlns:a16="http://schemas.microsoft.com/office/drawing/2014/main" id="{528053F7-98BB-5D4F-38A1-9559744938DE}"/>
              </a:ext>
            </a:extLst>
          </p:cNvPr>
          <p:cNvSpPr txBox="1"/>
          <p:nvPr/>
        </p:nvSpPr>
        <p:spPr>
          <a:xfrm>
            <a:off x="-9644573" y="2423618"/>
            <a:ext cx="6341805" cy="523220"/>
          </a:xfrm>
          <a:prstGeom prst="rect">
            <a:avLst/>
          </a:prstGeom>
          <a:noFill/>
        </p:spPr>
        <p:txBody>
          <a:bodyPr wrap="square" rtlCol="0">
            <a:spAutoFit/>
          </a:bodyPr>
          <a:lstStyle/>
          <a:p>
            <a:pPr algn="ctr"/>
            <a:r>
              <a:rPr lang="en-US" sz="2800" b="1" dirty="0"/>
              <a:t>1726-1727</a:t>
            </a:r>
          </a:p>
        </p:txBody>
      </p:sp>
      <p:sp>
        <p:nvSpPr>
          <p:cNvPr id="10" name="TextBox 9">
            <a:extLst>
              <a:ext uri="{FF2B5EF4-FFF2-40B4-BE49-F238E27FC236}">
                <a16:creationId xmlns:a16="http://schemas.microsoft.com/office/drawing/2014/main" id="{FF3FCCC7-D361-1D30-F496-635036A3E573}"/>
              </a:ext>
            </a:extLst>
          </p:cNvPr>
          <p:cNvSpPr txBox="1"/>
          <p:nvPr/>
        </p:nvSpPr>
        <p:spPr>
          <a:xfrm>
            <a:off x="-8885032" y="3676573"/>
            <a:ext cx="4822722" cy="523220"/>
          </a:xfrm>
          <a:prstGeom prst="rect">
            <a:avLst/>
          </a:prstGeom>
          <a:noFill/>
        </p:spPr>
        <p:txBody>
          <a:bodyPr wrap="square" rtlCol="0">
            <a:spAutoFit/>
          </a:bodyPr>
          <a:lstStyle/>
          <a:p>
            <a:pPr algn="ctr"/>
            <a:r>
              <a:rPr lang="en-US" sz="2800" dirty="0"/>
              <a:t>Jeremiah Jones</a:t>
            </a:r>
          </a:p>
        </p:txBody>
      </p:sp>
      <p:sp>
        <p:nvSpPr>
          <p:cNvPr id="11" name="TextBox 10">
            <a:extLst>
              <a:ext uri="{FF2B5EF4-FFF2-40B4-BE49-F238E27FC236}">
                <a16:creationId xmlns:a16="http://schemas.microsoft.com/office/drawing/2014/main" id="{656801EB-62F1-73E7-54E4-C8A4421BB1F1}"/>
              </a:ext>
            </a:extLst>
          </p:cNvPr>
          <p:cNvSpPr txBox="1"/>
          <p:nvPr/>
        </p:nvSpPr>
        <p:spPr>
          <a:xfrm>
            <a:off x="-12310928" y="4761635"/>
            <a:ext cx="12192000" cy="1815882"/>
          </a:xfrm>
          <a:prstGeom prst="rect">
            <a:avLst/>
          </a:prstGeom>
          <a:noFill/>
        </p:spPr>
        <p:txBody>
          <a:bodyPr wrap="square" rtlCol="0">
            <a:spAutoFit/>
          </a:bodyPr>
          <a:lstStyle/>
          <a:p>
            <a:pPr algn="ctr"/>
            <a:r>
              <a:rPr lang="en-US" sz="2800" dirty="0"/>
              <a:t>- Strongly denounced Toland</a:t>
            </a:r>
          </a:p>
          <a:p>
            <a:pPr algn="ctr"/>
            <a:r>
              <a:rPr lang="en-US" sz="2800" dirty="0"/>
              <a:t>- Richardson: “What the Apostles Wrote, and what they </a:t>
            </a:r>
            <a:r>
              <a:rPr lang="en-US" sz="2800" dirty="0" err="1"/>
              <a:t>Authoriz’d</a:t>
            </a:r>
            <a:r>
              <a:rPr lang="en-US" sz="2800" dirty="0"/>
              <a:t>, can be known in no other way, then by the Testimonies of those who </a:t>
            </a:r>
            <a:r>
              <a:rPr lang="en-US" sz="2800" dirty="0" err="1"/>
              <a:t>liv’d</a:t>
            </a:r>
            <a:r>
              <a:rPr lang="en-US" sz="2800" dirty="0"/>
              <a:t> at the same time with them, and the Tradition of those who succeeded them” (p. 13)</a:t>
            </a:r>
          </a:p>
        </p:txBody>
      </p:sp>
      <p:sp>
        <p:nvSpPr>
          <p:cNvPr id="12" name="TextBox 11">
            <a:extLst>
              <a:ext uri="{FF2B5EF4-FFF2-40B4-BE49-F238E27FC236}">
                <a16:creationId xmlns:a16="http://schemas.microsoft.com/office/drawing/2014/main" id="{E1434A39-409F-49CD-F621-B1D306E904EC}"/>
              </a:ext>
            </a:extLst>
          </p:cNvPr>
          <p:cNvSpPr txBox="1"/>
          <p:nvPr/>
        </p:nvSpPr>
        <p:spPr>
          <a:xfrm>
            <a:off x="-12569671" y="4392668"/>
            <a:ext cx="12192000" cy="954107"/>
          </a:xfrm>
          <a:prstGeom prst="rect">
            <a:avLst/>
          </a:prstGeom>
          <a:noFill/>
        </p:spPr>
        <p:txBody>
          <a:bodyPr wrap="square" rtlCol="0">
            <a:spAutoFit/>
          </a:bodyPr>
          <a:lstStyle/>
          <a:p>
            <a:pPr algn="ctr"/>
            <a:r>
              <a:rPr lang="en-US" sz="2800" dirty="0"/>
              <a:t>Jones made available for  the first time an English translation of the text of dozens of apocryphal writings” (p. 14)</a:t>
            </a:r>
          </a:p>
        </p:txBody>
      </p:sp>
      <p:sp>
        <p:nvSpPr>
          <p:cNvPr id="14" name="TextBox 13">
            <a:extLst>
              <a:ext uri="{FF2B5EF4-FFF2-40B4-BE49-F238E27FC236}">
                <a16:creationId xmlns:a16="http://schemas.microsoft.com/office/drawing/2014/main" id="{AA859E8C-0D42-2667-979C-CE03A4187F81}"/>
              </a:ext>
            </a:extLst>
          </p:cNvPr>
          <p:cNvSpPr txBox="1"/>
          <p:nvPr/>
        </p:nvSpPr>
        <p:spPr>
          <a:xfrm>
            <a:off x="-9427049" y="2423618"/>
            <a:ext cx="6341805" cy="523220"/>
          </a:xfrm>
          <a:prstGeom prst="rect">
            <a:avLst/>
          </a:prstGeom>
          <a:noFill/>
        </p:spPr>
        <p:txBody>
          <a:bodyPr wrap="square" rtlCol="0">
            <a:spAutoFit/>
          </a:bodyPr>
          <a:lstStyle/>
          <a:p>
            <a:pPr algn="ctr"/>
            <a:r>
              <a:rPr lang="en-US" sz="2800" b="1" dirty="0"/>
              <a:t>1699 (in France)</a:t>
            </a:r>
          </a:p>
        </p:txBody>
      </p:sp>
      <p:sp>
        <p:nvSpPr>
          <p:cNvPr id="15" name="TextBox 14">
            <a:extLst>
              <a:ext uri="{FF2B5EF4-FFF2-40B4-BE49-F238E27FC236}">
                <a16:creationId xmlns:a16="http://schemas.microsoft.com/office/drawing/2014/main" id="{8E20987E-5794-26D2-B8D0-2672945ABEE4}"/>
              </a:ext>
            </a:extLst>
          </p:cNvPr>
          <p:cNvSpPr txBox="1"/>
          <p:nvPr/>
        </p:nvSpPr>
        <p:spPr>
          <a:xfrm>
            <a:off x="-8667508" y="3676573"/>
            <a:ext cx="4822722" cy="523220"/>
          </a:xfrm>
          <a:prstGeom prst="rect">
            <a:avLst/>
          </a:prstGeom>
          <a:noFill/>
        </p:spPr>
        <p:txBody>
          <a:bodyPr wrap="square" rtlCol="0">
            <a:spAutoFit/>
          </a:bodyPr>
          <a:lstStyle/>
          <a:p>
            <a:pPr algn="ctr"/>
            <a:r>
              <a:rPr lang="en-US" sz="2800" dirty="0"/>
              <a:t>Jacques Basnage</a:t>
            </a:r>
          </a:p>
        </p:txBody>
      </p:sp>
      <p:sp>
        <p:nvSpPr>
          <p:cNvPr id="16" name="TextBox 15">
            <a:extLst>
              <a:ext uri="{FF2B5EF4-FFF2-40B4-BE49-F238E27FC236}">
                <a16:creationId xmlns:a16="http://schemas.microsoft.com/office/drawing/2014/main" id="{5CE15E30-3290-67C1-A60F-ADE979B87240}"/>
              </a:ext>
            </a:extLst>
          </p:cNvPr>
          <p:cNvSpPr txBox="1"/>
          <p:nvPr/>
        </p:nvSpPr>
        <p:spPr>
          <a:xfrm>
            <a:off x="-12352146" y="4392669"/>
            <a:ext cx="12192000" cy="1815882"/>
          </a:xfrm>
          <a:prstGeom prst="rect">
            <a:avLst/>
          </a:prstGeom>
          <a:noFill/>
        </p:spPr>
        <p:txBody>
          <a:bodyPr wrap="square" rtlCol="0">
            <a:spAutoFit/>
          </a:bodyPr>
          <a:lstStyle/>
          <a:p>
            <a:pPr algn="ctr"/>
            <a:r>
              <a:rPr lang="en-US" sz="2800" dirty="0"/>
              <a:t>Found that during the first 3 centuries “there was no decision concerning the limits of the New Testament canon, but each local church had the liberty to choose or reject individual books; this freedom was most noticeable among Eastern Churches in rejecting the Apocalypse” (p. 16)</a:t>
            </a:r>
          </a:p>
        </p:txBody>
      </p:sp>
      <p:sp>
        <p:nvSpPr>
          <p:cNvPr id="18" name="TextBox 17">
            <a:extLst>
              <a:ext uri="{FF2B5EF4-FFF2-40B4-BE49-F238E27FC236}">
                <a16:creationId xmlns:a16="http://schemas.microsoft.com/office/drawing/2014/main" id="{96021E95-24B7-0BF9-E42C-346E7723668B}"/>
              </a:ext>
            </a:extLst>
          </p:cNvPr>
          <p:cNvSpPr txBox="1"/>
          <p:nvPr/>
        </p:nvSpPr>
        <p:spPr>
          <a:xfrm>
            <a:off x="-9386634" y="2423618"/>
            <a:ext cx="6341805" cy="523220"/>
          </a:xfrm>
          <a:prstGeom prst="rect">
            <a:avLst/>
          </a:prstGeom>
          <a:noFill/>
        </p:spPr>
        <p:txBody>
          <a:bodyPr wrap="square" rtlCol="0">
            <a:spAutoFit/>
          </a:bodyPr>
          <a:lstStyle/>
          <a:p>
            <a:pPr algn="ctr"/>
            <a:r>
              <a:rPr lang="en-US" sz="2800" b="1" dirty="0"/>
              <a:t>1804-1812</a:t>
            </a:r>
          </a:p>
        </p:txBody>
      </p:sp>
      <p:sp>
        <p:nvSpPr>
          <p:cNvPr id="19" name="TextBox 18">
            <a:extLst>
              <a:ext uri="{FF2B5EF4-FFF2-40B4-BE49-F238E27FC236}">
                <a16:creationId xmlns:a16="http://schemas.microsoft.com/office/drawing/2014/main" id="{E4D34517-3280-32E5-B20A-A3A6A86A1639}"/>
              </a:ext>
            </a:extLst>
          </p:cNvPr>
          <p:cNvSpPr txBox="1"/>
          <p:nvPr/>
        </p:nvSpPr>
        <p:spPr>
          <a:xfrm>
            <a:off x="-8627093" y="3676573"/>
            <a:ext cx="4822722" cy="523220"/>
          </a:xfrm>
          <a:prstGeom prst="rect">
            <a:avLst/>
          </a:prstGeom>
          <a:noFill/>
        </p:spPr>
        <p:txBody>
          <a:bodyPr wrap="square" rtlCol="0">
            <a:spAutoFit/>
          </a:bodyPr>
          <a:lstStyle/>
          <a:p>
            <a:pPr algn="ctr"/>
            <a:r>
              <a:rPr lang="en-US" sz="2800" dirty="0"/>
              <a:t>J. G. Eichhorn</a:t>
            </a:r>
          </a:p>
        </p:txBody>
      </p:sp>
      <p:sp>
        <p:nvSpPr>
          <p:cNvPr id="21" name="TextBox 20">
            <a:extLst>
              <a:ext uri="{FF2B5EF4-FFF2-40B4-BE49-F238E27FC236}">
                <a16:creationId xmlns:a16="http://schemas.microsoft.com/office/drawing/2014/main" id="{47401549-461B-1FC2-15E4-6B8B670F62AA}"/>
              </a:ext>
            </a:extLst>
          </p:cNvPr>
          <p:cNvSpPr txBox="1"/>
          <p:nvPr/>
        </p:nvSpPr>
        <p:spPr>
          <a:xfrm>
            <a:off x="-12311731" y="4392669"/>
            <a:ext cx="12192000" cy="1384995"/>
          </a:xfrm>
          <a:prstGeom prst="rect">
            <a:avLst/>
          </a:prstGeom>
          <a:noFill/>
        </p:spPr>
        <p:txBody>
          <a:bodyPr wrap="square" rtlCol="0">
            <a:spAutoFit/>
          </a:bodyPr>
          <a:lstStyle/>
          <a:p>
            <a:pPr algn="ctr"/>
            <a:r>
              <a:rPr lang="en-US" sz="2800" dirty="0"/>
              <a:t>“The first to attribute to Marcion the stimulus to collect the New Testament writings, and argued that the core of the future canon was established by about AD 175” (p. 18)</a:t>
            </a:r>
          </a:p>
        </p:txBody>
      </p:sp>
      <p:sp>
        <p:nvSpPr>
          <p:cNvPr id="24" name="Rectangle 23">
            <a:extLst>
              <a:ext uri="{FF2B5EF4-FFF2-40B4-BE49-F238E27FC236}">
                <a16:creationId xmlns:a16="http://schemas.microsoft.com/office/drawing/2014/main" id="{22EE43DB-79B9-AFD4-C990-B5B00170A414}"/>
              </a:ext>
            </a:extLst>
          </p:cNvPr>
          <p:cNvSpPr/>
          <p:nvPr/>
        </p:nvSpPr>
        <p:spPr>
          <a:xfrm rot="16200000">
            <a:off x="-6422136"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F60CED8-AB12-EBE0-C5CB-8BA1D0942A99}"/>
              </a:ext>
            </a:extLst>
          </p:cNvPr>
          <p:cNvSpPr txBox="1"/>
          <p:nvPr/>
        </p:nvSpPr>
        <p:spPr>
          <a:xfrm>
            <a:off x="-9364439" y="2423618"/>
            <a:ext cx="6341805" cy="523220"/>
          </a:xfrm>
          <a:prstGeom prst="rect">
            <a:avLst/>
          </a:prstGeom>
          <a:noFill/>
        </p:spPr>
        <p:txBody>
          <a:bodyPr wrap="square" rtlCol="0">
            <a:spAutoFit/>
          </a:bodyPr>
          <a:lstStyle/>
          <a:p>
            <a:pPr algn="ctr"/>
            <a:r>
              <a:rPr lang="en-US" sz="2800" b="1" dirty="0"/>
              <a:t>1826 (in America)</a:t>
            </a:r>
          </a:p>
        </p:txBody>
      </p:sp>
      <p:sp>
        <p:nvSpPr>
          <p:cNvPr id="26" name="TextBox 25">
            <a:extLst>
              <a:ext uri="{FF2B5EF4-FFF2-40B4-BE49-F238E27FC236}">
                <a16:creationId xmlns:a16="http://schemas.microsoft.com/office/drawing/2014/main" id="{E22015B4-632B-1EB6-1F91-40FB5BC31C0E}"/>
              </a:ext>
            </a:extLst>
          </p:cNvPr>
          <p:cNvSpPr txBox="1"/>
          <p:nvPr/>
        </p:nvSpPr>
        <p:spPr>
          <a:xfrm>
            <a:off x="-8604898" y="3676573"/>
            <a:ext cx="4822722" cy="523220"/>
          </a:xfrm>
          <a:prstGeom prst="rect">
            <a:avLst/>
          </a:prstGeom>
          <a:noFill/>
        </p:spPr>
        <p:txBody>
          <a:bodyPr wrap="square" rtlCol="0">
            <a:spAutoFit/>
          </a:bodyPr>
          <a:lstStyle/>
          <a:p>
            <a:pPr algn="ctr"/>
            <a:r>
              <a:rPr lang="en-US" sz="2800" dirty="0"/>
              <a:t>Archibald Alexander</a:t>
            </a:r>
          </a:p>
        </p:txBody>
      </p:sp>
      <p:sp>
        <p:nvSpPr>
          <p:cNvPr id="27" name="TextBox 26">
            <a:extLst>
              <a:ext uri="{FF2B5EF4-FFF2-40B4-BE49-F238E27FC236}">
                <a16:creationId xmlns:a16="http://schemas.microsoft.com/office/drawing/2014/main" id="{FC103C7C-F620-7831-5632-B7937F4EE9BF}"/>
              </a:ext>
            </a:extLst>
          </p:cNvPr>
          <p:cNvSpPr txBox="1"/>
          <p:nvPr/>
        </p:nvSpPr>
        <p:spPr>
          <a:xfrm>
            <a:off x="-12289536" y="4392669"/>
            <a:ext cx="12192000" cy="2246769"/>
          </a:xfrm>
          <a:prstGeom prst="rect">
            <a:avLst/>
          </a:prstGeom>
          <a:noFill/>
        </p:spPr>
        <p:txBody>
          <a:bodyPr wrap="square" rtlCol="0">
            <a:spAutoFit/>
          </a:bodyPr>
          <a:lstStyle/>
          <a:p>
            <a:pPr marL="457200" indent="-457200" algn="ctr">
              <a:buFontTx/>
              <a:buChar char="-"/>
            </a:pPr>
            <a:r>
              <a:rPr lang="en-US" sz="2800" dirty="0"/>
              <a:t>Wrote the first book (in the US) dealing solely with the Biblical canon</a:t>
            </a:r>
          </a:p>
          <a:p>
            <a:pPr marL="457200" indent="-457200" algn="ctr">
              <a:buFontTx/>
              <a:buChar char="-"/>
            </a:pPr>
            <a:r>
              <a:rPr lang="en-US" sz="2800" dirty="0"/>
              <a:t>“Argued that </a:t>
            </a:r>
            <a:r>
              <a:rPr lang="en-US" sz="2800" b="1" u="sng" dirty="0"/>
              <a:t>the criterion of New Testament canonicity is apostolic authorship</a:t>
            </a:r>
            <a:r>
              <a:rPr lang="en-US" sz="2800" dirty="0"/>
              <a:t>, whether direct or indirect (the latter in the case of Mark and Luke). Apostolicity is to be established by historically verified testimonies of patristic writers of the early Christian centuries” (p. 18)</a:t>
            </a:r>
          </a:p>
        </p:txBody>
      </p:sp>
      <p:sp>
        <p:nvSpPr>
          <p:cNvPr id="8" name="Rectangle 7">
            <a:extLst>
              <a:ext uri="{FF2B5EF4-FFF2-40B4-BE49-F238E27FC236}">
                <a16:creationId xmlns:a16="http://schemas.microsoft.com/office/drawing/2014/main" id="{5AAD0394-2427-179E-5806-594C34BB106F}"/>
              </a:ext>
            </a:extLst>
          </p:cNvPr>
          <p:cNvSpPr/>
          <p:nvPr/>
        </p:nvSpPr>
        <p:spPr>
          <a:xfrm rot="16200000">
            <a:off x="1817206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E117273-2FD0-0DDF-FCEE-BFFD9E4EE94E}"/>
              </a:ext>
            </a:extLst>
          </p:cNvPr>
          <p:cNvSpPr txBox="1"/>
          <p:nvPr/>
        </p:nvSpPr>
        <p:spPr>
          <a:xfrm>
            <a:off x="15229759" y="2423618"/>
            <a:ext cx="6341805" cy="523220"/>
          </a:xfrm>
          <a:prstGeom prst="rect">
            <a:avLst/>
          </a:prstGeom>
          <a:noFill/>
        </p:spPr>
        <p:txBody>
          <a:bodyPr wrap="square" rtlCol="0">
            <a:spAutoFit/>
          </a:bodyPr>
          <a:lstStyle/>
          <a:p>
            <a:pPr algn="ctr"/>
            <a:r>
              <a:rPr lang="en-US" sz="2800" b="1" dirty="0"/>
              <a:t>1866</a:t>
            </a:r>
          </a:p>
        </p:txBody>
      </p:sp>
      <p:sp>
        <p:nvSpPr>
          <p:cNvPr id="17" name="TextBox 16">
            <a:extLst>
              <a:ext uri="{FF2B5EF4-FFF2-40B4-BE49-F238E27FC236}">
                <a16:creationId xmlns:a16="http://schemas.microsoft.com/office/drawing/2014/main" id="{E667374A-DB56-9BD4-634B-FA3D84415076}"/>
              </a:ext>
            </a:extLst>
          </p:cNvPr>
          <p:cNvSpPr txBox="1"/>
          <p:nvPr/>
        </p:nvSpPr>
        <p:spPr>
          <a:xfrm>
            <a:off x="15989300" y="3676573"/>
            <a:ext cx="4822722" cy="523220"/>
          </a:xfrm>
          <a:prstGeom prst="rect">
            <a:avLst/>
          </a:prstGeom>
          <a:noFill/>
        </p:spPr>
        <p:txBody>
          <a:bodyPr wrap="square" rtlCol="0">
            <a:spAutoFit/>
          </a:bodyPr>
          <a:lstStyle/>
          <a:p>
            <a:pPr algn="ctr"/>
            <a:r>
              <a:rPr lang="en-US" sz="2800" dirty="0"/>
              <a:t>Constantin von Tischendorf</a:t>
            </a:r>
          </a:p>
        </p:txBody>
      </p:sp>
      <p:sp>
        <p:nvSpPr>
          <p:cNvPr id="28" name="TextBox 27">
            <a:extLst>
              <a:ext uri="{FF2B5EF4-FFF2-40B4-BE49-F238E27FC236}">
                <a16:creationId xmlns:a16="http://schemas.microsoft.com/office/drawing/2014/main" id="{4BFF76CD-0FDD-2128-67DE-6042D041542E}"/>
              </a:ext>
            </a:extLst>
          </p:cNvPr>
          <p:cNvSpPr txBox="1"/>
          <p:nvPr/>
        </p:nvSpPr>
        <p:spPr>
          <a:xfrm>
            <a:off x="12304662" y="4392669"/>
            <a:ext cx="12192000" cy="954107"/>
          </a:xfrm>
          <a:prstGeom prst="rect">
            <a:avLst/>
          </a:prstGeom>
          <a:noFill/>
        </p:spPr>
        <p:txBody>
          <a:bodyPr wrap="square" rtlCol="0">
            <a:spAutoFit/>
          </a:bodyPr>
          <a:lstStyle/>
          <a:p>
            <a:pPr algn="ctr"/>
            <a:r>
              <a:rPr lang="en-US" sz="2800" dirty="0"/>
              <a:t>Argued  the canon of the NT was established by the beginning of the 2</a:t>
            </a:r>
            <a:r>
              <a:rPr lang="en-US" sz="2800" baseline="30000" dirty="0"/>
              <a:t>nd</a:t>
            </a:r>
            <a:r>
              <a:rPr lang="en-US" sz="2800" dirty="0"/>
              <a:t> century</a:t>
            </a:r>
          </a:p>
        </p:txBody>
      </p:sp>
      <p:sp>
        <p:nvSpPr>
          <p:cNvPr id="29" name="Rectangle 28">
            <a:extLst>
              <a:ext uri="{FF2B5EF4-FFF2-40B4-BE49-F238E27FC236}">
                <a16:creationId xmlns:a16="http://schemas.microsoft.com/office/drawing/2014/main" id="{031F119D-D4DC-D135-1A3A-22E4DC124B5D}"/>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7F6BB26-E050-5F8B-0BBD-AEE0C48BCB67}"/>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1855 (in Britian)</a:t>
            </a:r>
          </a:p>
        </p:txBody>
      </p:sp>
      <p:sp>
        <p:nvSpPr>
          <p:cNvPr id="31" name="TextBox 30">
            <a:extLst>
              <a:ext uri="{FF2B5EF4-FFF2-40B4-BE49-F238E27FC236}">
                <a16:creationId xmlns:a16="http://schemas.microsoft.com/office/drawing/2014/main" id="{EC726A30-9C73-1471-9BC1-ADD620E599A6}"/>
              </a:ext>
            </a:extLst>
          </p:cNvPr>
          <p:cNvSpPr txBox="1"/>
          <p:nvPr/>
        </p:nvSpPr>
        <p:spPr>
          <a:xfrm>
            <a:off x="3684638" y="3676573"/>
            <a:ext cx="4822722" cy="523220"/>
          </a:xfrm>
          <a:prstGeom prst="rect">
            <a:avLst/>
          </a:prstGeom>
          <a:noFill/>
        </p:spPr>
        <p:txBody>
          <a:bodyPr wrap="square" rtlCol="0">
            <a:spAutoFit/>
          </a:bodyPr>
          <a:lstStyle/>
          <a:p>
            <a:pPr algn="ctr"/>
            <a:r>
              <a:rPr lang="en-US" sz="2800" dirty="0"/>
              <a:t>Brooke Foss Westcott</a:t>
            </a:r>
          </a:p>
        </p:txBody>
      </p:sp>
      <p:sp>
        <p:nvSpPr>
          <p:cNvPr id="32" name="TextBox 31">
            <a:extLst>
              <a:ext uri="{FF2B5EF4-FFF2-40B4-BE49-F238E27FC236}">
                <a16:creationId xmlns:a16="http://schemas.microsoft.com/office/drawing/2014/main" id="{969A8B3C-836D-ED27-9DB6-2FD5AB070804}"/>
              </a:ext>
            </a:extLst>
          </p:cNvPr>
          <p:cNvSpPr txBox="1"/>
          <p:nvPr/>
        </p:nvSpPr>
        <p:spPr>
          <a:xfrm>
            <a:off x="0" y="4392669"/>
            <a:ext cx="12192000" cy="1384995"/>
          </a:xfrm>
          <a:prstGeom prst="rect">
            <a:avLst/>
          </a:prstGeom>
          <a:noFill/>
        </p:spPr>
        <p:txBody>
          <a:bodyPr wrap="square" rtlCol="0">
            <a:spAutoFit/>
          </a:bodyPr>
          <a:lstStyle/>
          <a:p>
            <a:pPr algn="ctr"/>
            <a:r>
              <a:rPr lang="en-US" sz="2800" dirty="0"/>
              <a:t>Said that the formulation of the canon was one of “the first instinctive acts of the Christian society, resting upon the general confession of the Churches and not upon independent opinions of its members” (p. 21)</a:t>
            </a:r>
          </a:p>
        </p:txBody>
      </p:sp>
    </p:spTree>
    <p:extLst>
      <p:ext uri="{BB962C8B-B14F-4D97-AF65-F5344CB8AC3E}">
        <p14:creationId xmlns:p14="http://schemas.microsoft.com/office/powerpoint/2010/main" val="22968776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500"/>
                                        <p:tgtEl>
                                          <p:spTgt spid="31"/>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p:bldP spid="31" grpId="0"/>
      <p:bldP spid="3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36A6D-A600-3575-96AB-36E678845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A5C887-09F3-4D47-D9E6-774B3D42C49D}"/>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BCF74D26-76D1-5241-FB3E-193633F6F024}"/>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683BA2C-923F-06D1-B826-C77EE07FFC4C}"/>
              </a:ext>
            </a:extLst>
          </p:cNvPr>
          <p:cNvSpPr/>
          <p:nvPr/>
        </p:nvSpPr>
        <p:spPr>
          <a:xfrm rot="16200000">
            <a:off x="-3475395"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D03128C-8C61-038C-859D-0A804B32A14B}"/>
              </a:ext>
            </a:extLst>
          </p:cNvPr>
          <p:cNvSpPr txBox="1"/>
          <p:nvPr/>
        </p:nvSpPr>
        <p:spPr>
          <a:xfrm>
            <a:off x="-6417698"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EE8C1D5E-B000-DC1D-E46B-98CFBF210F6F}"/>
              </a:ext>
            </a:extLst>
          </p:cNvPr>
          <p:cNvSpPr txBox="1"/>
          <p:nvPr/>
        </p:nvSpPr>
        <p:spPr>
          <a:xfrm>
            <a:off x="-5658157" y="3676573"/>
            <a:ext cx="4822722" cy="523220"/>
          </a:xfrm>
          <a:prstGeom prst="rect">
            <a:avLst/>
          </a:prstGeom>
          <a:noFill/>
        </p:spPr>
        <p:txBody>
          <a:bodyPr wrap="square" rtlCol="0">
            <a:spAutoFit/>
          </a:bodyPr>
          <a:lstStyle/>
          <a:p>
            <a:pPr algn="ctr"/>
            <a:r>
              <a:rPr lang="en-US" sz="2800" dirty="0"/>
              <a:t>John Toland</a:t>
            </a:r>
          </a:p>
        </p:txBody>
      </p:sp>
      <p:sp>
        <p:nvSpPr>
          <p:cNvPr id="3" name="Rectangle 2">
            <a:extLst>
              <a:ext uri="{FF2B5EF4-FFF2-40B4-BE49-F238E27FC236}">
                <a16:creationId xmlns:a16="http://schemas.microsoft.com/office/drawing/2014/main" id="{CB670C00-D6E8-58E6-6E65-5F89B90E0BE0}"/>
              </a:ext>
            </a:extLst>
          </p:cNvPr>
          <p:cNvSpPr/>
          <p:nvPr/>
        </p:nvSpPr>
        <p:spPr>
          <a:xfrm rot="16200000">
            <a:off x="-3549314"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689418A-6515-7025-85CE-CF7D6BA2C40D}"/>
              </a:ext>
            </a:extLst>
          </p:cNvPr>
          <p:cNvSpPr txBox="1"/>
          <p:nvPr/>
        </p:nvSpPr>
        <p:spPr>
          <a:xfrm>
            <a:off x="-6491617" y="2423618"/>
            <a:ext cx="6341805" cy="523220"/>
          </a:xfrm>
          <a:prstGeom prst="rect">
            <a:avLst/>
          </a:prstGeom>
          <a:noFill/>
        </p:spPr>
        <p:txBody>
          <a:bodyPr wrap="square" rtlCol="0">
            <a:spAutoFit/>
          </a:bodyPr>
          <a:lstStyle/>
          <a:p>
            <a:pPr algn="ctr"/>
            <a:r>
              <a:rPr lang="en-US" sz="2800" b="1" dirty="0"/>
              <a:t>1700-1719</a:t>
            </a:r>
          </a:p>
        </p:txBody>
      </p:sp>
      <p:sp>
        <p:nvSpPr>
          <p:cNvPr id="5" name="TextBox 4">
            <a:extLst>
              <a:ext uri="{FF2B5EF4-FFF2-40B4-BE49-F238E27FC236}">
                <a16:creationId xmlns:a16="http://schemas.microsoft.com/office/drawing/2014/main" id="{0F386333-8A95-7479-1B75-D03EE9D0EF77}"/>
              </a:ext>
            </a:extLst>
          </p:cNvPr>
          <p:cNvSpPr txBox="1"/>
          <p:nvPr/>
        </p:nvSpPr>
        <p:spPr>
          <a:xfrm>
            <a:off x="-5732076" y="3676573"/>
            <a:ext cx="4822722" cy="954107"/>
          </a:xfrm>
          <a:prstGeom prst="rect">
            <a:avLst/>
          </a:prstGeom>
          <a:noFill/>
        </p:spPr>
        <p:txBody>
          <a:bodyPr wrap="square" rtlCol="0">
            <a:spAutoFit/>
          </a:bodyPr>
          <a:lstStyle/>
          <a:p>
            <a:pPr algn="ctr"/>
            <a:r>
              <a:rPr lang="en-US" sz="2800" dirty="0"/>
              <a:t>Samuel Clarke, Stephen Nye, John Richardson, and others</a:t>
            </a:r>
          </a:p>
        </p:txBody>
      </p:sp>
      <p:sp>
        <p:nvSpPr>
          <p:cNvPr id="7" name="TextBox 6">
            <a:extLst>
              <a:ext uri="{FF2B5EF4-FFF2-40B4-BE49-F238E27FC236}">
                <a16:creationId xmlns:a16="http://schemas.microsoft.com/office/drawing/2014/main" id="{983B07A3-1BD8-7180-AD49-EA87F25CDACF}"/>
              </a:ext>
            </a:extLst>
          </p:cNvPr>
          <p:cNvSpPr txBox="1"/>
          <p:nvPr/>
        </p:nvSpPr>
        <p:spPr>
          <a:xfrm>
            <a:off x="-12569670" y="4392669"/>
            <a:ext cx="12192000" cy="1384995"/>
          </a:xfrm>
          <a:prstGeom prst="rect">
            <a:avLst/>
          </a:prstGeom>
          <a:noFill/>
        </p:spPr>
        <p:txBody>
          <a:bodyPr wrap="square" rtlCol="0">
            <a:spAutoFit/>
          </a:bodyPr>
          <a:lstStyle/>
          <a:p>
            <a:pPr algn="ctr"/>
            <a:r>
              <a:rPr lang="en-US" sz="2800" dirty="0"/>
              <a:t>Used the “New and Full Method” of looking at ancient records to find early testimony or traditions of people concerning NT books written close to them in time </a:t>
            </a:r>
          </a:p>
        </p:txBody>
      </p:sp>
      <p:sp>
        <p:nvSpPr>
          <p:cNvPr id="9" name="TextBox 8">
            <a:extLst>
              <a:ext uri="{FF2B5EF4-FFF2-40B4-BE49-F238E27FC236}">
                <a16:creationId xmlns:a16="http://schemas.microsoft.com/office/drawing/2014/main" id="{447E8A62-2613-B5F7-4599-B1917C2FEEA3}"/>
              </a:ext>
            </a:extLst>
          </p:cNvPr>
          <p:cNvSpPr txBox="1"/>
          <p:nvPr/>
        </p:nvSpPr>
        <p:spPr>
          <a:xfrm>
            <a:off x="-9644573" y="2423618"/>
            <a:ext cx="6341805" cy="523220"/>
          </a:xfrm>
          <a:prstGeom prst="rect">
            <a:avLst/>
          </a:prstGeom>
          <a:noFill/>
        </p:spPr>
        <p:txBody>
          <a:bodyPr wrap="square" rtlCol="0">
            <a:spAutoFit/>
          </a:bodyPr>
          <a:lstStyle/>
          <a:p>
            <a:pPr algn="ctr"/>
            <a:r>
              <a:rPr lang="en-US" sz="2800" b="1" dirty="0"/>
              <a:t>1726-1727</a:t>
            </a:r>
          </a:p>
        </p:txBody>
      </p:sp>
      <p:sp>
        <p:nvSpPr>
          <p:cNvPr id="10" name="TextBox 9">
            <a:extLst>
              <a:ext uri="{FF2B5EF4-FFF2-40B4-BE49-F238E27FC236}">
                <a16:creationId xmlns:a16="http://schemas.microsoft.com/office/drawing/2014/main" id="{3801BB71-17A5-157C-E808-088EBFE6D3FF}"/>
              </a:ext>
            </a:extLst>
          </p:cNvPr>
          <p:cNvSpPr txBox="1"/>
          <p:nvPr/>
        </p:nvSpPr>
        <p:spPr>
          <a:xfrm>
            <a:off x="-8885032" y="3676573"/>
            <a:ext cx="4822722" cy="523220"/>
          </a:xfrm>
          <a:prstGeom prst="rect">
            <a:avLst/>
          </a:prstGeom>
          <a:noFill/>
        </p:spPr>
        <p:txBody>
          <a:bodyPr wrap="square" rtlCol="0">
            <a:spAutoFit/>
          </a:bodyPr>
          <a:lstStyle/>
          <a:p>
            <a:pPr algn="ctr"/>
            <a:r>
              <a:rPr lang="en-US" sz="2800" dirty="0"/>
              <a:t>Jeremiah Jones</a:t>
            </a:r>
          </a:p>
        </p:txBody>
      </p:sp>
      <p:sp>
        <p:nvSpPr>
          <p:cNvPr id="11" name="TextBox 10">
            <a:extLst>
              <a:ext uri="{FF2B5EF4-FFF2-40B4-BE49-F238E27FC236}">
                <a16:creationId xmlns:a16="http://schemas.microsoft.com/office/drawing/2014/main" id="{B7E61993-5FD2-4E49-D319-780B4D1FE86A}"/>
              </a:ext>
            </a:extLst>
          </p:cNvPr>
          <p:cNvSpPr txBox="1"/>
          <p:nvPr/>
        </p:nvSpPr>
        <p:spPr>
          <a:xfrm>
            <a:off x="-12310928" y="4761635"/>
            <a:ext cx="12192000" cy="1815882"/>
          </a:xfrm>
          <a:prstGeom prst="rect">
            <a:avLst/>
          </a:prstGeom>
          <a:noFill/>
        </p:spPr>
        <p:txBody>
          <a:bodyPr wrap="square" rtlCol="0">
            <a:spAutoFit/>
          </a:bodyPr>
          <a:lstStyle/>
          <a:p>
            <a:pPr algn="ctr"/>
            <a:r>
              <a:rPr lang="en-US" sz="2800" dirty="0"/>
              <a:t>- Strongly denounced Toland</a:t>
            </a:r>
          </a:p>
          <a:p>
            <a:pPr algn="ctr"/>
            <a:r>
              <a:rPr lang="en-US" sz="2800" dirty="0"/>
              <a:t>- Richardson: “What the Apostles Wrote, and what they </a:t>
            </a:r>
            <a:r>
              <a:rPr lang="en-US" sz="2800" dirty="0" err="1"/>
              <a:t>Authoriz’d</a:t>
            </a:r>
            <a:r>
              <a:rPr lang="en-US" sz="2800" dirty="0"/>
              <a:t>, can be known in no other way, then by the Testimonies of those who </a:t>
            </a:r>
            <a:r>
              <a:rPr lang="en-US" sz="2800" dirty="0" err="1"/>
              <a:t>liv’d</a:t>
            </a:r>
            <a:r>
              <a:rPr lang="en-US" sz="2800" dirty="0"/>
              <a:t> at the same time with them, and the Tradition of those who succeeded them” (p. 13)</a:t>
            </a:r>
          </a:p>
        </p:txBody>
      </p:sp>
      <p:sp>
        <p:nvSpPr>
          <p:cNvPr id="12" name="TextBox 11">
            <a:extLst>
              <a:ext uri="{FF2B5EF4-FFF2-40B4-BE49-F238E27FC236}">
                <a16:creationId xmlns:a16="http://schemas.microsoft.com/office/drawing/2014/main" id="{DB306723-A272-168E-6B51-7161332A007A}"/>
              </a:ext>
            </a:extLst>
          </p:cNvPr>
          <p:cNvSpPr txBox="1"/>
          <p:nvPr/>
        </p:nvSpPr>
        <p:spPr>
          <a:xfrm>
            <a:off x="-12569671" y="4392668"/>
            <a:ext cx="12192000" cy="954107"/>
          </a:xfrm>
          <a:prstGeom prst="rect">
            <a:avLst/>
          </a:prstGeom>
          <a:noFill/>
        </p:spPr>
        <p:txBody>
          <a:bodyPr wrap="square" rtlCol="0">
            <a:spAutoFit/>
          </a:bodyPr>
          <a:lstStyle/>
          <a:p>
            <a:pPr algn="ctr"/>
            <a:r>
              <a:rPr lang="en-US" sz="2800" dirty="0"/>
              <a:t>Jones made available for  the first time an English translation of the text of dozens of apocryphal writings” (p. 14)</a:t>
            </a:r>
          </a:p>
        </p:txBody>
      </p:sp>
      <p:sp>
        <p:nvSpPr>
          <p:cNvPr id="14" name="TextBox 13">
            <a:extLst>
              <a:ext uri="{FF2B5EF4-FFF2-40B4-BE49-F238E27FC236}">
                <a16:creationId xmlns:a16="http://schemas.microsoft.com/office/drawing/2014/main" id="{358A7B65-0EB0-950E-C5D8-BA78B58A2B36}"/>
              </a:ext>
            </a:extLst>
          </p:cNvPr>
          <p:cNvSpPr txBox="1"/>
          <p:nvPr/>
        </p:nvSpPr>
        <p:spPr>
          <a:xfrm>
            <a:off x="-9427049" y="2423618"/>
            <a:ext cx="6341805" cy="523220"/>
          </a:xfrm>
          <a:prstGeom prst="rect">
            <a:avLst/>
          </a:prstGeom>
          <a:noFill/>
        </p:spPr>
        <p:txBody>
          <a:bodyPr wrap="square" rtlCol="0">
            <a:spAutoFit/>
          </a:bodyPr>
          <a:lstStyle/>
          <a:p>
            <a:pPr algn="ctr"/>
            <a:r>
              <a:rPr lang="en-US" sz="2800" b="1" dirty="0"/>
              <a:t>1699 (in France)</a:t>
            </a:r>
          </a:p>
        </p:txBody>
      </p:sp>
      <p:sp>
        <p:nvSpPr>
          <p:cNvPr id="15" name="TextBox 14">
            <a:extLst>
              <a:ext uri="{FF2B5EF4-FFF2-40B4-BE49-F238E27FC236}">
                <a16:creationId xmlns:a16="http://schemas.microsoft.com/office/drawing/2014/main" id="{4ADEE7BB-9875-FD2F-228E-0BAB25D1D1B5}"/>
              </a:ext>
            </a:extLst>
          </p:cNvPr>
          <p:cNvSpPr txBox="1"/>
          <p:nvPr/>
        </p:nvSpPr>
        <p:spPr>
          <a:xfrm>
            <a:off x="-8667508" y="3676573"/>
            <a:ext cx="4822722" cy="523220"/>
          </a:xfrm>
          <a:prstGeom prst="rect">
            <a:avLst/>
          </a:prstGeom>
          <a:noFill/>
        </p:spPr>
        <p:txBody>
          <a:bodyPr wrap="square" rtlCol="0">
            <a:spAutoFit/>
          </a:bodyPr>
          <a:lstStyle/>
          <a:p>
            <a:pPr algn="ctr"/>
            <a:r>
              <a:rPr lang="en-US" sz="2800" dirty="0"/>
              <a:t>Jacques Basnage</a:t>
            </a:r>
          </a:p>
        </p:txBody>
      </p:sp>
      <p:sp>
        <p:nvSpPr>
          <p:cNvPr id="16" name="TextBox 15">
            <a:extLst>
              <a:ext uri="{FF2B5EF4-FFF2-40B4-BE49-F238E27FC236}">
                <a16:creationId xmlns:a16="http://schemas.microsoft.com/office/drawing/2014/main" id="{E9DA2DA8-7BFE-C88C-26CA-22BD1C582E81}"/>
              </a:ext>
            </a:extLst>
          </p:cNvPr>
          <p:cNvSpPr txBox="1"/>
          <p:nvPr/>
        </p:nvSpPr>
        <p:spPr>
          <a:xfrm>
            <a:off x="-12352146" y="4392669"/>
            <a:ext cx="12192000" cy="1815882"/>
          </a:xfrm>
          <a:prstGeom prst="rect">
            <a:avLst/>
          </a:prstGeom>
          <a:noFill/>
        </p:spPr>
        <p:txBody>
          <a:bodyPr wrap="square" rtlCol="0">
            <a:spAutoFit/>
          </a:bodyPr>
          <a:lstStyle/>
          <a:p>
            <a:pPr algn="ctr"/>
            <a:r>
              <a:rPr lang="en-US" sz="2800" dirty="0"/>
              <a:t>Found that during the first 3 centuries “there was no decision concerning the limits of the New Testament canon, but each local church had the liberty to choose or reject individual books; this freedom was most noticeable among Eastern Churches in rejecting the Apocalypse” (p. 16)</a:t>
            </a:r>
          </a:p>
        </p:txBody>
      </p:sp>
      <p:sp>
        <p:nvSpPr>
          <p:cNvPr id="18" name="TextBox 17">
            <a:extLst>
              <a:ext uri="{FF2B5EF4-FFF2-40B4-BE49-F238E27FC236}">
                <a16:creationId xmlns:a16="http://schemas.microsoft.com/office/drawing/2014/main" id="{E09B5AF0-29E8-151A-85C7-E4CFF919559C}"/>
              </a:ext>
            </a:extLst>
          </p:cNvPr>
          <p:cNvSpPr txBox="1"/>
          <p:nvPr/>
        </p:nvSpPr>
        <p:spPr>
          <a:xfrm>
            <a:off x="-9386634" y="2423618"/>
            <a:ext cx="6341805" cy="523220"/>
          </a:xfrm>
          <a:prstGeom prst="rect">
            <a:avLst/>
          </a:prstGeom>
          <a:noFill/>
        </p:spPr>
        <p:txBody>
          <a:bodyPr wrap="square" rtlCol="0">
            <a:spAutoFit/>
          </a:bodyPr>
          <a:lstStyle/>
          <a:p>
            <a:pPr algn="ctr"/>
            <a:r>
              <a:rPr lang="en-US" sz="2800" b="1" dirty="0"/>
              <a:t>1804-1812</a:t>
            </a:r>
          </a:p>
        </p:txBody>
      </p:sp>
      <p:sp>
        <p:nvSpPr>
          <p:cNvPr id="19" name="TextBox 18">
            <a:extLst>
              <a:ext uri="{FF2B5EF4-FFF2-40B4-BE49-F238E27FC236}">
                <a16:creationId xmlns:a16="http://schemas.microsoft.com/office/drawing/2014/main" id="{C4CDF98E-19B0-5C3C-9E70-03EA6A96D412}"/>
              </a:ext>
            </a:extLst>
          </p:cNvPr>
          <p:cNvSpPr txBox="1"/>
          <p:nvPr/>
        </p:nvSpPr>
        <p:spPr>
          <a:xfrm>
            <a:off x="-8627093" y="3676573"/>
            <a:ext cx="4822722" cy="523220"/>
          </a:xfrm>
          <a:prstGeom prst="rect">
            <a:avLst/>
          </a:prstGeom>
          <a:noFill/>
        </p:spPr>
        <p:txBody>
          <a:bodyPr wrap="square" rtlCol="0">
            <a:spAutoFit/>
          </a:bodyPr>
          <a:lstStyle/>
          <a:p>
            <a:pPr algn="ctr"/>
            <a:r>
              <a:rPr lang="en-US" sz="2800" dirty="0"/>
              <a:t>J. G. Eichhorn</a:t>
            </a:r>
          </a:p>
        </p:txBody>
      </p:sp>
      <p:sp>
        <p:nvSpPr>
          <p:cNvPr id="21" name="TextBox 20">
            <a:extLst>
              <a:ext uri="{FF2B5EF4-FFF2-40B4-BE49-F238E27FC236}">
                <a16:creationId xmlns:a16="http://schemas.microsoft.com/office/drawing/2014/main" id="{3FBC26BD-708F-C937-3EE5-7C75257B2E5A}"/>
              </a:ext>
            </a:extLst>
          </p:cNvPr>
          <p:cNvSpPr txBox="1"/>
          <p:nvPr/>
        </p:nvSpPr>
        <p:spPr>
          <a:xfrm>
            <a:off x="-12311731" y="4392669"/>
            <a:ext cx="12192000" cy="1384995"/>
          </a:xfrm>
          <a:prstGeom prst="rect">
            <a:avLst/>
          </a:prstGeom>
          <a:noFill/>
        </p:spPr>
        <p:txBody>
          <a:bodyPr wrap="square" rtlCol="0">
            <a:spAutoFit/>
          </a:bodyPr>
          <a:lstStyle/>
          <a:p>
            <a:pPr algn="ctr"/>
            <a:r>
              <a:rPr lang="en-US" sz="2800" dirty="0"/>
              <a:t>“The first to attribute to Marcion the stimulus to collect the New Testament writings, and argued that the core of the future canon was established by about AD 175” (p. 18)</a:t>
            </a:r>
          </a:p>
        </p:txBody>
      </p:sp>
      <p:sp>
        <p:nvSpPr>
          <p:cNvPr id="24" name="Rectangle 23">
            <a:extLst>
              <a:ext uri="{FF2B5EF4-FFF2-40B4-BE49-F238E27FC236}">
                <a16:creationId xmlns:a16="http://schemas.microsoft.com/office/drawing/2014/main" id="{CB21D62D-9F97-F65B-9E00-706F952FBB58}"/>
              </a:ext>
            </a:extLst>
          </p:cNvPr>
          <p:cNvSpPr/>
          <p:nvPr/>
        </p:nvSpPr>
        <p:spPr>
          <a:xfrm rot="16200000">
            <a:off x="-6422136"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D7EC320B-88E9-5E7C-9134-606F32935434}"/>
              </a:ext>
            </a:extLst>
          </p:cNvPr>
          <p:cNvSpPr txBox="1"/>
          <p:nvPr/>
        </p:nvSpPr>
        <p:spPr>
          <a:xfrm>
            <a:off x="-9364439" y="2423618"/>
            <a:ext cx="6341805" cy="523220"/>
          </a:xfrm>
          <a:prstGeom prst="rect">
            <a:avLst/>
          </a:prstGeom>
          <a:noFill/>
        </p:spPr>
        <p:txBody>
          <a:bodyPr wrap="square" rtlCol="0">
            <a:spAutoFit/>
          </a:bodyPr>
          <a:lstStyle/>
          <a:p>
            <a:pPr algn="ctr"/>
            <a:r>
              <a:rPr lang="en-US" sz="2800" b="1" dirty="0"/>
              <a:t>1826 (in America)</a:t>
            </a:r>
          </a:p>
        </p:txBody>
      </p:sp>
      <p:sp>
        <p:nvSpPr>
          <p:cNvPr id="26" name="TextBox 25">
            <a:extLst>
              <a:ext uri="{FF2B5EF4-FFF2-40B4-BE49-F238E27FC236}">
                <a16:creationId xmlns:a16="http://schemas.microsoft.com/office/drawing/2014/main" id="{77BE27BC-AFA9-FE99-95F4-874DCC4B9C8F}"/>
              </a:ext>
            </a:extLst>
          </p:cNvPr>
          <p:cNvSpPr txBox="1"/>
          <p:nvPr/>
        </p:nvSpPr>
        <p:spPr>
          <a:xfrm>
            <a:off x="-8604898" y="3676573"/>
            <a:ext cx="4822722" cy="523220"/>
          </a:xfrm>
          <a:prstGeom prst="rect">
            <a:avLst/>
          </a:prstGeom>
          <a:noFill/>
        </p:spPr>
        <p:txBody>
          <a:bodyPr wrap="square" rtlCol="0">
            <a:spAutoFit/>
          </a:bodyPr>
          <a:lstStyle/>
          <a:p>
            <a:pPr algn="ctr"/>
            <a:r>
              <a:rPr lang="en-US" sz="2800" dirty="0"/>
              <a:t>Archibald Alexander</a:t>
            </a:r>
          </a:p>
        </p:txBody>
      </p:sp>
      <p:sp>
        <p:nvSpPr>
          <p:cNvPr id="27" name="TextBox 26">
            <a:extLst>
              <a:ext uri="{FF2B5EF4-FFF2-40B4-BE49-F238E27FC236}">
                <a16:creationId xmlns:a16="http://schemas.microsoft.com/office/drawing/2014/main" id="{A6F504ED-9B9D-2B4D-AF21-1C65D92B5C6A}"/>
              </a:ext>
            </a:extLst>
          </p:cNvPr>
          <p:cNvSpPr txBox="1"/>
          <p:nvPr/>
        </p:nvSpPr>
        <p:spPr>
          <a:xfrm>
            <a:off x="-12289536" y="4392669"/>
            <a:ext cx="12192000" cy="2246769"/>
          </a:xfrm>
          <a:prstGeom prst="rect">
            <a:avLst/>
          </a:prstGeom>
          <a:noFill/>
        </p:spPr>
        <p:txBody>
          <a:bodyPr wrap="square" rtlCol="0">
            <a:spAutoFit/>
          </a:bodyPr>
          <a:lstStyle/>
          <a:p>
            <a:pPr marL="457200" indent="-457200" algn="ctr">
              <a:buFontTx/>
              <a:buChar char="-"/>
            </a:pPr>
            <a:r>
              <a:rPr lang="en-US" sz="2800" dirty="0"/>
              <a:t>Wrote the first book (in the US) dealing solely with the Biblical canon</a:t>
            </a:r>
          </a:p>
          <a:p>
            <a:pPr marL="457200" indent="-457200" algn="ctr">
              <a:buFontTx/>
              <a:buChar char="-"/>
            </a:pPr>
            <a:r>
              <a:rPr lang="en-US" sz="2800" dirty="0"/>
              <a:t>“Argued that </a:t>
            </a:r>
            <a:r>
              <a:rPr lang="en-US" sz="2800" b="1" u="sng" dirty="0"/>
              <a:t>the criterion of New Testament canonicity is apostolic authorship</a:t>
            </a:r>
            <a:r>
              <a:rPr lang="en-US" sz="2800" dirty="0"/>
              <a:t>, whether direct or indirect (the latter in the case of Mark and Luke). Apostolicity is to be established by historically verified testimonies of patristic writers of the early Christian centuries” (p. 18)</a:t>
            </a:r>
          </a:p>
        </p:txBody>
      </p:sp>
      <p:sp>
        <p:nvSpPr>
          <p:cNvPr id="8" name="Rectangle 7">
            <a:extLst>
              <a:ext uri="{FF2B5EF4-FFF2-40B4-BE49-F238E27FC236}">
                <a16:creationId xmlns:a16="http://schemas.microsoft.com/office/drawing/2014/main" id="{6993EAF8-FA82-CD0D-655F-AFFF52D69ABA}"/>
              </a:ext>
            </a:extLst>
          </p:cNvPr>
          <p:cNvSpPr/>
          <p:nvPr/>
        </p:nvSpPr>
        <p:spPr>
          <a:xfrm rot="16200000">
            <a:off x="1817206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EE270A8-686A-F72F-41D3-4BE9D4F81918}"/>
              </a:ext>
            </a:extLst>
          </p:cNvPr>
          <p:cNvSpPr txBox="1"/>
          <p:nvPr/>
        </p:nvSpPr>
        <p:spPr>
          <a:xfrm>
            <a:off x="15229759" y="2423618"/>
            <a:ext cx="6341805" cy="523220"/>
          </a:xfrm>
          <a:prstGeom prst="rect">
            <a:avLst/>
          </a:prstGeom>
          <a:noFill/>
        </p:spPr>
        <p:txBody>
          <a:bodyPr wrap="square" rtlCol="0">
            <a:spAutoFit/>
          </a:bodyPr>
          <a:lstStyle/>
          <a:p>
            <a:pPr algn="ctr"/>
            <a:r>
              <a:rPr lang="en-US" sz="2800" b="1" dirty="0"/>
              <a:t>1866</a:t>
            </a:r>
          </a:p>
        </p:txBody>
      </p:sp>
      <p:sp>
        <p:nvSpPr>
          <p:cNvPr id="17" name="TextBox 16">
            <a:extLst>
              <a:ext uri="{FF2B5EF4-FFF2-40B4-BE49-F238E27FC236}">
                <a16:creationId xmlns:a16="http://schemas.microsoft.com/office/drawing/2014/main" id="{23EB7E54-7B61-015C-916C-517DE522BDB0}"/>
              </a:ext>
            </a:extLst>
          </p:cNvPr>
          <p:cNvSpPr txBox="1"/>
          <p:nvPr/>
        </p:nvSpPr>
        <p:spPr>
          <a:xfrm>
            <a:off x="15989300" y="3676573"/>
            <a:ext cx="4822722" cy="523220"/>
          </a:xfrm>
          <a:prstGeom prst="rect">
            <a:avLst/>
          </a:prstGeom>
          <a:noFill/>
        </p:spPr>
        <p:txBody>
          <a:bodyPr wrap="square" rtlCol="0">
            <a:spAutoFit/>
          </a:bodyPr>
          <a:lstStyle/>
          <a:p>
            <a:pPr algn="ctr"/>
            <a:r>
              <a:rPr lang="en-US" sz="2800" dirty="0"/>
              <a:t>Constantin von Tischendorf</a:t>
            </a:r>
          </a:p>
        </p:txBody>
      </p:sp>
      <p:sp>
        <p:nvSpPr>
          <p:cNvPr id="28" name="TextBox 27">
            <a:extLst>
              <a:ext uri="{FF2B5EF4-FFF2-40B4-BE49-F238E27FC236}">
                <a16:creationId xmlns:a16="http://schemas.microsoft.com/office/drawing/2014/main" id="{2D4B67FA-12EA-E3D5-47A4-0B35EF50664B}"/>
              </a:ext>
            </a:extLst>
          </p:cNvPr>
          <p:cNvSpPr txBox="1"/>
          <p:nvPr/>
        </p:nvSpPr>
        <p:spPr>
          <a:xfrm>
            <a:off x="12304662" y="4392669"/>
            <a:ext cx="12192000" cy="954107"/>
          </a:xfrm>
          <a:prstGeom prst="rect">
            <a:avLst/>
          </a:prstGeom>
          <a:noFill/>
        </p:spPr>
        <p:txBody>
          <a:bodyPr wrap="square" rtlCol="0">
            <a:spAutoFit/>
          </a:bodyPr>
          <a:lstStyle/>
          <a:p>
            <a:pPr algn="ctr"/>
            <a:r>
              <a:rPr lang="en-US" sz="2800" dirty="0"/>
              <a:t>Argued  the canon of the NT was established by the beginning of the 2</a:t>
            </a:r>
            <a:r>
              <a:rPr lang="en-US" sz="2800" baseline="30000" dirty="0"/>
              <a:t>nd</a:t>
            </a:r>
            <a:r>
              <a:rPr lang="en-US" sz="2800" dirty="0"/>
              <a:t> century</a:t>
            </a:r>
          </a:p>
        </p:txBody>
      </p:sp>
      <p:sp>
        <p:nvSpPr>
          <p:cNvPr id="29" name="Rectangle 28">
            <a:extLst>
              <a:ext uri="{FF2B5EF4-FFF2-40B4-BE49-F238E27FC236}">
                <a16:creationId xmlns:a16="http://schemas.microsoft.com/office/drawing/2014/main" id="{16592C76-24AE-39E8-3B57-5619394C54E4}"/>
              </a:ext>
            </a:extLst>
          </p:cNvPr>
          <p:cNvSpPr/>
          <p:nvPr/>
        </p:nvSpPr>
        <p:spPr>
          <a:xfrm rot="16200000">
            <a:off x="-6457139"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A6B8D13-9FEF-4009-1260-B0BDD9F6D9AC}"/>
              </a:ext>
            </a:extLst>
          </p:cNvPr>
          <p:cNvSpPr txBox="1"/>
          <p:nvPr/>
        </p:nvSpPr>
        <p:spPr>
          <a:xfrm>
            <a:off x="-9399442" y="2423618"/>
            <a:ext cx="6341805" cy="523220"/>
          </a:xfrm>
          <a:prstGeom prst="rect">
            <a:avLst/>
          </a:prstGeom>
          <a:noFill/>
        </p:spPr>
        <p:txBody>
          <a:bodyPr wrap="square" rtlCol="0">
            <a:spAutoFit/>
          </a:bodyPr>
          <a:lstStyle/>
          <a:p>
            <a:pPr algn="ctr"/>
            <a:r>
              <a:rPr lang="en-US" sz="2800" b="1" dirty="0"/>
              <a:t>1855 (in Britian)</a:t>
            </a:r>
          </a:p>
        </p:txBody>
      </p:sp>
      <p:sp>
        <p:nvSpPr>
          <p:cNvPr id="31" name="TextBox 30">
            <a:extLst>
              <a:ext uri="{FF2B5EF4-FFF2-40B4-BE49-F238E27FC236}">
                <a16:creationId xmlns:a16="http://schemas.microsoft.com/office/drawing/2014/main" id="{8333DCAA-F47D-7424-C73A-302DA884A3E2}"/>
              </a:ext>
            </a:extLst>
          </p:cNvPr>
          <p:cNvSpPr txBox="1"/>
          <p:nvPr/>
        </p:nvSpPr>
        <p:spPr>
          <a:xfrm>
            <a:off x="-8639901" y="3676573"/>
            <a:ext cx="4822722" cy="523220"/>
          </a:xfrm>
          <a:prstGeom prst="rect">
            <a:avLst/>
          </a:prstGeom>
          <a:noFill/>
        </p:spPr>
        <p:txBody>
          <a:bodyPr wrap="square" rtlCol="0">
            <a:spAutoFit/>
          </a:bodyPr>
          <a:lstStyle/>
          <a:p>
            <a:pPr algn="ctr"/>
            <a:r>
              <a:rPr lang="en-US" sz="2800" dirty="0"/>
              <a:t>Brooke Foss Westcott</a:t>
            </a:r>
          </a:p>
        </p:txBody>
      </p:sp>
      <p:sp>
        <p:nvSpPr>
          <p:cNvPr id="32" name="TextBox 31">
            <a:extLst>
              <a:ext uri="{FF2B5EF4-FFF2-40B4-BE49-F238E27FC236}">
                <a16:creationId xmlns:a16="http://schemas.microsoft.com/office/drawing/2014/main" id="{FEEB1248-4822-D606-A436-3875B453E910}"/>
              </a:ext>
            </a:extLst>
          </p:cNvPr>
          <p:cNvSpPr txBox="1"/>
          <p:nvPr/>
        </p:nvSpPr>
        <p:spPr>
          <a:xfrm>
            <a:off x="-12324539" y="4392669"/>
            <a:ext cx="12192000" cy="1384995"/>
          </a:xfrm>
          <a:prstGeom prst="rect">
            <a:avLst/>
          </a:prstGeom>
          <a:noFill/>
        </p:spPr>
        <p:txBody>
          <a:bodyPr wrap="square" rtlCol="0">
            <a:spAutoFit/>
          </a:bodyPr>
          <a:lstStyle/>
          <a:p>
            <a:pPr algn="ctr"/>
            <a:r>
              <a:rPr lang="en-US" sz="2800" dirty="0"/>
              <a:t>Said that the formulation of the canon was one of “the first instinctive acts of the Christian society, resting upon the general confession of the Churches and not upon independent opinions of its members” (p. 21)</a:t>
            </a:r>
          </a:p>
        </p:txBody>
      </p:sp>
      <p:sp>
        <p:nvSpPr>
          <p:cNvPr id="33" name="Rectangle 32">
            <a:extLst>
              <a:ext uri="{FF2B5EF4-FFF2-40B4-BE49-F238E27FC236}">
                <a16:creationId xmlns:a16="http://schemas.microsoft.com/office/drawing/2014/main" id="{A29B485A-D6D7-7E9C-DDBE-26DBD2D76190}"/>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8D1CF4BB-24AF-072D-14DC-08A59270E006}"/>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1874-1877</a:t>
            </a:r>
          </a:p>
        </p:txBody>
      </p:sp>
      <p:sp>
        <p:nvSpPr>
          <p:cNvPr id="35" name="TextBox 34">
            <a:extLst>
              <a:ext uri="{FF2B5EF4-FFF2-40B4-BE49-F238E27FC236}">
                <a16:creationId xmlns:a16="http://schemas.microsoft.com/office/drawing/2014/main" id="{5B29DF37-189B-56D6-2F98-F5BD2B696314}"/>
              </a:ext>
            </a:extLst>
          </p:cNvPr>
          <p:cNvSpPr txBox="1"/>
          <p:nvPr/>
        </p:nvSpPr>
        <p:spPr>
          <a:xfrm>
            <a:off x="3684638" y="3676573"/>
            <a:ext cx="4822722" cy="523220"/>
          </a:xfrm>
          <a:prstGeom prst="rect">
            <a:avLst/>
          </a:prstGeom>
          <a:noFill/>
        </p:spPr>
        <p:txBody>
          <a:bodyPr wrap="square" rtlCol="0">
            <a:spAutoFit/>
          </a:bodyPr>
          <a:lstStyle/>
          <a:p>
            <a:pPr algn="ctr"/>
            <a:r>
              <a:rPr lang="en-US" sz="2800" dirty="0"/>
              <a:t>Walter R. Cassels</a:t>
            </a:r>
          </a:p>
        </p:txBody>
      </p:sp>
      <p:sp>
        <p:nvSpPr>
          <p:cNvPr id="36" name="TextBox 35">
            <a:extLst>
              <a:ext uri="{FF2B5EF4-FFF2-40B4-BE49-F238E27FC236}">
                <a16:creationId xmlns:a16="http://schemas.microsoft.com/office/drawing/2014/main" id="{D9DB708F-0F8B-443F-B647-44501DE6DDCF}"/>
              </a:ext>
            </a:extLst>
          </p:cNvPr>
          <p:cNvSpPr txBox="1"/>
          <p:nvPr/>
        </p:nvSpPr>
        <p:spPr>
          <a:xfrm>
            <a:off x="0" y="4392669"/>
            <a:ext cx="12192000" cy="2246769"/>
          </a:xfrm>
          <a:prstGeom prst="rect">
            <a:avLst/>
          </a:prstGeom>
          <a:noFill/>
        </p:spPr>
        <p:txBody>
          <a:bodyPr wrap="square" rtlCol="0">
            <a:spAutoFit/>
          </a:bodyPr>
          <a:lstStyle/>
          <a:p>
            <a:pPr algn="ctr"/>
            <a:r>
              <a:rPr lang="en-US" sz="2800" dirty="0"/>
              <a:t>Wrote an anonymous work in three volumes which revived some of the old arguments of 18</a:t>
            </a:r>
            <a:r>
              <a:rPr lang="en-US" sz="2800" baseline="30000" dirty="0"/>
              <a:t>th</a:t>
            </a:r>
            <a:r>
              <a:rPr lang="en-US" sz="2800" dirty="0"/>
              <a:t> century Deism. His “purpose was to show from patristic testimony that the canonical Gospels are so far removed in time from the events they record that they lose all competence as witnesses to the reality of the miraculous” (p. 22)</a:t>
            </a:r>
          </a:p>
        </p:txBody>
      </p:sp>
    </p:spTree>
    <p:extLst>
      <p:ext uri="{BB962C8B-B14F-4D97-AF65-F5344CB8AC3E}">
        <p14:creationId xmlns:p14="http://schemas.microsoft.com/office/powerpoint/2010/main" val="3097900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500"/>
                                        <p:tgtEl>
                                          <p:spTgt spid="35"/>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p:bldP spid="35" grpId="0"/>
      <p:bldP spid="3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74498-2A1A-8037-BC4A-E25FC5BBA7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6D1FB-98E7-2758-DB8C-D52CA706F3BC}"/>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1BE4F692-045E-BDFF-B1EE-B81C9B9CCD5D}"/>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5FEC275-350E-DFCC-7C3E-1AE4B90F42FE}"/>
              </a:ext>
            </a:extLst>
          </p:cNvPr>
          <p:cNvSpPr/>
          <p:nvPr/>
        </p:nvSpPr>
        <p:spPr>
          <a:xfrm rot="16200000">
            <a:off x="-3475395"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84F415A-CDE0-2E1F-FE5A-EB90984C77A5}"/>
              </a:ext>
            </a:extLst>
          </p:cNvPr>
          <p:cNvSpPr txBox="1"/>
          <p:nvPr/>
        </p:nvSpPr>
        <p:spPr>
          <a:xfrm>
            <a:off x="-6417698"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A329CB68-0C75-7184-9C0D-E960D234A488}"/>
              </a:ext>
            </a:extLst>
          </p:cNvPr>
          <p:cNvSpPr txBox="1"/>
          <p:nvPr/>
        </p:nvSpPr>
        <p:spPr>
          <a:xfrm>
            <a:off x="-5658157" y="3676573"/>
            <a:ext cx="4822722" cy="523220"/>
          </a:xfrm>
          <a:prstGeom prst="rect">
            <a:avLst/>
          </a:prstGeom>
          <a:noFill/>
        </p:spPr>
        <p:txBody>
          <a:bodyPr wrap="square" rtlCol="0">
            <a:spAutoFit/>
          </a:bodyPr>
          <a:lstStyle/>
          <a:p>
            <a:pPr algn="ctr"/>
            <a:r>
              <a:rPr lang="en-US" sz="2800" dirty="0"/>
              <a:t>John Toland</a:t>
            </a:r>
          </a:p>
        </p:txBody>
      </p:sp>
      <p:sp>
        <p:nvSpPr>
          <p:cNvPr id="3" name="Rectangle 2">
            <a:extLst>
              <a:ext uri="{FF2B5EF4-FFF2-40B4-BE49-F238E27FC236}">
                <a16:creationId xmlns:a16="http://schemas.microsoft.com/office/drawing/2014/main" id="{E50098B7-9DCE-DF14-3567-98A2168EF8D7}"/>
              </a:ext>
            </a:extLst>
          </p:cNvPr>
          <p:cNvSpPr/>
          <p:nvPr/>
        </p:nvSpPr>
        <p:spPr>
          <a:xfrm rot="16200000">
            <a:off x="-3549314"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FCBB469-33D6-3271-E787-88FC4CB3C9B9}"/>
              </a:ext>
            </a:extLst>
          </p:cNvPr>
          <p:cNvSpPr txBox="1"/>
          <p:nvPr/>
        </p:nvSpPr>
        <p:spPr>
          <a:xfrm>
            <a:off x="-6491617" y="2423618"/>
            <a:ext cx="6341805" cy="523220"/>
          </a:xfrm>
          <a:prstGeom prst="rect">
            <a:avLst/>
          </a:prstGeom>
          <a:noFill/>
        </p:spPr>
        <p:txBody>
          <a:bodyPr wrap="square" rtlCol="0">
            <a:spAutoFit/>
          </a:bodyPr>
          <a:lstStyle/>
          <a:p>
            <a:pPr algn="ctr"/>
            <a:r>
              <a:rPr lang="en-US" sz="2800" b="1" dirty="0"/>
              <a:t>1700-1719</a:t>
            </a:r>
          </a:p>
        </p:txBody>
      </p:sp>
      <p:sp>
        <p:nvSpPr>
          <p:cNvPr id="5" name="TextBox 4">
            <a:extLst>
              <a:ext uri="{FF2B5EF4-FFF2-40B4-BE49-F238E27FC236}">
                <a16:creationId xmlns:a16="http://schemas.microsoft.com/office/drawing/2014/main" id="{4FCE6008-EF9E-5B52-51DD-BCF5D10B2AC5}"/>
              </a:ext>
            </a:extLst>
          </p:cNvPr>
          <p:cNvSpPr txBox="1"/>
          <p:nvPr/>
        </p:nvSpPr>
        <p:spPr>
          <a:xfrm>
            <a:off x="-5732076" y="3676573"/>
            <a:ext cx="4822722" cy="954107"/>
          </a:xfrm>
          <a:prstGeom prst="rect">
            <a:avLst/>
          </a:prstGeom>
          <a:noFill/>
        </p:spPr>
        <p:txBody>
          <a:bodyPr wrap="square" rtlCol="0">
            <a:spAutoFit/>
          </a:bodyPr>
          <a:lstStyle/>
          <a:p>
            <a:pPr algn="ctr"/>
            <a:r>
              <a:rPr lang="en-US" sz="2800" dirty="0"/>
              <a:t>Samuel Clarke, Stephen Nye, John Richardson, and others</a:t>
            </a:r>
          </a:p>
        </p:txBody>
      </p:sp>
      <p:sp>
        <p:nvSpPr>
          <p:cNvPr id="7" name="TextBox 6">
            <a:extLst>
              <a:ext uri="{FF2B5EF4-FFF2-40B4-BE49-F238E27FC236}">
                <a16:creationId xmlns:a16="http://schemas.microsoft.com/office/drawing/2014/main" id="{2B1E0DDC-6751-DBA4-33CF-F7ABF73291A1}"/>
              </a:ext>
            </a:extLst>
          </p:cNvPr>
          <p:cNvSpPr txBox="1"/>
          <p:nvPr/>
        </p:nvSpPr>
        <p:spPr>
          <a:xfrm>
            <a:off x="-12569670" y="4392669"/>
            <a:ext cx="12192000" cy="1384995"/>
          </a:xfrm>
          <a:prstGeom prst="rect">
            <a:avLst/>
          </a:prstGeom>
          <a:noFill/>
        </p:spPr>
        <p:txBody>
          <a:bodyPr wrap="square" rtlCol="0">
            <a:spAutoFit/>
          </a:bodyPr>
          <a:lstStyle/>
          <a:p>
            <a:pPr algn="ctr"/>
            <a:r>
              <a:rPr lang="en-US" sz="2800" dirty="0"/>
              <a:t>Used the “New and Full Method” of looking at ancient records to find early testimony or traditions of people concerning NT books written close to them in time </a:t>
            </a:r>
          </a:p>
        </p:txBody>
      </p:sp>
      <p:sp>
        <p:nvSpPr>
          <p:cNvPr id="9" name="TextBox 8">
            <a:extLst>
              <a:ext uri="{FF2B5EF4-FFF2-40B4-BE49-F238E27FC236}">
                <a16:creationId xmlns:a16="http://schemas.microsoft.com/office/drawing/2014/main" id="{133B44B0-3D2A-FFF7-E1A2-5491272C105B}"/>
              </a:ext>
            </a:extLst>
          </p:cNvPr>
          <p:cNvSpPr txBox="1"/>
          <p:nvPr/>
        </p:nvSpPr>
        <p:spPr>
          <a:xfrm>
            <a:off x="-9644573" y="2423618"/>
            <a:ext cx="6341805" cy="523220"/>
          </a:xfrm>
          <a:prstGeom prst="rect">
            <a:avLst/>
          </a:prstGeom>
          <a:noFill/>
        </p:spPr>
        <p:txBody>
          <a:bodyPr wrap="square" rtlCol="0">
            <a:spAutoFit/>
          </a:bodyPr>
          <a:lstStyle/>
          <a:p>
            <a:pPr algn="ctr"/>
            <a:r>
              <a:rPr lang="en-US" sz="2800" b="1" dirty="0"/>
              <a:t>1726-1727</a:t>
            </a:r>
          </a:p>
        </p:txBody>
      </p:sp>
      <p:sp>
        <p:nvSpPr>
          <p:cNvPr id="10" name="TextBox 9">
            <a:extLst>
              <a:ext uri="{FF2B5EF4-FFF2-40B4-BE49-F238E27FC236}">
                <a16:creationId xmlns:a16="http://schemas.microsoft.com/office/drawing/2014/main" id="{C3C69198-A6F9-985E-7665-FFDE798034E5}"/>
              </a:ext>
            </a:extLst>
          </p:cNvPr>
          <p:cNvSpPr txBox="1"/>
          <p:nvPr/>
        </p:nvSpPr>
        <p:spPr>
          <a:xfrm>
            <a:off x="-8885032" y="3676573"/>
            <a:ext cx="4822722" cy="523220"/>
          </a:xfrm>
          <a:prstGeom prst="rect">
            <a:avLst/>
          </a:prstGeom>
          <a:noFill/>
        </p:spPr>
        <p:txBody>
          <a:bodyPr wrap="square" rtlCol="0">
            <a:spAutoFit/>
          </a:bodyPr>
          <a:lstStyle/>
          <a:p>
            <a:pPr algn="ctr"/>
            <a:r>
              <a:rPr lang="en-US" sz="2800" dirty="0"/>
              <a:t>Jeremiah Jones</a:t>
            </a:r>
          </a:p>
        </p:txBody>
      </p:sp>
      <p:sp>
        <p:nvSpPr>
          <p:cNvPr id="11" name="TextBox 10">
            <a:extLst>
              <a:ext uri="{FF2B5EF4-FFF2-40B4-BE49-F238E27FC236}">
                <a16:creationId xmlns:a16="http://schemas.microsoft.com/office/drawing/2014/main" id="{B5F4470B-0F21-3965-3C2E-2C080DC9E5AD}"/>
              </a:ext>
            </a:extLst>
          </p:cNvPr>
          <p:cNvSpPr txBox="1"/>
          <p:nvPr/>
        </p:nvSpPr>
        <p:spPr>
          <a:xfrm>
            <a:off x="-12310928" y="4761635"/>
            <a:ext cx="12192000" cy="1815882"/>
          </a:xfrm>
          <a:prstGeom prst="rect">
            <a:avLst/>
          </a:prstGeom>
          <a:noFill/>
        </p:spPr>
        <p:txBody>
          <a:bodyPr wrap="square" rtlCol="0">
            <a:spAutoFit/>
          </a:bodyPr>
          <a:lstStyle/>
          <a:p>
            <a:pPr algn="ctr"/>
            <a:r>
              <a:rPr lang="en-US" sz="2800" dirty="0"/>
              <a:t>- Strongly denounced Toland</a:t>
            </a:r>
          </a:p>
          <a:p>
            <a:pPr algn="ctr"/>
            <a:r>
              <a:rPr lang="en-US" sz="2800" dirty="0"/>
              <a:t>- Richardson: “What the Apostles Wrote, and what they </a:t>
            </a:r>
            <a:r>
              <a:rPr lang="en-US" sz="2800" dirty="0" err="1"/>
              <a:t>Authoriz’d</a:t>
            </a:r>
            <a:r>
              <a:rPr lang="en-US" sz="2800" dirty="0"/>
              <a:t>, can be known in no other way, then by the Testimonies of those who </a:t>
            </a:r>
            <a:r>
              <a:rPr lang="en-US" sz="2800" dirty="0" err="1"/>
              <a:t>liv’d</a:t>
            </a:r>
            <a:r>
              <a:rPr lang="en-US" sz="2800" dirty="0"/>
              <a:t> at the same time with them, and the Tradition of those who succeeded them” (p. 13)</a:t>
            </a:r>
          </a:p>
        </p:txBody>
      </p:sp>
      <p:sp>
        <p:nvSpPr>
          <p:cNvPr id="12" name="TextBox 11">
            <a:extLst>
              <a:ext uri="{FF2B5EF4-FFF2-40B4-BE49-F238E27FC236}">
                <a16:creationId xmlns:a16="http://schemas.microsoft.com/office/drawing/2014/main" id="{861674A1-47A3-02CA-BB76-3D72A5194F81}"/>
              </a:ext>
            </a:extLst>
          </p:cNvPr>
          <p:cNvSpPr txBox="1"/>
          <p:nvPr/>
        </p:nvSpPr>
        <p:spPr>
          <a:xfrm>
            <a:off x="-12569671" y="4392668"/>
            <a:ext cx="12192000" cy="954107"/>
          </a:xfrm>
          <a:prstGeom prst="rect">
            <a:avLst/>
          </a:prstGeom>
          <a:noFill/>
        </p:spPr>
        <p:txBody>
          <a:bodyPr wrap="square" rtlCol="0">
            <a:spAutoFit/>
          </a:bodyPr>
          <a:lstStyle/>
          <a:p>
            <a:pPr algn="ctr"/>
            <a:r>
              <a:rPr lang="en-US" sz="2800" dirty="0"/>
              <a:t>Jones made available for  the first time an English translation of the text of dozens of apocryphal writings” (p. 14)</a:t>
            </a:r>
          </a:p>
        </p:txBody>
      </p:sp>
      <p:sp>
        <p:nvSpPr>
          <p:cNvPr id="14" name="TextBox 13">
            <a:extLst>
              <a:ext uri="{FF2B5EF4-FFF2-40B4-BE49-F238E27FC236}">
                <a16:creationId xmlns:a16="http://schemas.microsoft.com/office/drawing/2014/main" id="{5A66AF82-12FD-F66F-CFAF-5809C1BF5162}"/>
              </a:ext>
            </a:extLst>
          </p:cNvPr>
          <p:cNvSpPr txBox="1"/>
          <p:nvPr/>
        </p:nvSpPr>
        <p:spPr>
          <a:xfrm>
            <a:off x="-9427049" y="2423618"/>
            <a:ext cx="6341805" cy="523220"/>
          </a:xfrm>
          <a:prstGeom prst="rect">
            <a:avLst/>
          </a:prstGeom>
          <a:noFill/>
        </p:spPr>
        <p:txBody>
          <a:bodyPr wrap="square" rtlCol="0">
            <a:spAutoFit/>
          </a:bodyPr>
          <a:lstStyle/>
          <a:p>
            <a:pPr algn="ctr"/>
            <a:r>
              <a:rPr lang="en-US" sz="2800" b="1" dirty="0"/>
              <a:t>1699 (in France)</a:t>
            </a:r>
          </a:p>
        </p:txBody>
      </p:sp>
      <p:sp>
        <p:nvSpPr>
          <p:cNvPr id="15" name="TextBox 14">
            <a:extLst>
              <a:ext uri="{FF2B5EF4-FFF2-40B4-BE49-F238E27FC236}">
                <a16:creationId xmlns:a16="http://schemas.microsoft.com/office/drawing/2014/main" id="{FBCF8781-BF03-F258-5427-88CE78BCEE04}"/>
              </a:ext>
            </a:extLst>
          </p:cNvPr>
          <p:cNvSpPr txBox="1"/>
          <p:nvPr/>
        </p:nvSpPr>
        <p:spPr>
          <a:xfrm>
            <a:off x="-8667508" y="3676573"/>
            <a:ext cx="4822722" cy="523220"/>
          </a:xfrm>
          <a:prstGeom prst="rect">
            <a:avLst/>
          </a:prstGeom>
          <a:noFill/>
        </p:spPr>
        <p:txBody>
          <a:bodyPr wrap="square" rtlCol="0">
            <a:spAutoFit/>
          </a:bodyPr>
          <a:lstStyle/>
          <a:p>
            <a:pPr algn="ctr"/>
            <a:r>
              <a:rPr lang="en-US" sz="2800" dirty="0"/>
              <a:t>Jacques Basnage</a:t>
            </a:r>
          </a:p>
        </p:txBody>
      </p:sp>
      <p:sp>
        <p:nvSpPr>
          <p:cNvPr id="16" name="TextBox 15">
            <a:extLst>
              <a:ext uri="{FF2B5EF4-FFF2-40B4-BE49-F238E27FC236}">
                <a16:creationId xmlns:a16="http://schemas.microsoft.com/office/drawing/2014/main" id="{C95CABA5-9ED5-E932-1710-4A98F08E0341}"/>
              </a:ext>
            </a:extLst>
          </p:cNvPr>
          <p:cNvSpPr txBox="1"/>
          <p:nvPr/>
        </p:nvSpPr>
        <p:spPr>
          <a:xfrm>
            <a:off x="-12352146" y="4392669"/>
            <a:ext cx="12192000" cy="1815882"/>
          </a:xfrm>
          <a:prstGeom prst="rect">
            <a:avLst/>
          </a:prstGeom>
          <a:noFill/>
        </p:spPr>
        <p:txBody>
          <a:bodyPr wrap="square" rtlCol="0">
            <a:spAutoFit/>
          </a:bodyPr>
          <a:lstStyle/>
          <a:p>
            <a:pPr algn="ctr"/>
            <a:r>
              <a:rPr lang="en-US" sz="2800" dirty="0"/>
              <a:t>Found that during the first 3 centuries “there was no decision concerning the limits of the New Testament canon, but each local church had the liberty to choose or reject individual books; this freedom was most noticeable among Eastern Churches in rejecting the Apocalypse” (p. 16)</a:t>
            </a:r>
          </a:p>
        </p:txBody>
      </p:sp>
      <p:sp>
        <p:nvSpPr>
          <p:cNvPr id="18" name="TextBox 17">
            <a:extLst>
              <a:ext uri="{FF2B5EF4-FFF2-40B4-BE49-F238E27FC236}">
                <a16:creationId xmlns:a16="http://schemas.microsoft.com/office/drawing/2014/main" id="{3AFE7AD4-45BC-3F14-83B1-F463F54495A9}"/>
              </a:ext>
            </a:extLst>
          </p:cNvPr>
          <p:cNvSpPr txBox="1"/>
          <p:nvPr/>
        </p:nvSpPr>
        <p:spPr>
          <a:xfrm>
            <a:off x="-9386634" y="2423618"/>
            <a:ext cx="6341805" cy="523220"/>
          </a:xfrm>
          <a:prstGeom prst="rect">
            <a:avLst/>
          </a:prstGeom>
          <a:noFill/>
        </p:spPr>
        <p:txBody>
          <a:bodyPr wrap="square" rtlCol="0">
            <a:spAutoFit/>
          </a:bodyPr>
          <a:lstStyle/>
          <a:p>
            <a:pPr algn="ctr"/>
            <a:r>
              <a:rPr lang="en-US" sz="2800" b="1" dirty="0"/>
              <a:t>1804-1812</a:t>
            </a:r>
          </a:p>
        </p:txBody>
      </p:sp>
      <p:sp>
        <p:nvSpPr>
          <p:cNvPr id="19" name="TextBox 18">
            <a:extLst>
              <a:ext uri="{FF2B5EF4-FFF2-40B4-BE49-F238E27FC236}">
                <a16:creationId xmlns:a16="http://schemas.microsoft.com/office/drawing/2014/main" id="{8C107A42-92AA-EC76-1341-118D37BFDB31}"/>
              </a:ext>
            </a:extLst>
          </p:cNvPr>
          <p:cNvSpPr txBox="1"/>
          <p:nvPr/>
        </p:nvSpPr>
        <p:spPr>
          <a:xfrm>
            <a:off x="-8627093" y="3676573"/>
            <a:ext cx="4822722" cy="523220"/>
          </a:xfrm>
          <a:prstGeom prst="rect">
            <a:avLst/>
          </a:prstGeom>
          <a:noFill/>
        </p:spPr>
        <p:txBody>
          <a:bodyPr wrap="square" rtlCol="0">
            <a:spAutoFit/>
          </a:bodyPr>
          <a:lstStyle/>
          <a:p>
            <a:pPr algn="ctr"/>
            <a:r>
              <a:rPr lang="en-US" sz="2800" dirty="0"/>
              <a:t>J. G. Eichhorn</a:t>
            </a:r>
          </a:p>
        </p:txBody>
      </p:sp>
      <p:sp>
        <p:nvSpPr>
          <p:cNvPr id="21" name="TextBox 20">
            <a:extLst>
              <a:ext uri="{FF2B5EF4-FFF2-40B4-BE49-F238E27FC236}">
                <a16:creationId xmlns:a16="http://schemas.microsoft.com/office/drawing/2014/main" id="{8F075FEC-F915-2AB1-DAB0-46F98F9C9F21}"/>
              </a:ext>
            </a:extLst>
          </p:cNvPr>
          <p:cNvSpPr txBox="1"/>
          <p:nvPr/>
        </p:nvSpPr>
        <p:spPr>
          <a:xfrm>
            <a:off x="-12311731" y="4392669"/>
            <a:ext cx="12192000" cy="1384995"/>
          </a:xfrm>
          <a:prstGeom prst="rect">
            <a:avLst/>
          </a:prstGeom>
          <a:noFill/>
        </p:spPr>
        <p:txBody>
          <a:bodyPr wrap="square" rtlCol="0">
            <a:spAutoFit/>
          </a:bodyPr>
          <a:lstStyle/>
          <a:p>
            <a:pPr algn="ctr"/>
            <a:r>
              <a:rPr lang="en-US" sz="2800" dirty="0"/>
              <a:t>“The first to attribute to Marcion the stimulus to collect the New Testament writings, and argued that the core of the future canon was established by about AD 175” (p. 18)</a:t>
            </a:r>
          </a:p>
        </p:txBody>
      </p:sp>
      <p:sp>
        <p:nvSpPr>
          <p:cNvPr id="24" name="Rectangle 23">
            <a:extLst>
              <a:ext uri="{FF2B5EF4-FFF2-40B4-BE49-F238E27FC236}">
                <a16:creationId xmlns:a16="http://schemas.microsoft.com/office/drawing/2014/main" id="{4010A339-72FD-6022-787B-82815B6D6DAB}"/>
              </a:ext>
            </a:extLst>
          </p:cNvPr>
          <p:cNvSpPr/>
          <p:nvPr/>
        </p:nvSpPr>
        <p:spPr>
          <a:xfrm rot="16200000">
            <a:off x="-6422136"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338C287-E91A-7CC9-1B99-CFE881FDD86F}"/>
              </a:ext>
            </a:extLst>
          </p:cNvPr>
          <p:cNvSpPr txBox="1"/>
          <p:nvPr/>
        </p:nvSpPr>
        <p:spPr>
          <a:xfrm>
            <a:off x="-9364439" y="2423618"/>
            <a:ext cx="6341805" cy="523220"/>
          </a:xfrm>
          <a:prstGeom prst="rect">
            <a:avLst/>
          </a:prstGeom>
          <a:noFill/>
        </p:spPr>
        <p:txBody>
          <a:bodyPr wrap="square" rtlCol="0">
            <a:spAutoFit/>
          </a:bodyPr>
          <a:lstStyle/>
          <a:p>
            <a:pPr algn="ctr"/>
            <a:r>
              <a:rPr lang="en-US" sz="2800" b="1" dirty="0"/>
              <a:t>1826 (in America)</a:t>
            </a:r>
          </a:p>
        </p:txBody>
      </p:sp>
      <p:sp>
        <p:nvSpPr>
          <p:cNvPr id="26" name="TextBox 25">
            <a:extLst>
              <a:ext uri="{FF2B5EF4-FFF2-40B4-BE49-F238E27FC236}">
                <a16:creationId xmlns:a16="http://schemas.microsoft.com/office/drawing/2014/main" id="{B63266CF-AAEB-B327-F554-A252836B6E31}"/>
              </a:ext>
            </a:extLst>
          </p:cNvPr>
          <p:cNvSpPr txBox="1"/>
          <p:nvPr/>
        </p:nvSpPr>
        <p:spPr>
          <a:xfrm>
            <a:off x="-8604898" y="3676573"/>
            <a:ext cx="4822722" cy="523220"/>
          </a:xfrm>
          <a:prstGeom prst="rect">
            <a:avLst/>
          </a:prstGeom>
          <a:noFill/>
        </p:spPr>
        <p:txBody>
          <a:bodyPr wrap="square" rtlCol="0">
            <a:spAutoFit/>
          </a:bodyPr>
          <a:lstStyle/>
          <a:p>
            <a:pPr algn="ctr"/>
            <a:r>
              <a:rPr lang="en-US" sz="2800" dirty="0"/>
              <a:t>Archibald Alexander</a:t>
            </a:r>
          </a:p>
        </p:txBody>
      </p:sp>
      <p:sp>
        <p:nvSpPr>
          <p:cNvPr id="27" name="TextBox 26">
            <a:extLst>
              <a:ext uri="{FF2B5EF4-FFF2-40B4-BE49-F238E27FC236}">
                <a16:creationId xmlns:a16="http://schemas.microsoft.com/office/drawing/2014/main" id="{4DEEF324-7245-3028-A421-C060A07A0D20}"/>
              </a:ext>
            </a:extLst>
          </p:cNvPr>
          <p:cNvSpPr txBox="1"/>
          <p:nvPr/>
        </p:nvSpPr>
        <p:spPr>
          <a:xfrm>
            <a:off x="-12289536" y="4392669"/>
            <a:ext cx="12192000" cy="2246769"/>
          </a:xfrm>
          <a:prstGeom prst="rect">
            <a:avLst/>
          </a:prstGeom>
          <a:noFill/>
        </p:spPr>
        <p:txBody>
          <a:bodyPr wrap="square" rtlCol="0">
            <a:spAutoFit/>
          </a:bodyPr>
          <a:lstStyle/>
          <a:p>
            <a:pPr marL="457200" indent="-457200" algn="ctr">
              <a:buFontTx/>
              <a:buChar char="-"/>
            </a:pPr>
            <a:r>
              <a:rPr lang="en-US" sz="2800" dirty="0"/>
              <a:t>Wrote the first book (in the US) dealing solely with the Biblical canon</a:t>
            </a:r>
          </a:p>
          <a:p>
            <a:pPr marL="457200" indent="-457200" algn="ctr">
              <a:buFontTx/>
              <a:buChar char="-"/>
            </a:pPr>
            <a:r>
              <a:rPr lang="en-US" sz="2800" dirty="0"/>
              <a:t>“Argued that </a:t>
            </a:r>
            <a:r>
              <a:rPr lang="en-US" sz="2800" b="1" u="sng" dirty="0"/>
              <a:t>the criterion of New Testament canonicity is apostolic authorship</a:t>
            </a:r>
            <a:r>
              <a:rPr lang="en-US" sz="2800" dirty="0"/>
              <a:t>, whether direct or indirect (the latter in the case of Mark and Luke). Apostolicity is to be established by historically verified testimonies of patristic writers of the early Christian centuries” (p. 18)</a:t>
            </a:r>
          </a:p>
        </p:txBody>
      </p:sp>
      <p:sp>
        <p:nvSpPr>
          <p:cNvPr id="8" name="Rectangle 7">
            <a:extLst>
              <a:ext uri="{FF2B5EF4-FFF2-40B4-BE49-F238E27FC236}">
                <a16:creationId xmlns:a16="http://schemas.microsoft.com/office/drawing/2014/main" id="{1C68EB93-BD3E-5976-CA67-80D301F31F8E}"/>
              </a:ext>
            </a:extLst>
          </p:cNvPr>
          <p:cNvSpPr/>
          <p:nvPr/>
        </p:nvSpPr>
        <p:spPr>
          <a:xfrm rot="16200000">
            <a:off x="1817206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F4D8EE6-7050-332B-A94B-5F4590D6874C}"/>
              </a:ext>
            </a:extLst>
          </p:cNvPr>
          <p:cNvSpPr txBox="1"/>
          <p:nvPr/>
        </p:nvSpPr>
        <p:spPr>
          <a:xfrm>
            <a:off x="15229759" y="2423618"/>
            <a:ext cx="6341805" cy="523220"/>
          </a:xfrm>
          <a:prstGeom prst="rect">
            <a:avLst/>
          </a:prstGeom>
          <a:noFill/>
        </p:spPr>
        <p:txBody>
          <a:bodyPr wrap="square" rtlCol="0">
            <a:spAutoFit/>
          </a:bodyPr>
          <a:lstStyle/>
          <a:p>
            <a:pPr algn="ctr"/>
            <a:r>
              <a:rPr lang="en-US" sz="2800" b="1" dirty="0"/>
              <a:t>1866</a:t>
            </a:r>
          </a:p>
        </p:txBody>
      </p:sp>
      <p:sp>
        <p:nvSpPr>
          <p:cNvPr id="17" name="TextBox 16">
            <a:extLst>
              <a:ext uri="{FF2B5EF4-FFF2-40B4-BE49-F238E27FC236}">
                <a16:creationId xmlns:a16="http://schemas.microsoft.com/office/drawing/2014/main" id="{CAE1C256-3279-2A3E-4DBE-1F943D526E59}"/>
              </a:ext>
            </a:extLst>
          </p:cNvPr>
          <p:cNvSpPr txBox="1"/>
          <p:nvPr/>
        </p:nvSpPr>
        <p:spPr>
          <a:xfrm>
            <a:off x="15989300" y="3676573"/>
            <a:ext cx="4822722" cy="523220"/>
          </a:xfrm>
          <a:prstGeom prst="rect">
            <a:avLst/>
          </a:prstGeom>
          <a:noFill/>
        </p:spPr>
        <p:txBody>
          <a:bodyPr wrap="square" rtlCol="0">
            <a:spAutoFit/>
          </a:bodyPr>
          <a:lstStyle/>
          <a:p>
            <a:pPr algn="ctr"/>
            <a:r>
              <a:rPr lang="en-US" sz="2800" dirty="0"/>
              <a:t>Constantin von Tischendorf</a:t>
            </a:r>
          </a:p>
        </p:txBody>
      </p:sp>
      <p:sp>
        <p:nvSpPr>
          <p:cNvPr id="28" name="TextBox 27">
            <a:extLst>
              <a:ext uri="{FF2B5EF4-FFF2-40B4-BE49-F238E27FC236}">
                <a16:creationId xmlns:a16="http://schemas.microsoft.com/office/drawing/2014/main" id="{CB932774-DD1D-1389-0C54-0494C617D449}"/>
              </a:ext>
            </a:extLst>
          </p:cNvPr>
          <p:cNvSpPr txBox="1"/>
          <p:nvPr/>
        </p:nvSpPr>
        <p:spPr>
          <a:xfrm>
            <a:off x="12304662" y="4392669"/>
            <a:ext cx="12192000" cy="954107"/>
          </a:xfrm>
          <a:prstGeom prst="rect">
            <a:avLst/>
          </a:prstGeom>
          <a:noFill/>
        </p:spPr>
        <p:txBody>
          <a:bodyPr wrap="square" rtlCol="0">
            <a:spAutoFit/>
          </a:bodyPr>
          <a:lstStyle/>
          <a:p>
            <a:pPr algn="ctr"/>
            <a:r>
              <a:rPr lang="en-US" sz="2800" dirty="0"/>
              <a:t>Argued  the canon of the NT was established by the beginning of the 2</a:t>
            </a:r>
            <a:r>
              <a:rPr lang="en-US" sz="2800" baseline="30000" dirty="0"/>
              <a:t>nd</a:t>
            </a:r>
            <a:r>
              <a:rPr lang="en-US" sz="2800" dirty="0"/>
              <a:t> century</a:t>
            </a:r>
          </a:p>
        </p:txBody>
      </p:sp>
      <p:sp>
        <p:nvSpPr>
          <p:cNvPr id="29" name="Rectangle 28">
            <a:extLst>
              <a:ext uri="{FF2B5EF4-FFF2-40B4-BE49-F238E27FC236}">
                <a16:creationId xmlns:a16="http://schemas.microsoft.com/office/drawing/2014/main" id="{8FD639EF-0849-A34A-6CF7-6CBDDA22317B}"/>
              </a:ext>
            </a:extLst>
          </p:cNvPr>
          <p:cNvSpPr/>
          <p:nvPr/>
        </p:nvSpPr>
        <p:spPr>
          <a:xfrm rot="16200000">
            <a:off x="-6457139"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02D85A2-3B04-DEC7-1DD6-F33D127039D2}"/>
              </a:ext>
            </a:extLst>
          </p:cNvPr>
          <p:cNvSpPr txBox="1"/>
          <p:nvPr/>
        </p:nvSpPr>
        <p:spPr>
          <a:xfrm>
            <a:off x="-9399442" y="2423618"/>
            <a:ext cx="6341805" cy="523220"/>
          </a:xfrm>
          <a:prstGeom prst="rect">
            <a:avLst/>
          </a:prstGeom>
          <a:noFill/>
        </p:spPr>
        <p:txBody>
          <a:bodyPr wrap="square" rtlCol="0">
            <a:spAutoFit/>
          </a:bodyPr>
          <a:lstStyle/>
          <a:p>
            <a:pPr algn="ctr"/>
            <a:r>
              <a:rPr lang="en-US" sz="2800" b="1" dirty="0"/>
              <a:t>1855 (in Britian)</a:t>
            </a:r>
          </a:p>
        </p:txBody>
      </p:sp>
      <p:sp>
        <p:nvSpPr>
          <p:cNvPr id="31" name="TextBox 30">
            <a:extLst>
              <a:ext uri="{FF2B5EF4-FFF2-40B4-BE49-F238E27FC236}">
                <a16:creationId xmlns:a16="http://schemas.microsoft.com/office/drawing/2014/main" id="{5A43BC6E-3242-CB86-7E84-C4368E85F269}"/>
              </a:ext>
            </a:extLst>
          </p:cNvPr>
          <p:cNvSpPr txBox="1"/>
          <p:nvPr/>
        </p:nvSpPr>
        <p:spPr>
          <a:xfrm>
            <a:off x="-8639901" y="3676573"/>
            <a:ext cx="4822722" cy="523220"/>
          </a:xfrm>
          <a:prstGeom prst="rect">
            <a:avLst/>
          </a:prstGeom>
          <a:noFill/>
        </p:spPr>
        <p:txBody>
          <a:bodyPr wrap="square" rtlCol="0">
            <a:spAutoFit/>
          </a:bodyPr>
          <a:lstStyle/>
          <a:p>
            <a:pPr algn="ctr"/>
            <a:r>
              <a:rPr lang="en-US" sz="2800" dirty="0"/>
              <a:t>Brooke Foss Westcott</a:t>
            </a:r>
          </a:p>
        </p:txBody>
      </p:sp>
      <p:sp>
        <p:nvSpPr>
          <p:cNvPr id="32" name="TextBox 31">
            <a:extLst>
              <a:ext uri="{FF2B5EF4-FFF2-40B4-BE49-F238E27FC236}">
                <a16:creationId xmlns:a16="http://schemas.microsoft.com/office/drawing/2014/main" id="{F53F192F-AE3D-7392-6AF6-3473C286CD4C}"/>
              </a:ext>
            </a:extLst>
          </p:cNvPr>
          <p:cNvSpPr txBox="1"/>
          <p:nvPr/>
        </p:nvSpPr>
        <p:spPr>
          <a:xfrm>
            <a:off x="-12324539" y="4392669"/>
            <a:ext cx="12192000" cy="1384995"/>
          </a:xfrm>
          <a:prstGeom prst="rect">
            <a:avLst/>
          </a:prstGeom>
          <a:noFill/>
        </p:spPr>
        <p:txBody>
          <a:bodyPr wrap="square" rtlCol="0">
            <a:spAutoFit/>
          </a:bodyPr>
          <a:lstStyle/>
          <a:p>
            <a:pPr algn="ctr"/>
            <a:r>
              <a:rPr lang="en-US" sz="2800" dirty="0"/>
              <a:t>Said that the formulation of the canon was one of “the first instinctive acts of the Christian society, resting upon the general confession of the Churches and not upon independent opinions of its members” (p. 21)</a:t>
            </a:r>
          </a:p>
        </p:txBody>
      </p:sp>
      <p:sp>
        <p:nvSpPr>
          <p:cNvPr id="33" name="Rectangle 32">
            <a:extLst>
              <a:ext uri="{FF2B5EF4-FFF2-40B4-BE49-F238E27FC236}">
                <a16:creationId xmlns:a16="http://schemas.microsoft.com/office/drawing/2014/main" id="{642C3010-267B-EDF0-7E52-B6CAE54DD1F0}"/>
              </a:ext>
            </a:extLst>
          </p:cNvPr>
          <p:cNvSpPr/>
          <p:nvPr/>
        </p:nvSpPr>
        <p:spPr>
          <a:xfrm rot="16200000">
            <a:off x="-6596289"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CBF71B9-68EB-E1C3-3BF7-7DB6399D98BD}"/>
              </a:ext>
            </a:extLst>
          </p:cNvPr>
          <p:cNvSpPr txBox="1"/>
          <p:nvPr/>
        </p:nvSpPr>
        <p:spPr>
          <a:xfrm>
            <a:off x="-9538592" y="2423618"/>
            <a:ext cx="6341805" cy="523220"/>
          </a:xfrm>
          <a:prstGeom prst="rect">
            <a:avLst/>
          </a:prstGeom>
          <a:noFill/>
        </p:spPr>
        <p:txBody>
          <a:bodyPr wrap="square" rtlCol="0">
            <a:spAutoFit/>
          </a:bodyPr>
          <a:lstStyle/>
          <a:p>
            <a:pPr algn="ctr"/>
            <a:r>
              <a:rPr lang="en-US" sz="2800" b="1" dirty="0"/>
              <a:t>1874-1877</a:t>
            </a:r>
          </a:p>
        </p:txBody>
      </p:sp>
      <p:sp>
        <p:nvSpPr>
          <p:cNvPr id="35" name="TextBox 34">
            <a:extLst>
              <a:ext uri="{FF2B5EF4-FFF2-40B4-BE49-F238E27FC236}">
                <a16:creationId xmlns:a16="http://schemas.microsoft.com/office/drawing/2014/main" id="{2FB38431-EABD-4027-CB3C-A8D7880693DE}"/>
              </a:ext>
            </a:extLst>
          </p:cNvPr>
          <p:cNvSpPr txBox="1"/>
          <p:nvPr/>
        </p:nvSpPr>
        <p:spPr>
          <a:xfrm>
            <a:off x="-8779051" y="3676573"/>
            <a:ext cx="4822722" cy="523220"/>
          </a:xfrm>
          <a:prstGeom prst="rect">
            <a:avLst/>
          </a:prstGeom>
          <a:noFill/>
        </p:spPr>
        <p:txBody>
          <a:bodyPr wrap="square" rtlCol="0">
            <a:spAutoFit/>
          </a:bodyPr>
          <a:lstStyle/>
          <a:p>
            <a:pPr algn="ctr"/>
            <a:r>
              <a:rPr lang="en-US" sz="2800" dirty="0"/>
              <a:t>Walter R. Cassels</a:t>
            </a:r>
          </a:p>
        </p:txBody>
      </p:sp>
      <p:sp>
        <p:nvSpPr>
          <p:cNvPr id="36" name="TextBox 35">
            <a:extLst>
              <a:ext uri="{FF2B5EF4-FFF2-40B4-BE49-F238E27FC236}">
                <a16:creationId xmlns:a16="http://schemas.microsoft.com/office/drawing/2014/main" id="{598EDC63-12AE-8648-0BD4-D9853602137B}"/>
              </a:ext>
            </a:extLst>
          </p:cNvPr>
          <p:cNvSpPr txBox="1"/>
          <p:nvPr/>
        </p:nvSpPr>
        <p:spPr>
          <a:xfrm>
            <a:off x="-12463689" y="4392669"/>
            <a:ext cx="12192000" cy="2246769"/>
          </a:xfrm>
          <a:prstGeom prst="rect">
            <a:avLst/>
          </a:prstGeom>
          <a:noFill/>
        </p:spPr>
        <p:txBody>
          <a:bodyPr wrap="square" rtlCol="0">
            <a:spAutoFit/>
          </a:bodyPr>
          <a:lstStyle/>
          <a:p>
            <a:pPr algn="ctr"/>
            <a:r>
              <a:rPr lang="en-US" sz="2800" dirty="0"/>
              <a:t>Wrote an anonymous work in three volumes which revived some of the old arguments of 18</a:t>
            </a:r>
            <a:r>
              <a:rPr lang="en-US" sz="2800" baseline="30000" dirty="0"/>
              <a:t>th</a:t>
            </a:r>
            <a:r>
              <a:rPr lang="en-US" sz="2800" dirty="0"/>
              <a:t> century Deism. His “purpose was to show from patristic testimony that the canonical Gospels are so far removed in time from the events they record that they lose all competence as witnesses to the reality of the miraculous” (p. 22)</a:t>
            </a:r>
          </a:p>
        </p:txBody>
      </p:sp>
      <p:sp>
        <p:nvSpPr>
          <p:cNvPr id="37" name="Rectangle 36">
            <a:extLst>
              <a:ext uri="{FF2B5EF4-FFF2-40B4-BE49-F238E27FC236}">
                <a16:creationId xmlns:a16="http://schemas.microsoft.com/office/drawing/2014/main" id="{70C94B34-615B-35AF-99E8-BA22B2FB4D0A}"/>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28250C8F-A56E-1C2D-23D8-DE1E8C068506}"/>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1894</a:t>
            </a:r>
          </a:p>
        </p:txBody>
      </p:sp>
      <p:sp>
        <p:nvSpPr>
          <p:cNvPr id="39" name="TextBox 38">
            <a:extLst>
              <a:ext uri="{FF2B5EF4-FFF2-40B4-BE49-F238E27FC236}">
                <a16:creationId xmlns:a16="http://schemas.microsoft.com/office/drawing/2014/main" id="{B8BFA7A2-7303-897D-D68C-C468C9F21AEA}"/>
              </a:ext>
            </a:extLst>
          </p:cNvPr>
          <p:cNvSpPr txBox="1"/>
          <p:nvPr/>
        </p:nvSpPr>
        <p:spPr>
          <a:xfrm>
            <a:off x="3684638" y="3676573"/>
            <a:ext cx="4822722" cy="523220"/>
          </a:xfrm>
          <a:prstGeom prst="rect">
            <a:avLst/>
          </a:prstGeom>
          <a:noFill/>
        </p:spPr>
        <p:txBody>
          <a:bodyPr wrap="square" rtlCol="0">
            <a:spAutoFit/>
          </a:bodyPr>
          <a:lstStyle/>
          <a:p>
            <a:pPr algn="ctr"/>
            <a:r>
              <a:rPr lang="en-US" sz="2800" dirty="0"/>
              <a:t>Adolf Jülicher</a:t>
            </a:r>
          </a:p>
        </p:txBody>
      </p:sp>
      <p:sp>
        <p:nvSpPr>
          <p:cNvPr id="40" name="TextBox 39">
            <a:extLst>
              <a:ext uri="{FF2B5EF4-FFF2-40B4-BE49-F238E27FC236}">
                <a16:creationId xmlns:a16="http://schemas.microsoft.com/office/drawing/2014/main" id="{19A7864C-DC15-0DAF-9E22-88BC7481FE75}"/>
              </a:ext>
            </a:extLst>
          </p:cNvPr>
          <p:cNvSpPr txBox="1"/>
          <p:nvPr/>
        </p:nvSpPr>
        <p:spPr>
          <a:xfrm>
            <a:off x="0" y="4392669"/>
            <a:ext cx="12192000" cy="1815882"/>
          </a:xfrm>
          <a:prstGeom prst="rect">
            <a:avLst/>
          </a:prstGeom>
          <a:noFill/>
        </p:spPr>
        <p:txBody>
          <a:bodyPr wrap="square" rtlCol="0">
            <a:spAutoFit/>
          </a:bodyPr>
          <a:lstStyle/>
          <a:p>
            <a:pPr algn="ctr"/>
            <a:r>
              <a:rPr lang="en-US" sz="2800" dirty="0"/>
              <a:t>“Said that the public reading…of Christian books and epistles in a liturgical setting, along with Old Testament books already regarded as authoritative, that was chiefly responsible for their being recognized eventually as canonical Scripture” (p. 23)</a:t>
            </a:r>
          </a:p>
        </p:txBody>
      </p:sp>
    </p:spTree>
    <p:extLst>
      <p:ext uri="{BB962C8B-B14F-4D97-AF65-F5344CB8AC3E}">
        <p14:creationId xmlns:p14="http://schemas.microsoft.com/office/powerpoint/2010/main" val="13072030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down)">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500"/>
                                        <p:tgtEl>
                                          <p:spTgt spid="39"/>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P spid="39" grpId="0"/>
      <p:bldP spid="4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90B12-149E-2E17-02C9-44F6371A3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7D686-0312-5F8E-C9EC-FECB1676F19F}"/>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C6DAD5AF-C6C2-2A6E-B0DE-578ADFF11686}"/>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5251661-3D6E-5709-4ED4-45254786921E}"/>
              </a:ext>
            </a:extLst>
          </p:cNvPr>
          <p:cNvSpPr/>
          <p:nvPr/>
        </p:nvSpPr>
        <p:spPr>
          <a:xfrm rot="16200000">
            <a:off x="-3475395"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EAC9CE2-34C3-BBF6-DE13-8E71D3833A4F}"/>
              </a:ext>
            </a:extLst>
          </p:cNvPr>
          <p:cNvSpPr txBox="1"/>
          <p:nvPr/>
        </p:nvSpPr>
        <p:spPr>
          <a:xfrm>
            <a:off x="-6417698"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59CAC431-3CF7-3FB0-04E1-4BA1D5200B9B}"/>
              </a:ext>
            </a:extLst>
          </p:cNvPr>
          <p:cNvSpPr txBox="1"/>
          <p:nvPr/>
        </p:nvSpPr>
        <p:spPr>
          <a:xfrm>
            <a:off x="-5658157" y="3676573"/>
            <a:ext cx="4822722" cy="523220"/>
          </a:xfrm>
          <a:prstGeom prst="rect">
            <a:avLst/>
          </a:prstGeom>
          <a:noFill/>
        </p:spPr>
        <p:txBody>
          <a:bodyPr wrap="square" rtlCol="0">
            <a:spAutoFit/>
          </a:bodyPr>
          <a:lstStyle/>
          <a:p>
            <a:pPr algn="ctr"/>
            <a:r>
              <a:rPr lang="en-US" sz="2800" dirty="0"/>
              <a:t>John Toland</a:t>
            </a:r>
          </a:p>
        </p:txBody>
      </p:sp>
      <p:sp>
        <p:nvSpPr>
          <p:cNvPr id="3" name="Rectangle 2">
            <a:extLst>
              <a:ext uri="{FF2B5EF4-FFF2-40B4-BE49-F238E27FC236}">
                <a16:creationId xmlns:a16="http://schemas.microsoft.com/office/drawing/2014/main" id="{B3F86CAE-020D-5982-A435-B1C8CB4AF2C7}"/>
              </a:ext>
            </a:extLst>
          </p:cNvPr>
          <p:cNvSpPr/>
          <p:nvPr/>
        </p:nvSpPr>
        <p:spPr>
          <a:xfrm rot="16200000">
            <a:off x="-3549314"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E0A1AA-EA73-F880-13D0-3A770CA3161F}"/>
              </a:ext>
            </a:extLst>
          </p:cNvPr>
          <p:cNvSpPr txBox="1"/>
          <p:nvPr/>
        </p:nvSpPr>
        <p:spPr>
          <a:xfrm>
            <a:off x="-6491617" y="2423618"/>
            <a:ext cx="6341805" cy="523220"/>
          </a:xfrm>
          <a:prstGeom prst="rect">
            <a:avLst/>
          </a:prstGeom>
          <a:noFill/>
        </p:spPr>
        <p:txBody>
          <a:bodyPr wrap="square" rtlCol="0">
            <a:spAutoFit/>
          </a:bodyPr>
          <a:lstStyle/>
          <a:p>
            <a:pPr algn="ctr"/>
            <a:r>
              <a:rPr lang="en-US" sz="2800" b="1" dirty="0"/>
              <a:t>1700-1719</a:t>
            </a:r>
          </a:p>
        </p:txBody>
      </p:sp>
      <p:sp>
        <p:nvSpPr>
          <p:cNvPr id="5" name="TextBox 4">
            <a:extLst>
              <a:ext uri="{FF2B5EF4-FFF2-40B4-BE49-F238E27FC236}">
                <a16:creationId xmlns:a16="http://schemas.microsoft.com/office/drawing/2014/main" id="{FBAB5A26-0800-5233-9CA2-807CE9E56345}"/>
              </a:ext>
            </a:extLst>
          </p:cNvPr>
          <p:cNvSpPr txBox="1"/>
          <p:nvPr/>
        </p:nvSpPr>
        <p:spPr>
          <a:xfrm>
            <a:off x="-5732076" y="3676573"/>
            <a:ext cx="4822722" cy="954107"/>
          </a:xfrm>
          <a:prstGeom prst="rect">
            <a:avLst/>
          </a:prstGeom>
          <a:noFill/>
        </p:spPr>
        <p:txBody>
          <a:bodyPr wrap="square" rtlCol="0">
            <a:spAutoFit/>
          </a:bodyPr>
          <a:lstStyle/>
          <a:p>
            <a:pPr algn="ctr"/>
            <a:r>
              <a:rPr lang="en-US" sz="2800" dirty="0"/>
              <a:t>Samuel Clarke, Stephen Nye, John Richardson, and others</a:t>
            </a:r>
          </a:p>
        </p:txBody>
      </p:sp>
      <p:sp>
        <p:nvSpPr>
          <p:cNvPr id="7" name="TextBox 6">
            <a:extLst>
              <a:ext uri="{FF2B5EF4-FFF2-40B4-BE49-F238E27FC236}">
                <a16:creationId xmlns:a16="http://schemas.microsoft.com/office/drawing/2014/main" id="{13971DAF-24ED-DC6F-CA10-CE27A1612916}"/>
              </a:ext>
            </a:extLst>
          </p:cNvPr>
          <p:cNvSpPr txBox="1"/>
          <p:nvPr/>
        </p:nvSpPr>
        <p:spPr>
          <a:xfrm>
            <a:off x="-12569670" y="4392669"/>
            <a:ext cx="12192000" cy="1384995"/>
          </a:xfrm>
          <a:prstGeom prst="rect">
            <a:avLst/>
          </a:prstGeom>
          <a:noFill/>
        </p:spPr>
        <p:txBody>
          <a:bodyPr wrap="square" rtlCol="0">
            <a:spAutoFit/>
          </a:bodyPr>
          <a:lstStyle/>
          <a:p>
            <a:pPr algn="ctr"/>
            <a:r>
              <a:rPr lang="en-US" sz="2800" dirty="0"/>
              <a:t>Used the “New and Full Method” of looking at ancient records to find early testimony or traditions of people concerning NT books written close to them in time </a:t>
            </a:r>
          </a:p>
        </p:txBody>
      </p:sp>
      <p:sp>
        <p:nvSpPr>
          <p:cNvPr id="9" name="TextBox 8">
            <a:extLst>
              <a:ext uri="{FF2B5EF4-FFF2-40B4-BE49-F238E27FC236}">
                <a16:creationId xmlns:a16="http://schemas.microsoft.com/office/drawing/2014/main" id="{CB79E03D-BCDA-7A86-90CC-041D6058D054}"/>
              </a:ext>
            </a:extLst>
          </p:cNvPr>
          <p:cNvSpPr txBox="1"/>
          <p:nvPr/>
        </p:nvSpPr>
        <p:spPr>
          <a:xfrm>
            <a:off x="-9644573" y="2423618"/>
            <a:ext cx="6341805" cy="523220"/>
          </a:xfrm>
          <a:prstGeom prst="rect">
            <a:avLst/>
          </a:prstGeom>
          <a:noFill/>
        </p:spPr>
        <p:txBody>
          <a:bodyPr wrap="square" rtlCol="0">
            <a:spAutoFit/>
          </a:bodyPr>
          <a:lstStyle/>
          <a:p>
            <a:pPr algn="ctr"/>
            <a:r>
              <a:rPr lang="en-US" sz="2800" b="1" dirty="0"/>
              <a:t>1726-1727</a:t>
            </a:r>
          </a:p>
        </p:txBody>
      </p:sp>
      <p:sp>
        <p:nvSpPr>
          <p:cNvPr id="10" name="TextBox 9">
            <a:extLst>
              <a:ext uri="{FF2B5EF4-FFF2-40B4-BE49-F238E27FC236}">
                <a16:creationId xmlns:a16="http://schemas.microsoft.com/office/drawing/2014/main" id="{DA240082-9C9F-091B-119D-EB7E931739EC}"/>
              </a:ext>
            </a:extLst>
          </p:cNvPr>
          <p:cNvSpPr txBox="1"/>
          <p:nvPr/>
        </p:nvSpPr>
        <p:spPr>
          <a:xfrm>
            <a:off x="-8885032" y="3676573"/>
            <a:ext cx="4822722" cy="523220"/>
          </a:xfrm>
          <a:prstGeom prst="rect">
            <a:avLst/>
          </a:prstGeom>
          <a:noFill/>
        </p:spPr>
        <p:txBody>
          <a:bodyPr wrap="square" rtlCol="0">
            <a:spAutoFit/>
          </a:bodyPr>
          <a:lstStyle/>
          <a:p>
            <a:pPr algn="ctr"/>
            <a:r>
              <a:rPr lang="en-US" sz="2800" dirty="0"/>
              <a:t>Jeremiah Jones</a:t>
            </a:r>
          </a:p>
        </p:txBody>
      </p:sp>
      <p:sp>
        <p:nvSpPr>
          <p:cNvPr id="11" name="TextBox 10">
            <a:extLst>
              <a:ext uri="{FF2B5EF4-FFF2-40B4-BE49-F238E27FC236}">
                <a16:creationId xmlns:a16="http://schemas.microsoft.com/office/drawing/2014/main" id="{15851216-9BCE-A801-0DE2-0E0DFF17814C}"/>
              </a:ext>
            </a:extLst>
          </p:cNvPr>
          <p:cNvSpPr txBox="1"/>
          <p:nvPr/>
        </p:nvSpPr>
        <p:spPr>
          <a:xfrm>
            <a:off x="-12310928" y="4761635"/>
            <a:ext cx="12192000" cy="1815882"/>
          </a:xfrm>
          <a:prstGeom prst="rect">
            <a:avLst/>
          </a:prstGeom>
          <a:noFill/>
        </p:spPr>
        <p:txBody>
          <a:bodyPr wrap="square" rtlCol="0">
            <a:spAutoFit/>
          </a:bodyPr>
          <a:lstStyle/>
          <a:p>
            <a:pPr algn="ctr"/>
            <a:r>
              <a:rPr lang="en-US" sz="2800" dirty="0"/>
              <a:t>- Strongly denounced Toland</a:t>
            </a:r>
          </a:p>
          <a:p>
            <a:pPr algn="ctr"/>
            <a:r>
              <a:rPr lang="en-US" sz="2800" dirty="0"/>
              <a:t>- Richardson: “What the Apostles Wrote, and what they </a:t>
            </a:r>
            <a:r>
              <a:rPr lang="en-US" sz="2800" dirty="0" err="1"/>
              <a:t>Authoriz’d</a:t>
            </a:r>
            <a:r>
              <a:rPr lang="en-US" sz="2800" dirty="0"/>
              <a:t>, can be known in no other way, then by the Testimonies of those who </a:t>
            </a:r>
            <a:r>
              <a:rPr lang="en-US" sz="2800" dirty="0" err="1"/>
              <a:t>liv’d</a:t>
            </a:r>
            <a:r>
              <a:rPr lang="en-US" sz="2800" dirty="0"/>
              <a:t> at the same time with them, and the Tradition of those who succeeded them” (p. 13)</a:t>
            </a:r>
          </a:p>
        </p:txBody>
      </p:sp>
      <p:sp>
        <p:nvSpPr>
          <p:cNvPr id="12" name="TextBox 11">
            <a:extLst>
              <a:ext uri="{FF2B5EF4-FFF2-40B4-BE49-F238E27FC236}">
                <a16:creationId xmlns:a16="http://schemas.microsoft.com/office/drawing/2014/main" id="{A7F44A4D-F23B-8C7C-9648-6ADF844716B2}"/>
              </a:ext>
            </a:extLst>
          </p:cNvPr>
          <p:cNvSpPr txBox="1"/>
          <p:nvPr/>
        </p:nvSpPr>
        <p:spPr>
          <a:xfrm>
            <a:off x="-12569671" y="4392668"/>
            <a:ext cx="12192000" cy="954107"/>
          </a:xfrm>
          <a:prstGeom prst="rect">
            <a:avLst/>
          </a:prstGeom>
          <a:noFill/>
        </p:spPr>
        <p:txBody>
          <a:bodyPr wrap="square" rtlCol="0">
            <a:spAutoFit/>
          </a:bodyPr>
          <a:lstStyle/>
          <a:p>
            <a:pPr algn="ctr"/>
            <a:r>
              <a:rPr lang="en-US" sz="2800" dirty="0"/>
              <a:t>Jones made available for  the first time an English translation of the text of dozens of apocryphal writings” (p. 14)</a:t>
            </a:r>
          </a:p>
        </p:txBody>
      </p:sp>
      <p:sp>
        <p:nvSpPr>
          <p:cNvPr id="14" name="TextBox 13">
            <a:extLst>
              <a:ext uri="{FF2B5EF4-FFF2-40B4-BE49-F238E27FC236}">
                <a16:creationId xmlns:a16="http://schemas.microsoft.com/office/drawing/2014/main" id="{0399CCCF-940F-69E4-85BA-5BAADF56220E}"/>
              </a:ext>
            </a:extLst>
          </p:cNvPr>
          <p:cNvSpPr txBox="1"/>
          <p:nvPr/>
        </p:nvSpPr>
        <p:spPr>
          <a:xfrm>
            <a:off x="-9427049" y="2423618"/>
            <a:ext cx="6341805" cy="523220"/>
          </a:xfrm>
          <a:prstGeom prst="rect">
            <a:avLst/>
          </a:prstGeom>
          <a:noFill/>
        </p:spPr>
        <p:txBody>
          <a:bodyPr wrap="square" rtlCol="0">
            <a:spAutoFit/>
          </a:bodyPr>
          <a:lstStyle/>
          <a:p>
            <a:pPr algn="ctr"/>
            <a:r>
              <a:rPr lang="en-US" sz="2800" b="1" dirty="0"/>
              <a:t>1699 (in France)</a:t>
            </a:r>
          </a:p>
        </p:txBody>
      </p:sp>
      <p:sp>
        <p:nvSpPr>
          <p:cNvPr id="15" name="TextBox 14">
            <a:extLst>
              <a:ext uri="{FF2B5EF4-FFF2-40B4-BE49-F238E27FC236}">
                <a16:creationId xmlns:a16="http://schemas.microsoft.com/office/drawing/2014/main" id="{26A83963-FF78-2B47-8B2E-14474047F806}"/>
              </a:ext>
            </a:extLst>
          </p:cNvPr>
          <p:cNvSpPr txBox="1"/>
          <p:nvPr/>
        </p:nvSpPr>
        <p:spPr>
          <a:xfrm>
            <a:off x="-8667508" y="3676573"/>
            <a:ext cx="4822722" cy="523220"/>
          </a:xfrm>
          <a:prstGeom prst="rect">
            <a:avLst/>
          </a:prstGeom>
          <a:noFill/>
        </p:spPr>
        <p:txBody>
          <a:bodyPr wrap="square" rtlCol="0">
            <a:spAutoFit/>
          </a:bodyPr>
          <a:lstStyle/>
          <a:p>
            <a:pPr algn="ctr"/>
            <a:r>
              <a:rPr lang="en-US" sz="2800" dirty="0"/>
              <a:t>Jacques Basnage</a:t>
            </a:r>
          </a:p>
        </p:txBody>
      </p:sp>
      <p:sp>
        <p:nvSpPr>
          <p:cNvPr id="16" name="TextBox 15">
            <a:extLst>
              <a:ext uri="{FF2B5EF4-FFF2-40B4-BE49-F238E27FC236}">
                <a16:creationId xmlns:a16="http://schemas.microsoft.com/office/drawing/2014/main" id="{CCBE7686-3A91-9CA8-5C86-CA80150C1850}"/>
              </a:ext>
            </a:extLst>
          </p:cNvPr>
          <p:cNvSpPr txBox="1"/>
          <p:nvPr/>
        </p:nvSpPr>
        <p:spPr>
          <a:xfrm>
            <a:off x="-12352146" y="4392669"/>
            <a:ext cx="12192000" cy="1815882"/>
          </a:xfrm>
          <a:prstGeom prst="rect">
            <a:avLst/>
          </a:prstGeom>
          <a:noFill/>
        </p:spPr>
        <p:txBody>
          <a:bodyPr wrap="square" rtlCol="0">
            <a:spAutoFit/>
          </a:bodyPr>
          <a:lstStyle/>
          <a:p>
            <a:pPr algn="ctr"/>
            <a:r>
              <a:rPr lang="en-US" sz="2800" dirty="0"/>
              <a:t>Found that during the first 3 centuries “there was no decision concerning the limits of the New Testament canon, but each local church had the liberty to choose or reject individual books; this freedom was most noticeable among Eastern Churches in rejecting the Apocalypse” (p. 16)</a:t>
            </a:r>
          </a:p>
        </p:txBody>
      </p:sp>
      <p:sp>
        <p:nvSpPr>
          <p:cNvPr id="18" name="TextBox 17">
            <a:extLst>
              <a:ext uri="{FF2B5EF4-FFF2-40B4-BE49-F238E27FC236}">
                <a16:creationId xmlns:a16="http://schemas.microsoft.com/office/drawing/2014/main" id="{8FBBA7B9-BDD4-3142-98B9-B304491F1048}"/>
              </a:ext>
            </a:extLst>
          </p:cNvPr>
          <p:cNvSpPr txBox="1"/>
          <p:nvPr/>
        </p:nvSpPr>
        <p:spPr>
          <a:xfrm>
            <a:off x="-9386634" y="2423618"/>
            <a:ext cx="6341805" cy="523220"/>
          </a:xfrm>
          <a:prstGeom prst="rect">
            <a:avLst/>
          </a:prstGeom>
          <a:noFill/>
        </p:spPr>
        <p:txBody>
          <a:bodyPr wrap="square" rtlCol="0">
            <a:spAutoFit/>
          </a:bodyPr>
          <a:lstStyle/>
          <a:p>
            <a:pPr algn="ctr"/>
            <a:r>
              <a:rPr lang="en-US" sz="2800" b="1" dirty="0"/>
              <a:t>1804-1812</a:t>
            </a:r>
          </a:p>
        </p:txBody>
      </p:sp>
      <p:sp>
        <p:nvSpPr>
          <p:cNvPr id="19" name="TextBox 18">
            <a:extLst>
              <a:ext uri="{FF2B5EF4-FFF2-40B4-BE49-F238E27FC236}">
                <a16:creationId xmlns:a16="http://schemas.microsoft.com/office/drawing/2014/main" id="{56F5EBA8-8EE5-F5A0-F219-B3300FD7DE38}"/>
              </a:ext>
            </a:extLst>
          </p:cNvPr>
          <p:cNvSpPr txBox="1"/>
          <p:nvPr/>
        </p:nvSpPr>
        <p:spPr>
          <a:xfrm>
            <a:off x="-8627093" y="3676573"/>
            <a:ext cx="4822722" cy="523220"/>
          </a:xfrm>
          <a:prstGeom prst="rect">
            <a:avLst/>
          </a:prstGeom>
          <a:noFill/>
        </p:spPr>
        <p:txBody>
          <a:bodyPr wrap="square" rtlCol="0">
            <a:spAutoFit/>
          </a:bodyPr>
          <a:lstStyle/>
          <a:p>
            <a:pPr algn="ctr"/>
            <a:r>
              <a:rPr lang="en-US" sz="2800" dirty="0"/>
              <a:t>J. G. Eichhorn</a:t>
            </a:r>
          </a:p>
        </p:txBody>
      </p:sp>
      <p:sp>
        <p:nvSpPr>
          <p:cNvPr id="21" name="TextBox 20">
            <a:extLst>
              <a:ext uri="{FF2B5EF4-FFF2-40B4-BE49-F238E27FC236}">
                <a16:creationId xmlns:a16="http://schemas.microsoft.com/office/drawing/2014/main" id="{491F6A3A-FE98-5A85-0987-36552B1EBF28}"/>
              </a:ext>
            </a:extLst>
          </p:cNvPr>
          <p:cNvSpPr txBox="1"/>
          <p:nvPr/>
        </p:nvSpPr>
        <p:spPr>
          <a:xfrm>
            <a:off x="-12311731" y="4392669"/>
            <a:ext cx="12192000" cy="1384995"/>
          </a:xfrm>
          <a:prstGeom prst="rect">
            <a:avLst/>
          </a:prstGeom>
          <a:noFill/>
        </p:spPr>
        <p:txBody>
          <a:bodyPr wrap="square" rtlCol="0">
            <a:spAutoFit/>
          </a:bodyPr>
          <a:lstStyle/>
          <a:p>
            <a:pPr algn="ctr"/>
            <a:r>
              <a:rPr lang="en-US" sz="2800" dirty="0"/>
              <a:t>“The first to attribute to Marcion the stimulus to collect the New Testament writings, and argued that the core of the future canon was established by about AD 175” (p. 18)</a:t>
            </a:r>
          </a:p>
        </p:txBody>
      </p:sp>
      <p:sp>
        <p:nvSpPr>
          <p:cNvPr id="24" name="Rectangle 23">
            <a:extLst>
              <a:ext uri="{FF2B5EF4-FFF2-40B4-BE49-F238E27FC236}">
                <a16:creationId xmlns:a16="http://schemas.microsoft.com/office/drawing/2014/main" id="{56C109A5-C9BD-40BB-8201-14FE35A2F7FF}"/>
              </a:ext>
            </a:extLst>
          </p:cNvPr>
          <p:cNvSpPr/>
          <p:nvPr/>
        </p:nvSpPr>
        <p:spPr>
          <a:xfrm rot="16200000">
            <a:off x="-6422136"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B05783C-4960-795A-D0AB-F03765F3F4A8}"/>
              </a:ext>
            </a:extLst>
          </p:cNvPr>
          <p:cNvSpPr txBox="1"/>
          <p:nvPr/>
        </p:nvSpPr>
        <p:spPr>
          <a:xfrm>
            <a:off x="-9364439" y="2423618"/>
            <a:ext cx="6341805" cy="523220"/>
          </a:xfrm>
          <a:prstGeom prst="rect">
            <a:avLst/>
          </a:prstGeom>
          <a:noFill/>
        </p:spPr>
        <p:txBody>
          <a:bodyPr wrap="square" rtlCol="0">
            <a:spAutoFit/>
          </a:bodyPr>
          <a:lstStyle/>
          <a:p>
            <a:pPr algn="ctr"/>
            <a:r>
              <a:rPr lang="en-US" sz="2800" b="1" dirty="0"/>
              <a:t>1826 (in America)</a:t>
            </a:r>
          </a:p>
        </p:txBody>
      </p:sp>
      <p:sp>
        <p:nvSpPr>
          <p:cNvPr id="26" name="TextBox 25">
            <a:extLst>
              <a:ext uri="{FF2B5EF4-FFF2-40B4-BE49-F238E27FC236}">
                <a16:creationId xmlns:a16="http://schemas.microsoft.com/office/drawing/2014/main" id="{76792F0F-FFB5-F779-9E8E-A2070D743E60}"/>
              </a:ext>
            </a:extLst>
          </p:cNvPr>
          <p:cNvSpPr txBox="1"/>
          <p:nvPr/>
        </p:nvSpPr>
        <p:spPr>
          <a:xfrm>
            <a:off x="-8604898" y="3676573"/>
            <a:ext cx="4822722" cy="523220"/>
          </a:xfrm>
          <a:prstGeom prst="rect">
            <a:avLst/>
          </a:prstGeom>
          <a:noFill/>
        </p:spPr>
        <p:txBody>
          <a:bodyPr wrap="square" rtlCol="0">
            <a:spAutoFit/>
          </a:bodyPr>
          <a:lstStyle/>
          <a:p>
            <a:pPr algn="ctr"/>
            <a:r>
              <a:rPr lang="en-US" sz="2800" dirty="0"/>
              <a:t>Archibald Alexander</a:t>
            </a:r>
          </a:p>
        </p:txBody>
      </p:sp>
      <p:sp>
        <p:nvSpPr>
          <p:cNvPr id="27" name="TextBox 26">
            <a:extLst>
              <a:ext uri="{FF2B5EF4-FFF2-40B4-BE49-F238E27FC236}">
                <a16:creationId xmlns:a16="http://schemas.microsoft.com/office/drawing/2014/main" id="{39C498B0-6592-9CA9-EA70-C797982EF93B}"/>
              </a:ext>
            </a:extLst>
          </p:cNvPr>
          <p:cNvSpPr txBox="1"/>
          <p:nvPr/>
        </p:nvSpPr>
        <p:spPr>
          <a:xfrm>
            <a:off x="-12289536" y="4392669"/>
            <a:ext cx="12192000" cy="2246769"/>
          </a:xfrm>
          <a:prstGeom prst="rect">
            <a:avLst/>
          </a:prstGeom>
          <a:noFill/>
        </p:spPr>
        <p:txBody>
          <a:bodyPr wrap="square" rtlCol="0">
            <a:spAutoFit/>
          </a:bodyPr>
          <a:lstStyle/>
          <a:p>
            <a:pPr marL="457200" indent="-457200" algn="ctr">
              <a:buFontTx/>
              <a:buChar char="-"/>
            </a:pPr>
            <a:r>
              <a:rPr lang="en-US" sz="2800" dirty="0"/>
              <a:t>Wrote the first book (in the US) dealing solely with the Biblical canon</a:t>
            </a:r>
          </a:p>
          <a:p>
            <a:pPr marL="457200" indent="-457200" algn="ctr">
              <a:buFontTx/>
              <a:buChar char="-"/>
            </a:pPr>
            <a:r>
              <a:rPr lang="en-US" sz="2800" dirty="0"/>
              <a:t>“Argued that </a:t>
            </a:r>
            <a:r>
              <a:rPr lang="en-US" sz="2800" b="1" u="sng" dirty="0"/>
              <a:t>the criterion of New Testament canonicity is apostolic authorship</a:t>
            </a:r>
            <a:r>
              <a:rPr lang="en-US" sz="2800" dirty="0"/>
              <a:t>, whether direct or indirect (the latter in the case of Mark and Luke). Apostolicity is to be established by historically verified testimonies of patristic writers of the early Christian centuries” (p. 18)</a:t>
            </a:r>
          </a:p>
        </p:txBody>
      </p:sp>
      <p:sp>
        <p:nvSpPr>
          <p:cNvPr id="8" name="Rectangle 7">
            <a:extLst>
              <a:ext uri="{FF2B5EF4-FFF2-40B4-BE49-F238E27FC236}">
                <a16:creationId xmlns:a16="http://schemas.microsoft.com/office/drawing/2014/main" id="{8D45A132-1EC7-6133-3491-AE5CAA83F07C}"/>
              </a:ext>
            </a:extLst>
          </p:cNvPr>
          <p:cNvSpPr/>
          <p:nvPr/>
        </p:nvSpPr>
        <p:spPr>
          <a:xfrm rot="16200000">
            <a:off x="1817206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A423FD2-1768-A389-FB64-02FF36C6F7AB}"/>
              </a:ext>
            </a:extLst>
          </p:cNvPr>
          <p:cNvSpPr txBox="1"/>
          <p:nvPr/>
        </p:nvSpPr>
        <p:spPr>
          <a:xfrm>
            <a:off x="15229759" y="2423618"/>
            <a:ext cx="6341805" cy="523220"/>
          </a:xfrm>
          <a:prstGeom prst="rect">
            <a:avLst/>
          </a:prstGeom>
          <a:noFill/>
        </p:spPr>
        <p:txBody>
          <a:bodyPr wrap="square" rtlCol="0">
            <a:spAutoFit/>
          </a:bodyPr>
          <a:lstStyle/>
          <a:p>
            <a:pPr algn="ctr"/>
            <a:r>
              <a:rPr lang="en-US" sz="2800" b="1" dirty="0"/>
              <a:t>1866</a:t>
            </a:r>
          </a:p>
        </p:txBody>
      </p:sp>
      <p:sp>
        <p:nvSpPr>
          <p:cNvPr id="17" name="TextBox 16">
            <a:extLst>
              <a:ext uri="{FF2B5EF4-FFF2-40B4-BE49-F238E27FC236}">
                <a16:creationId xmlns:a16="http://schemas.microsoft.com/office/drawing/2014/main" id="{AC7EEA23-9ED5-A04D-6A99-254A96527102}"/>
              </a:ext>
            </a:extLst>
          </p:cNvPr>
          <p:cNvSpPr txBox="1"/>
          <p:nvPr/>
        </p:nvSpPr>
        <p:spPr>
          <a:xfrm>
            <a:off x="15989300" y="3676573"/>
            <a:ext cx="4822722" cy="523220"/>
          </a:xfrm>
          <a:prstGeom prst="rect">
            <a:avLst/>
          </a:prstGeom>
          <a:noFill/>
        </p:spPr>
        <p:txBody>
          <a:bodyPr wrap="square" rtlCol="0">
            <a:spAutoFit/>
          </a:bodyPr>
          <a:lstStyle/>
          <a:p>
            <a:pPr algn="ctr"/>
            <a:r>
              <a:rPr lang="en-US" sz="2800" dirty="0"/>
              <a:t>Constantin von Tischendorf</a:t>
            </a:r>
          </a:p>
        </p:txBody>
      </p:sp>
      <p:sp>
        <p:nvSpPr>
          <p:cNvPr id="28" name="TextBox 27">
            <a:extLst>
              <a:ext uri="{FF2B5EF4-FFF2-40B4-BE49-F238E27FC236}">
                <a16:creationId xmlns:a16="http://schemas.microsoft.com/office/drawing/2014/main" id="{13730CEA-B4D7-F709-09E2-F66AC23D43FC}"/>
              </a:ext>
            </a:extLst>
          </p:cNvPr>
          <p:cNvSpPr txBox="1"/>
          <p:nvPr/>
        </p:nvSpPr>
        <p:spPr>
          <a:xfrm>
            <a:off x="12304662" y="4392669"/>
            <a:ext cx="12192000" cy="954107"/>
          </a:xfrm>
          <a:prstGeom prst="rect">
            <a:avLst/>
          </a:prstGeom>
          <a:noFill/>
        </p:spPr>
        <p:txBody>
          <a:bodyPr wrap="square" rtlCol="0">
            <a:spAutoFit/>
          </a:bodyPr>
          <a:lstStyle/>
          <a:p>
            <a:pPr algn="ctr"/>
            <a:r>
              <a:rPr lang="en-US" sz="2800" dirty="0"/>
              <a:t>Argued  the canon of the NT was established by the beginning of the 2</a:t>
            </a:r>
            <a:r>
              <a:rPr lang="en-US" sz="2800" baseline="30000" dirty="0"/>
              <a:t>nd</a:t>
            </a:r>
            <a:r>
              <a:rPr lang="en-US" sz="2800" dirty="0"/>
              <a:t> century</a:t>
            </a:r>
          </a:p>
        </p:txBody>
      </p:sp>
      <p:sp>
        <p:nvSpPr>
          <p:cNvPr id="29" name="Rectangle 28">
            <a:extLst>
              <a:ext uri="{FF2B5EF4-FFF2-40B4-BE49-F238E27FC236}">
                <a16:creationId xmlns:a16="http://schemas.microsoft.com/office/drawing/2014/main" id="{5F2CF551-50AE-99CD-A295-5A29EAA79199}"/>
              </a:ext>
            </a:extLst>
          </p:cNvPr>
          <p:cNvSpPr/>
          <p:nvPr/>
        </p:nvSpPr>
        <p:spPr>
          <a:xfrm rot="16200000">
            <a:off x="-6457139"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B527BB0-E827-A9FF-3404-E04820EC38FF}"/>
              </a:ext>
            </a:extLst>
          </p:cNvPr>
          <p:cNvSpPr txBox="1"/>
          <p:nvPr/>
        </p:nvSpPr>
        <p:spPr>
          <a:xfrm>
            <a:off x="-9399442" y="2423618"/>
            <a:ext cx="6341805" cy="523220"/>
          </a:xfrm>
          <a:prstGeom prst="rect">
            <a:avLst/>
          </a:prstGeom>
          <a:noFill/>
        </p:spPr>
        <p:txBody>
          <a:bodyPr wrap="square" rtlCol="0">
            <a:spAutoFit/>
          </a:bodyPr>
          <a:lstStyle/>
          <a:p>
            <a:pPr algn="ctr"/>
            <a:r>
              <a:rPr lang="en-US" sz="2800" b="1" dirty="0"/>
              <a:t>1855 (in Britian)</a:t>
            </a:r>
          </a:p>
        </p:txBody>
      </p:sp>
      <p:sp>
        <p:nvSpPr>
          <p:cNvPr id="31" name="TextBox 30">
            <a:extLst>
              <a:ext uri="{FF2B5EF4-FFF2-40B4-BE49-F238E27FC236}">
                <a16:creationId xmlns:a16="http://schemas.microsoft.com/office/drawing/2014/main" id="{5EA8A7FA-6D66-EDAE-B9F9-914F502577FC}"/>
              </a:ext>
            </a:extLst>
          </p:cNvPr>
          <p:cNvSpPr txBox="1"/>
          <p:nvPr/>
        </p:nvSpPr>
        <p:spPr>
          <a:xfrm>
            <a:off x="-8639901" y="3676573"/>
            <a:ext cx="4822722" cy="523220"/>
          </a:xfrm>
          <a:prstGeom prst="rect">
            <a:avLst/>
          </a:prstGeom>
          <a:noFill/>
        </p:spPr>
        <p:txBody>
          <a:bodyPr wrap="square" rtlCol="0">
            <a:spAutoFit/>
          </a:bodyPr>
          <a:lstStyle/>
          <a:p>
            <a:pPr algn="ctr"/>
            <a:r>
              <a:rPr lang="en-US" sz="2800" dirty="0"/>
              <a:t>Brooke Foss Westcott</a:t>
            </a:r>
          </a:p>
        </p:txBody>
      </p:sp>
      <p:sp>
        <p:nvSpPr>
          <p:cNvPr id="32" name="TextBox 31">
            <a:extLst>
              <a:ext uri="{FF2B5EF4-FFF2-40B4-BE49-F238E27FC236}">
                <a16:creationId xmlns:a16="http://schemas.microsoft.com/office/drawing/2014/main" id="{785647EC-1720-9655-BEC2-2F9CC1D45B66}"/>
              </a:ext>
            </a:extLst>
          </p:cNvPr>
          <p:cNvSpPr txBox="1"/>
          <p:nvPr/>
        </p:nvSpPr>
        <p:spPr>
          <a:xfrm>
            <a:off x="-12324539" y="4392669"/>
            <a:ext cx="12192000" cy="1384995"/>
          </a:xfrm>
          <a:prstGeom prst="rect">
            <a:avLst/>
          </a:prstGeom>
          <a:noFill/>
        </p:spPr>
        <p:txBody>
          <a:bodyPr wrap="square" rtlCol="0">
            <a:spAutoFit/>
          </a:bodyPr>
          <a:lstStyle/>
          <a:p>
            <a:pPr algn="ctr"/>
            <a:r>
              <a:rPr lang="en-US" sz="2800" dirty="0"/>
              <a:t>Said that the formulation of the canon was one of “the first instinctive acts of the Christian society, resting upon the general confession of the Churches and not upon independent opinions of its members” (p. 21)</a:t>
            </a:r>
          </a:p>
        </p:txBody>
      </p:sp>
      <p:sp>
        <p:nvSpPr>
          <p:cNvPr id="33" name="Rectangle 32">
            <a:extLst>
              <a:ext uri="{FF2B5EF4-FFF2-40B4-BE49-F238E27FC236}">
                <a16:creationId xmlns:a16="http://schemas.microsoft.com/office/drawing/2014/main" id="{A0FB9B8A-6B1A-4529-5C88-4897081630CC}"/>
              </a:ext>
            </a:extLst>
          </p:cNvPr>
          <p:cNvSpPr/>
          <p:nvPr/>
        </p:nvSpPr>
        <p:spPr>
          <a:xfrm rot="16200000">
            <a:off x="-6596289"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DF7E60D-6DC5-CC8C-5E00-EB5AF0A0B462}"/>
              </a:ext>
            </a:extLst>
          </p:cNvPr>
          <p:cNvSpPr txBox="1"/>
          <p:nvPr/>
        </p:nvSpPr>
        <p:spPr>
          <a:xfrm>
            <a:off x="-9538592" y="2423618"/>
            <a:ext cx="6341805" cy="523220"/>
          </a:xfrm>
          <a:prstGeom prst="rect">
            <a:avLst/>
          </a:prstGeom>
          <a:noFill/>
        </p:spPr>
        <p:txBody>
          <a:bodyPr wrap="square" rtlCol="0">
            <a:spAutoFit/>
          </a:bodyPr>
          <a:lstStyle/>
          <a:p>
            <a:pPr algn="ctr"/>
            <a:r>
              <a:rPr lang="en-US" sz="2800" b="1" dirty="0"/>
              <a:t>1874-1877</a:t>
            </a:r>
          </a:p>
        </p:txBody>
      </p:sp>
      <p:sp>
        <p:nvSpPr>
          <p:cNvPr id="35" name="TextBox 34">
            <a:extLst>
              <a:ext uri="{FF2B5EF4-FFF2-40B4-BE49-F238E27FC236}">
                <a16:creationId xmlns:a16="http://schemas.microsoft.com/office/drawing/2014/main" id="{02B2DD82-1B9E-0B94-54D9-CFC15831450A}"/>
              </a:ext>
            </a:extLst>
          </p:cNvPr>
          <p:cNvSpPr txBox="1"/>
          <p:nvPr/>
        </p:nvSpPr>
        <p:spPr>
          <a:xfrm>
            <a:off x="-8779051" y="3676573"/>
            <a:ext cx="4822722" cy="523220"/>
          </a:xfrm>
          <a:prstGeom prst="rect">
            <a:avLst/>
          </a:prstGeom>
          <a:noFill/>
        </p:spPr>
        <p:txBody>
          <a:bodyPr wrap="square" rtlCol="0">
            <a:spAutoFit/>
          </a:bodyPr>
          <a:lstStyle/>
          <a:p>
            <a:pPr algn="ctr"/>
            <a:r>
              <a:rPr lang="en-US" sz="2800" dirty="0"/>
              <a:t>Walter R. Cassels</a:t>
            </a:r>
          </a:p>
        </p:txBody>
      </p:sp>
      <p:sp>
        <p:nvSpPr>
          <p:cNvPr id="36" name="TextBox 35">
            <a:extLst>
              <a:ext uri="{FF2B5EF4-FFF2-40B4-BE49-F238E27FC236}">
                <a16:creationId xmlns:a16="http://schemas.microsoft.com/office/drawing/2014/main" id="{9C3C3C8B-09BD-5C81-5D50-1698ACA36926}"/>
              </a:ext>
            </a:extLst>
          </p:cNvPr>
          <p:cNvSpPr txBox="1"/>
          <p:nvPr/>
        </p:nvSpPr>
        <p:spPr>
          <a:xfrm>
            <a:off x="-12463689" y="4392669"/>
            <a:ext cx="12192000" cy="2246769"/>
          </a:xfrm>
          <a:prstGeom prst="rect">
            <a:avLst/>
          </a:prstGeom>
          <a:noFill/>
        </p:spPr>
        <p:txBody>
          <a:bodyPr wrap="square" rtlCol="0">
            <a:spAutoFit/>
          </a:bodyPr>
          <a:lstStyle/>
          <a:p>
            <a:pPr algn="ctr"/>
            <a:r>
              <a:rPr lang="en-US" sz="2800" dirty="0"/>
              <a:t>Wrote an anonymous work in three volumes which revived some of the old arguments of 18</a:t>
            </a:r>
            <a:r>
              <a:rPr lang="en-US" sz="2800" baseline="30000" dirty="0"/>
              <a:t>th</a:t>
            </a:r>
            <a:r>
              <a:rPr lang="en-US" sz="2800" dirty="0"/>
              <a:t> century Deism. His “purpose was to show from patristic testimony that the canonical Gospels are so far removed in time from the events they record that they lose all competence as witnesses to the reality of the miraculous” (p. 22)</a:t>
            </a:r>
          </a:p>
        </p:txBody>
      </p:sp>
      <p:sp>
        <p:nvSpPr>
          <p:cNvPr id="37" name="Rectangle 36">
            <a:extLst>
              <a:ext uri="{FF2B5EF4-FFF2-40B4-BE49-F238E27FC236}">
                <a16:creationId xmlns:a16="http://schemas.microsoft.com/office/drawing/2014/main" id="{E3AD2B06-135B-22FA-A58C-DC1202B31F22}"/>
              </a:ext>
            </a:extLst>
          </p:cNvPr>
          <p:cNvSpPr/>
          <p:nvPr/>
        </p:nvSpPr>
        <p:spPr>
          <a:xfrm rot="16200000">
            <a:off x="-654230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7B5B6AE2-AF17-39EB-47A6-36A783058F3B}"/>
              </a:ext>
            </a:extLst>
          </p:cNvPr>
          <p:cNvSpPr txBox="1"/>
          <p:nvPr/>
        </p:nvSpPr>
        <p:spPr>
          <a:xfrm>
            <a:off x="-9484605" y="2423618"/>
            <a:ext cx="6341805" cy="523220"/>
          </a:xfrm>
          <a:prstGeom prst="rect">
            <a:avLst/>
          </a:prstGeom>
          <a:noFill/>
        </p:spPr>
        <p:txBody>
          <a:bodyPr wrap="square" rtlCol="0">
            <a:spAutoFit/>
          </a:bodyPr>
          <a:lstStyle/>
          <a:p>
            <a:pPr algn="ctr"/>
            <a:r>
              <a:rPr lang="en-US" sz="2800" b="1" dirty="0"/>
              <a:t>1894</a:t>
            </a:r>
          </a:p>
        </p:txBody>
      </p:sp>
      <p:sp>
        <p:nvSpPr>
          <p:cNvPr id="39" name="TextBox 38">
            <a:extLst>
              <a:ext uri="{FF2B5EF4-FFF2-40B4-BE49-F238E27FC236}">
                <a16:creationId xmlns:a16="http://schemas.microsoft.com/office/drawing/2014/main" id="{68627350-9C66-21D9-B0D4-694B9B05D4C3}"/>
              </a:ext>
            </a:extLst>
          </p:cNvPr>
          <p:cNvSpPr txBox="1"/>
          <p:nvPr/>
        </p:nvSpPr>
        <p:spPr>
          <a:xfrm>
            <a:off x="-8725064" y="3676573"/>
            <a:ext cx="4822722" cy="523220"/>
          </a:xfrm>
          <a:prstGeom prst="rect">
            <a:avLst/>
          </a:prstGeom>
          <a:noFill/>
        </p:spPr>
        <p:txBody>
          <a:bodyPr wrap="square" rtlCol="0">
            <a:spAutoFit/>
          </a:bodyPr>
          <a:lstStyle/>
          <a:p>
            <a:pPr algn="ctr"/>
            <a:r>
              <a:rPr lang="en-US" sz="2800" dirty="0"/>
              <a:t>Adolf Jülicher</a:t>
            </a:r>
          </a:p>
        </p:txBody>
      </p:sp>
      <p:sp>
        <p:nvSpPr>
          <p:cNvPr id="40" name="TextBox 39">
            <a:extLst>
              <a:ext uri="{FF2B5EF4-FFF2-40B4-BE49-F238E27FC236}">
                <a16:creationId xmlns:a16="http://schemas.microsoft.com/office/drawing/2014/main" id="{70768860-595F-F046-FF35-C83CB2C4BEA6}"/>
              </a:ext>
            </a:extLst>
          </p:cNvPr>
          <p:cNvSpPr txBox="1"/>
          <p:nvPr/>
        </p:nvSpPr>
        <p:spPr>
          <a:xfrm>
            <a:off x="-12409702" y="4392669"/>
            <a:ext cx="12192000" cy="1815882"/>
          </a:xfrm>
          <a:prstGeom prst="rect">
            <a:avLst/>
          </a:prstGeom>
          <a:noFill/>
        </p:spPr>
        <p:txBody>
          <a:bodyPr wrap="square" rtlCol="0">
            <a:spAutoFit/>
          </a:bodyPr>
          <a:lstStyle/>
          <a:p>
            <a:pPr algn="ctr"/>
            <a:r>
              <a:rPr lang="en-US" sz="2800" dirty="0"/>
              <a:t>“Said that the public reading…of Christian books and epistles in a liturgical setting, along with Old Testament books already regarded as authoritative, that was chiefly responsible for their being recognized eventually as canonical Scripture” (p. 23)</a:t>
            </a:r>
          </a:p>
        </p:txBody>
      </p:sp>
      <p:sp>
        <p:nvSpPr>
          <p:cNvPr id="41" name="Rectangle 40">
            <a:extLst>
              <a:ext uri="{FF2B5EF4-FFF2-40B4-BE49-F238E27FC236}">
                <a16:creationId xmlns:a16="http://schemas.microsoft.com/office/drawing/2014/main" id="{F3FF5944-373F-4C3F-D087-ED7713E68BB1}"/>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D93CAA66-CD84-2978-2FD9-0ACF02A62ABC}"/>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1888-1901</a:t>
            </a:r>
          </a:p>
        </p:txBody>
      </p:sp>
      <p:sp>
        <p:nvSpPr>
          <p:cNvPr id="43" name="TextBox 42">
            <a:extLst>
              <a:ext uri="{FF2B5EF4-FFF2-40B4-BE49-F238E27FC236}">
                <a16:creationId xmlns:a16="http://schemas.microsoft.com/office/drawing/2014/main" id="{E4BDC8A0-C4CC-ADC7-1562-E0B663488539}"/>
              </a:ext>
            </a:extLst>
          </p:cNvPr>
          <p:cNvSpPr txBox="1"/>
          <p:nvPr/>
        </p:nvSpPr>
        <p:spPr>
          <a:xfrm>
            <a:off x="3684638" y="3676573"/>
            <a:ext cx="4822722" cy="523220"/>
          </a:xfrm>
          <a:prstGeom prst="rect">
            <a:avLst/>
          </a:prstGeom>
          <a:noFill/>
        </p:spPr>
        <p:txBody>
          <a:bodyPr wrap="square" rtlCol="0">
            <a:spAutoFit/>
          </a:bodyPr>
          <a:lstStyle/>
          <a:p>
            <a:pPr algn="ctr"/>
            <a:r>
              <a:rPr lang="en-US" sz="2800" dirty="0"/>
              <a:t>Theodor Zahn</a:t>
            </a:r>
          </a:p>
        </p:txBody>
      </p:sp>
      <p:sp>
        <p:nvSpPr>
          <p:cNvPr id="44" name="TextBox 43">
            <a:extLst>
              <a:ext uri="{FF2B5EF4-FFF2-40B4-BE49-F238E27FC236}">
                <a16:creationId xmlns:a16="http://schemas.microsoft.com/office/drawing/2014/main" id="{ECB92A00-CBB5-575D-0035-8E8C608664B6}"/>
              </a:ext>
            </a:extLst>
          </p:cNvPr>
          <p:cNvSpPr txBox="1"/>
          <p:nvPr/>
        </p:nvSpPr>
        <p:spPr>
          <a:xfrm>
            <a:off x="0" y="4392669"/>
            <a:ext cx="12192000" cy="954107"/>
          </a:xfrm>
          <a:prstGeom prst="rect">
            <a:avLst/>
          </a:prstGeom>
          <a:noFill/>
        </p:spPr>
        <p:txBody>
          <a:bodyPr wrap="square" rtlCol="0">
            <a:spAutoFit/>
          </a:bodyPr>
          <a:lstStyle/>
          <a:p>
            <a:pPr algn="ctr"/>
            <a:r>
              <a:rPr lang="en-US" sz="2800" dirty="0"/>
              <a:t>Believed the canon “came into existence by the end of the first century” (p. 23-24)</a:t>
            </a:r>
          </a:p>
        </p:txBody>
      </p:sp>
    </p:spTree>
    <p:extLst>
      <p:ext uri="{BB962C8B-B14F-4D97-AF65-F5344CB8AC3E}">
        <p14:creationId xmlns:p14="http://schemas.microsoft.com/office/powerpoint/2010/main" val="3872493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down)">
                                      <p:cBhvr>
                                        <p:cTn id="7" dur="500"/>
                                        <p:tgtEl>
                                          <p:spTgt spid="4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43"/>
                                        </p:tgtEl>
                                        <p:attrNameLst>
                                          <p:attrName>style.visibility</p:attrName>
                                        </p:attrNameLst>
                                      </p:cBhvr>
                                      <p:to>
                                        <p:strVal val="visible"/>
                                      </p:to>
                                    </p:set>
                                    <p:animEffect transition="in" filter="fade">
                                      <p:cBhvr>
                                        <p:cTn id="14" dur="500"/>
                                        <p:tgtEl>
                                          <p:spTgt spid="43"/>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fade">
                                      <p:cBhvr>
                                        <p:cTn id="18"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p:bldP spid="43" grpId="0"/>
      <p:bldP spid="4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6EA36-1E76-C346-7EDC-39AB3367C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46634-9AFA-FD0C-255E-57162AEA5BB0}"/>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2FF1CDA8-BE49-892F-A73C-E9416CA948DC}"/>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467659E-277D-8BDC-506D-58E163FFC9B6}"/>
              </a:ext>
            </a:extLst>
          </p:cNvPr>
          <p:cNvSpPr/>
          <p:nvPr/>
        </p:nvSpPr>
        <p:spPr>
          <a:xfrm rot="16200000">
            <a:off x="-3475395"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8A61E0B-4EBC-B91F-8522-892EA07E4369}"/>
              </a:ext>
            </a:extLst>
          </p:cNvPr>
          <p:cNvSpPr txBox="1"/>
          <p:nvPr/>
        </p:nvSpPr>
        <p:spPr>
          <a:xfrm>
            <a:off x="-6417698"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AD8CA5A4-97FD-5D40-27DB-ACA0A950A206}"/>
              </a:ext>
            </a:extLst>
          </p:cNvPr>
          <p:cNvSpPr txBox="1"/>
          <p:nvPr/>
        </p:nvSpPr>
        <p:spPr>
          <a:xfrm>
            <a:off x="-5658157" y="3676573"/>
            <a:ext cx="4822722" cy="523220"/>
          </a:xfrm>
          <a:prstGeom prst="rect">
            <a:avLst/>
          </a:prstGeom>
          <a:noFill/>
        </p:spPr>
        <p:txBody>
          <a:bodyPr wrap="square" rtlCol="0">
            <a:spAutoFit/>
          </a:bodyPr>
          <a:lstStyle/>
          <a:p>
            <a:pPr algn="ctr"/>
            <a:r>
              <a:rPr lang="en-US" sz="2800" dirty="0"/>
              <a:t>John Toland</a:t>
            </a:r>
          </a:p>
        </p:txBody>
      </p:sp>
      <p:sp>
        <p:nvSpPr>
          <p:cNvPr id="3" name="Rectangle 2">
            <a:extLst>
              <a:ext uri="{FF2B5EF4-FFF2-40B4-BE49-F238E27FC236}">
                <a16:creationId xmlns:a16="http://schemas.microsoft.com/office/drawing/2014/main" id="{B80ADB8D-5FDA-709B-C8B1-F8954A8B71E3}"/>
              </a:ext>
            </a:extLst>
          </p:cNvPr>
          <p:cNvSpPr/>
          <p:nvPr/>
        </p:nvSpPr>
        <p:spPr>
          <a:xfrm rot="16200000">
            <a:off x="-3549314"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31E0B6B-ADE7-F768-5D3D-0A7288238E82}"/>
              </a:ext>
            </a:extLst>
          </p:cNvPr>
          <p:cNvSpPr txBox="1"/>
          <p:nvPr/>
        </p:nvSpPr>
        <p:spPr>
          <a:xfrm>
            <a:off x="-6491617" y="2423618"/>
            <a:ext cx="6341805" cy="523220"/>
          </a:xfrm>
          <a:prstGeom prst="rect">
            <a:avLst/>
          </a:prstGeom>
          <a:noFill/>
        </p:spPr>
        <p:txBody>
          <a:bodyPr wrap="square" rtlCol="0">
            <a:spAutoFit/>
          </a:bodyPr>
          <a:lstStyle/>
          <a:p>
            <a:pPr algn="ctr"/>
            <a:r>
              <a:rPr lang="en-US" sz="2800" b="1" dirty="0"/>
              <a:t>1700-1719</a:t>
            </a:r>
          </a:p>
        </p:txBody>
      </p:sp>
      <p:sp>
        <p:nvSpPr>
          <p:cNvPr id="5" name="TextBox 4">
            <a:extLst>
              <a:ext uri="{FF2B5EF4-FFF2-40B4-BE49-F238E27FC236}">
                <a16:creationId xmlns:a16="http://schemas.microsoft.com/office/drawing/2014/main" id="{3459153A-F115-FE2F-CB00-412CFAB44C6A}"/>
              </a:ext>
            </a:extLst>
          </p:cNvPr>
          <p:cNvSpPr txBox="1"/>
          <p:nvPr/>
        </p:nvSpPr>
        <p:spPr>
          <a:xfrm>
            <a:off x="-5732076" y="3676573"/>
            <a:ext cx="4822722" cy="954107"/>
          </a:xfrm>
          <a:prstGeom prst="rect">
            <a:avLst/>
          </a:prstGeom>
          <a:noFill/>
        </p:spPr>
        <p:txBody>
          <a:bodyPr wrap="square" rtlCol="0">
            <a:spAutoFit/>
          </a:bodyPr>
          <a:lstStyle/>
          <a:p>
            <a:pPr algn="ctr"/>
            <a:r>
              <a:rPr lang="en-US" sz="2800" dirty="0"/>
              <a:t>Samuel Clarke, Stephen Nye, John Richardson, and others</a:t>
            </a:r>
          </a:p>
        </p:txBody>
      </p:sp>
      <p:sp>
        <p:nvSpPr>
          <p:cNvPr id="7" name="TextBox 6">
            <a:extLst>
              <a:ext uri="{FF2B5EF4-FFF2-40B4-BE49-F238E27FC236}">
                <a16:creationId xmlns:a16="http://schemas.microsoft.com/office/drawing/2014/main" id="{5690AED7-BB88-946C-2E3E-4CB85CD5A56A}"/>
              </a:ext>
            </a:extLst>
          </p:cNvPr>
          <p:cNvSpPr txBox="1"/>
          <p:nvPr/>
        </p:nvSpPr>
        <p:spPr>
          <a:xfrm>
            <a:off x="-12569670" y="4392669"/>
            <a:ext cx="12192000" cy="1384995"/>
          </a:xfrm>
          <a:prstGeom prst="rect">
            <a:avLst/>
          </a:prstGeom>
          <a:noFill/>
        </p:spPr>
        <p:txBody>
          <a:bodyPr wrap="square" rtlCol="0">
            <a:spAutoFit/>
          </a:bodyPr>
          <a:lstStyle/>
          <a:p>
            <a:pPr algn="ctr"/>
            <a:r>
              <a:rPr lang="en-US" sz="2800" dirty="0"/>
              <a:t>Used the “New and Full Method” of looking at ancient records to find early testimony or traditions of people concerning NT books written close to them in time </a:t>
            </a:r>
          </a:p>
        </p:txBody>
      </p:sp>
      <p:sp>
        <p:nvSpPr>
          <p:cNvPr id="9" name="TextBox 8">
            <a:extLst>
              <a:ext uri="{FF2B5EF4-FFF2-40B4-BE49-F238E27FC236}">
                <a16:creationId xmlns:a16="http://schemas.microsoft.com/office/drawing/2014/main" id="{3D69A0DE-02A1-AA08-3089-F712CD3AB163}"/>
              </a:ext>
            </a:extLst>
          </p:cNvPr>
          <p:cNvSpPr txBox="1"/>
          <p:nvPr/>
        </p:nvSpPr>
        <p:spPr>
          <a:xfrm>
            <a:off x="-9644573" y="2423618"/>
            <a:ext cx="6341805" cy="523220"/>
          </a:xfrm>
          <a:prstGeom prst="rect">
            <a:avLst/>
          </a:prstGeom>
          <a:noFill/>
        </p:spPr>
        <p:txBody>
          <a:bodyPr wrap="square" rtlCol="0">
            <a:spAutoFit/>
          </a:bodyPr>
          <a:lstStyle/>
          <a:p>
            <a:pPr algn="ctr"/>
            <a:r>
              <a:rPr lang="en-US" sz="2800" b="1" dirty="0"/>
              <a:t>1726-1727</a:t>
            </a:r>
          </a:p>
        </p:txBody>
      </p:sp>
      <p:sp>
        <p:nvSpPr>
          <p:cNvPr id="10" name="TextBox 9">
            <a:extLst>
              <a:ext uri="{FF2B5EF4-FFF2-40B4-BE49-F238E27FC236}">
                <a16:creationId xmlns:a16="http://schemas.microsoft.com/office/drawing/2014/main" id="{361804FA-A204-303B-6BA2-6FA72BB4E49A}"/>
              </a:ext>
            </a:extLst>
          </p:cNvPr>
          <p:cNvSpPr txBox="1"/>
          <p:nvPr/>
        </p:nvSpPr>
        <p:spPr>
          <a:xfrm>
            <a:off x="-8885032" y="3676573"/>
            <a:ext cx="4822722" cy="523220"/>
          </a:xfrm>
          <a:prstGeom prst="rect">
            <a:avLst/>
          </a:prstGeom>
          <a:noFill/>
        </p:spPr>
        <p:txBody>
          <a:bodyPr wrap="square" rtlCol="0">
            <a:spAutoFit/>
          </a:bodyPr>
          <a:lstStyle/>
          <a:p>
            <a:pPr algn="ctr"/>
            <a:r>
              <a:rPr lang="en-US" sz="2800" dirty="0"/>
              <a:t>Jeremiah Jones</a:t>
            </a:r>
          </a:p>
        </p:txBody>
      </p:sp>
      <p:sp>
        <p:nvSpPr>
          <p:cNvPr id="11" name="TextBox 10">
            <a:extLst>
              <a:ext uri="{FF2B5EF4-FFF2-40B4-BE49-F238E27FC236}">
                <a16:creationId xmlns:a16="http://schemas.microsoft.com/office/drawing/2014/main" id="{E636958B-ED9A-3CCD-C5B3-77752BEFE836}"/>
              </a:ext>
            </a:extLst>
          </p:cNvPr>
          <p:cNvSpPr txBox="1"/>
          <p:nvPr/>
        </p:nvSpPr>
        <p:spPr>
          <a:xfrm>
            <a:off x="-12310928" y="4761635"/>
            <a:ext cx="12192000" cy="1815882"/>
          </a:xfrm>
          <a:prstGeom prst="rect">
            <a:avLst/>
          </a:prstGeom>
          <a:noFill/>
        </p:spPr>
        <p:txBody>
          <a:bodyPr wrap="square" rtlCol="0">
            <a:spAutoFit/>
          </a:bodyPr>
          <a:lstStyle/>
          <a:p>
            <a:pPr algn="ctr"/>
            <a:r>
              <a:rPr lang="en-US" sz="2800" dirty="0"/>
              <a:t>- Strongly denounced Toland</a:t>
            </a:r>
          </a:p>
          <a:p>
            <a:pPr algn="ctr"/>
            <a:r>
              <a:rPr lang="en-US" sz="2800" dirty="0"/>
              <a:t>- Richardson: “What the Apostles Wrote, and what they </a:t>
            </a:r>
            <a:r>
              <a:rPr lang="en-US" sz="2800" dirty="0" err="1"/>
              <a:t>Authoriz’d</a:t>
            </a:r>
            <a:r>
              <a:rPr lang="en-US" sz="2800" dirty="0"/>
              <a:t>, can be known in no other way, then by the Testimonies of those who </a:t>
            </a:r>
            <a:r>
              <a:rPr lang="en-US" sz="2800" dirty="0" err="1"/>
              <a:t>liv’d</a:t>
            </a:r>
            <a:r>
              <a:rPr lang="en-US" sz="2800" dirty="0"/>
              <a:t> at the same time with them, and the Tradition of those who succeeded them” (p. 13)</a:t>
            </a:r>
          </a:p>
        </p:txBody>
      </p:sp>
      <p:sp>
        <p:nvSpPr>
          <p:cNvPr id="12" name="TextBox 11">
            <a:extLst>
              <a:ext uri="{FF2B5EF4-FFF2-40B4-BE49-F238E27FC236}">
                <a16:creationId xmlns:a16="http://schemas.microsoft.com/office/drawing/2014/main" id="{CA684118-3812-B03C-CA00-2E6364461859}"/>
              </a:ext>
            </a:extLst>
          </p:cNvPr>
          <p:cNvSpPr txBox="1"/>
          <p:nvPr/>
        </p:nvSpPr>
        <p:spPr>
          <a:xfrm>
            <a:off x="-12569671" y="4392668"/>
            <a:ext cx="12192000" cy="954107"/>
          </a:xfrm>
          <a:prstGeom prst="rect">
            <a:avLst/>
          </a:prstGeom>
          <a:noFill/>
        </p:spPr>
        <p:txBody>
          <a:bodyPr wrap="square" rtlCol="0">
            <a:spAutoFit/>
          </a:bodyPr>
          <a:lstStyle/>
          <a:p>
            <a:pPr algn="ctr"/>
            <a:r>
              <a:rPr lang="en-US" sz="2800" dirty="0"/>
              <a:t>Jones made available for  the first time an English translation of the text of dozens of apocryphal writings” (p. 14)</a:t>
            </a:r>
          </a:p>
        </p:txBody>
      </p:sp>
      <p:sp>
        <p:nvSpPr>
          <p:cNvPr id="14" name="TextBox 13">
            <a:extLst>
              <a:ext uri="{FF2B5EF4-FFF2-40B4-BE49-F238E27FC236}">
                <a16:creationId xmlns:a16="http://schemas.microsoft.com/office/drawing/2014/main" id="{2BE6B613-FF47-367E-1509-49E6B942546F}"/>
              </a:ext>
            </a:extLst>
          </p:cNvPr>
          <p:cNvSpPr txBox="1"/>
          <p:nvPr/>
        </p:nvSpPr>
        <p:spPr>
          <a:xfrm>
            <a:off x="-9427049" y="2423618"/>
            <a:ext cx="6341805" cy="523220"/>
          </a:xfrm>
          <a:prstGeom prst="rect">
            <a:avLst/>
          </a:prstGeom>
          <a:noFill/>
        </p:spPr>
        <p:txBody>
          <a:bodyPr wrap="square" rtlCol="0">
            <a:spAutoFit/>
          </a:bodyPr>
          <a:lstStyle/>
          <a:p>
            <a:pPr algn="ctr"/>
            <a:r>
              <a:rPr lang="en-US" sz="2800" b="1" dirty="0"/>
              <a:t>1699 (in France)</a:t>
            </a:r>
          </a:p>
        </p:txBody>
      </p:sp>
      <p:sp>
        <p:nvSpPr>
          <p:cNvPr id="15" name="TextBox 14">
            <a:extLst>
              <a:ext uri="{FF2B5EF4-FFF2-40B4-BE49-F238E27FC236}">
                <a16:creationId xmlns:a16="http://schemas.microsoft.com/office/drawing/2014/main" id="{D5C7E3E5-C2BF-3F53-4BF7-7F6A39588BF3}"/>
              </a:ext>
            </a:extLst>
          </p:cNvPr>
          <p:cNvSpPr txBox="1"/>
          <p:nvPr/>
        </p:nvSpPr>
        <p:spPr>
          <a:xfrm>
            <a:off x="-8667508" y="3676573"/>
            <a:ext cx="4822722" cy="523220"/>
          </a:xfrm>
          <a:prstGeom prst="rect">
            <a:avLst/>
          </a:prstGeom>
          <a:noFill/>
        </p:spPr>
        <p:txBody>
          <a:bodyPr wrap="square" rtlCol="0">
            <a:spAutoFit/>
          </a:bodyPr>
          <a:lstStyle/>
          <a:p>
            <a:pPr algn="ctr"/>
            <a:r>
              <a:rPr lang="en-US" sz="2800" dirty="0"/>
              <a:t>Jacques Basnage</a:t>
            </a:r>
          </a:p>
        </p:txBody>
      </p:sp>
      <p:sp>
        <p:nvSpPr>
          <p:cNvPr id="16" name="TextBox 15">
            <a:extLst>
              <a:ext uri="{FF2B5EF4-FFF2-40B4-BE49-F238E27FC236}">
                <a16:creationId xmlns:a16="http://schemas.microsoft.com/office/drawing/2014/main" id="{2180FF30-61F0-FCEB-D98F-29D2C4AF09B5}"/>
              </a:ext>
            </a:extLst>
          </p:cNvPr>
          <p:cNvSpPr txBox="1"/>
          <p:nvPr/>
        </p:nvSpPr>
        <p:spPr>
          <a:xfrm>
            <a:off x="-12352146" y="4392669"/>
            <a:ext cx="12192000" cy="1815882"/>
          </a:xfrm>
          <a:prstGeom prst="rect">
            <a:avLst/>
          </a:prstGeom>
          <a:noFill/>
        </p:spPr>
        <p:txBody>
          <a:bodyPr wrap="square" rtlCol="0">
            <a:spAutoFit/>
          </a:bodyPr>
          <a:lstStyle/>
          <a:p>
            <a:pPr algn="ctr"/>
            <a:r>
              <a:rPr lang="en-US" sz="2800" dirty="0"/>
              <a:t>Found that during the first 3 centuries “there was no decision concerning the limits of the New Testament canon, but each local church had the liberty to choose or reject individual books; this freedom was most noticeable among Eastern Churches in rejecting the Apocalypse” (p. 16)</a:t>
            </a:r>
          </a:p>
        </p:txBody>
      </p:sp>
      <p:sp>
        <p:nvSpPr>
          <p:cNvPr id="18" name="TextBox 17">
            <a:extLst>
              <a:ext uri="{FF2B5EF4-FFF2-40B4-BE49-F238E27FC236}">
                <a16:creationId xmlns:a16="http://schemas.microsoft.com/office/drawing/2014/main" id="{42E1CABE-3CD8-9EFC-51FE-C5D005F9E336}"/>
              </a:ext>
            </a:extLst>
          </p:cNvPr>
          <p:cNvSpPr txBox="1"/>
          <p:nvPr/>
        </p:nvSpPr>
        <p:spPr>
          <a:xfrm>
            <a:off x="-9386634" y="2423618"/>
            <a:ext cx="6341805" cy="523220"/>
          </a:xfrm>
          <a:prstGeom prst="rect">
            <a:avLst/>
          </a:prstGeom>
          <a:noFill/>
        </p:spPr>
        <p:txBody>
          <a:bodyPr wrap="square" rtlCol="0">
            <a:spAutoFit/>
          </a:bodyPr>
          <a:lstStyle/>
          <a:p>
            <a:pPr algn="ctr"/>
            <a:r>
              <a:rPr lang="en-US" sz="2800" b="1" dirty="0"/>
              <a:t>1804-1812</a:t>
            </a:r>
          </a:p>
        </p:txBody>
      </p:sp>
      <p:sp>
        <p:nvSpPr>
          <p:cNvPr id="19" name="TextBox 18">
            <a:extLst>
              <a:ext uri="{FF2B5EF4-FFF2-40B4-BE49-F238E27FC236}">
                <a16:creationId xmlns:a16="http://schemas.microsoft.com/office/drawing/2014/main" id="{771F57D9-B1D4-9200-ACF4-A9251F7D7C06}"/>
              </a:ext>
            </a:extLst>
          </p:cNvPr>
          <p:cNvSpPr txBox="1"/>
          <p:nvPr/>
        </p:nvSpPr>
        <p:spPr>
          <a:xfrm>
            <a:off x="-8627093" y="3676573"/>
            <a:ext cx="4822722" cy="523220"/>
          </a:xfrm>
          <a:prstGeom prst="rect">
            <a:avLst/>
          </a:prstGeom>
          <a:noFill/>
        </p:spPr>
        <p:txBody>
          <a:bodyPr wrap="square" rtlCol="0">
            <a:spAutoFit/>
          </a:bodyPr>
          <a:lstStyle/>
          <a:p>
            <a:pPr algn="ctr"/>
            <a:r>
              <a:rPr lang="en-US" sz="2800" dirty="0"/>
              <a:t>J. G. Eichhorn</a:t>
            </a:r>
          </a:p>
        </p:txBody>
      </p:sp>
      <p:sp>
        <p:nvSpPr>
          <p:cNvPr id="21" name="TextBox 20">
            <a:extLst>
              <a:ext uri="{FF2B5EF4-FFF2-40B4-BE49-F238E27FC236}">
                <a16:creationId xmlns:a16="http://schemas.microsoft.com/office/drawing/2014/main" id="{B34E9344-D02B-1C13-A64C-5BC7427783CD}"/>
              </a:ext>
            </a:extLst>
          </p:cNvPr>
          <p:cNvSpPr txBox="1"/>
          <p:nvPr/>
        </p:nvSpPr>
        <p:spPr>
          <a:xfrm>
            <a:off x="-12311731" y="4392669"/>
            <a:ext cx="12192000" cy="1384995"/>
          </a:xfrm>
          <a:prstGeom prst="rect">
            <a:avLst/>
          </a:prstGeom>
          <a:noFill/>
        </p:spPr>
        <p:txBody>
          <a:bodyPr wrap="square" rtlCol="0">
            <a:spAutoFit/>
          </a:bodyPr>
          <a:lstStyle/>
          <a:p>
            <a:pPr algn="ctr"/>
            <a:r>
              <a:rPr lang="en-US" sz="2800" dirty="0"/>
              <a:t>“The first to attribute to Marcion the stimulus to collect the New Testament writings, and argued that the core of the future canon was established by about AD 175” (p. 18)</a:t>
            </a:r>
          </a:p>
        </p:txBody>
      </p:sp>
      <p:sp>
        <p:nvSpPr>
          <p:cNvPr id="24" name="Rectangle 23">
            <a:extLst>
              <a:ext uri="{FF2B5EF4-FFF2-40B4-BE49-F238E27FC236}">
                <a16:creationId xmlns:a16="http://schemas.microsoft.com/office/drawing/2014/main" id="{9D7E7756-AAD7-854C-4670-A8F8E189D94F}"/>
              </a:ext>
            </a:extLst>
          </p:cNvPr>
          <p:cNvSpPr/>
          <p:nvPr/>
        </p:nvSpPr>
        <p:spPr>
          <a:xfrm rot="16200000">
            <a:off x="-6422136"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93EB2662-F25E-6814-2C0A-698F6251254B}"/>
              </a:ext>
            </a:extLst>
          </p:cNvPr>
          <p:cNvSpPr txBox="1"/>
          <p:nvPr/>
        </p:nvSpPr>
        <p:spPr>
          <a:xfrm>
            <a:off x="-9364439" y="2423618"/>
            <a:ext cx="6341805" cy="523220"/>
          </a:xfrm>
          <a:prstGeom prst="rect">
            <a:avLst/>
          </a:prstGeom>
          <a:noFill/>
        </p:spPr>
        <p:txBody>
          <a:bodyPr wrap="square" rtlCol="0">
            <a:spAutoFit/>
          </a:bodyPr>
          <a:lstStyle/>
          <a:p>
            <a:pPr algn="ctr"/>
            <a:r>
              <a:rPr lang="en-US" sz="2800" b="1" dirty="0"/>
              <a:t>1826 (in America)</a:t>
            </a:r>
          </a:p>
        </p:txBody>
      </p:sp>
      <p:sp>
        <p:nvSpPr>
          <p:cNvPr id="26" name="TextBox 25">
            <a:extLst>
              <a:ext uri="{FF2B5EF4-FFF2-40B4-BE49-F238E27FC236}">
                <a16:creationId xmlns:a16="http://schemas.microsoft.com/office/drawing/2014/main" id="{6D549DFE-8DEA-1055-0E01-2B4D6DC12229}"/>
              </a:ext>
            </a:extLst>
          </p:cNvPr>
          <p:cNvSpPr txBox="1"/>
          <p:nvPr/>
        </p:nvSpPr>
        <p:spPr>
          <a:xfrm>
            <a:off x="-8604898" y="3676573"/>
            <a:ext cx="4822722" cy="523220"/>
          </a:xfrm>
          <a:prstGeom prst="rect">
            <a:avLst/>
          </a:prstGeom>
          <a:noFill/>
        </p:spPr>
        <p:txBody>
          <a:bodyPr wrap="square" rtlCol="0">
            <a:spAutoFit/>
          </a:bodyPr>
          <a:lstStyle/>
          <a:p>
            <a:pPr algn="ctr"/>
            <a:r>
              <a:rPr lang="en-US" sz="2800" dirty="0"/>
              <a:t>Archibald Alexander</a:t>
            </a:r>
          </a:p>
        </p:txBody>
      </p:sp>
      <p:sp>
        <p:nvSpPr>
          <p:cNvPr id="27" name="TextBox 26">
            <a:extLst>
              <a:ext uri="{FF2B5EF4-FFF2-40B4-BE49-F238E27FC236}">
                <a16:creationId xmlns:a16="http://schemas.microsoft.com/office/drawing/2014/main" id="{34F3610A-2D62-B287-636F-2EBD01A26241}"/>
              </a:ext>
            </a:extLst>
          </p:cNvPr>
          <p:cNvSpPr txBox="1"/>
          <p:nvPr/>
        </p:nvSpPr>
        <p:spPr>
          <a:xfrm>
            <a:off x="-12289536" y="4392669"/>
            <a:ext cx="12192000" cy="2246769"/>
          </a:xfrm>
          <a:prstGeom prst="rect">
            <a:avLst/>
          </a:prstGeom>
          <a:noFill/>
        </p:spPr>
        <p:txBody>
          <a:bodyPr wrap="square" rtlCol="0">
            <a:spAutoFit/>
          </a:bodyPr>
          <a:lstStyle/>
          <a:p>
            <a:pPr marL="457200" indent="-457200" algn="ctr">
              <a:buFontTx/>
              <a:buChar char="-"/>
            </a:pPr>
            <a:r>
              <a:rPr lang="en-US" sz="2800" dirty="0"/>
              <a:t>Wrote the first book (in the US) dealing solely with the Biblical canon</a:t>
            </a:r>
          </a:p>
          <a:p>
            <a:pPr marL="457200" indent="-457200" algn="ctr">
              <a:buFontTx/>
              <a:buChar char="-"/>
            </a:pPr>
            <a:r>
              <a:rPr lang="en-US" sz="2800" dirty="0"/>
              <a:t>“Argued that </a:t>
            </a:r>
            <a:r>
              <a:rPr lang="en-US" sz="2800" b="1" u="sng" dirty="0"/>
              <a:t>the criterion of New Testament canonicity is apostolic authorship</a:t>
            </a:r>
            <a:r>
              <a:rPr lang="en-US" sz="2800" dirty="0"/>
              <a:t>, whether direct or indirect (the latter in the case of Mark and Luke). Apostolicity is to be established by historically verified testimonies of patristic writers of the early Christian centuries” (p. 18)</a:t>
            </a:r>
          </a:p>
        </p:txBody>
      </p:sp>
      <p:sp>
        <p:nvSpPr>
          <p:cNvPr id="8" name="Rectangle 7">
            <a:extLst>
              <a:ext uri="{FF2B5EF4-FFF2-40B4-BE49-F238E27FC236}">
                <a16:creationId xmlns:a16="http://schemas.microsoft.com/office/drawing/2014/main" id="{382D89E8-CF16-7A81-06EA-B4AE4925C436}"/>
              </a:ext>
            </a:extLst>
          </p:cNvPr>
          <p:cNvSpPr/>
          <p:nvPr/>
        </p:nvSpPr>
        <p:spPr>
          <a:xfrm rot="16200000">
            <a:off x="1817206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254EB1F-2C48-B7F3-EE1C-58AF28C39FED}"/>
              </a:ext>
            </a:extLst>
          </p:cNvPr>
          <p:cNvSpPr txBox="1"/>
          <p:nvPr/>
        </p:nvSpPr>
        <p:spPr>
          <a:xfrm>
            <a:off x="15229759" y="2423618"/>
            <a:ext cx="6341805" cy="523220"/>
          </a:xfrm>
          <a:prstGeom prst="rect">
            <a:avLst/>
          </a:prstGeom>
          <a:noFill/>
        </p:spPr>
        <p:txBody>
          <a:bodyPr wrap="square" rtlCol="0">
            <a:spAutoFit/>
          </a:bodyPr>
          <a:lstStyle/>
          <a:p>
            <a:pPr algn="ctr"/>
            <a:r>
              <a:rPr lang="en-US" sz="2800" b="1" dirty="0"/>
              <a:t>1866</a:t>
            </a:r>
          </a:p>
        </p:txBody>
      </p:sp>
      <p:sp>
        <p:nvSpPr>
          <p:cNvPr id="17" name="TextBox 16">
            <a:extLst>
              <a:ext uri="{FF2B5EF4-FFF2-40B4-BE49-F238E27FC236}">
                <a16:creationId xmlns:a16="http://schemas.microsoft.com/office/drawing/2014/main" id="{5895F210-0678-82B2-8392-0ADE74E5F5B9}"/>
              </a:ext>
            </a:extLst>
          </p:cNvPr>
          <p:cNvSpPr txBox="1"/>
          <p:nvPr/>
        </p:nvSpPr>
        <p:spPr>
          <a:xfrm>
            <a:off x="15989300" y="3676573"/>
            <a:ext cx="4822722" cy="523220"/>
          </a:xfrm>
          <a:prstGeom prst="rect">
            <a:avLst/>
          </a:prstGeom>
          <a:noFill/>
        </p:spPr>
        <p:txBody>
          <a:bodyPr wrap="square" rtlCol="0">
            <a:spAutoFit/>
          </a:bodyPr>
          <a:lstStyle/>
          <a:p>
            <a:pPr algn="ctr"/>
            <a:r>
              <a:rPr lang="en-US" sz="2800" dirty="0"/>
              <a:t>Constantin von Tischendorf</a:t>
            </a:r>
          </a:p>
        </p:txBody>
      </p:sp>
      <p:sp>
        <p:nvSpPr>
          <p:cNvPr id="28" name="TextBox 27">
            <a:extLst>
              <a:ext uri="{FF2B5EF4-FFF2-40B4-BE49-F238E27FC236}">
                <a16:creationId xmlns:a16="http://schemas.microsoft.com/office/drawing/2014/main" id="{275E576A-E59D-62C1-EDF7-C48D42F31978}"/>
              </a:ext>
            </a:extLst>
          </p:cNvPr>
          <p:cNvSpPr txBox="1"/>
          <p:nvPr/>
        </p:nvSpPr>
        <p:spPr>
          <a:xfrm>
            <a:off x="12304662" y="4392669"/>
            <a:ext cx="12192000" cy="954107"/>
          </a:xfrm>
          <a:prstGeom prst="rect">
            <a:avLst/>
          </a:prstGeom>
          <a:noFill/>
        </p:spPr>
        <p:txBody>
          <a:bodyPr wrap="square" rtlCol="0">
            <a:spAutoFit/>
          </a:bodyPr>
          <a:lstStyle/>
          <a:p>
            <a:pPr algn="ctr"/>
            <a:r>
              <a:rPr lang="en-US" sz="2800" dirty="0"/>
              <a:t>Argued  the canon of the NT was established by the beginning of the 2</a:t>
            </a:r>
            <a:r>
              <a:rPr lang="en-US" sz="2800" baseline="30000" dirty="0"/>
              <a:t>nd</a:t>
            </a:r>
            <a:r>
              <a:rPr lang="en-US" sz="2800" dirty="0"/>
              <a:t> century</a:t>
            </a:r>
          </a:p>
        </p:txBody>
      </p:sp>
      <p:sp>
        <p:nvSpPr>
          <p:cNvPr id="29" name="Rectangle 28">
            <a:extLst>
              <a:ext uri="{FF2B5EF4-FFF2-40B4-BE49-F238E27FC236}">
                <a16:creationId xmlns:a16="http://schemas.microsoft.com/office/drawing/2014/main" id="{A8BC5C56-7D3A-A00A-A8C2-E98D97FF1732}"/>
              </a:ext>
            </a:extLst>
          </p:cNvPr>
          <p:cNvSpPr/>
          <p:nvPr/>
        </p:nvSpPr>
        <p:spPr>
          <a:xfrm rot="16200000">
            <a:off x="-6457139"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5725AD0-4997-51A4-0294-1FFCB905C8C7}"/>
              </a:ext>
            </a:extLst>
          </p:cNvPr>
          <p:cNvSpPr txBox="1"/>
          <p:nvPr/>
        </p:nvSpPr>
        <p:spPr>
          <a:xfrm>
            <a:off x="-9399442" y="2423618"/>
            <a:ext cx="6341805" cy="523220"/>
          </a:xfrm>
          <a:prstGeom prst="rect">
            <a:avLst/>
          </a:prstGeom>
          <a:noFill/>
        </p:spPr>
        <p:txBody>
          <a:bodyPr wrap="square" rtlCol="0">
            <a:spAutoFit/>
          </a:bodyPr>
          <a:lstStyle/>
          <a:p>
            <a:pPr algn="ctr"/>
            <a:r>
              <a:rPr lang="en-US" sz="2800" b="1" dirty="0"/>
              <a:t>1855 (in Britian)</a:t>
            </a:r>
          </a:p>
        </p:txBody>
      </p:sp>
      <p:sp>
        <p:nvSpPr>
          <p:cNvPr id="31" name="TextBox 30">
            <a:extLst>
              <a:ext uri="{FF2B5EF4-FFF2-40B4-BE49-F238E27FC236}">
                <a16:creationId xmlns:a16="http://schemas.microsoft.com/office/drawing/2014/main" id="{1E80F67C-1C59-7092-0A15-E698E8A04FBA}"/>
              </a:ext>
            </a:extLst>
          </p:cNvPr>
          <p:cNvSpPr txBox="1"/>
          <p:nvPr/>
        </p:nvSpPr>
        <p:spPr>
          <a:xfrm>
            <a:off x="-8639901" y="3676573"/>
            <a:ext cx="4822722" cy="523220"/>
          </a:xfrm>
          <a:prstGeom prst="rect">
            <a:avLst/>
          </a:prstGeom>
          <a:noFill/>
        </p:spPr>
        <p:txBody>
          <a:bodyPr wrap="square" rtlCol="0">
            <a:spAutoFit/>
          </a:bodyPr>
          <a:lstStyle/>
          <a:p>
            <a:pPr algn="ctr"/>
            <a:r>
              <a:rPr lang="en-US" sz="2800" dirty="0"/>
              <a:t>Brooke Foss Westcott</a:t>
            </a:r>
          </a:p>
        </p:txBody>
      </p:sp>
      <p:sp>
        <p:nvSpPr>
          <p:cNvPr id="32" name="TextBox 31">
            <a:extLst>
              <a:ext uri="{FF2B5EF4-FFF2-40B4-BE49-F238E27FC236}">
                <a16:creationId xmlns:a16="http://schemas.microsoft.com/office/drawing/2014/main" id="{81C88A78-87D0-EAFC-8B32-FDD35422C277}"/>
              </a:ext>
            </a:extLst>
          </p:cNvPr>
          <p:cNvSpPr txBox="1"/>
          <p:nvPr/>
        </p:nvSpPr>
        <p:spPr>
          <a:xfrm>
            <a:off x="-12324539" y="4392669"/>
            <a:ext cx="12192000" cy="1384995"/>
          </a:xfrm>
          <a:prstGeom prst="rect">
            <a:avLst/>
          </a:prstGeom>
          <a:noFill/>
        </p:spPr>
        <p:txBody>
          <a:bodyPr wrap="square" rtlCol="0">
            <a:spAutoFit/>
          </a:bodyPr>
          <a:lstStyle/>
          <a:p>
            <a:pPr algn="ctr"/>
            <a:r>
              <a:rPr lang="en-US" sz="2800" dirty="0"/>
              <a:t>Said that the formulation of the canon was one of “the first instinctive acts of the Christian society, resting upon the general confession of the Churches and not upon independent opinions of its members” (p. 21)</a:t>
            </a:r>
          </a:p>
        </p:txBody>
      </p:sp>
      <p:sp>
        <p:nvSpPr>
          <p:cNvPr id="33" name="Rectangle 32">
            <a:extLst>
              <a:ext uri="{FF2B5EF4-FFF2-40B4-BE49-F238E27FC236}">
                <a16:creationId xmlns:a16="http://schemas.microsoft.com/office/drawing/2014/main" id="{55E8FE37-8960-C16C-F11E-1783CE1ED188}"/>
              </a:ext>
            </a:extLst>
          </p:cNvPr>
          <p:cNvSpPr/>
          <p:nvPr/>
        </p:nvSpPr>
        <p:spPr>
          <a:xfrm rot="16200000">
            <a:off x="-6596289"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E6E86058-568B-97BA-8FB0-94AAFF445F61}"/>
              </a:ext>
            </a:extLst>
          </p:cNvPr>
          <p:cNvSpPr txBox="1"/>
          <p:nvPr/>
        </p:nvSpPr>
        <p:spPr>
          <a:xfrm>
            <a:off x="-9538592" y="2423618"/>
            <a:ext cx="6341805" cy="523220"/>
          </a:xfrm>
          <a:prstGeom prst="rect">
            <a:avLst/>
          </a:prstGeom>
          <a:noFill/>
        </p:spPr>
        <p:txBody>
          <a:bodyPr wrap="square" rtlCol="0">
            <a:spAutoFit/>
          </a:bodyPr>
          <a:lstStyle/>
          <a:p>
            <a:pPr algn="ctr"/>
            <a:r>
              <a:rPr lang="en-US" sz="2800" b="1" dirty="0"/>
              <a:t>1874-1877</a:t>
            </a:r>
          </a:p>
        </p:txBody>
      </p:sp>
      <p:sp>
        <p:nvSpPr>
          <p:cNvPr id="35" name="TextBox 34">
            <a:extLst>
              <a:ext uri="{FF2B5EF4-FFF2-40B4-BE49-F238E27FC236}">
                <a16:creationId xmlns:a16="http://schemas.microsoft.com/office/drawing/2014/main" id="{EBBBCCA6-870E-8023-116F-351D252EA2F0}"/>
              </a:ext>
            </a:extLst>
          </p:cNvPr>
          <p:cNvSpPr txBox="1"/>
          <p:nvPr/>
        </p:nvSpPr>
        <p:spPr>
          <a:xfrm>
            <a:off x="-8779051" y="3676573"/>
            <a:ext cx="4822722" cy="523220"/>
          </a:xfrm>
          <a:prstGeom prst="rect">
            <a:avLst/>
          </a:prstGeom>
          <a:noFill/>
        </p:spPr>
        <p:txBody>
          <a:bodyPr wrap="square" rtlCol="0">
            <a:spAutoFit/>
          </a:bodyPr>
          <a:lstStyle/>
          <a:p>
            <a:pPr algn="ctr"/>
            <a:r>
              <a:rPr lang="en-US" sz="2800" dirty="0"/>
              <a:t>Walter R. Cassels</a:t>
            </a:r>
          </a:p>
        </p:txBody>
      </p:sp>
      <p:sp>
        <p:nvSpPr>
          <p:cNvPr id="36" name="TextBox 35">
            <a:extLst>
              <a:ext uri="{FF2B5EF4-FFF2-40B4-BE49-F238E27FC236}">
                <a16:creationId xmlns:a16="http://schemas.microsoft.com/office/drawing/2014/main" id="{759C1B84-8FB1-EC93-4A0E-9EDF6B896869}"/>
              </a:ext>
            </a:extLst>
          </p:cNvPr>
          <p:cNvSpPr txBox="1"/>
          <p:nvPr/>
        </p:nvSpPr>
        <p:spPr>
          <a:xfrm>
            <a:off x="-12463689" y="4392669"/>
            <a:ext cx="12192000" cy="2246769"/>
          </a:xfrm>
          <a:prstGeom prst="rect">
            <a:avLst/>
          </a:prstGeom>
          <a:noFill/>
        </p:spPr>
        <p:txBody>
          <a:bodyPr wrap="square" rtlCol="0">
            <a:spAutoFit/>
          </a:bodyPr>
          <a:lstStyle/>
          <a:p>
            <a:pPr algn="ctr"/>
            <a:r>
              <a:rPr lang="en-US" sz="2800" dirty="0"/>
              <a:t>Wrote an anonymous work in three volumes which revived some of the old arguments of 18</a:t>
            </a:r>
            <a:r>
              <a:rPr lang="en-US" sz="2800" baseline="30000" dirty="0"/>
              <a:t>th</a:t>
            </a:r>
            <a:r>
              <a:rPr lang="en-US" sz="2800" dirty="0"/>
              <a:t> century Deism. His “purpose was to show from patristic testimony that the canonical Gospels are so far removed in time from the events they record that they lose all competence as witnesses to the reality of the miraculous” (p. 22)</a:t>
            </a:r>
          </a:p>
        </p:txBody>
      </p:sp>
      <p:sp>
        <p:nvSpPr>
          <p:cNvPr id="37" name="Rectangle 36">
            <a:extLst>
              <a:ext uri="{FF2B5EF4-FFF2-40B4-BE49-F238E27FC236}">
                <a16:creationId xmlns:a16="http://schemas.microsoft.com/office/drawing/2014/main" id="{94B696F3-D6AD-D884-8C55-0767D7700A11}"/>
              </a:ext>
            </a:extLst>
          </p:cNvPr>
          <p:cNvSpPr/>
          <p:nvPr/>
        </p:nvSpPr>
        <p:spPr>
          <a:xfrm rot="16200000">
            <a:off x="-654230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46AF7D7F-4705-F8FF-08DD-E0558452C456}"/>
              </a:ext>
            </a:extLst>
          </p:cNvPr>
          <p:cNvSpPr txBox="1"/>
          <p:nvPr/>
        </p:nvSpPr>
        <p:spPr>
          <a:xfrm>
            <a:off x="-9484605" y="2423618"/>
            <a:ext cx="6341805" cy="523220"/>
          </a:xfrm>
          <a:prstGeom prst="rect">
            <a:avLst/>
          </a:prstGeom>
          <a:noFill/>
        </p:spPr>
        <p:txBody>
          <a:bodyPr wrap="square" rtlCol="0">
            <a:spAutoFit/>
          </a:bodyPr>
          <a:lstStyle/>
          <a:p>
            <a:pPr algn="ctr"/>
            <a:r>
              <a:rPr lang="en-US" sz="2800" b="1" dirty="0"/>
              <a:t>1894</a:t>
            </a:r>
          </a:p>
        </p:txBody>
      </p:sp>
      <p:sp>
        <p:nvSpPr>
          <p:cNvPr id="39" name="TextBox 38">
            <a:extLst>
              <a:ext uri="{FF2B5EF4-FFF2-40B4-BE49-F238E27FC236}">
                <a16:creationId xmlns:a16="http://schemas.microsoft.com/office/drawing/2014/main" id="{38BB9FE6-1584-C6D4-0048-4040CBAF9251}"/>
              </a:ext>
            </a:extLst>
          </p:cNvPr>
          <p:cNvSpPr txBox="1"/>
          <p:nvPr/>
        </p:nvSpPr>
        <p:spPr>
          <a:xfrm>
            <a:off x="-8725064" y="3676573"/>
            <a:ext cx="4822722" cy="523220"/>
          </a:xfrm>
          <a:prstGeom prst="rect">
            <a:avLst/>
          </a:prstGeom>
          <a:noFill/>
        </p:spPr>
        <p:txBody>
          <a:bodyPr wrap="square" rtlCol="0">
            <a:spAutoFit/>
          </a:bodyPr>
          <a:lstStyle/>
          <a:p>
            <a:pPr algn="ctr"/>
            <a:r>
              <a:rPr lang="en-US" sz="2800" dirty="0"/>
              <a:t>Adolf Jülicher</a:t>
            </a:r>
          </a:p>
        </p:txBody>
      </p:sp>
      <p:sp>
        <p:nvSpPr>
          <p:cNvPr id="40" name="TextBox 39">
            <a:extLst>
              <a:ext uri="{FF2B5EF4-FFF2-40B4-BE49-F238E27FC236}">
                <a16:creationId xmlns:a16="http://schemas.microsoft.com/office/drawing/2014/main" id="{926B0744-7F40-ACAE-2A13-EC97473E60D4}"/>
              </a:ext>
            </a:extLst>
          </p:cNvPr>
          <p:cNvSpPr txBox="1"/>
          <p:nvPr/>
        </p:nvSpPr>
        <p:spPr>
          <a:xfrm>
            <a:off x="-12409702" y="4392669"/>
            <a:ext cx="12192000" cy="1815882"/>
          </a:xfrm>
          <a:prstGeom prst="rect">
            <a:avLst/>
          </a:prstGeom>
          <a:noFill/>
        </p:spPr>
        <p:txBody>
          <a:bodyPr wrap="square" rtlCol="0">
            <a:spAutoFit/>
          </a:bodyPr>
          <a:lstStyle/>
          <a:p>
            <a:pPr algn="ctr"/>
            <a:r>
              <a:rPr lang="en-US" sz="2800" dirty="0"/>
              <a:t>“Said that the public reading…of Christian books and epistles in a liturgical setting, along with Old Testament books already regarded as authoritative, that was chiefly responsible for their being recognized eventually as canonical Scripture” (p. 23)</a:t>
            </a:r>
          </a:p>
        </p:txBody>
      </p:sp>
      <p:sp>
        <p:nvSpPr>
          <p:cNvPr id="41" name="Rectangle 40">
            <a:extLst>
              <a:ext uri="{FF2B5EF4-FFF2-40B4-BE49-F238E27FC236}">
                <a16:creationId xmlns:a16="http://schemas.microsoft.com/office/drawing/2014/main" id="{3DA422BB-DA7D-0E8F-B764-BB2F61AFA833}"/>
              </a:ext>
            </a:extLst>
          </p:cNvPr>
          <p:cNvSpPr/>
          <p:nvPr/>
        </p:nvSpPr>
        <p:spPr>
          <a:xfrm rot="16200000">
            <a:off x="-6652838"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5427FAA9-AA56-FB8D-DC5E-F947F05D3A5A}"/>
              </a:ext>
            </a:extLst>
          </p:cNvPr>
          <p:cNvSpPr txBox="1"/>
          <p:nvPr/>
        </p:nvSpPr>
        <p:spPr>
          <a:xfrm>
            <a:off x="-9595141" y="2423618"/>
            <a:ext cx="6341805" cy="523220"/>
          </a:xfrm>
          <a:prstGeom prst="rect">
            <a:avLst/>
          </a:prstGeom>
          <a:noFill/>
        </p:spPr>
        <p:txBody>
          <a:bodyPr wrap="square" rtlCol="0">
            <a:spAutoFit/>
          </a:bodyPr>
          <a:lstStyle/>
          <a:p>
            <a:pPr algn="ctr"/>
            <a:r>
              <a:rPr lang="en-US" sz="2800" b="1" dirty="0"/>
              <a:t>1888-1901</a:t>
            </a:r>
          </a:p>
        </p:txBody>
      </p:sp>
      <p:sp>
        <p:nvSpPr>
          <p:cNvPr id="43" name="TextBox 42">
            <a:extLst>
              <a:ext uri="{FF2B5EF4-FFF2-40B4-BE49-F238E27FC236}">
                <a16:creationId xmlns:a16="http://schemas.microsoft.com/office/drawing/2014/main" id="{D4A8562C-C60A-0586-774A-BB63A0950344}"/>
              </a:ext>
            </a:extLst>
          </p:cNvPr>
          <p:cNvSpPr txBox="1"/>
          <p:nvPr/>
        </p:nvSpPr>
        <p:spPr>
          <a:xfrm>
            <a:off x="-8835600" y="3676573"/>
            <a:ext cx="4822722" cy="523220"/>
          </a:xfrm>
          <a:prstGeom prst="rect">
            <a:avLst/>
          </a:prstGeom>
          <a:noFill/>
        </p:spPr>
        <p:txBody>
          <a:bodyPr wrap="square" rtlCol="0">
            <a:spAutoFit/>
          </a:bodyPr>
          <a:lstStyle/>
          <a:p>
            <a:pPr algn="ctr"/>
            <a:r>
              <a:rPr lang="en-US" sz="2800" dirty="0"/>
              <a:t>Theodor Zahn</a:t>
            </a:r>
          </a:p>
        </p:txBody>
      </p:sp>
      <p:sp>
        <p:nvSpPr>
          <p:cNvPr id="44" name="TextBox 43">
            <a:extLst>
              <a:ext uri="{FF2B5EF4-FFF2-40B4-BE49-F238E27FC236}">
                <a16:creationId xmlns:a16="http://schemas.microsoft.com/office/drawing/2014/main" id="{F261C5FB-5D1F-96EF-13F7-11AC571CDF21}"/>
              </a:ext>
            </a:extLst>
          </p:cNvPr>
          <p:cNvSpPr txBox="1"/>
          <p:nvPr/>
        </p:nvSpPr>
        <p:spPr>
          <a:xfrm>
            <a:off x="-12520238" y="4392669"/>
            <a:ext cx="12192000" cy="954107"/>
          </a:xfrm>
          <a:prstGeom prst="rect">
            <a:avLst/>
          </a:prstGeom>
          <a:noFill/>
        </p:spPr>
        <p:txBody>
          <a:bodyPr wrap="square" rtlCol="0">
            <a:spAutoFit/>
          </a:bodyPr>
          <a:lstStyle/>
          <a:p>
            <a:pPr algn="ctr"/>
            <a:r>
              <a:rPr lang="en-US" sz="2800" dirty="0"/>
              <a:t>Believed the canon “came into existence by the end of the first century” (p. 23-24)</a:t>
            </a:r>
          </a:p>
        </p:txBody>
      </p:sp>
      <p:sp>
        <p:nvSpPr>
          <p:cNvPr id="45" name="Rectangle 44">
            <a:extLst>
              <a:ext uri="{FF2B5EF4-FFF2-40B4-BE49-F238E27FC236}">
                <a16:creationId xmlns:a16="http://schemas.microsoft.com/office/drawing/2014/main" id="{246B8B09-AB67-9004-2310-03291258FE48}"/>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DC8530C7-8323-9D58-206A-8BA60AFDE6D5}"/>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1889</a:t>
            </a:r>
          </a:p>
        </p:txBody>
      </p:sp>
      <p:sp>
        <p:nvSpPr>
          <p:cNvPr id="47" name="TextBox 46">
            <a:extLst>
              <a:ext uri="{FF2B5EF4-FFF2-40B4-BE49-F238E27FC236}">
                <a16:creationId xmlns:a16="http://schemas.microsoft.com/office/drawing/2014/main" id="{24EB2246-FC39-A7EF-A65E-2D118E08BAC6}"/>
              </a:ext>
            </a:extLst>
          </p:cNvPr>
          <p:cNvSpPr txBox="1"/>
          <p:nvPr/>
        </p:nvSpPr>
        <p:spPr>
          <a:xfrm>
            <a:off x="3684638" y="3676573"/>
            <a:ext cx="4822722" cy="523220"/>
          </a:xfrm>
          <a:prstGeom prst="rect">
            <a:avLst/>
          </a:prstGeom>
          <a:noFill/>
        </p:spPr>
        <p:txBody>
          <a:bodyPr wrap="square" rtlCol="0">
            <a:spAutoFit/>
          </a:bodyPr>
          <a:lstStyle/>
          <a:p>
            <a:pPr algn="ctr"/>
            <a:r>
              <a:rPr lang="en-US" sz="2800" dirty="0"/>
              <a:t>Adolf Harnack</a:t>
            </a:r>
          </a:p>
        </p:txBody>
      </p:sp>
      <p:sp>
        <p:nvSpPr>
          <p:cNvPr id="48" name="TextBox 47">
            <a:extLst>
              <a:ext uri="{FF2B5EF4-FFF2-40B4-BE49-F238E27FC236}">
                <a16:creationId xmlns:a16="http://schemas.microsoft.com/office/drawing/2014/main" id="{A9F03C9E-C49F-19DB-D1FD-8E1E43B09407}"/>
              </a:ext>
            </a:extLst>
          </p:cNvPr>
          <p:cNvSpPr txBox="1"/>
          <p:nvPr/>
        </p:nvSpPr>
        <p:spPr>
          <a:xfrm>
            <a:off x="0" y="4348065"/>
            <a:ext cx="12192000" cy="2246769"/>
          </a:xfrm>
          <a:prstGeom prst="rect">
            <a:avLst/>
          </a:prstGeom>
          <a:noFill/>
        </p:spPr>
        <p:txBody>
          <a:bodyPr wrap="square" rtlCol="0">
            <a:spAutoFit/>
          </a:bodyPr>
          <a:lstStyle/>
          <a:p>
            <a:pPr marL="457200" indent="-457200" algn="ctr">
              <a:buFontTx/>
              <a:buChar char="-"/>
            </a:pPr>
            <a:r>
              <a:rPr lang="en-US" sz="2800" dirty="0"/>
              <a:t>Chief rival against Zahn</a:t>
            </a:r>
          </a:p>
          <a:p>
            <a:pPr marL="457200" indent="-457200" algn="ctr">
              <a:buFontTx/>
              <a:buChar char="-"/>
            </a:pPr>
            <a:r>
              <a:rPr lang="en-US" sz="2800" dirty="0"/>
              <a:t>Said that the canon was one of the three barriers which the Church created to defend against heresies such as Gnosticism (the other two were the creed and the bishopric)</a:t>
            </a:r>
          </a:p>
          <a:p>
            <a:pPr marL="457200" indent="-457200" algn="ctr">
              <a:buFontTx/>
              <a:buChar char="-"/>
            </a:pPr>
            <a:r>
              <a:rPr lang="en-US" sz="2800" dirty="0"/>
              <a:t>The process was a “competition” of books and the most helpful survived</a:t>
            </a:r>
          </a:p>
        </p:txBody>
      </p:sp>
    </p:spTree>
    <p:extLst>
      <p:ext uri="{BB962C8B-B14F-4D97-AF65-F5344CB8AC3E}">
        <p14:creationId xmlns:p14="http://schemas.microsoft.com/office/powerpoint/2010/main" val="3001902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500"/>
                                        <p:tgtEl>
                                          <p:spTgt spid="4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fade">
                                      <p:cBhvr>
                                        <p:cTn id="14" dur="500"/>
                                        <p:tgtEl>
                                          <p:spTgt spid="47"/>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p:bldP spid="47" grpId="0"/>
      <p:bldP spid="4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40DD9-D945-BFDA-23DF-9052C1EC7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2FF3B-41B6-8AB5-7BCB-2DE2B6E4C807}"/>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56E9F437-BE63-5615-62E2-98E81EC2A52D}"/>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EB37C28-F1C3-8071-3F70-E339D3934114}"/>
              </a:ext>
            </a:extLst>
          </p:cNvPr>
          <p:cNvSpPr/>
          <p:nvPr/>
        </p:nvSpPr>
        <p:spPr>
          <a:xfrm rot="16200000">
            <a:off x="-3864861"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53BF1BA-3D77-E7D5-0CCB-8C98E7A866D6}"/>
              </a:ext>
            </a:extLst>
          </p:cNvPr>
          <p:cNvSpPr txBox="1"/>
          <p:nvPr/>
        </p:nvSpPr>
        <p:spPr>
          <a:xfrm>
            <a:off x="-6807164"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4E17359F-D208-6F71-9905-72C4F625CCFD}"/>
              </a:ext>
            </a:extLst>
          </p:cNvPr>
          <p:cNvSpPr txBox="1"/>
          <p:nvPr/>
        </p:nvSpPr>
        <p:spPr>
          <a:xfrm>
            <a:off x="-6047623" y="3676573"/>
            <a:ext cx="4822722" cy="523220"/>
          </a:xfrm>
          <a:prstGeom prst="rect">
            <a:avLst/>
          </a:prstGeom>
          <a:noFill/>
        </p:spPr>
        <p:txBody>
          <a:bodyPr wrap="square" rtlCol="0">
            <a:spAutoFit/>
          </a:bodyPr>
          <a:lstStyle/>
          <a:p>
            <a:pPr algn="ctr"/>
            <a:r>
              <a:rPr lang="en-US" sz="2800" dirty="0"/>
              <a:t>John Toland</a:t>
            </a:r>
          </a:p>
        </p:txBody>
      </p:sp>
      <p:sp>
        <p:nvSpPr>
          <p:cNvPr id="3" name="Rectangle 2">
            <a:extLst>
              <a:ext uri="{FF2B5EF4-FFF2-40B4-BE49-F238E27FC236}">
                <a16:creationId xmlns:a16="http://schemas.microsoft.com/office/drawing/2014/main" id="{603915FC-593F-379F-7BAA-B3F37CF6098A}"/>
              </a:ext>
            </a:extLst>
          </p:cNvPr>
          <p:cNvSpPr/>
          <p:nvPr/>
        </p:nvSpPr>
        <p:spPr>
          <a:xfrm rot="16200000">
            <a:off x="-3916450" y="3104892"/>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678F489-70F9-2297-E7A4-00C01B5791A9}"/>
              </a:ext>
            </a:extLst>
          </p:cNvPr>
          <p:cNvSpPr txBox="1"/>
          <p:nvPr/>
        </p:nvSpPr>
        <p:spPr>
          <a:xfrm>
            <a:off x="-6881083" y="2423618"/>
            <a:ext cx="6341805" cy="523220"/>
          </a:xfrm>
          <a:prstGeom prst="rect">
            <a:avLst/>
          </a:prstGeom>
          <a:noFill/>
        </p:spPr>
        <p:txBody>
          <a:bodyPr wrap="square" rtlCol="0">
            <a:spAutoFit/>
          </a:bodyPr>
          <a:lstStyle/>
          <a:p>
            <a:pPr algn="ctr"/>
            <a:r>
              <a:rPr lang="en-US" sz="2800" b="1" dirty="0"/>
              <a:t>1700-1719</a:t>
            </a:r>
          </a:p>
        </p:txBody>
      </p:sp>
      <p:sp>
        <p:nvSpPr>
          <p:cNvPr id="5" name="TextBox 4">
            <a:extLst>
              <a:ext uri="{FF2B5EF4-FFF2-40B4-BE49-F238E27FC236}">
                <a16:creationId xmlns:a16="http://schemas.microsoft.com/office/drawing/2014/main" id="{5F00F1AA-F4F9-C5F9-4D62-76848CDFCE55}"/>
              </a:ext>
            </a:extLst>
          </p:cNvPr>
          <p:cNvSpPr txBox="1"/>
          <p:nvPr/>
        </p:nvSpPr>
        <p:spPr>
          <a:xfrm>
            <a:off x="-6121542" y="3676573"/>
            <a:ext cx="4822722" cy="954107"/>
          </a:xfrm>
          <a:prstGeom prst="rect">
            <a:avLst/>
          </a:prstGeom>
          <a:noFill/>
        </p:spPr>
        <p:txBody>
          <a:bodyPr wrap="square" rtlCol="0">
            <a:spAutoFit/>
          </a:bodyPr>
          <a:lstStyle/>
          <a:p>
            <a:pPr algn="ctr"/>
            <a:r>
              <a:rPr lang="en-US" sz="2800" dirty="0"/>
              <a:t>Samuel Clarke, Stephen Nye, John Richardson, and others</a:t>
            </a:r>
          </a:p>
        </p:txBody>
      </p:sp>
      <p:sp>
        <p:nvSpPr>
          <p:cNvPr id="7" name="TextBox 6">
            <a:extLst>
              <a:ext uri="{FF2B5EF4-FFF2-40B4-BE49-F238E27FC236}">
                <a16:creationId xmlns:a16="http://schemas.microsoft.com/office/drawing/2014/main" id="{411A96CA-F15A-B27D-9420-649CB4199712}"/>
              </a:ext>
            </a:extLst>
          </p:cNvPr>
          <p:cNvSpPr txBox="1"/>
          <p:nvPr/>
        </p:nvSpPr>
        <p:spPr>
          <a:xfrm>
            <a:off x="-12959136" y="4392669"/>
            <a:ext cx="12192000" cy="1384995"/>
          </a:xfrm>
          <a:prstGeom prst="rect">
            <a:avLst/>
          </a:prstGeom>
          <a:noFill/>
        </p:spPr>
        <p:txBody>
          <a:bodyPr wrap="square" rtlCol="0">
            <a:spAutoFit/>
          </a:bodyPr>
          <a:lstStyle/>
          <a:p>
            <a:pPr algn="ctr"/>
            <a:r>
              <a:rPr lang="en-US" sz="2800" dirty="0"/>
              <a:t>Used the “New and Full Method” of looking at ancient records to find early testimony or traditions of people concerning NT books written close to them in time </a:t>
            </a:r>
          </a:p>
        </p:txBody>
      </p:sp>
      <p:sp>
        <p:nvSpPr>
          <p:cNvPr id="9" name="TextBox 8">
            <a:extLst>
              <a:ext uri="{FF2B5EF4-FFF2-40B4-BE49-F238E27FC236}">
                <a16:creationId xmlns:a16="http://schemas.microsoft.com/office/drawing/2014/main" id="{03AB5A85-F8CB-9D5C-145F-068121DC4DFB}"/>
              </a:ext>
            </a:extLst>
          </p:cNvPr>
          <p:cNvSpPr txBox="1"/>
          <p:nvPr/>
        </p:nvSpPr>
        <p:spPr>
          <a:xfrm>
            <a:off x="-10034039" y="2423618"/>
            <a:ext cx="6341805" cy="523220"/>
          </a:xfrm>
          <a:prstGeom prst="rect">
            <a:avLst/>
          </a:prstGeom>
          <a:noFill/>
        </p:spPr>
        <p:txBody>
          <a:bodyPr wrap="square" rtlCol="0">
            <a:spAutoFit/>
          </a:bodyPr>
          <a:lstStyle/>
          <a:p>
            <a:pPr algn="ctr"/>
            <a:r>
              <a:rPr lang="en-US" sz="2800" b="1" dirty="0"/>
              <a:t>1726-1727</a:t>
            </a:r>
          </a:p>
        </p:txBody>
      </p:sp>
      <p:sp>
        <p:nvSpPr>
          <p:cNvPr id="10" name="TextBox 9">
            <a:extLst>
              <a:ext uri="{FF2B5EF4-FFF2-40B4-BE49-F238E27FC236}">
                <a16:creationId xmlns:a16="http://schemas.microsoft.com/office/drawing/2014/main" id="{9B005A67-A11C-DE44-FBD4-340173A3B0FD}"/>
              </a:ext>
            </a:extLst>
          </p:cNvPr>
          <p:cNvSpPr txBox="1"/>
          <p:nvPr/>
        </p:nvSpPr>
        <p:spPr>
          <a:xfrm>
            <a:off x="-9274498" y="3676573"/>
            <a:ext cx="4822722" cy="523220"/>
          </a:xfrm>
          <a:prstGeom prst="rect">
            <a:avLst/>
          </a:prstGeom>
          <a:noFill/>
        </p:spPr>
        <p:txBody>
          <a:bodyPr wrap="square" rtlCol="0">
            <a:spAutoFit/>
          </a:bodyPr>
          <a:lstStyle/>
          <a:p>
            <a:pPr algn="ctr"/>
            <a:r>
              <a:rPr lang="en-US" sz="2800" dirty="0"/>
              <a:t>Jeremiah Jones</a:t>
            </a:r>
          </a:p>
        </p:txBody>
      </p:sp>
      <p:sp>
        <p:nvSpPr>
          <p:cNvPr id="11" name="TextBox 10">
            <a:extLst>
              <a:ext uri="{FF2B5EF4-FFF2-40B4-BE49-F238E27FC236}">
                <a16:creationId xmlns:a16="http://schemas.microsoft.com/office/drawing/2014/main" id="{C45CD780-A3C3-237B-673A-8F8359E7E68F}"/>
              </a:ext>
            </a:extLst>
          </p:cNvPr>
          <p:cNvSpPr txBox="1"/>
          <p:nvPr/>
        </p:nvSpPr>
        <p:spPr>
          <a:xfrm>
            <a:off x="-12700394" y="4761635"/>
            <a:ext cx="12192000" cy="1815882"/>
          </a:xfrm>
          <a:prstGeom prst="rect">
            <a:avLst/>
          </a:prstGeom>
          <a:noFill/>
        </p:spPr>
        <p:txBody>
          <a:bodyPr wrap="square" rtlCol="0">
            <a:spAutoFit/>
          </a:bodyPr>
          <a:lstStyle/>
          <a:p>
            <a:pPr algn="ctr"/>
            <a:r>
              <a:rPr lang="en-US" sz="2800" dirty="0"/>
              <a:t>- Strongly denounced Toland</a:t>
            </a:r>
          </a:p>
          <a:p>
            <a:pPr algn="ctr"/>
            <a:r>
              <a:rPr lang="en-US" sz="2800" dirty="0"/>
              <a:t>- Richardson: “What the Apostles Wrote, and what they </a:t>
            </a:r>
            <a:r>
              <a:rPr lang="en-US" sz="2800" dirty="0" err="1"/>
              <a:t>Authoriz’d</a:t>
            </a:r>
            <a:r>
              <a:rPr lang="en-US" sz="2800" dirty="0"/>
              <a:t>, can be known in no other way, then by the Testimonies of those who </a:t>
            </a:r>
            <a:r>
              <a:rPr lang="en-US" sz="2800" dirty="0" err="1"/>
              <a:t>liv’d</a:t>
            </a:r>
            <a:r>
              <a:rPr lang="en-US" sz="2800" dirty="0"/>
              <a:t> at the same time with them, and the Tradition of those who succeeded them” (p. 13)</a:t>
            </a:r>
          </a:p>
        </p:txBody>
      </p:sp>
      <p:sp>
        <p:nvSpPr>
          <p:cNvPr id="12" name="TextBox 11">
            <a:extLst>
              <a:ext uri="{FF2B5EF4-FFF2-40B4-BE49-F238E27FC236}">
                <a16:creationId xmlns:a16="http://schemas.microsoft.com/office/drawing/2014/main" id="{325788D0-60AB-BC00-BE42-3F2AB1FEB73A}"/>
              </a:ext>
            </a:extLst>
          </p:cNvPr>
          <p:cNvSpPr txBox="1"/>
          <p:nvPr/>
        </p:nvSpPr>
        <p:spPr>
          <a:xfrm>
            <a:off x="-12959137" y="4392668"/>
            <a:ext cx="12192000" cy="954107"/>
          </a:xfrm>
          <a:prstGeom prst="rect">
            <a:avLst/>
          </a:prstGeom>
          <a:noFill/>
        </p:spPr>
        <p:txBody>
          <a:bodyPr wrap="square" rtlCol="0">
            <a:spAutoFit/>
          </a:bodyPr>
          <a:lstStyle/>
          <a:p>
            <a:pPr algn="ctr"/>
            <a:r>
              <a:rPr lang="en-US" sz="2800" dirty="0"/>
              <a:t>Jones made available for  the first time an English translation of the text of dozens of apocryphal writings” (p. 14)</a:t>
            </a:r>
          </a:p>
        </p:txBody>
      </p:sp>
      <p:sp>
        <p:nvSpPr>
          <p:cNvPr id="14" name="TextBox 13">
            <a:extLst>
              <a:ext uri="{FF2B5EF4-FFF2-40B4-BE49-F238E27FC236}">
                <a16:creationId xmlns:a16="http://schemas.microsoft.com/office/drawing/2014/main" id="{1650ECAF-55E8-3E8F-8824-FC0E46450E24}"/>
              </a:ext>
            </a:extLst>
          </p:cNvPr>
          <p:cNvSpPr txBox="1"/>
          <p:nvPr/>
        </p:nvSpPr>
        <p:spPr>
          <a:xfrm>
            <a:off x="-9816515" y="2423618"/>
            <a:ext cx="6341805" cy="523220"/>
          </a:xfrm>
          <a:prstGeom prst="rect">
            <a:avLst/>
          </a:prstGeom>
          <a:noFill/>
        </p:spPr>
        <p:txBody>
          <a:bodyPr wrap="square" rtlCol="0">
            <a:spAutoFit/>
          </a:bodyPr>
          <a:lstStyle/>
          <a:p>
            <a:pPr algn="ctr"/>
            <a:r>
              <a:rPr lang="en-US" sz="2800" b="1" dirty="0"/>
              <a:t>1699 (in France)</a:t>
            </a:r>
          </a:p>
        </p:txBody>
      </p:sp>
      <p:sp>
        <p:nvSpPr>
          <p:cNvPr id="15" name="TextBox 14">
            <a:extLst>
              <a:ext uri="{FF2B5EF4-FFF2-40B4-BE49-F238E27FC236}">
                <a16:creationId xmlns:a16="http://schemas.microsoft.com/office/drawing/2014/main" id="{426DCA1A-B171-7C3D-8C53-1742CF5F4985}"/>
              </a:ext>
            </a:extLst>
          </p:cNvPr>
          <p:cNvSpPr txBox="1"/>
          <p:nvPr/>
        </p:nvSpPr>
        <p:spPr>
          <a:xfrm>
            <a:off x="-9056974" y="3676573"/>
            <a:ext cx="4822722" cy="523220"/>
          </a:xfrm>
          <a:prstGeom prst="rect">
            <a:avLst/>
          </a:prstGeom>
          <a:noFill/>
        </p:spPr>
        <p:txBody>
          <a:bodyPr wrap="square" rtlCol="0">
            <a:spAutoFit/>
          </a:bodyPr>
          <a:lstStyle/>
          <a:p>
            <a:pPr algn="ctr"/>
            <a:r>
              <a:rPr lang="en-US" sz="2800" dirty="0"/>
              <a:t>Jacques Basnage</a:t>
            </a:r>
          </a:p>
        </p:txBody>
      </p:sp>
      <p:sp>
        <p:nvSpPr>
          <p:cNvPr id="16" name="TextBox 15">
            <a:extLst>
              <a:ext uri="{FF2B5EF4-FFF2-40B4-BE49-F238E27FC236}">
                <a16:creationId xmlns:a16="http://schemas.microsoft.com/office/drawing/2014/main" id="{CA571E3A-53B2-0C65-BC4D-6B8CC0729C5B}"/>
              </a:ext>
            </a:extLst>
          </p:cNvPr>
          <p:cNvSpPr txBox="1"/>
          <p:nvPr/>
        </p:nvSpPr>
        <p:spPr>
          <a:xfrm>
            <a:off x="-12741612" y="4392669"/>
            <a:ext cx="12192000" cy="1815882"/>
          </a:xfrm>
          <a:prstGeom prst="rect">
            <a:avLst/>
          </a:prstGeom>
          <a:noFill/>
        </p:spPr>
        <p:txBody>
          <a:bodyPr wrap="square" rtlCol="0">
            <a:spAutoFit/>
          </a:bodyPr>
          <a:lstStyle/>
          <a:p>
            <a:pPr algn="ctr"/>
            <a:r>
              <a:rPr lang="en-US" sz="2800" dirty="0"/>
              <a:t>Found that during the first 3 centuries “there was no decision concerning the limits of the New Testament canon, but each local church had the liberty to choose or reject individual books; this freedom was most noticeable among Eastern Churches in rejecting the Apocalypse” (p. 16)</a:t>
            </a:r>
          </a:p>
        </p:txBody>
      </p:sp>
      <p:sp>
        <p:nvSpPr>
          <p:cNvPr id="18" name="TextBox 17">
            <a:extLst>
              <a:ext uri="{FF2B5EF4-FFF2-40B4-BE49-F238E27FC236}">
                <a16:creationId xmlns:a16="http://schemas.microsoft.com/office/drawing/2014/main" id="{95CE07BE-2AC7-A904-0430-33EC1B640ACC}"/>
              </a:ext>
            </a:extLst>
          </p:cNvPr>
          <p:cNvSpPr txBox="1"/>
          <p:nvPr/>
        </p:nvSpPr>
        <p:spPr>
          <a:xfrm>
            <a:off x="-9776100" y="2423618"/>
            <a:ext cx="6341805" cy="523220"/>
          </a:xfrm>
          <a:prstGeom prst="rect">
            <a:avLst/>
          </a:prstGeom>
          <a:noFill/>
        </p:spPr>
        <p:txBody>
          <a:bodyPr wrap="square" rtlCol="0">
            <a:spAutoFit/>
          </a:bodyPr>
          <a:lstStyle/>
          <a:p>
            <a:pPr algn="ctr"/>
            <a:r>
              <a:rPr lang="en-US" sz="2800" b="1" dirty="0"/>
              <a:t>1804-1812</a:t>
            </a:r>
          </a:p>
        </p:txBody>
      </p:sp>
      <p:sp>
        <p:nvSpPr>
          <p:cNvPr id="19" name="TextBox 18">
            <a:extLst>
              <a:ext uri="{FF2B5EF4-FFF2-40B4-BE49-F238E27FC236}">
                <a16:creationId xmlns:a16="http://schemas.microsoft.com/office/drawing/2014/main" id="{3C8F6E31-473B-37C8-3CFC-0936AA7EB647}"/>
              </a:ext>
            </a:extLst>
          </p:cNvPr>
          <p:cNvSpPr txBox="1"/>
          <p:nvPr/>
        </p:nvSpPr>
        <p:spPr>
          <a:xfrm>
            <a:off x="-9016559" y="3676573"/>
            <a:ext cx="4822722" cy="523220"/>
          </a:xfrm>
          <a:prstGeom prst="rect">
            <a:avLst/>
          </a:prstGeom>
          <a:noFill/>
        </p:spPr>
        <p:txBody>
          <a:bodyPr wrap="square" rtlCol="0">
            <a:spAutoFit/>
          </a:bodyPr>
          <a:lstStyle/>
          <a:p>
            <a:pPr algn="ctr"/>
            <a:r>
              <a:rPr lang="en-US" sz="2800" dirty="0"/>
              <a:t>J. G. Eichhorn</a:t>
            </a:r>
          </a:p>
        </p:txBody>
      </p:sp>
      <p:sp>
        <p:nvSpPr>
          <p:cNvPr id="21" name="TextBox 20">
            <a:extLst>
              <a:ext uri="{FF2B5EF4-FFF2-40B4-BE49-F238E27FC236}">
                <a16:creationId xmlns:a16="http://schemas.microsoft.com/office/drawing/2014/main" id="{21B1F595-7F17-591B-3E8D-5C7E1D8E6197}"/>
              </a:ext>
            </a:extLst>
          </p:cNvPr>
          <p:cNvSpPr txBox="1"/>
          <p:nvPr/>
        </p:nvSpPr>
        <p:spPr>
          <a:xfrm>
            <a:off x="-12701197" y="4392669"/>
            <a:ext cx="12192000" cy="1384995"/>
          </a:xfrm>
          <a:prstGeom prst="rect">
            <a:avLst/>
          </a:prstGeom>
          <a:noFill/>
        </p:spPr>
        <p:txBody>
          <a:bodyPr wrap="square" rtlCol="0">
            <a:spAutoFit/>
          </a:bodyPr>
          <a:lstStyle/>
          <a:p>
            <a:pPr algn="ctr"/>
            <a:r>
              <a:rPr lang="en-US" sz="2800" dirty="0"/>
              <a:t>“The first to attribute to Marcion the stimulus to collect the New Testament writings, and argued that the core of the future canon was established by about AD 175” (p. 18)</a:t>
            </a:r>
          </a:p>
        </p:txBody>
      </p:sp>
      <p:sp>
        <p:nvSpPr>
          <p:cNvPr id="24" name="Rectangle 23">
            <a:extLst>
              <a:ext uri="{FF2B5EF4-FFF2-40B4-BE49-F238E27FC236}">
                <a16:creationId xmlns:a16="http://schemas.microsoft.com/office/drawing/2014/main" id="{04700C4A-3CCE-A5D8-F7BA-ACFFE8B4D173}"/>
              </a:ext>
            </a:extLst>
          </p:cNvPr>
          <p:cNvSpPr/>
          <p:nvPr/>
        </p:nvSpPr>
        <p:spPr>
          <a:xfrm rot="16200000">
            <a:off x="-681160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3569255-86EA-6AF3-E432-CDD4A8FE84CB}"/>
              </a:ext>
            </a:extLst>
          </p:cNvPr>
          <p:cNvSpPr txBox="1"/>
          <p:nvPr/>
        </p:nvSpPr>
        <p:spPr>
          <a:xfrm>
            <a:off x="-9753905" y="2423618"/>
            <a:ext cx="6341805" cy="523220"/>
          </a:xfrm>
          <a:prstGeom prst="rect">
            <a:avLst/>
          </a:prstGeom>
          <a:noFill/>
        </p:spPr>
        <p:txBody>
          <a:bodyPr wrap="square" rtlCol="0">
            <a:spAutoFit/>
          </a:bodyPr>
          <a:lstStyle/>
          <a:p>
            <a:pPr algn="ctr"/>
            <a:r>
              <a:rPr lang="en-US" sz="2800" b="1" dirty="0"/>
              <a:t>1826 (in America)</a:t>
            </a:r>
          </a:p>
        </p:txBody>
      </p:sp>
      <p:sp>
        <p:nvSpPr>
          <p:cNvPr id="26" name="TextBox 25">
            <a:extLst>
              <a:ext uri="{FF2B5EF4-FFF2-40B4-BE49-F238E27FC236}">
                <a16:creationId xmlns:a16="http://schemas.microsoft.com/office/drawing/2014/main" id="{2F8D0329-B7F0-F664-DA08-23D98CE844E4}"/>
              </a:ext>
            </a:extLst>
          </p:cNvPr>
          <p:cNvSpPr txBox="1"/>
          <p:nvPr/>
        </p:nvSpPr>
        <p:spPr>
          <a:xfrm>
            <a:off x="-8994364" y="3676573"/>
            <a:ext cx="4822722" cy="523220"/>
          </a:xfrm>
          <a:prstGeom prst="rect">
            <a:avLst/>
          </a:prstGeom>
          <a:noFill/>
        </p:spPr>
        <p:txBody>
          <a:bodyPr wrap="square" rtlCol="0">
            <a:spAutoFit/>
          </a:bodyPr>
          <a:lstStyle/>
          <a:p>
            <a:pPr algn="ctr"/>
            <a:r>
              <a:rPr lang="en-US" sz="2800" dirty="0"/>
              <a:t>Archibald Alexander</a:t>
            </a:r>
          </a:p>
        </p:txBody>
      </p:sp>
      <p:sp>
        <p:nvSpPr>
          <p:cNvPr id="27" name="TextBox 26">
            <a:extLst>
              <a:ext uri="{FF2B5EF4-FFF2-40B4-BE49-F238E27FC236}">
                <a16:creationId xmlns:a16="http://schemas.microsoft.com/office/drawing/2014/main" id="{ACD2F6B8-E54F-129E-A847-BAA4157C2341}"/>
              </a:ext>
            </a:extLst>
          </p:cNvPr>
          <p:cNvSpPr txBox="1"/>
          <p:nvPr/>
        </p:nvSpPr>
        <p:spPr>
          <a:xfrm>
            <a:off x="-12679002" y="4392669"/>
            <a:ext cx="12192000" cy="2246769"/>
          </a:xfrm>
          <a:prstGeom prst="rect">
            <a:avLst/>
          </a:prstGeom>
          <a:noFill/>
        </p:spPr>
        <p:txBody>
          <a:bodyPr wrap="square" rtlCol="0">
            <a:spAutoFit/>
          </a:bodyPr>
          <a:lstStyle/>
          <a:p>
            <a:pPr marL="457200" indent="-457200" algn="ctr">
              <a:buFontTx/>
              <a:buChar char="-"/>
            </a:pPr>
            <a:r>
              <a:rPr lang="en-US" sz="2800" dirty="0"/>
              <a:t>Wrote the first book (in the US) dealing solely with the Biblical canon</a:t>
            </a:r>
          </a:p>
          <a:p>
            <a:pPr marL="457200" indent="-457200" algn="ctr">
              <a:buFontTx/>
              <a:buChar char="-"/>
            </a:pPr>
            <a:r>
              <a:rPr lang="en-US" sz="2800" dirty="0"/>
              <a:t>“Argued that </a:t>
            </a:r>
            <a:r>
              <a:rPr lang="en-US" sz="2800" b="1" u="sng" dirty="0"/>
              <a:t>the criterion of New Testament canonicity is apostolic authorship</a:t>
            </a:r>
            <a:r>
              <a:rPr lang="en-US" sz="2800" dirty="0"/>
              <a:t>, whether direct or indirect (the latter in the case of Mark and Luke). Apostolicity is to be established by historically verified testimonies of patristic writers of the early Christian centuries” (p. 18)</a:t>
            </a:r>
          </a:p>
        </p:txBody>
      </p:sp>
      <p:sp>
        <p:nvSpPr>
          <p:cNvPr id="8" name="Rectangle 7">
            <a:extLst>
              <a:ext uri="{FF2B5EF4-FFF2-40B4-BE49-F238E27FC236}">
                <a16:creationId xmlns:a16="http://schemas.microsoft.com/office/drawing/2014/main" id="{4C458947-E65F-8C8C-957E-845E3B6C5664}"/>
              </a:ext>
            </a:extLst>
          </p:cNvPr>
          <p:cNvSpPr/>
          <p:nvPr/>
        </p:nvSpPr>
        <p:spPr>
          <a:xfrm rot="16200000">
            <a:off x="1817206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F7C82F4-D3F3-9733-121B-69652D53ABED}"/>
              </a:ext>
            </a:extLst>
          </p:cNvPr>
          <p:cNvSpPr txBox="1"/>
          <p:nvPr/>
        </p:nvSpPr>
        <p:spPr>
          <a:xfrm>
            <a:off x="15229759" y="2423618"/>
            <a:ext cx="6341805" cy="523220"/>
          </a:xfrm>
          <a:prstGeom prst="rect">
            <a:avLst/>
          </a:prstGeom>
          <a:noFill/>
        </p:spPr>
        <p:txBody>
          <a:bodyPr wrap="square" rtlCol="0">
            <a:spAutoFit/>
          </a:bodyPr>
          <a:lstStyle/>
          <a:p>
            <a:pPr algn="ctr"/>
            <a:r>
              <a:rPr lang="en-US" sz="2800" b="1" dirty="0"/>
              <a:t>1866</a:t>
            </a:r>
          </a:p>
        </p:txBody>
      </p:sp>
      <p:sp>
        <p:nvSpPr>
          <p:cNvPr id="17" name="TextBox 16">
            <a:extLst>
              <a:ext uri="{FF2B5EF4-FFF2-40B4-BE49-F238E27FC236}">
                <a16:creationId xmlns:a16="http://schemas.microsoft.com/office/drawing/2014/main" id="{D18507C5-BE1F-854F-81F2-973B5E203A5D}"/>
              </a:ext>
            </a:extLst>
          </p:cNvPr>
          <p:cNvSpPr txBox="1"/>
          <p:nvPr/>
        </p:nvSpPr>
        <p:spPr>
          <a:xfrm>
            <a:off x="15989300" y="3676573"/>
            <a:ext cx="4822722" cy="523220"/>
          </a:xfrm>
          <a:prstGeom prst="rect">
            <a:avLst/>
          </a:prstGeom>
          <a:noFill/>
        </p:spPr>
        <p:txBody>
          <a:bodyPr wrap="square" rtlCol="0">
            <a:spAutoFit/>
          </a:bodyPr>
          <a:lstStyle/>
          <a:p>
            <a:pPr algn="ctr"/>
            <a:r>
              <a:rPr lang="en-US" sz="2800" dirty="0"/>
              <a:t>Constantin von Tischendorf</a:t>
            </a:r>
          </a:p>
        </p:txBody>
      </p:sp>
      <p:sp>
        <p:nvSpPr>
          <p:cNvPr id="28" name="TextBox 27">
            <a:extLst>
              <a:ext uri="{FF2B5EF4-FFF2-40B4-BE49-F238E27FC236}">
                <a16:creationId xmlns:a16="http://schemas.microsoft.com/office/drawing/2014/main" id="{8BFF7B1B-1E6F-C7B9-6A04-2AD9A41731E3}"/>
              </a:ext>
            </a:extLst>
          </p:cNvPr>
          <p:cNvSpPr txBox="1"/>
          <p:nvPr/>
        </p:nvSpPr>
        <p:spPr>
          <a:xfrm>
            <a:off x="12304662" y="4392669"/>
            <a:ext cx="12192000" cy="954107"/>
          </a:xfrm>
          <a:prstGeom prst="rect">
            <a:avLst/>
          </a:prstGeom>
          <a:noFill/>
        </p:spPr>
        <p:txBody>
          <a:bodyPr wrap="square" rtlCol="0">
            <a:spAutoFit/>
          </a:bodyPr>
          <a:lstStyle/>
          <a:p>
            <a:pPr algn="ctr"/>
            <a:r>
              <a:rPr lang="en-US" sz="2800" dirty="0"/>
              <a:t>Argued  the canon of the NT was established by the beginning of the 2</a:t>
            </a:r>
            <a:r>
              <a:rPr lang="en-US" sz="2800" baseline="30000" dirty="0"/>
              <a:t>nd</a:t>
            </a:r>
            <a:r>
              <a:rPr lang="en-US" sz="2800" dirty="0"/>
              <a:t> century</a:t>
            </a:r>
          </a:p>
        </p:txBody>
      </p:sp>
      <p:sp>
        <p:nvSpPr>
          <p:cNvPr id="29" name="Rectangle 28">
            <a:extLst>
              <a:ext uri="{FF2B5EF4-FFF2-40B4-BE49-F238E27FC236}">
                <a16:creationId xmlns:a16="http://schemas.microsoft.com/office/drawing/2014/main" id="{32216B8A-14D2-0F2F-E45B-0A8C7E7D286B}"/>
              </a:ext>
            </a:extLst>
          </p:cNvPr>
          <p:cNvSpPr/>
          <p:nvPr/>
        </p:nvSpPr>
        <p:spPr>
          <a:xfrm rot="16200000">
            <a:off x="-6846605"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7234B0E-D461-C77C-4070-091BC524A280}"/>
              </a:ext>
            </a:extLst>
          </p:cNvPr>
          <p:cNvSpPr txBox="1"/>
          <p:nvPr/>
        </p:nvSpPr>
        <p:spPr>
          <a:xfrm>
            <a:off x="-9788908" y="2423618"/>
            <a:ext cx="6341805" cy="523220"/>
          </a:xfrm>
          <a:prstGeom prst="rect">
            <a:avLst/>
          </a:prstGeom>
          <a:noFill/>
        </p:spPr>
        <p:txBody>
          <a:bodyPr wrap="square" rtlCol="0">
            <a:spAutoFit/>
          </a:bodyPr>
          <a:lstStyle/>
          <a:p>
            <a:pPr algn="ctr"/>
            <a:r>
              <a:rPr lang="en-US" sz="2800" b="1" dirty="0"/>
              <a:t>1855 (in Britian)</a:t>
            </a:r>
          </a:p>
        </p:txBody>
      </p:sp>
      <p:sp>
        <p:nvSpPr>
          <p:cNvPr id="31" name="TextBox 30">
            <a:extLst>
              <a:ext uri="{FF2B5EF4-FFF2-40B4-BE49-F238E27FC236}">
                <a16:creationId xmlns:a16="http://schemas.microsoft.com/office/drawing/2014/main" id="{C893BF91-1416-82AF-BDDC-BCCEAE7F0300}"/>
              </a:ext>
            </a:extLst>
          </p:cNvPr>
          <p:cNvSpPr txBox="1"/>
          <p:nvPr/>
        </p:nvSpPr>
        <p:spPr>
          <a:xfrm>
            <a:off x="-9029367" y="3676573"/>
            <a:ext cx="4822722" cy="523220"/>
          </a:xfrm>
          <a:prstGeom prst="rect">
            <a:avLst/>
          </a:prstGeom>
          <a:noFill/>
        </p:spPr>
        <p:txBody>
          <a:bodyPr wrap="square" rtlCol="0">
            <a:spAutoFit/>
          </a:bodyPr>
          <a:lstStyle/>
          <a:p>
            <a:pPr algn="ctr"/>
            <a:r>
              <a:rPr lang="en-US" sz="2800" dirty="0"/>
              <a:t>Brooke Foss Westcott</a:t>
            </a:r>
          </a:p>
        </p:txBody>
      </p:sp>
      <p:sp>
        <p:nvSpPr>
          <p:cNvPr id="32" name="TextBox 31">
            <a:extLst>
              <a:ext uri="{FF2B5EF4-FFF2-40B4-BE49-F238E27FC236}">
                <a16:creationId xmlns:a16="http://schemas.microsoft.com/office/drawing/2014/main" id="{CE37BA7C-F7DA-F599-B288-EBA4987C5365}"/>
              </a:ext>
            </a:extLst>
          </p:cNvPr>
          <p:cNvSpPr txBox="1"/>
          <p:nvPr/>
        </p:nvSpPr>
        <p:spPr>
          <a:xfrm>
            <a:off x="-12714005" y="4392669"/>
            <a:ext cx="12192000" cy="1384995"/>
          </a:xfrm>
          <a:prstGeom prst="rect">
            <a:avLst/>
          </a:prstGeom>
          <a:noFill/>
        </p:spPr>
        <p:txBody>
          <a:bodyPr wrap="square" rtlCol="0">
            <a:spAutoFit/>
          </a:bodyPr>
          <a:lstStyle/>
          <a:p>
            <a:pPr algn="ctr"/>
            <a:r>
              <a:rPr lang="en-US" sz="2800" dirty="0"/>
              <a:t>Said that the formulation of the canon was one of “the first instinctive acts of the Christian society, resting upon the general confession of the Churches and not upon independent opinions of its members” (p. 21)</a:t>
            </a:r>
          </a:p>
        </p:txBody>
      </p:sp>
      <p:sp>
        <p:nvSpPr>
          <p:cNvPr id="33" name="Rectangle 32">
            <a:extLst>
              <a:ext uri="{FF2B5EF4-FFF2-40B4-BE49-F238E27FC236}">
                <a16:creationId xmlns:a16="http://schemas.microsoft.com/office/drawing/2014/main" id="{20B2DF89-28E2-2EF8-98B6-C0ADC37C388C}"/>
              </a:ext>
            </a:extLst>
          </p:cNvPr>
          <p:cNvSpPr/>
          <p:nvPr/>
        </p:nvSpPr>
        <p:spPr>
          <a:xfrm rot="16200000">
            <a:off x="-6985755"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CA555489-7CC7-B696-3758-6E7925E1C546}"/>
              </a:ext>
            </a:extLst>
          </p:cNvPr>
          <p:cNvSpPr txBox="1"/>
          <p:nvPr/>
        </p:nvSpPr>
        <p:spPr>
          <a:xfrm>
            <a:off x="-9928058" y="2423618"/>
            <a:ext cx="6341805" cy="523220"/>
          </a:xfrm>
          <a:prstGeom prst="rect">
            <a:avLst/>
          </a:prstGeom>
          <a:noFill/>
        </p:spPr>
        <p:txBody>
          <a:bodyPr wrap="square" rtlCol="0">
            <a:spAutoFit/>
          </a:bodyPr>
          <a:lstStyle/>
          <a:p>
            <a:pPr algn="ctr"/>
            <a:r>
              <a:rPr lang="en-US" sz="2800" b="1" dirty="0"/>
              <a:t>1874-1877</a:t>
            </a:r>
          </a:p>
        </p:txBody>
      </p:sp>
      <p:sp>
        <p:nvSpPr>
          <p:cNvPr id="35" name="TextBox 34">
            <a:extLst>
              <a:ext uri="{FF2B5EF4-FFF2-40B4-BE49-F238E27FC236}">
                <a16:creationId xmlns:a16="http://schemas.microsoft.com/office/drawing/2014/main" id="{00FEBAEB-D09C-864E-9970-CC2BFCB48B3A}"/>
              </a:ext>
            </a:extLst>
          </p:cNvPr>
          <p:cNvSpPr txBox="1"/>
          <p:nvPr/>
        </p:nvSpPr>
        <p:spPr>
          <a:xfrm>
            <a:off x="-9168517" y="3676573"/>
            <a:ext cx="4822722" cy="523220"/>
          </a:xfrm>
          <a:prstGeom prst="rect">
            <a:avLst/>
          </a:prstGeom>
          <a:noFill/>
        </p:spPr>
        <p:txBody>
          <a:bodyPr wrap="square" rtlCol="0">
            <a:spAutoFit/>
          </a:bodyPr>
          <a:lstStyle/>
          <a:p>
            <a:pPr algn="ctr"/>
            <a:r>
              <a:rPr lang="en-US" sz="2800" dirty="0"/>
              <a:t>Walter R. Cassels</a:t>
            </a:r>
          </a:p>
        </p:txBody>
      </p:sp>
      <p:sp>
        <p:nvSpPr>
          <p:cNvPr id="36" name="TextBox 35">
            <a:extLst>
              <a:ext uri="{FF2B5EF4-FFF2-40B4-BE49-F238E27FC236}">
                <a16:creationId xmlns:a16="http://schemas.microsoft.com/office/drawing/2014/main" id="{71A8AF19-F42F-5F25-15EF-2A3F16F64D63}"/>
              </a:ext>
            </a:extLst>
          </p:cNvPr>
          <p:cNvSpPr txBox="1"/>
          <p:nvPr/>
        </p:nvSpPr>
        <p:spPr>
          <a:xfrm>
            <a:off x="-12853155" y="4392669"/>
            <a:ext cx="12192000" cy="2246769"/>
          </a:xfrm>
          <a:prstGeom prst="rect">
            <a:avLst/>
          </a:prstGeom>
          <a:noFill/>
        </p:spPr>
        <p:txBody>
          <a:bodyPr wrap="square" rtlCol="0">
            <a:spAutoFit/>
          </a:bodyPr>
          <a:lstStyle/>
          <a:p>
            <a:pPr algn="ctr"/>
            <a:r>
              <a:rPr lang="en-US" sz="2800" dirty="0"/>
              <a:t>Wrote an anonymous work in three volumes which revived some of the old arguments of 18</a:t>
            </a:r>
            <a:r>
              <a:rPr lang="en-US" sz="2800" baseline="30000" dirty="0"/>
              <a:t>th</a:t>
            </a:r>
            <a:r>
              <a:rPr lang="en-US" sz="2800" dirty="0"/>
              <a:t> century Deism. His “purpose was to show from patristic testimony that the canonical Gospels are so far removed in time from the events they record that they lose all competence as witnesses to the reality of the miraculous” (p. 22)</a:t>
            </a:r>
          </a:p>
        </p:txBody>
      </p:sp>
      <p:sp>
        <p:nvSpPr>
          <p:cNvPr id="37" name="Rectangle 36">
            <a:extLst>
              <a:ext uri="{FF2B5EF4-FFF2-40B4-BE49-F238E27FC236}">
                <a16:creationId xmlns:a16="http://schemas.microsoft.com/office/drawing/2014/main" id="{6D93369C-8E72-9E21-2962-49C5D57B3464}"/>
              </a:ext>
            </a:extLst>
          </p:cNvPr>
          <p:cNvSpPr/>
          <p:nvPr/>
        </p:nvSpPr>
        <p:spPr>
          <a:xfrm rot="16200000">
            <a:off x="3575921"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14541465-5A86-863E-54A2-13B7A592A627}"/>
              </a:ext>
            </a:extLst>
          </p:cNvPr>
          <p:cNvSpPr txBox="1"/>
          <p:nvPr/>
        </p:nvSpPr>
        <p:spPr>
          <a:xfrm>
            <a:off x="-9874071" y="2423618"/>
            <a:ext cx="6341805" cy="523220"/>
          </a:xfrm>
          <a:prstGeom prst="rect">
            <a:avLst/>
          </a:prstGeom>
          <a:noFill/>
        </p:spPr>
        <p:txBody>
          <a:bodyPr wrap="square" rtlCol="0">
            <a:spAutoFit/>
          </a:bodyPr>
          <a:lstStyle/>
          <a:p>
            <a:pPr algn="ctr"/>
            <a:r>
              <a:rPr lang="en-US" sz="2800" b="1" dirty="0"/>
              <a:t>1894</a:t>
            </a:r>
          </a:p>
        </p:txBody>
      </p:sp>
      <p:sp>
        <p:nvSpPr>
          <p:cNvPr id="39" name="TextBox 38">
            <a:extLst>
              <a:ext uri="{FF2B5EF4-FFF2-40B4-BE49-F238E27FC236}">
                <a16:creationId xmlns:a16="http://schemas.microsoft.com/office/drawing/2014/main" id="{2EC8E293-2180-2BFA-FE29-1A3375F680C0}"/>
              </a:ext>
            </a:extLst>
          </p:cNvPr>
          <p:cNvSpPr txBox="1"/>
          <p:nvPr/>
        </p:nvSpPr>
        <p:spPr>
          <a:xfrm>
            <a:off x="-9114530" y="3676573"/>
            <a:ext cx="4822722" cy="523220"/>
          </a:xfrm>
          <a:prstGeom prst="rect">
            <a:avLst/>
          </a:prstGeom>
          <a:noFill/>
        </p:spPr>
        <p:txBody>
          <a:bodyPr wrap="square" rtlCol="0">
            <a:spAutoFit/>
          </a:bodyPr>
          <a:lstStyle/>
          <a:p>
            <a:pPr algn="ctr"/>
            <a:r>
              <a:rPr lang="en-US" sz="2800" dirty="0"/>
              <a:t>Adolf Jülicher</a:t>
            </a:r>
          </a:p>
        </p:txBody>
      </p:sp>
      <p:sp>
        <p:nvSpPr>
          <p:cNvPr id="40" name="TextBox 39">
            <a:extLst>
              <a:ext uri="{FF2B5EF4-FFF2-40B4-BE49-F238E27FC236}">
                <a16:creationId xmlns:a16="http://schemas.microsoft.com/office/drawing/2014/main" id="{26C6845E-A946-78E4-7FB1-05831323D83A}"/>
              </a:ext>
            </a:extLst>
          </p:cNvPr>
          <p:cNvSpPr txBox="1"/>
          <p:nvPr/>
        </p:nvSpPr>
        <p:spPr>
          <a:xfrm>
            <a:off x="-12799168" y="4392669"/>
            <a:ext cx="12192000" cy="1815882"/>
          </a:xfrm>
          <a:prstGeom prst="rect">
            <a:avLst/>
          </a:prstGeom>
          <a:noFill/>
        </p:spPr>
        <p:txBody>
          <a:bodyPr wrap="square" rtlCol="0">
            <a:spAutoFit/>
          </a:bodyPr>
          <a:lstStyle/>
          <a:p>
            <a:pPr algn="ctr"/>
            <a:r>
              <a:rPr lang="en-US" sz="2800" dirty="0"/>
              <a:t>“Said that the public reading…of Christian books and epistles in a liturgical setting, along with Old Testament books already regarded as authoritative, that was chiefly responsible for their being recognized eventually as canonical Scripture” (p. 23)</a:t>
            </a:r>
          </a:p>
        </p:txBody>
      </p:sp>
      <p:sp>
        <p:nvSpPr>
          <p:cNvPr id="41" name="Rectangle 40">
            <a:extLst>
              <a:ext uri="{FF2B5EF4-FFF2-40B4-BE49-F238E27FC236}">
                <a16:creationId xmlns:a16="http://schemas.microsoft.com/office/drawing/2014/main" id="{034EA254-7751-4430-47E9-3803BF9CE167}"/>
              </a:ext>
            </a:extLst>
          </p:cNvPr>
          <p:cNvSpPr/>
          <p:nvPr/>
        </p:nvSpPr>
        <p:spPr>
          <a:xfrm rot="16200000">
            <a:off x="-7042304"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C5630AF8-2391-D7BC-C260-D6EF15B0ED88}"/>
              </a:ext>
            </a:extLst>
          </p:cNvPr>
          <p:cNvSpPr txBox="1"/>
          <p:nvPr/>
        </p:nvSpPr>
        <p:spPr>
          <a:xfrm>
            <a:off x="624616" y="2423618"/>
            <a:ext cx="6341805" cy="523220"/>
          </a:xfrm>
          <a:prstGeom prst="rect">
            <a:avLst/>
          </a:prstGeom>
          <a:noFill/>
        </p:spPr>
        <p:txBody>
          <a:bodyPr wrap="square" rtlCol="0">
            <a:spAutoFit/>
          </a:bodyPr>
          <a:lstStyle/>
          <a:p>
            <a:pPr algn="ctr"/>
            <a:r>
              <a:rPr lang="en-US" sz="2800" b="1" dirty="0"/>
              <a:t>1888-1901</a:t>
            </a:r>
          </a:p>
        </p:txBody>
      </p:sp>
      <p:sp>
        <p:nvSpPr>
          <p:cNvPr id="43" name="TextBox 42">
            <a:extLst>
              <a:ext uri="{FF2B5EF4-FFF2-40B4-BE49-F238E27FC236}">
                <a16:creationId xmlns:a16="http://schemas.microsoft.com/office/drawing/2014/main" id="{3FE6D3A2-7C0D-1304-5016-978761CFBFD6}"/>
              </a:ext>
            </a:extLst>
          </p:cNvPr>
          <p:cNvSpPr txBox="1"/>
          <p:nvPr/>
        </p:nvSpPr>
        <p:spPr>
          <a:xfrm>
            <a:off x="1261709" y="3676573"/>
            <a:ext cx="4822722" cy="523220"/>
          </a:xfrm>
          <a:prstGeom prst="rect">
            <a:avLst/>
          </a:prstGeom>
          <a:noFill/>
        </p:spPr>
        <p:txBody>
          <a:bodyPr wrap="square" rtlCol="0">
            <a:spAutoFit/>
          </a:bodyPr>
          <a:lstStyle/>
          <a:p>
            <a:pPr algn="ctr"/>
            <a:r>
              <a:rPr lang="en-US" sz="2800" dirty="0"/>
              <a:t>Theodor Zahn</a:t>
            </a:r>
          </a:p>
        </p:txBody>
      </p:sp>
      <p:sp>
        <p:nvSpPr>
          <p:cNvPr id="44" name="TextBox 43">
            <a:extLst>
              <a:ext uri="{FF2B5EF4-FFF2-40B4-BE49-F238E27FC236}">
                <a16:creationId xmlns:a16="http://schemas.microsoft.com/office/drawing/2014/main" id="{7BC6E4D7-4412-341D-3F4F-B68041BDF3B5}"/>
              </a:ext>
            </a:extLst>
          </p:cNvPr>
          <p:cNvSpPr txBox="1"/>
          <p:nvPr/>
        </p:nvSpPr>
        <p:spPr>
          <a:xfrm>
            <a:off x="-12909704" y="4392669"/>
            <a:ext cx="12192000" cy="954107"/>
          </a:xfrm>
          <a:prstGeom prst="rect">
            <a:avLst/>
          </a:prstGeom>
          <a:noFill/>
        </p:spPr>
        <p:txBody>
          <a:bodyPr wrap="square" rtlCol="0">
            <a:spAutoFit/>
          </a:bodyPr>
          <a:lstStyle/>
          <a:p>
            <a:pPr algn="ctr"/>
            <a:r>
              <a:rPr lang="en-US" sz="2800" dirty="0"/>
              <a:t>Believed the canon “came into existence by the end of the first century” (p. 23-24)</a:t>
            </a:r>
          </a:p>
        </p:txBody>
      </p:sp>
      <p:sp>
        <p:nvSpPr>
          <p:cNvPr id="45" name="Rectangle 44">
            <a:extLst>
              <a:ext uri="{FF2B5EF4-FFF2-40B4-BE49-F238E27FC236}">
                <a16:creationId xmlns:a16="http://schemas.microsoft.com/office/drawing/2014/main" id="{FF5735E8-A050-EF24-434A-2A734533DF22}"/>
              </a:ext>
            </a:extLst>
          </p:cNvPr>
          <p:cNvSpPr/>
          <p:nvPr/>
        </p:nvSpPr>
        <p:spPr>
          <a:xfrm rot="16200000">
            <a:off x="8287869"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D3C4D426-815F-4822-5E4E-3A4BC3BDB45C}"/>
              </a:ext>
            </a:extLst>
          </p:cNvPr>
          <p:cNvSpPr txBox="1"/>
          <p:nvPr/>
        </p:nvSpPr>
        <p:spPr>
          <a:xfrm>
            <a:off x="5345566" y="2423618"/>
            <a:ext cx="6341805" cy="523220"/>
          </a:xfrm>
          <a:prstGeom prst="rect">
            <a:avLst/>
          </a:prstGeom>
          <a:noFill/>
        </p:spPr>
        <p:txBody>
          <a:bodyPr wrap="square" rtlCol="0">
            <a:spAutoFit/>
          </a:bodyPr>
          <a:lstStyle/>
          <a:p>
            <a:pPr algn="ctr"/>
            <a:r>
              <a:rPr lang="en-US" sz="2800" b="1" dirty="0"/>
              <a:t>1889</a:t>
            </a:r>
          </a:p>
        </p:txBody>
      </p:sp>
      <p:sp>
        <p:nvSpPr>
          <p:cNvPr id="47" name="TextBox 46">
            <a:extLst>
              <a:ext uri="{FF2B5EF4-FFF2-40B4-BE49-F238E27FC236}">
                <a16:creationId xmlns:a16="http://schemas.microsoft.com/office/drawing/2014/main" id="{4C9309A6-B6AA-F9EE-7205-F8805283EFA1}"/>
              </a:ext>
            </a:extLst>
          </p:cNvPr>
          <p:cNvSpPr txBox="1"/>
          <p:nvPr/>
        </p:nvSpPr>
        <p:spPr>
          <a:xfrm>
            <a:off x="6105107" y="3676573"/>
            <a:ext cx="4822722" cy="523220"/>
          </a:xfrm>
          <a:prstGeom prst="rect">
            <a:avLst/>
          </a:prstGeom>
          <a:noFill/>
        </p:spPr>
        <p:txBody>
          <a:bodyPr wrap="square" rtlCol="0">
            <a:spAutoFit/>
          </a:bodyPr>
          <a:lstStyle/>
          <a:p>
            <a:pPr algn="ctr"/>
            <a:r>
              <a:rPr lang="en-US" sz="2800" dirty="0"/>
              <a:t>Adolf Harnack</a:t>
            </a:r>
          </a:p>
        </p:txBody>
      </p:sp>
      <p:sp>
        <p:nvSpPr>
          <p:cNvPr id="49" name="TextBox 48">
            <a:extLst>
              <a:ext uri="{FF2B5EF4-FFF2-40B4-BE49-F238E27FC236}">
                <a16:creationId xmlns:a16="http://schemas.microsoft.com/office/drawing/2014/main" id="{30A8503E-77C8-D23E-0FFA-89D7E67C5C60}"/>
              </a:ext>
            </a:extLst>
          </p:cNvPr>
          <p:cNvSpPr txBox="1"/>
          <p:nvPr/>
        </p:nvSpPr>
        <p:spPr>
          <a:xfrm>
            <a:off x="0" y="4199916"/>
            <a:ext cx="6096000" cy="2677656"/>
          </a:xfrm>
          <a:prstGeom prst="rect">
            <a:avLst/>
          </a:prstGeom>
          <a:noFill/>
        </p:spPr>
        <p:txBody>
          <a:bodyPr wrap="square" rtlCol="0">
            <a:spAutoFit/>
          </a:bodyPr>
          <a:lstStyle/>
          <a:p>
            <a:pPr algn="ctr"/>
            <a:r>
              <a:rPr lang="en-US" sz="2800" dirty="0"/>
              <a:t>“Understood [the canon] as a collection of books possessing authority, but he did not insist that this authority should be based on the thesis that ‘the New Testament is holy Scripture’” (p. 24)</a:t>
            </a:r>
          </a:p>
        </p:txBody>
      </p:sp>
    </p:spTree>
    <p:extLst>
      <p:ext uri="{BB962C8B-B14F-4D97-AF65-F5344CB8AC3E}">
        <p14:creationId xmlns:p14="http://schemas.microsoft.com/office/powerpoint/2010/main" val="133360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FF48D-2FE2-2898-FC05-E096F08D0B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44200-9C8B-DCE5-BB2D-01203BBAE6DA}"/>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615D1F4E-5764-4E57-C59B-FA663B01718E}"/>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196D04-269A-B527-AABB-9F4BFB435E89}"/>
              </a:ext>
            </a:extLst>
          </p:cNvPr>
          <p:cNvSpPr/>
          <p:nvPr/>
        </p:nvSpPr>
        <p:spPr>
          <a:xfrm rot="16200000">
            <a:off x="-3864861"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36AA455-A58D-890D-91A7-4D7937EE541A}"/>
              </a:ext>
            </a:extLst>
          </p:cNvPr>
          <p:cNvSpPr txBox="1"/>
          <p:nvPr/>
        </p:nvSpPr>
        <p:spPr>
          <a:xfrm>
            <a:off x="-6807164" y="2423618"/>
            <a:ext cx="6341805" cy="523220"/>
          </a:xfrm>
          <a:prstGeom prst="rect">
            <a:avLst/>
          </a:prstGeom>
          <a:noFill/>
        </p:spPr>
        <p:txBody>
          <a:bodyPr wrap="square" rtlCol="0">
            <a:spAutoFit/>
          </a:bodyPr>
          <a:lstStyle/>
          <a:p>
            <a:pPr algn="ctr"/>
            <a:r>
              <a:rPr lang="en-US" sz="2800" b="1" dirty="0"/>
              <a:t>1699</a:t>
            </a:r>
          </a:p>
        </p:txBody>
      </p:sp>
      <p:sp>
        <p:nvSpPr>
          <p:cNvPr id="23" name="TextBox 22">
            <a:extLst>
              <a:ext uri="{FF2B5EF4-FFF2-40B4-BE49-F238E27FC236}">
                <a16:creationId xmlns:a16="http://schemas.microsoft.com/office/drawing/2014/main" id="{41A0D9F0-F981-A768-A966-01F3B047F93E}"/>
              </a:ext>
            </a:extLst>
          </p:cNvPr>
          <p:cNvSpPr txBox="1"/>
          <p:nvPr/>
        </p:nvSpPr>
        <p:spPr>
          <a:xfrm>
            <a:off x="-6047623" y="3676573"/>
            <a:ext cx="4822722" cy="523220"/>
          </a:xfrm>
          <a:prstGeom prst="rect">
            <a:avLst/>
          </a:prstGeom>
          <a:noFill/>
        </p:spPr>
        <p:txBody>
          <a:bodyPr wrap="square" rtlCol="0">
            <a:spAutoFit/>
          </a:bodyPr>
          <a:lstStyle/>
          <a:p>
            <a:pPr algn="ctr"/>
            <a:r>
              <a:rPr lang="en-US" sz="2800" dirty="0"/>
              <a:t>John Toland</a:t>
            </a:r>
          </a:p>
        </p:txBody>
      </p:sp>
      <p:sp>
        <p:nvSpPr>
          <p:cNvPr id="3" name="Rectangle 2">
            <a:extLst>
              <a:ext uri="{FF2B5EF4-FFF2-40B4-BE49-F238E27FC236}">
                <a16:creationId xmlns:a16="http://schemas.microsoft.com/office/drawing/2014/main" id="{46A85A90-9CDA-0356-1F56-1FF4DB1D3338}"/>
              </a:ext>
            </a:extLst>
          </p:cNvPr>
          <p:cNvSpPr/>
          <p:nvPr/>
        </p:nvSpPr>
        <p:spPr>
          <a:xfrm rot="16200000">
            <a:off x="-3916450" y="3104892"/>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31D48DA-5A88-3891-C8AF-8B78BAA5A0CE}"/>
              </a:ext>
            </a:extLst>
          </p:cNvPr>
          <p:cNvSpPr txBox="1"/>
          <p:nvPr/>
        </p:nvSpPr>
        <p:spPr>
          <a:xfrm>
            <a:off x="-6881083" y="2423618"/>
            <a:ext cx="6341805" cy="523220"/>
          </a:xfrm>
          <a:prstGeom prst="rect">
            <a:avLst/>
          </a:prstGeom>
          <a:noFill/>
        </p:spPr>
        <p:txBody>
          <a:bodyPr wrap="square" rtlCol="0">
            <a:spAutoFit/>
          </a:bodyPr>
          <a:lstStyle/>
          <a:p>
            <a:pPr algn="ctr"/>
            <a:r>
              <a:rPr lang="en-US" sz="2800" b="1" dirty="0"/>
              <a:t>1700-1719</a:t>
            </a:r>
          </a:p>
        </p:txBody>
      </p:sp>
      <p:sp>
        <p:nvSpPr>
          <p:cNvPr id="5" name="TextBox 4">
            <a:extLst>
              <a:ext uri="{FF2B5EF4-FFF2-40B4-BE49-F238E27FC236}">
                <a16:creationId xmlns:a16="http://schemas.microsoft.com/office/drawing/2014/main" id="{F99562A9-4FE1-9C87-2122-19E34F3E2781}"/>
              </a:ext>
            </a:extLst>
          </p:cNvPr>
          <p:cNvSpPr txBox="1"/>
          <p:nvPr/>
        </p:nvSpPr>
        <p:spPr>
          <a:xfrm>
            <a:off x="-6121542" y="3676573"/>
            <a:ext cx="4822722" cy="954107"/>
          </a:xfrm>
          <a:prstGeom prst="rect">
            <a:avLst/>
          </a:prstGeom>
          <a:noFill/>
        </p:spPr>
        <p:txBody>
          <a:bodyPr wrap="square" rtlCol="0">
            <a:spAutoFit/>
          </a:bodyPr>
          <a:lstStyle/>
          <a:p>
            <a:pPr algn="ctr"/>
            <a:r>
              <a:rPr lang="en-US" sz="2800" dirty="0"/>
              <a:t>Samuel Clarke, Stephen Nye, John Richardson, and others</a:t>
            </a:r>
          </a:p>
        </p:txBody>
      </p:sp>
      <p:sp>
        <p:nvSpPr>
          <p:cNvPr id="7" name="TextBox 6">
            <a:extLst>
              <a:ext uri="{FF2B5EF4-FFF2-40B4-BE49-F238E27FC236}">
                <a16:creationId xmlns:a16="http://schemas.microsoft.com/office/drawing/2014/main" id="{81B4F3FB-8033-8A74-7F43-156C6358AB0B}"/>
              </a:ext>
            </a:extLst>
          </p:cNvPr>
          <p:cNvSpPr txBox="1"/>
          <p:nvPr/>
        </p:nvSpPr>
        <p:spPr>
          <a:xfrm>
            <a:off x="-12959136" y="4392669"/>
            <a:ext cx="12192000" cy="1384995"/>
          </a:xfrm>
          <a:prstGeom prst="rect">
            <a:avLst/>
          </a:prstGeom>
          <a:noFill/>
        </p:spPr>
        <p:txBody>
          <a:bodyPr wrap="square" rtlCol="0">
            <a:spAutoFit/>
          </a:bodyPr>
          <a:lstStyle/>
          <a:p>
            <a:pPr algn="ctr"/>
            <a:r>
              <a:rPr lang="en-US" sz="2800" dirty="0"/>
              <a:t>Used the “New and Full Method” of looking at ancient records to find early testimony or traditions of people concerning NT books written close to them in time </a:t>
            </a:r>
          </a:p>
        </p:txBody>
      </p:sp>
      <p:sp>
        <p:nvSpPr>
          <p:cNvPr id="9" name="TextBox 8">
            <a:extLst>
              <a:ext uri="{FF2B5EF4-FFF2-40B4-BE49-F238E27FC236}">
                <a16:creationId xmlns:a16="http://schemas.microsoft.com/office/drawing/2014/main" id="{5F327FEC-C20C-60BC-CC84-F0E69A13C80F}"/>
              </a:ext>
            </a:extLst>
          </p:cNvPr>
          <p:cNvSpPr txBox="1"/>
          <p:nvPr/>
        </p:nvSpPr>
        <p:spPr>
          <a:xfrm>
            <a:off x="-10034039" y="2423618"/>
            <a:ext cx="6341805" cy="523220"/>
          </a:xfrm>
          <a:prstGeom prst="rect">
            <a:avLst/>
          </a:prstGeom>
          <a:noFill/>
        </p:spPr>
        <p:txBody>
          <a:bodyPr wrap="square" rtlCol="0">
            <a:spAutoFit/>
          </a:bodyPr>
          <a:lstStyle/>
          <a:p>
            <a:pPr algn="ctr"/>
            <a:r>
              <a:rPr lang="en-US" sz="2800" b="1" dirty="0"/>
              <a:t>1726-1727</a:t>
            </a:r>
          </a:p>
        </p:txBody>
      </p:sp>
      <p:sp>
        <p:nvSpPr>
          <p:cNvPr id="10" name="TextBox 9">
            <a:extLst>
              <a:ext uri="{FF2B5EF4-FFF2-40B4-BE49-F238E27FC236}">
                <a16:creationId xmlns:a16="http://schemas.microsoft.com/office/drawing/2014/main" id="{0143D108-C067-88D8-4BEF-E9CBAD7523A0}"/>
              </a:ext>
            </a:extLst>
          </p:cNvPr>
          <p:cNvSpPr txBox="1"/>
          <p:nvPr/>
        </p:nvSpPr>
        <p:spPr>
          <a:xfrm>
            <a:off x="-9274498" y="3676573"/>
            <a:ext cx="4822722" cy="523220"/>
          </a:xfrm>
          <a:prstGeom prst="rect">
            <a:avLst/>
          </a:prstGeom>
          <a:noFill/>
        </p:spPr>
        <p:txBody>
          <a:bodyPr wrap="square" rtlCol="0">
            <a:spAutoFit/>
          </a:bodyPr>
          <a:lstStyle/>
          <a:p>
            <a:pPr algn="ctr"/>
            <a:r>
              <a:rPr lang="en-US" sz="2800" dirty="0"/>
              <a:t>Jeremiah Jones</a:t>
            </a:r>
          </a:p>
        </p:txBody>
      </p:sp>
      <p:sp>
        <p:nvSpPr>
          <p:cNvPr id="11" name="TextBox 10">
            <a:extLst>
              <a:ext uri="{FF2B5EF4-FFF2-40B4-BE49-F238E27FC236}">
                <a16:creationId xmlns:a16="http://schemas.microsoft.com/office/drawing/2014/main" id="{C0BDF11C-1BE0-A002-4A57-E31FB539AD21}"/>
              </a:ext>
            </a:extLst>
          </p:cNvPr>
          <p:cNvSpPr txBox="1"/>
          <p:nvPr/>
        </p:nvSpPr>
        <p:spPr>
          <a:xfrm>
            <a:off x="-12700394" y="4761635"/>
            <a:ext cx="12192000" cy="1815882"/>
          </a:xfrm>
          <a:prstGeom prst="rect">
            <a:avLst/>
          </a:prstGeom>
          <a:noFill/>
        </p:spPr>
        <p:txBody>
          <a:bodyPr wrap="square" rtlCol="0">
            <a:spAutoFit/>
          </a:bodyPr>
          <a:lstStyle/>
          <a:p>
            <a:pPr algn="ctr"/>
            <a:r>
              <a:rPr lang="en-US" sz="2800" dirty="0"/>
              <a:t>- Strongly denounced Toland</a:t>
            </a:r>
          </a:p>
          <a:p>
            <a:pPr algn="ctr"/>
            <a:r>
              <a:rPr lang="en-US" sz="2800" dirty="0"/>
              <a:t>- Richardson: “What the Apostles Wrote, and what they </a:t>
            </a:r>
            <a:r>
              <a:rPr lang="en-US" sz="2800" dirty="0" err="1"/>
              <a:t>Authoriz’d</a:t>
            </a:r>
            <a:r>
              <a:rPr lang="en-US" sz="2800" dirty="0"/>
              <a:t>, can be known in no other way, then by the Testimonies of those who </a:t>
            </a:r>
            <a:r>
              <a:rPr lang="en-US" sz="2800" dirty="0" err="1"/>
              <a:t>liv’d</a:t>
            </a:r>
            <a:r>
              <a:rPr lang="en-US" sz="2800" dirty="0"/>
              <a:t> at the same time with them, and the Tradition of those who succeeded them” (p. 13)</a:t>
            </a:r>
          </a:p>
        </p:txBody>
      </p:sp>
      <p:sp>
        <p:nvSpPr>
          <p:cNvPr id="12" name="TextBox 11">
            <a:extLst>
              <a:ext uri="{FF2B5EF4-FFF2-40B4-BE49-F238E27FC236}">
                <a16:creationId xmlns:a16="http://schemas.microsoft.com/office/drawing/2014/main" id="{9F05AA85-E1F0-90DE-EDD7-6BB576C1E6AE}"/>
              </a:ext>
            </a:extLst>
          </p:cNvPr>
          <p:cNvSpPr txBox="1"/>
          <p:nvPr/>
        </p:nvSpPr>
        <p:spPr>
          <a:xfrm>
            <a:off x="-12959137" y="4392668"/>
            <a:ext cx="12192000" cy="954107"/>
          </a:xfrm>
          <a:prstGeom prst="rect">
            <a:avLst/>
          </a:prstGeom>
          <a:noFill/>
        </p:spPr>
        <p:txBody>
          <a:bodyPr wrap="square" rtlCol="0">
            <a:spAutoFit/>
          </a:bodyPr>
          <a:lstStyle/>
          <a:p>
            <a:pPr algn="ctr"/>
            <a:r>
              <a:rPr lang="en-US" sz="2800" dirty="0"/>
              <a:t>Jones made available for  the first time an English translation of the text of dozens of apocryphal writings” (p. 14)</a:t>
            </a:r>
          </a:p>
        </p:txBody>
      </p:sp>
      <p:sp>
        <p:nvSpPr>
          <p:cNvPr id="14" name="TextBox 13">
            <a:extLst>
              <a:ext uri="{FF2B5EF4-FFF2-40B4-BE49-F238E27FC236}">
                <a16:creationId xmlns:a16="http://schemas.microsoft.com/office/drawing/2014/main" id="{1C2CE683-2CA5-C38B-6786-79A2D899FC85}"/>
              </a:ext>
            </a:extLst>
          </p:cNvPr>
          <p:cNvSpPr txBox="1"/>
          <p:nvPr/>
        </p:nvSpPr>
        <p:spPr>
          <a:xfrm>
            <a:off x="-9816515" y="2423618"/>
            <a:ext cx="6341805" cy="523220"/>
          </a:xfrm>
          <a:prstGeom prst="rect">
            <a:avLst/>
          </a:prstGeom>
          <a:noFill/>
        </p:spPr>
        <p:txBody>
          <a:bodyPr wrap="square" rtlCol="0">
            <a:spAutoFit/>
          </a:bodyPr>
          <a:lstStyle/>
          <a:p>
            <a:pPr algn="ctr"/>
            <a:r>
              <a:rPr lang="en-US" sz="2800" b="1" dirty="0"/>
              <a:t>1699 (in France)</a:t>
            </a:r>
          </a:p>
        </p:txBody>
      </p:sp>
      <p:sp>
        <p:nvSpPr>
          <p:cNvPr id="15" name="TextBox 14">
            <a:extLst>
              <a:ext uri="{FF2B5EF4-FFF2-40B4-BE49-F238E27FC236}">
                <a16:creationId xmlns:a16="http://schemas.microsoft.com/office/drawing/2014/main" id="{9E54785E-57F6-BEA9-8412-47763AAF24CA}"/>
              </a:ext>
            </a:extLst>
          </p:cNvPr>
          <p:cNvSpPr txBox="1"/>
          <p:nvPr/>
        </p:nvSpPr>
        <p:spPr>
          <a:xfrm>
            <a:off x="-9056974" y="3676573"/>
            <a:ext cx="4822722" cy="523220"/>
          </a:xfrm>
          <a:prstGeom prst="rect">
            <a:avLst/>
          </a:prstGeom>
          <a:noFill/>
        </p:spPr>
        <p:txBody>
          <a:bodyPr wrap="square" rtlCol="0">
            <a:spAutoFit/>
          </a:bodyPr>
          <a:lstStyle/>
          <a:p>
            <a:pPr algn="ctr"/>
            <a:r>
              <a:rPr lang="en-US" sz="2800" dirty="0"/>
              <a:t>Jacques Basnage</a:t>
            </a:r>
          </a:p>
        </p:txBody>
      </p:sp>
      <p:sp>
        <p:nvSpPr>
          <p:cNvPr id="16" name="TextBox 15">
            <a:extLst>
              <a:ext uri="{FF2B5EF4-FFF2-40B4-BE49-F238E27FC236}">
                <a16:creationId xmlns:a16="http://schemas.microsoft.com/office/drawing/2014/main" id="{5A1607B5-3FB4-83CA-FD5E-520D90C82335}"/>
              </a:ext>
            </a:extLst>
          </p:cNvPr>
          <p:cNvSpPr txBox="1"/>
          <p:nvPr/>
        </p:nvSpPr>
        <p:spPr>
          <a:xfrm>
            <a:off x="-12741612" y="4392669"/>
            <a:ext cx="12192000" cy="1815882"/>
          </a:xfrm>
          <a:prstGeom prst="rect">
            <a:avLst/>
          </a:prstGeom>
          <a:noFill/>
        </p:spPr>
        <p:txBody>
          <a:bodyPr wrap="square" rtlCol="0">
            <a:spAutoFit/>
          </a:bodyPr>
          <a:lstStyle/>
          <a:p>
            <a:pPr algn="ctr"/>
            <a:r>
              <a:rPr lang="en-US" sz="2800" dirty="0"/>
              <a:t>Found that during the first 3 centuries “there was no decision concerning the limits of the New Testament canon, but each local church had the liberty to choose or reject individual books; this freedom was most noticeable among Eastern Churches in rejecting the Apocalypse” (p. 16)</a:t>
            </a:r>
          </a:p>
        </p:txBody>
      </p:sp>
      <p:sp>
        <p:nvSpPr>
          <p:cNvPr id="18" name="TextBox 17">
            <a:extLst>
              <a:ext uri="{FF2B5EF4-FFF2-40B4-BE49-F238E27FC236}">
                <a16:creationId xmlns:a16="http://schemas.microsoft.com/office/drawing/2014/main" id="{E366C1FF-D601-3A6A-454D-B73ACEF2657A}"/>
              </a:ext>
            </a:extLst>
          </p:cNvPr>
          <p:cNvSpPr txBox="1"/>
          <p:nvPr/>
        </p:nvSpPr>
        <p:spPr>
          <a:xfrm>
            <a:off x="-9776100" y="2423618"/>
            <a:ext cx="6341805" cy="523220"/>
          </a:xfrm>
          <a:prstGeom prst="rect">
            <a:avLst/>
          </a:prstGeom>
          <a:noFill/>
        </p:spPr>
        <p:txBody>
          <a:bodyPr wrap="square" rtlCol="0">
            <a:spAutoFit/>
          </a:bodyPr>
          <a:lstStyle/>
          <a:p>
            <a:pPr algn="ctr"/>
            <a:r>
              <a:rPr lang="en-US" sz="2800" b="1" dirty="0"/>
              <a:t>1804-1812</a:t>
            </a:r>
          </a:p>
        </p:txBody>
      </p:sp>
      <p:sp>
        <p:nvSpPr>
          <p:cNvPr id="19" name="TextBox 18">
            <a:extLst>
              <a:ext uri="{FF2B5EF4-FFF2-40B4-BE49-F238E27FC236}">
                <a16:creationId xmlns:a16="http://schemas.microsoft.com/office/drawing/2014/main" id="{AEED144E-B623-5F34-1352-1DB84F1584FE}"/>
              </a:ext>
            </a:extLst>
          </p:cNvPr>
          <p:cNvSpPr txBox="1"/>
          <p:nvPr/>
        </p:nvSpPr>
        <p:spPr>
          <a:xfrm>
            <a:off x="-9016559" y="3676573"/>
            <a:ext cx="4822722" cy="523220"/>
          </a:xfrm>
          <a:prstGeom prst="rect">
            <a:avLst/>
          </a:prstGeom>
          <a:noFill/>
        </p:spPr>
        <p:txBody>
          <a:bodyPr wrap="square" rtlCol="0">
            <a:spAutoFit/>
          </a:bodyPr>
          <a:lstStyle/>
          <a:p>
            <a:pPr algn="ctr"/>
            <a:r>
              <a:rPr lang="en-US" sz="2800" dirty="0"/>
              <a:t>J. G. Eichhorn</a:t>
            </a:r>
          </a:p>
        </p:txBody>
      </p:sp>
      <p:sp>
        <p:nvSpPr>
          <p:cNvPr id="21" name="TextBox 20">
            <a:extLst>
              <a:ext uri="{FF2B5EF4-FFF2-40B4-BE49-F238E27FC236}">
                <a16:creationId xmlns:a16="http://schemas.microsoft.com/office/drawing/2014/main" id="{8E01ABA0-58F8-3705-F01A-569FAC7497DE}"/>
              </a:ext>
            </a:extLst>
          </p:cNvPr>
          <p:cNvSpPr txBox="1"/>
          <p:nvPr/>
        </p:nvSpPr>
        <p:spPr>
          <a:xfrm>
            <a:off x="-12701197" y="4392669"/>
            <a:ext cx="12192000" cy="1384995"/>
          </a:xfrm>
          <a:prstGeom prst="rect">
            <a:avLst/>
          </a:prstGeom>
          <a:noFill/>
        </p:spPr>
        <p:txBody>
          <a:bodyPr wrap="square" rtlCol="0">
            <a:spAutoFit/>
          </a:bodyPr>
          <a:lstStyle/>
          <a:p>
            <a:pPr algn="ctr"/>
            <a:r>
              <a:rPr lang="en-US" sz="2800" dirty="0"/>
              <a:t>“The first to attribute to Marcion the stimulus to collect the New Testament writings, and argued that the core of the future canon was established by about AD 175” (p. 18)</a:t>
            </a:r>
          </a:p>
        </p:txBody>
      </p:sp>
      <p:sp>
        <p:nvSpPr>
          <p:cNvPr id="24" name="Rectangle 23">
            <a:extLst>
              <a:ext uri="{FF2B5EF4-FFF2-40B4-BE49-F238E27FC236}">
                <a16:creationId xmlns:a16="http://schemas.microsoft.com/office/drawing/2014/main" id="{9B6F0C78-0D09-B93B-E064-78CA29C9AAD5}"/>
              </a:ext>
            </a:extLst>
          </p:cNvPr>
          <p:cNvSpPr/>
          <p:nvPr/>
        </p:nvSpPr>
        <p:spPr>
          <a:xfrm rot="16200000">
            <a:off x="-681160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F1914C9-BB36-E4CB-7C37-15F0CA66B293}"/>
              </a:ext>
            </a:extLst>
          </p:cNvPr>
          <p:cNvSpPr txBox="1"/>
          <p:nvPr/>
        </p:nvSpPr>
        <p:spPr>
          <a:xfrm>
            <a:off x="-9753905" y="2423618"/>
            <a:ext cx="6341805" cy="523220"/>
          </a:xfrm>
          <a:prstGeom prst="rect">
            <a:avLst/>
          </a:prstGeom>
          <a:noFill/>
        </p:spPr>
        <p:txBody>
          <a:bodyPr wrap="square" rtlCol="0">
            <a:spAutoFit/>
          </a:bodyPr>
          <a:lstStyle/>
          <a:p>
            <a:pPr algn="ctr"/>
            <a:r>
              <a:rPr lang="en-US" sz="2800" b="1" dirty="0"/>
              <a:t>1826 (in America)</a:t>
            </a:r>
          </a:p>
        </p:txBody>
      </p:sp>
      <p:sp>
        <p:nvSpPr>
          <p:cNvPr id="26" name="TextBox 25">
            <a:extLst>
              <a:ext uri="{FF2B5EF4-FFF2-40B4-BE49-F238E27FC236}">
                <a16:creationId xmlns:a16="http://schemas.microsoft.com/office/drawing/2014/main" id="{EB775DE8-9027-0499-CA33-A21EA77E51C7}"/>
              </a:ext>
            </a:extLst>
          </p:cNvPr>
          <p:cNvSpPr txBox="1"/>
          <p:nvPr/>
        </p:nvSpPr>
        <p:spPr>
          <a:xfrm>
            <a:off x="-8994364" y="3676573"/>
            <a:ext cx="4822722" cy="523220"/>
          </a:xfrm>
          <a:prstGeom prst="rect">
            <a:avLst/>
          </a:prstGeom>
          <a:noFill/>
        </p:spPr>
        <p:txBody>
          <a:bodyPr wrap="square" rtlCol="0">
            <a:spAutoFit/>
          </a:bodyPr>
          <a:lstStyle/>
          <a:p>
            <a:pPr algn="ctr"/>
            <a:r>
              <a:rPr lang="en-US" sz="2800" dirty="0"/>
              <a:t>Archibald Alexander</a:t>
            </a:r>
          </a:p>
        </p:txBody>
      </p:sp>
      <p:sp>
        <p:nvSpPr>
          <p:cNvPr id="27" name="TextBox 26">
            <a:extLst>
              <a:ext uri="{FF2B5EF4-FFF2-40B4-BE49-F238E27FC236}">
                <a16:creationId xmlns:a16="http://schemas.microsoft.com/office/drawing/2014/main" id="{20750E62-DBA8-06F3-7D05-33327E1EB3FF}"/>
              </a:ext>
            </a:extLst>
          </p:cNvPr>
          <p:cNvSpPr txBox="1"/>
          <p:nvPr/>
        </p:nvSpPr>
        <p:spPr>
          <a:xfrm>
            <a:off x="-12679002" y="4392669"/>
            <a:ext cx="12192000" cy="2246769"/>
          </a:xfrm>
          <a:prstGeom prst="rect">
            <a:avLst/>
          </a:prstGeom>
          <a:noFill/>
        </p:spPr>
        <p:txBody>
          <a:bodyPr wrap="square" rtlCol="0">
            <a:spAutoFit/>
          </a:bodyPr>
          <a:lstStyle/>
          <a:p>
            <a:pPr marL="457200" indent="-457200" algn="ctr">
              <a:buFontTx/>
              <a:buChar char="-"/>
            </a:pPr>
            <a:r>
              <a:rPr lang="en-US" sz="2800" dirty="0"/>
              <a:t>Wrote the first book (in the US) dealing solely with the Biblical canon</a:t>
            </a:r>
          </a:p>
          <a:p>
            <a:pPr marL="457200" indent="-457200" algn="ctr">
              <a:buFontTx/>
              <a:buChar char="-"/>
            </a:pPr>
            <a:r>
              <a:rPr lang="en-US" sz="2800" dirty="0"/>
              <a:t>“Argued that </a:t>
            </a:r>
            <a:r>
              <a:rPr lang="en-US" sz="2800" b="1" u="sng" dirty="0"/>
              <a:t>the criterion of New Testament canonicity is apostolic authorship</a:t>
            </a:r>
            <a:r>
              <a:rPr lang="en-US" sz="2800" dirty="0"/>
              <a:t>, whether direct or indirect (the latter in the case of Mark and Luke). Apostolicity is to be established by historically verified testimonies of patristic writers of the early Christian centuries” (p. 18)</a:t>
            </a:r>
          </a:p>
        </p:txBody>
      </p:sp>
      <p:sp>
        <p:nvSpPr>
          <p:cNvPr id="8" name="Rectangle 7">
            <a:extLst>
              <a:ext uri="{FF2B5EF4-FFF2-40B4-BE49-F238E27FC236}">
                <a16:creationId xmlns:a16="http://schemas.microsoft.com/office/drawing/2014/main" id="{5164AC86-9720-3466-BA87-E44619E8C177}"/>
              </a:ext>
            </a:extLst>
          </p:cNvPr>
          <p:cNvSpPr/>
          <p:nvPr/>
        </p:nvSpPr>
        <p:spPr>
          <a:xfrm rot="16200000">
            <a:off x="18172062"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C2D8924-A2B7-41D9-0487-0C5962CEC8A0}"/>
              </a:ext>
            </a:extLst>
          </p:cNvPr>
          <p:cNvSpPr txBox="1"/>
          <p:nvPr/>
        </p:nvSpPr>
        <p:spPr>
          <a:xfrm>
            <a:off x="15229759" y="2423618"/>
            <a:ext cx="6341805" cy="523220"/>
          </a:xfrm>
          <a:prstGeom prst="rect">
            <a:avLst/>
          </a:prstGeom>
          <a:noFill/>
        </p:spPr>
        <p:txBody>
          <a:bodyPr wrap="square" rtlCol="0">
            <a:spAutoFit/>
          </a:bodyPr>
          <a:lstStyle/>
          <a:p>
            <a:pPr algn="ctr"/>
            <a:r>
              <a:rPr lang="en-US" sz="2800" b="1" dirty="0"/>
              <a:t>1866</a:t>
            </a:r>
          </a:p>
        </p:txBody>
      </p:sp>
      <p:sp>
        <p:nvSpPr>
          <p:cNvPr id="17" name="TextBox 16">
            <a:extLst>
              <a:ext uri="{FF2B5EF4-FFF2-40B4-BE49-F238E27FC236}">
                <a16:creationId xmlns:a16="http://schemas.microsoft.com/office/drawing/2014/main" id="{A6492DC9-4711-7C40-9CB8-C5FCBB32C49C}"/>
              </a:ext>
            </a:extLst>
          </p:cNvPr>
          <p:cNvSpPr txBox="1"/>
          <p:nvPr/>
        </p:nvSpPr>
        <p:spPr>
          <a:xfrm>
            <a:off x="15989300" y="3676573"/>
            <a:ext cx="4822722" cy="523220"/>
          </a:xfrm>
          <a:prstGeom prst="rect">
            <a:avLst/>
          </a:prstGeom>
          <a:noFill/>
        </p:spPr>
        <p:txBody>
          <a:bodyPr wrap="square" rtlCol="0">
            <a:spAutoFit/>
          </a:bodyPr>
          <a:lstStyle/>
          <a:p>
            <a:pPr algn="ctr"/>
            <a:r>
              <a:rPr lang="en-US" sz="2800" dirty="0"/>
              <a:t>Constantin von Tischendorf</a:t>
            </a:r>
          </a:p>
        </p:txBody>
      </p:sp>
      <p:sp>
        <p:nvSpPr>
          <p:cNvPr id="28" name="TextBox 27">
            <a:extLst>
              <a:ext uri="{FF2B5EF4-FFF2-40B4-BE49-F238E27FC236}">
                <a16:creationId xmlns:a16="http://schemas.microsoft.com/office/drawing/2014/main" id="{988056DD-56E7-C60C-A522-49B3EF419B9A}"/>
              </a:ext>
            </a:extLst>
          </p:cNvPr>
          <p:cNvSpPr txBox="1"/>
          <p:nvPr/>
        </p:nvSpPr>
        <p:spPr>
          <a:xfrm>
            <a:off x="12304662" y="4392669"/>
            <a:ext cx="12192000" cy="954107"/>
          </a:xfrm>
          <a:prstGeom prst="rect">
            <a:avLst/>
          </a:prstGeom>
          <a:noFill/>
        </p:spPr>
        <p:txBody>
          <a:bodyPr wrap="square" rtlCol="0">
            <a:spAutoFit/>
          </a:bodyPr>
          <a:lstStyle/>
          <a:p>
            <a:pPr algn="ctr"/>
            <a:r>
              <a:rPr lang="en-US" sz="2800" dirty="0"/>
              <a:t>Argued  the canon of the NT was established by the beginning of the 2</a:t>
            </a:r>
            <a:r>
              <a:rPr lang="en-US" sz="2800" baseline="30000" dirty="0"/>
              <a:t>nd</a:t>
            </a:r>
            <a:r>
              <a:rPr lang="en-US" sz="2800" dirty="0"/>
              <a:t> century</a:t>
            </a:r>
          </a:p>
        </p:txBody>
      </p:sp>
      <p:sp>
        <p:nvSpPr>
          <p:cNvPr id="29" name="Rectangle 28">
            <a:extLst>
              <a:ext uri="{FF2B5EF4-FFF2-40B4-BE49-F238E27FC236}">
                <a16:creationId xmlns:a16="http://schemas.microsoft.com/office/drawing/2014/main" id="{EECA638A-5660-92E7-11C0-D21CD9229A09}"/>
              </a:ext>
            </a:extLst>
          </p:cNvPr>
          <p:cNvSpPr/>
          <p:nvPr/>
        </p:nvSpPr>
        <p:spPr>
          <a:xfrm rot="16200000">
            <a:off x="-6846605"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0C077E2-EBDA-DDEC-FC11-D4A43CD15C2E}"/>
              </a:ext>
            </a:extLst>
          </p:cNvPr>
          <p:cNvSpPr txBox="1"/>
          <p:nvPr/>
        </p:nvSpPr>
        <p:spPr>
          <a:xfrm>
            <a:off x="-9788908" y="2423618"/>
            <a:ext cx="6341805" cy="523220"/>
          </a:xfrm>
          <a:prstGeom prst="rect">
            <a:avLst/>
          </a:prstGeom>
          <a:noFill/>
        </p:spPr>
        <p:txBody>
          <a:bodyPr wrap="square" rtlCol="0">
            <a:spAutoFit/>
          </a:bodyPr>
          <a:lstStyle/>
          <a:p>
            <a:pPr algn="ctr"/>
            <a:r>
              <a:rPr lang="en-US" sz="2800" b="1" dirty="0"/>
              <a:t>1855 (in Britian)</a:t>
            </a:r>
          </a:p>
        </p:txBody>
      </p:sp>
      <p:sp>
        <p:nvSpPr>
          <p:cNvPr id="31" name="TextBox 30">
            <a:extLst>
              <a:ext uri="{FF2B5EF4-FFF2-40B4-BE49-F238E27FC236}">
                <a16:creationId xmlns:a16="http://schemas.microsoft.com/office/drawing/2014/main" id="{DC251847-712C-451C-B0D6-58C8900B5FB0}"/>
              </a:ext>
            </a:extLst>
          </p:cNvPr>
          <p:cNvSpPr txBox="1"/>
          <p:nvPr/>
        </p:nvSpPr>
        <p:spPr>
          <a:xfrm>
            <a:off x="-9029367" y="3676573"/>
            <a:ext cx="4822722" cy="523220"/>
          </a:xfrm>
          <a:prstGeom prst="rect">
            <a:avLst/>
          </a:prstGeom>
          <a:noFill/>
        </p:spPr>
        <p:txBody>
          <a:bodyPr wrap="square" rtlCol="0">
            <a:spAutoFit/>
          </a:bodyPr>
          <a:lstStyle/>
          <a:p>
            <a:pPr algn="ctr"/>
            <a:r>
              <a:rPr lang="en-US" sz="2800" dirty="0"/>
              <a:t>Brooke Foss Westcott</a:t>
            </a:r>
          </a:p>
        </p:txBody>
      </p:sp>
      <p:sp>
        <p:nvSpPr>
          <p:cNvPr id="32" name="TextBox 31">
            <a:extLst>
              <a:ext uri="{FF2B5EF4-FFF2-40B4-BE49-F238E27FC236}">
                <a16:creationId xmlns:a16="http://schemas.microsoft.com/office/drawing/2014/main" id="{F95A8367-49F0-74A9-4DBF-7CC920ACF7F3}"/>
              </a:ext>
            </a:extLst>
          </p:cNvPr>
          <p:cNvSpPr txBox="1"/>
          <p:nvPr/>
        </p:nvSpPr>
        <p:spPr>
          <a:xfrm>
            <a:off x="-12714005" y="4392669"/>
            <a:ext cx="12192000" cy="1384995"/>
          </a:xfrm>
          <a:prstGeom prst="rect">
            <a:avLst/>
          </a:prstGeom>
          <a:noFill/>
        </p:spPr>
        <p:txBody>
          <a:bodyPr wrap="square" rtlCol="0">
            <a:spAutoFit/>
          </a:bodyPr>
          <a:lstStyle/>
          <a:p>
            <a:pPr algn="ctr"/>
            <a:r>
              <a:rPr lang="en-US" sz="2800" dirty="0"/>
              <a:t>Said that the formulation of the canon was one of “the first instinctive acts of the Christian society, resting upon the general confession of the Churches and not upon independent opinions of its members” (p. 21)</a:t>
            </a:r>
          </a:p>
        </p:txBody>
      </p:sp>
      <p:sp>
        <p:nvSpPr>
          <p:cNvPr id="33" name="Rectangle 32">
            <a:extLst>
              <a:ext uri="{FF2B5EF4-FFF2-40B4-BE49-F238E27FC236}">
                <a16:creationId xmlns:a16="http://schemas.microsoft.com/office/drawing/2014/main" id="{F69E61B7-BF20-34E0-B8F7-348A4D141CD7}"/>
              </a:ext>
            </a:extLst>
          </p:cNvPr>
          <p:cNvSpPr/>
          <p:nvPr/>
        </p:nvSpPr>
        <p:spPr>
          <a:xfrm rot="16200000">
            <a:off x="-6985755"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ABBEF3DB-90C5-9F79-F175-5881520CBFE0}"/>
              </a:ext>
            </a:extLst>
          </p:cNvPr>
          <p:cNvSpPr txBox="1"/>
          <p:nvPr/>
        </p:nvSpPr>
        <p:spPr>
          <a:xfrm>
            <a:off x="-9928058" y="2423618"/>
            <a:ext cx="6341805" cy="523220"/>
          </a:xfrm>
          <a:prstGeom prst="rect">
            <a:avLst/>
          </a:prstGeom>
          <a:noFill/>
        </p:spPr>
        <p:txBody>
          <a:bodyPr wrap="square" rtlCol="0">
            <a:spAutoFit/>
          </a:bodyPr>
          <a:lstStyle/>
          <a:p>
            <a:pPr algn="ctr"/>
            <a:r>
              <a:rPr lang="en-US" sz="2800" b="1" dirty="0"/>
              <a:t>1874-1877</a:t>
            </a:r>
          </a:p>
        </p:txBody>
      </p:sp>
      <p:sp>
        <p:nvSpPr>
          <p:cNvPr id="35" name="TextBox 34">
            <a:extLst>
              <a:ext uri="{FF2B5EF4-FFF2-40B4-BE49-F238E27FC236}">
                <a16:creationId xmlns:a16="http://schemas.microsoft.com/office/drawing/2014/main" id="{8D97C1A0-1FD7-5770-75EA-9198D9C4F293}"/>
              </a:ext>
            </a:extLst>
          </p:cNvPr>
          <p:cNvSpPr txBox="1"/>
          <p:nvPr/>
        </p:nvSpPr>
        <p:spPr>
          <a:xfrm>
            <a:off x="-9168517" y="3676573"/>
            <a:ext cx="4822722" cy="523220"/>
          </a:xfrm>
          <a:prstGeom prst="rect">
            <a:avLst/>
          </a:prstGeom>
          <a:noFill/>
        </p:spPr>
        <p:txBody>
          <a:bodyPr wrap="square" rtlCol="0">
            <a:spAutoFit/>
          </a:bodyPr>
          <a:lstStyle/>
          <a:p>
            <a:pPr algn="ctr"/>
            <a:r>
              <a:rPr lang="en-US" sz="2800" dirty="0"/>
              <a:t>Walter R. Cassels</a:t>
            </a:r>
          </a:p>
        </p:txBody>
      </p:sp>
      <p:sp>
        <p:nvSpPr>
          <p:cNvPr id="36" name="TextBox 35">
            <a:extLst>
              <a:ext uri="{FF2B5EF4-FFF2-40B4-BE49-F238E27FC236}">
                <a16:creationId xmlns:a16="http://schemas.microsoft.com/office/drawing/2014/main" id="{6C8FC7C8-19DB-FDC3-504B-AFA7063D867B}"/>
              </a:ext>
            </a:extLst>
          </p:cNvPr>
          <p:cNvSpPr txBox="1"/>
          <p:nvPr/>
        </p:nvSpPr>
        <p:spPr>
          <a:xfrm>
            <a:off x="-12853155" y="4392669"/>
            <a:ext cx="12192000" cy="2246769"/>
          </a:xfrm>
          <a:prstGeom prst="rect">
            <a:avLst/>
          </a:prstGeom>
          <a:noFill/>
        </p:spPr>
        <p:txBody>
          <a:bodyPr wrap="square" rtlCol="0">
            <a:spAutoFit/>
          </a:bodyPr>
          <a:lstStyle/>
          <a:p>
            <a:pPr algn="ctr"/>
            <a:r>
              <a:rPr lang="en-US" sz="2800" dirty="0"/>
              <a:t>Wrote an anonymous work in three volumes which revived some of the old arguments of 18</a:t>
            </a:r>
            <a:r>
              <a:rPr lang="en-US" sz="2800" baseline="30000" dirty="0"/>
              <a:t>th</a:t>
            </a:r>
            <a:r>
              <a:rPr lang="en-US" sz="2800" dirty="0"/>
              <a:t> century Deism. His “purpose was to show from patristic testimony that the canonical Gospels are so far removed in time from the events they record that they lose all competence as witnesses to the reality of the miraculous” (p. 22)</a:t>
            </a:r>
          </a:p>
        </p:txBody>
      </p:sp>
      <p:sp>
        <p:nvSpPr>
          <p:cNvPr id="37" name="Rectangle 36">
            <a:extLst>
              <a:ext uri="{FF2B5EF4-FFF2-40B4-BE49-F238E27FC236}">
                <a16:creationId xmlns:a16="http://schemas.microsoft.com/office/drawing/2014/main" id="{29442885-6184-772C-FAD5-73E946151EE9}"/>
              </a:ext>
            </a:extLst>
          </p:cNvPr>
          <p:cNvSpPr/>
          <p:nvPr/>
        </p:nvSpPr>
        <p:spPr>
          <a:xfrm rot="16200000">
            <a:off x="3575921"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1099ACE2-8FB8-1DBF-F593-BD08B234A11A}"/>
              </a:ext>
            </a:extLst>
          </p:cNvPr>
          <p:cNvSpPr txBox="1"/>
          <p:nvPr/>
        </p:nvSpPr>
        <p:spPr>
          <a:xfrm>
            <a:off x="-9874071" y="2423618"/>
            <a:ext cx="6341805" cy="523220"/>
          </a:xfrm>
          <a:prstGeom prst="rect">
            <a:avLst/>
          </a:prstGeom>
          <a:noFill/>
        </p:spPr>
        <p:txBody>
          <a:bodyPr wrap="square" rtlCol="0">
            <a:spAutoFit/>
          </a:bodyPr>
          <a:lstStyle/>
          <a:p>
            <a:pPr algn="ctr"/>
            <a:r>
              <a:rPr lang="en-US" sz="2800" b="1" dirty="0"/>
              <a:t>1894</a:t>
            </a:r>
          </a:p>
        </p:txBody>
      </p:sp>
      <p:sp>
        <p:nvSpPr>
          <p:cNvPr id="39" name="TextBox 38">
            <a:extLst>
              <a:ext uri="{FF2B5EF4-FFF2-40B4-BE49-F238E27FC236}">
                <a16:creationId xmlns:a16="http://schemas.microsoft.com/office/drawing/2014/main" id="{FBFE9798-9976-1F21-E117-3340C683CDB7}"/>
              </a:ext>
            </a:extLst>
          </p:cNvPr>
          <p:cNvSpPr txBox="1"/>
          <p:nvPr/>
        </p:nvSpPr>
        <p:spPr>
          <a:xfrm>
            <a:off x="-9114530" y="3676573"/>
            <a:ext cx="4822722" cy="523220"/>
          </a:xfrm>
          <a:prstGeom prst="rect">
            <a:avLst/>
          </a:prstGeom>
          <a:noFill/>
        </p:spPr>
        <p:txBody>
          <a:bodyPr wrap="square" rtlCol="0">
            <a:spAutoFit/>
          </a:bodyPr>
          <a:lstStyle/>
          <a:p>
            <a:pPr algn="ctr"/>
            <a:r>
              <a:rPr lang="en-US" sz="2800" dirty="0"/>
              <a:t>Adolf Jülicher</a:t>
            </a:r>
          </a:p>
        </p:txBody>
      </p:sp>
      <p:sp>
        <p:nvSpPr>
          <p:cNvPr id="40" name="TextBox 39">
            <a:extLst>
              <a:ext uri="{FF2B5EF4-FFF2-40B4-BE49-F238E27FC236}">
                <a16:creationId xmlns:a16="http://schemas.microsoft.com/office/drawing/2014/main" id="{49E605E5-E217-D39A-4E2D-376F6A5B7313}"/>
              </a:ext>
            </a:extLst>
          </p:cNvPr>
          <p:cNvSpPr txBox="1"/>
          <p:nvPr/>
        </p:nvSpPr>
        <p:spPr>
          <a:xfrm>
            <a:off x="-12799168" y="4392669"/>
            <a:ext cx="12192000" cy="1815882"/>
          </a:xfrm>
          <a:prstGeom prst="rect">
            <a:avLst/>
          </a:prstGeom>
          <a:noFill/>
        </p:spPr>
        <p:txBody>
          <a:bodyPr wrap="square" rtlCol="0">
            <a:spAutoFit/>
          </a:bodyPr>
          <a:lstStyle/>
          <a:p>
            <a:pPr algn="ctr"/>
            <a:r>
              <a:rPr lang="en-US" sz="2800" dirty="0"/>
              <a:t>“Said that the public reading…of Christian books and epistles in a liturgical setting, along with Old Testament books already regarded as authoritative, that was chiefly responsible for their being recognized eventually as canonical Scripture” (p. 23)</a:t>
            </a:r>
          </a:p>
        </p:txBody>
      </p:sp>
      <p:sp>
        <p:nvSpPr>
          <p:cNvPr id="41" name="Rectangle 40">
            <a:extLst>
              <a:ext uri="{FF2B5EF4-FFF2-40B4-BE49-F238E27FC236}">
                <a16:creationId xmlns:a16="http://schemas.microsoft.com/office/drawing/2014/main" id="{5302CE01-03CC-06BD-FC33-115174F87134}"/>
              </a:ext>
            </a:extLst>
          </p:cNvPr>
          <p:cNvSpPr/>
          <p:nvPr/>
        </p:nvSpPr>
        <p:spPr>
          <a:xfrm rot="16200000">
            <a:off x="-7042304"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09EC037C-8B7C-E8D5-C001-BB457424DF63}"/>
              </a:ext>
            </a:extLst>
          </p:cNvPr>
          <p:cNvSpPr txBox="1"/>
          <p:nvPr/>
        </p:nvSpPr>
        <p:spPr>
          <a:xfrm>
            <a:off x="624616" y="2423618"/>
            <a:ext cx="6341805" cy="523220"/>
          </a:xfrm>
          <a:prstGeom prst="rect">
            <a:avLst/>
          </a:prstGeom>
          <a:noFill/>
        </p:spPr>
        <p:txBody>
          <a:bodyPr wrap="square" rtlCol="0">
            <a:spAutoFit/>
          </a:bodyPr>
          <a:lstStyle/>
          <a:p>
            <a:pPr algn="ctr"/>
            <a:r>
              <a:rPr lang="en-US" sz="2800" b="1" dirty="0"/>
              <a:t>1888-1901</a:t>
            </a:r>
          </a:p>
        </p:txBody>
      </p:sp>
      <p:sp>
        <p:nvSpPr>
          <p:cNvPr id="43" name="TextBox 42">
            <a:extLst>
              <a:ext uri="{FF2B5EF4-FFF2-40B4-BE49-F238E27FC236}">
                <a16:creationId xmlns:a16="http://schemas.microsoft.com/office/drawing/2014/main" id="{00F06215-DFEE-602D-4A71-09E83EC4D22C}"/>
              </a:ext>
            </a:extLst>
          </p:cNvPr>
          <p:cNvSpPr txBox="1"/>
          <p:nvPr/>
        </p:nvSpPr>
        <p:spPr>
          <a:xfrm>
            <a:off x="1261709" y="3676573"/>
            <a:ext cx="4822722" cy="523220"/>
          </a:xfrm>
          <a:prstGeom prst="rect">
            <a:avLst/>
          </a:prstGeom>
          <a:noFill/>
        </p:spPr>
        <p:txBody>
          <a:bodyPr wrap="square" rtlCol="0">
            <a:spAutoFit/>
          </a:bodyPr>
          <a:lstStyle/>
          <a:p>
            <a:pPr algn="ctr"/>
            <a:r>
              <a:rPr lang="en-US" sz="2800" dirty="0"/>
              <a:t>Theodor Zahn</a:t>
            </a:r>
          </a:p>
        </p:txBody>
      </p:sp>
      <p:sp>
        <p:nvSpPr>
          <p:cNvPr id="44" name="TextBox 43">
            <a:extLst>
              <a:ext uri="{FF2B5EF4-FFF2-40B4-BE49-F238E27FC236}">
                <a16:creationId xmlns:a16="http://schemas.microsoft.com/office/drawing/2014/main" id="{C12DF96F-E237-7FA6-B28D-E417D75E3FA0}"/>
              </a:ext>
            </a:extLst>
          </p:cNvPr>
          <p:cNvSpPr txBox="1"/>
          <p:nvPr/>
        </p:nvSpPr>
        <p:spPr>
          <a:xfrm>
            <a:off x="-12909704" y="4392669"/>
            <a:ext cx="12192000" cy="954107"/>
          </a:xfrm>
          <a:prstGeom prst="rect">
            <a:avLst/>
          </a:prstGeom>
          <a:noFill/>
        </p:spPr>
        <p:txBody>
          <a:bodyPr wrap="square" rtlCol="0">
            <a:spAutoFit/>
          </a:bodyPr>
          <a:lstStyle/>
          <a:p>
            <a:pPr algn="ctr"/>
            <a:r>
              <a:rPr lang="en-US" sz="2800" dirty="0"/>
              <a:t>Believed the canon “came into existence by the end of the first century” (p. 23-24)</a:t>
            </a:r>
          </a:p>
        </p:txBody>
      </p:sp>
      <p:sp>
        <p:nvSpPr>
          <p:cNvPr id="45" name="Rectangle 44">
            <a:extLst>
              <a:ext uri="{FF2B5EF4-FFF2-40B4-BE49-F238E27FC236}">
                <a16:creationId xmlns:a16="http://schemas.microsoft.com/office/drawing/2014/main" id="{AC2F2156-62EA-8A69-70AB-39A2EBA74EA7}"/>
              </a:ext>
            </a:extLst>
          </p:cNvPr>
          <p:cNvSpPr/>
          <p:nvPr/>
        </p:nvSpPr>
        <p:spPr>
          <a:xfrm rot="16200000">
            <a:off x="8287869"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D1AEB023-0DC1-9ED0-75A8-F3821D77F55E}"/>
              </a:ext>
            </a:extLst>
          </p:cNvPr>
          <p:cNvSpPr txBox="1"/>
          <p:nvPr/>
        </p:nvSpPr>
        <p:spPr>
          <a:xfrm>
            <a:off x="5345566" y="2423618"/>
            <a:ext cx="6341805" cy="523220"/>
          </a:xfrm>
          <a:prstGeom prst="rect">
            <a:avLst/>
          </a:prstGeom>
          <a:noFill/>
        </p:spPr>
        <p:txBody>
          <a:bodyPr wrap="square" rtlCol="0">
            <a:spAutoFit/>
          </a:bodyPr>
          <a:lstStyle/>
          <a:p>
            <a:pPr algn="ctr"/>
            <a:r>
              <a:rPr lang="en-US" sz="2800" b="1" dirty="0"/>
              <a:t>1889</a:t>
            </a:r>
          </a:p>
        </p:txBody>
      </p:sp>
      <p:sp>
        <p:nvSpPr>
          <p:cNvPr id="47" name="TextBox 46">
            <a:extLst>
              <a:ext uri="{FF2B5EF4-FFF2-40B4-BE49-F238E27FC236}">
                <a16:creationId xmlns:a16="http://schemas.microsoft.com/office/drawing/2014/main" id="{078DD136-C213-29BC-927A-00217183D830}"/>
              </a:ext>
            </a:extLst>
          </p:cNvPr>
          <p:cNvSpPr txBox="1"/>
          <p:nvPr/>
        </p:nvSpPr>
        <p:spPr>
          <a:xfrm>
            <a:off x="6105107" y="3676573"/>
            <a:ext cx="4822722" cy="523220"/>
          </a:xfrm>
          <a:prstGeom prst="rect">
            <a:avLst/>
          </a:prstGeom>
          <a:noFill/>
        </p:spPr>
        <p:txBody>
          <a:bodyPr wrap="square" rtlCol="0">
            <a:spAutoFit/>
          </a:bodyPr>
          <a:lstStyle/>
          <a:p>
            <a:pPr algn="ctr"/>
            <a:r>
              <a:rPr lang="en-US" sz="2800" dirty="0"/>
              <a:t>Adolf Harnack</a:t>
            </a:r>
          </a:p>
        </p:txBody>
      </p:sp>
      <p:sp>
        <p:nvSpPr>
          <p:cNvPr id="49" name="TextBox 48">
            <a:extLst>
              <a:ext uri="{FF2B5EF4-FFF2-40B4-BE49-F238E27FC236}">
                <a16:creationId xmlns:a16="http://schemas.microsoft.com/office/drawing/2014/main" id="{9B51197A-42A2-EAF0-EFCF-67DAF9935802}"/>
              </a:ext>
            </a:extLst>
          </p:cNvPr>
          <p:cNvSpPr txBox="1"/>
          <p:nvPr/>
        </p:nvSpPr>
        <p:spPr>
          <a:xfrm>
            <a:off x="-1" y="4199916"/>
            <a:ext cx="6127007" cy="2677656"/>
          </a:xfrm>
          <a:prstGeom prst="rect">
            <a:avLst/>
          </a:prstGeom>
          <a:noFill/>
        </p:spPr>
        <p:txBody>
          <a:bodyPr wrap="square" rtlCol="0">
            <a:spAutoFit/>
          </a:bodyPr>
          <a:lstStyle/>
          <a:p>
            <a:pPr algn="ctr"/>
            <a:r>
              <a:rPr lang="en-US" sz="2800" dirty="0"/>
              <a:t>“He was satisfied if, for instance, the four Gospels are an authority because of the authority of the Lord’s sayings which they contain. He could…speak of the existence of a NT ‘canon’ [at the close of the 1st century]” (p. 24)</a:t>
            </a:r>
          </a:p>
        </p:txBody>
      </p:sp>
      <p:sp>
        <p:nvSpPr>
          <p:cNvPr id="50" name="TextBox 49">
            <a:extLst>
              <a:ext uri="{FF2B5EF4-FFF2-40B4-BE49-F238E27FC236}">
                <a16:creationId xmlns:a16="http://schemas.microsoft.com/office/drawing/2014/main" id="{39E944AF-EBA5-0367-1162-84E1CB06AB3D}"/>
              </a:ext>
            </a:extLst>
          </p:cNvPr>
          <p:cNvSpPr txBox="1"/>
          <p:nvPr/>
        </p:nvSpPr>
        <p:spPr>
          <a:xfrm>
            <a:off x="6092653" y="4207794"/>
            <a:ext cx="6096000" cy="2677656"/>
          </a:xfrm>
          <a:prstGeom prst="rect">
            <a:avLst/>
          </a:prstGeom>
          <a:noFill/>
        </p:spPr>
        <p:txBody>
          <a:bodyPr wrap="square" rtlCol="0">
            <a:spAutoFit/>
          </a:bodyPr>
          <a:lstStyle/>
          <a:p>
            <a:pPr algn="ctr"/>
            <a:r>
              <a:rPr lang="en-US" sz="2800" dirty="0"/>
              <a:t>“New Testament canon is a collection of books that possessed authority </a:t>
            </a:r>
            <a:r>
              <a:rPr lang="en-US" sz="2800" i="1" dirty="0"/>
              <a:t>because</a:t>
            </a:r>
            <a:r>
              <a:rPr lang="en-US" sz="2800" dirty="0"/>
              <a:t> they were regarded as holy Scripture. Accordingly he placed the rise of the New Testament canon at the close of the 2</a:t>
            </a:r>
            <a:r>
              <a:rPr lang="en-US" sz="2800" baseline="30000" dirty="0"/>
              <a:t>nd</a:t>
            </a:r>
            <a:r>
              <a:rPr lang="en-US" sz="2800" dirty="0"/>
              <a:t>  century” (p. 24)</a:t>
            </a:r>
          </a:p>
        </p:txBody>
      </p:sp>
    </p:spTree>
    <p:extLst>
      <p:ext uri="{BB962C8B-B14F-4D97-AF65-F5344CB8AC3E}">
        <p14:creationId xmlns:p14="http://schemas.microsoft.com/office/powerpoint/2010/main" val="3049865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fade">
                                      <p:cBhvr>
                                        <p:cTn id="1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C37D4-0D15-F842-8EC9-FE03792C5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CE7D60-BBA3-5E8E-1EFA-5AB4B8065C05}"/>
              </a:ext>
            </a:extLst>
          </p:cNvPr>
          <p:cNvSpPr>
            <a:spLocks noGrp="1"/>
          </p:cNvSpPr>
          <p:nvPr>
            <p:ph type="ctrTitle"/>
          </p:nvPr>
        </p:nvSpPr>
        <p:spPr>
          <a:xfrm>
            <a:off x="0" y="1435100"/>
            <a:ext cx="12192000" cy="2387600"/>
          </a:xfrm>
        </p:spPr>
        <p:txBody>
          <a:bodyPr>
            <a:normAutofit fontScale="90000"/>
          </a:bodyPr>
          <a:lstStyle/>
          <a:p>
            <a:pPr algn="ctr"/>
            <a:r>
              <a:rPr lang="en-US" b="1" dirty="0"/>
              <a:t>Class 3:</a:t>
            </a:r>
            <a:br>
              <a:rPr lang="en-US" b="1" dirty="0"/>
            </a:br>
            <a:r>
              <a:rPr lang="en-US" dirty="0"/>
              <a:t>History of Canon Discussion (20</a:t>
            </a:r>
            <a:r>
              <a:rPr lang="en-US" baseline="30000" dirty="0"/>
              <a:t>th</a:t>
            </a:r>
            <a:r>
              <a:rPr lang="en-US" dirty="0"/>
              <a:t> century)</a:t>
            </a:r>
          </a:p>
        </p:txBody>
      </p:sp>
      <p:sp>
        <p:nvSpPr>
          <p:cNvPr id="3" name="Subtitle 2">
            <a:extLst>
              <a:ext uri="{FF2B5EF4-FFF2-40B4-BE49-F238E27FC236}">
                <a16:creationId xmlns:a16="http://schemas.microsoft.com/office/drawing/2014/main" id="{A8AD341C-DB6A-BD06-914A-6E0B5BC262F4}"/>
              </a:ext>
            </a:extLst>
          </p:cNvPr>
          <p:cNvSpPr>
            <a:spLocks noGrp="1"/>
          </p:cNvSpPr>
          <p:nvPr>
            <p:ph type="subTitle" idx="1"/>
          </p:nvPr>
        </p:nvSpPr>
        <p:spPr>
          <a:xfrm>
            <a:off x="1524000" y="3924300"/>
            <a:ext cx="9144000" cy="1651000"/>
          </a:xfrm>
        </p:spPr>
        <p:txBody>
          <a:bodyPr/>
          <a:lstStyle/>
          <a:p>
            <a:pPr algn="ctr"/>
            <a:r>
              <a:rPr lang="en-US" dirty="0"/>
              <a:t>Based on B. Metzger, </a:t>
            </a:r>
            <a:r>
              <a:rPr lang="en-US" i="1" dirty="0"/>
              <a:t>The Canon of the New Testament: Its Origin, Development, and Significance, </a:t>
            </a:r>
            <a:r>
              <a:rPr lang="en-US" dirty="0"/>
              <a:t>Oxford (1987)</a:t>
            </a:r>
          </a:p>
        </p:txBody>
      </p:sp>
    </p:spTree>
    <p:extLst>
      <p:ext uri="{BB962C8B-B14F-4D97-AF65-F5344CB8AC3E}">
        <p14:creationId xmlns:p14="http://schemas.microsoft.com/office/powerpoint/2010/main" val="28654004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4EEDE-DBB9-683A-C053-9D293CEF8F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31CED-9346-5CE7-68B4-0856F10474B3}"/>
              </a:ext>
            </a:extLst>
          </p:cNvPr>
          <p:cNvSpPr>
            <a:spLocks noGrp="1"/>
          </p:cNvSpPr>
          <p:nvPr>
            <p:ph type="title"/>
          </p:nvPr>
        </p:nvSpPr>
        <p:spPr/>
        <p:txBody>
          <a:bodyPr/>
          <a:lstStyle/>
          <a:p>
            <a:r>
              <a:rPr lang="en-US" dirty="0"/>
              <a:t>Download Slides</a:t>
            </a:r>
          </a:p>
        </p:txBody>
      </p:sp>
      <p:sp>
        <p:nvSpPr>
          <p:cNvPr id="3" name="Content Placeholder 2">
            <a:extLst>
              <a:ext uri="{FF2B5EF4-FFF2-40B4-BE49-F238E27FC236}">
                <a16:creationId xmlns:a16="http://schemas.microsoft.com/office/drawing/2014/main" id="{D10565E1-46C2-2D40-A036-BC3DFA2E51B2}"/>
              </a:ext>
            </a:extLst>
          </p:cNvPr>
          <p:cNvSpPr>
            <a:spLocks noGrp="1"/>
          </p:cNvSpPr>
          <p:nvPr>
            <p:ph idx="1"/>
          </p:nvPr>
        </p:nvSpPr>
        <p:spPr>
          <a:xfrm>
            <a:off x="838200" y="1825625"/>
            <a:ext cx="9906000" cy="803275"/>
          </a:xfrm>
        </p:spPr>
        <p:txBody>
          <a:bodyPr>
            <a:normAutofit fontScale="92500"/>
          </a:bodyPr>
          <a:lstStyle/>
          <a:p>
            <a:r>
              <a:rPr lang="en-US" sz="4400" dirty="0"/>
              <a:t>https://</a:t>
            </a:r>
            <a:r>
              <a:rPr lang="en-US" sz="4400" dirty="0" err="1"/>
              <a:t>joshuahaub.com</a:t>
            </a:r>
            <a:r>
              <a:rPr lang="en-US" sz="4400" dirty="0"/>
              <a:t>/notes/</a:t>
            </a:r>
            <a:r>
              <a:rPr lang="en-US" sz="4400" dirty="0" err="1"/>
              <a:t>nt</a:t>
            </a:r>
            <a:r>
              <a:rPr lang="en-US" sz="4400" dirty="0"/>
              <a:t>-canon/</a:t>
            </a:r>
          </a:p>
        </p:txBody>
      </p:sp>
      <p:pic>
        <p:nvPicPr>
          <p:cNvPr id="4" name="Picture 3">
            <a:extLst>
              <a:ext uri="{FF2B5EF4-FFF2-40B4-BE49-F238E27FC236}">
                <a16:creationId xmlns:a16="http://schemas.microsoft.com/office/drawing/2014/main" id="{85D1BBE1-7216-334E-1DCD-0DF6F0B7C2C4}"/>
              </a:ext>
            </a:extLst>
          </p:cNvPr>
          <p:cNvPicPr>
            <a:picLocks noChangeAspect="1"/>
          </p:cNvPicPr>
          <p:nvPr/>
        </p:nvPicPr>
        <p:blipFill>
          <a:blip r:embed="rId2"/>
          <a:stretch>
            <a:fillRect/>
          </a:stretch>
        </p:blipFill>
        <p:spPr>
          <a:xfrm>
            <a:off x="7962900" y="2628900"/>
            <a:ext cx="4229100" cy="4229100"/>
          </a:xfrm>
          <a:prstGeom prst="rect">
            <a:avLst/>
          </a:prstGeom>
        </p:spPr>
      </p:pic>
    </p:spTree>
    <p:extLst>
      <p:ext uri="{BB962C8B-B14F-4D97-AF65-F5344CB8AC3E}">
        <p14:creationId xmlns:p14="http://schemas.microsoft.com/office/powerpoint/2010/main" val="25549120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43B76-8A7B-9F52-DA67-CC18C4C37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02EE7F-41AC-375C-8B95-2F9F1B10A982}"/>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F7502F2B-BAA0-62CE-3451-3C6FC1F640B3}"/>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BBAC2EE-C07B-049E-93B1-5C37D3C87F70}"/>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AF8F8ECE-5B56-1C80-91E9-17768D830F15}"/>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1889</a:t>
            </a:r>
          </a:p>
        </p:txBody>
      </p:sp>
      <p:sp>
        <p:nvSpPr>
          <p:cNvPr id="47" name="TextBox 46">
            <a:extLst>
              <a:ext uri="{FF2B5EF4-FFF2-40B4-BE49-F238E27FC236}">
                <a16:creationId xmlns:a16="http://schemas.microsoft.com/office/drawing/2014/main" id="{7220F52E-A39C-6159-A6DF-E89E9E0CC451}"/>
              </a:ext>
            </a:extLst>
          </p:cNvPr>
          <p:cNvSpPr txBox="1"/>
          <p:nvPr/>
        </p:nvSpPr>
        <p:spPr>
          <a:xfrm>
            <a:off x="3684638" y="3676573"/>
            <a:ext cx="4822722" cy="523220"/>
          </a:xfrm>
          <a:prstGeom prst="rect">
            <a:avLst/>
          </a:prstGeom>
          <a:noFill/>
        </p:spPr>
        <p:txBody>
          <a:bodyPr wrap="square" rtlCol="0">
            <a:spAutoFit/>
          </a:bodyPr>
          <a:lstStyle/>
          <a:p>
            <a:pPr algn="ctr"/>
            <a:r>
              <a:rPr lang="en-US" sz="2800" dirty="0"/>
              <a:t>Adolf Harnack</a:t>
            </a:r>
          </a:p>
        </p:txBody>
      </p:sp>
      <p:sp>
        <p:nvSpPr>
          <p:cNvPr id="48" name="TextBox 47">
            <a:extLst>
              <a:ext uri="{FF2B5EF4-FFF2-40B4-BE49-F238E27FC236}">
                <a16:creationId xmlns:a16="http://schemas.microsoft.com/office/drawing/2014/main" id="{63EEA6B1-4AA9-94F3-5B21-EE14A2C49538}"/>
              </a:ext>
            </a:extLst>
          </p:cNvPr>
          <p:cNvSpPr txBox="1"/>
          <p:nvPr/>
        </p:nvSpPr>
        <p:spPr>
          <a:xfrm>
            <a:off x="0" y="4348065"/>
            <a:ext cx="12192000" cy="2246769"/>
          </a:xfrm>
          <a:prstGeom prst="rect">
            <a:avLst/>
          </a:prstGeom>
          <a:noFill/>
        </p:spPr>
        <p:txBody>
          <a:bodyPr wrap="square" rtlCol="0">
            <a:spAutoFit/>
          </a:bodyPr>
          <a:lstStyle/>
          <a:p>
            <a:pPr marL="457200" indent="-457200" algn="ctr">
              <a:buFontTx/>
              <a:buChar char="-"/>
            </a:pPr>
            <a:r>
              <a:rPr lang="en-US" sz="2800" dirty="0"/>
              <a:t>Chief rival against Zahn</a:t>
            </a:r>
          </a:p>
          <a:p>
            <a:pPr marL="457200" indent="-457200" algn="ctr">
              <a:buFontTx/>
              <a:buChar char="-"/>
            </a:pPr>
            <a:r>
              <a:rPr lang="en-US" sz="2800" dirty="0"/>
              <a:t>Said that the canon was one of the three barriers which the Church created to defend against heresies such as Gnosticism (the other two were the creed and the bishopric)</a:t>
            </a:r>
          </a:p>
          <a:p>
            <a:pPr marL="457200" indent="-457200" algn="ctr">
              <a:buFontTx/>
              <a:buChar char="-"/>
            </a:pPr>
            <a:r>
              <a:rPr lang="en-US" sz="2800" dirty="0"/>
              <a:t>The process was a “competition” of books and the most helpful survived</a:t>
            </a:r>
          </a:p>
        </p:txBody>
      </p:sp>
    </p:spTree>
    <p:extLst>
      <p:ext uri="{BB962C8B-B14F-4D97-AF65-F5344CB8AC3E}">
        <p14:creationId xmlns:p14="http://schemas.microsoft.com/office/powerpoint/2010/main" val="21191442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F1BCE-2498-2B88-EC3A-79CD78933F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D1993-B9F8-62A1-DA7B-B0DF1E43BABD}"/>
              </a:ext>
            </a:extLst>
          </p:cNvPr>
          <p:cNvSpPr>
            <a:spLocks noGrp="1"/>
          </p:cNvSpPr>
          <p:nvPr>
            <p:ph type="title"/>
          </p:nvPr>
        </p:nvSpPr>
        <p:spPr/>
        <p:txBody>
          <a:bodyPr/>
          <a:lstStyle/>
          <a:p>
            <a:r>
              <a:rPr lang="en-US" dirty="0"/>
              <a:t>History of Canon Discussion</a:t>
            </a:r>
          </a:p>
        </p:txBody>
      </p:sp>
      <p:sp>
        <p:nvSpPr>
          <p:cNvPr id="6" name="Rectangle 5">
            <a:extLst>
              <a:ext uri="{FF2B5EF4-FFF2-40B4-BE49-F238E27FC236}">
                <a16:creationId xmlns:a16="http://schemas.microsoft.com/office/drawing/2014/main" id="{0A2FF3CC-C159-1BC2-A2AD-8FE798650BD4}"/>
              </a:ext>
            </a:extLst>
          </p:cNvPr>
          <p:cNvSpPr/>
          <p:nvPr/>
        </p:nvSpPr>
        <p:spPr>
          <a:xfrm>
            <a:off x="-1445103" y="3404039"/>
            <a:ext cx="1536192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5B734BA-4569-5FA5-FD72-1EA1CAFDDF55}"/>
              </a:ext>
            </a:extLst>
          </p:cNvPr>
          <p:cNvSpPr/>
          <p:nvPr/>
        </p:nvSpPr>
        <p:spPr>
          <a:xfrm rot="16200000">
            <a:off x="-6438251"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172078D6-0843-6F7F-69EF-5ABD3608D1D7}"/>
              </a:ext>
            </a:extLst>
          </p:cNvPr>
          <p:cNvSpPr txBox="1"/>
          <p:nvPr/>
        </p:nvSpPr>
        <p:spPr>
          <a:xfrm>
            <a:off x="-9380554" y="2423618"/>
            <a:ext cx="6341805" cy="523220"/>
          </a:xfrm>
          <a:prstGeom prst="rect">
            <a:avLst/>
          </a:prstGeom>
          <a:noFill/>
        </p:spPr>
        <p:txBody>
          <a:bodyPr wrap="square" rtlCol="0">
            <a:spAutoFit/>
          </a:bodyPr>
          <a:lstStyle/>
          <a:p>
            <a:pPr algn="ctr"/>
            <a:r>
              <a:rPr lang="en-US" sz="2800" b="1" dirty="0"/>
              <a:t>1889</a:t>
            </a:r>
          </a:p>
        </p:txBody>
      </p:sp>
      <p:sp>
        <p:nvSpPr>
          <p:cNvPr id="47" name="TextBox 46">
            <a:extLst>
              <a:ext uri="{FF2B5EF4-FFF2-40B4-BE49-F238E27FC236}">
                <a16:creationId xmlns:a16="http://schemas.microsoft.com/office/drawing/2014/main" id="{94788DEA-8521-3888-856F-4C4A29BC074B}"/>
              </a:ext>
            </a:extLst>
          </p:cNvPr>
          <p:cNvSpPr txBox="1"/>
          <p:nvPr/>
        </p:nvSpPr>
        <p:spPr>
          <a:xfrm>
            <a:off x="-8621013" y="3676573"/>
            <a:ext cx="4822722" cy="523220"/>
          </a:xfrm>
          <a:prstGeom prst="rect">
            <a:avLst/>
          </a:prstGeom>
          <a:noFill/>
        </p:spPr>
        <p:txBody>
          <a:bodyPr wrap="square" rtlCol="0">
            <a:spAutoFit/>
          </a:bodyPr>
          <a:lstStyle/>
          <a:p>
            <a:pPr algn="ctr"/>
            <a:r>
              <a:rPr lang="en-US" sz="2800" dirty="0"/>
              <a:t>Adolf Harnack</a:t>
            </a:r>
          </a:p>
        </p:txBody>
      </p:sp>
      <p:sp>
        <p:nvSpPr>
          <p:cNvPr id="48" name="TextBox 47">
            <a:extLst>
              <a:ext uri="{FF2B5EF4-FFF2-40B4-BE49-F238E27FC236}">
                <a16:creationId xmlns:a16="http://schemas.microsoft.com/office/drawing/2014/main" id="{3494B2DB-AAA6-6755-CC2F-2B0580CD69D8}"/>
              </a:ext>
            </a:extLst>
          </p:cNvPr>
          <p:cNvSpPr txBox="1"/>
          <p:nvPr/>
        </p:nvSpPr>
        <p:spPr>
          <a:xfrm>
            <a:off x="-12305651" y="4348065"/>
            <a:ext cx="12192000" cy="2246769"/>
          </a:xfrm>
          <a:prstGeom prst="rect">
            <a:avLst/>
          </a:prstGeom>
          <a:noFill/>
        </p:spPr>
        <p:txBody>
          <a:bodyPr wrap="square" rtlCol="0">
            <a:spAutoFit/>
          </a:bodyPr>
          <a:lstStyle/>
          <a:p>
            <a:pPr marL="457200" indent="-457200" algn="ctr">
              <a:buFontTx/>
              <a:buChar char="-"/>
            </a:pPr>
            <a:r>
              <a:rPr lang="en-US" sz="2800" dirty="0"/>
              <a:t>Chief rival against Zahn</a:t>
            </a:r>
          </a:p>
          <a:p>
            <a:pPr marL="457200" indent="-457200" algn="ctr">
              <a:buFontTx/>
              <a:buChar char="-"/>
            </a:pPr>
            <a:r>
              <a:rPr lang="en-US" sz="2800" dirty="0"/>
              <a:t>Said that the canon was one of the three barriers which the Church created to defend against heresies such as Gnosticism (the other two were the creed and the bishopric)</a:t>
            </a:r>
          </a:p>
          <a:p>
            <a:pPr marL="457200" indent="-457200" algn="ctr">
              <a:buFontTx/>
              <a:buChar char="-"/>
            </a:pPr>
            <a:r>
              <a:rPr lang="en-US" sz="2800" dirty="0"/>
              <a:t>The process was a “competition” of books and the most helpful survived</a:t>
            </a:r>
          </a:p>
        </p:txBody>
      </p:sp>
      <p:sp>
        <p:nvSpPr>
          <p:cNvPr id="3" name="Rectangle 2">
            <a:extLst>
              <a:ext uri="{FF2B5EF4-FFF2-40B4-BE49-F238E27FC236}">
                <a16:creationId xmlns:a16="http://schemas.microsoft.com/office/drawing/2014/main" id="{B51A10D6-92CA-A945-18B9-234E9E375D71}"/>
              </a:ext>
            </a:extLst>
          </p:cNvPr>
          <p:cNvSpPr/>
          <p:nvPr/>
        </p:nvSpPr>
        <p:spPr>
          <a:xfrm rot="16200000">
            <a:off x="5867400" y="3097407"/>
            <a:ext cx="45720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32AFAE3-910A-D991-C1B8-CA20BE9AF800}"/>
              </a:ext>
            </a:extLst>
          </p:cNvPr>
          <p:cNvSpPr txBox="1"/>
          <p:nvPr/>
        </p:nvSpPr>
        <p:spPr>
          <a:xfrm>
            <a:off x="2925097" y="2423618"/>
            <a:ext cx="6341805" cy="523220"/>
          </a:xfrm>
          <a:prstGeom prst="rect">
            <a:avLst/>
          </a:prstGeom>
          <a:noFill/>
        </p:spPr>
        <p:txBody>
          <a:bodyPr wrap="square" rtlCol="0">
            <a:spAutoFit/>
          </a:bodyPr>
          <a:lstStyle/>
          <a:p>
            <a:pPr algn="ctr"/>
            <a:r>
              <a:rPr lang="en-US" sz="2800" b="1" dirty="0"/>
              <a:t>?</a:t>
            </a:r>
          </a:p>
        </p:txBody>
      </p:sp>
      <p:sp>
        <p:nvSpPr>
          <p:cNvPr id="5" name="TextBox 4">
            <a:extLst>
              <a:ext uri="{FF2B5EF4-FFF2-40B4-BE49-F238E27FC236}">
                <a16:creationId xmlns:a16="http://schemas.microsoft.com/office/drawing/2014/main" id="{A9B9A53E-E6FF-B50C-471C-B680F3942510}"/>
              </a:ext>
            </a:extLst>
          </p:cNvPr>
          <p:cNvSpPr txBox="1"/>
          <p:nvPr/>
        </p:nvSpPr>
        <p:spPr>
          <a:xfrm>
            <a:off x="3684638" y="3676573"/>
            <a:ext cx="4822722" cy="523220"/>
          </a:xfrm>
          <a:prstGeom prst="rect">
            <a:avLst/>
          </a:prstGeom>
          <a:noFill/>
        </p:spPr>
        <p:txBody>
          <a:bodyPr wrap="square" rtlCol="0">
            <a:spAutoFit/>
          </a:bodyPr>
          <a:lstStyle/>
          <a:p>
            <a:pPr algn="ctr"/>
            <a:r>
              <a:rPr lang="en-US" sz="2800" dirty="0"/>
              <a:t>?</a:t>
            </a:r>
          </a:p>
        </p:txBody>
      </p:sp>
      <p:sp>
        <p:nvSpPr>
          <p:cNvPr id="7" name="TextBox 6">
            <a:extLst>
              <a:ext uri="{FF2B5EF4-FFF2-40B4-BE49-F238E27FC236}">
                <a16:creationId xmlns:a16="http://schemas.microsoft.com/office/drawing/2014/main" id="{EE324419-DBD8-7421-0275-A6850CE4E0D0}"/>
              </a:ext>
            </a:extLst>
          </p:cNvPr>
          <p:cNvSpPr txBox="1"/>
          <p:nvPr/>
        </p:nvSpPr>
        <p:spPr>
          <a:xfrm>
            <a:off x="0" y="4348065"/>
            <a:ext cx="12192000" cy="523220"/>
          </a:xfrm>
          <a:prstGeom prst="rect">
            <a:avLst/>
          </a:prstGeom>
          <a:noFill/>
        </p:spPr>
        <p:txBody>
          <a:bodyPr wrap="square" rtlCol="0">
            <a:spAutoFit/>
          </a:bodyPr>
          <a:lstStyle/>
          <a:p>
            <a:pPr algn="ctr"/>
            <a:r>
              <a:rPr lang="en-US" sz="2800" dirty="0"/>
              <a:t>?</a:t>
            </a:r>
          </a:p>
        </p:txBody>
      </p:sp>
    </p:spTree>
    <p:extLst>
      <p:ext uri="{BB962C8B-B14F-4D97-AF65-F5344CB8AC3E}">
        <p14:creationId xmlns:p14="http://schemas.microsoft.com/office/powerpoint/2010/main" val="2327353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00887-E245-799F-11CC-0CDCED848D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09190-ABDF-7546-EB90-246D72D20F4B}"/>
              </a:ext>
            </a:extLst>
          </p:cNvPr>
          <p:cNvSpPr>
            <a:spLocks noGrp="1"/>
          </p:cNvSpPr>
          <p:nvPr>
            <p:ph type="ctrTitle"/>
          </p:nvPr>
        </p:nvSpPr>
        <p:spPr>
          <a:xfrm>
            <a:off x="0" y="1435100"/>
            <a:ext cx="12192000" cy="2387600"/>
          </a:xfrm>
        </p:spPr>
        <p:txBody>
          <a:bodyPr>
            <a:normAutofit/>
          </a:bodyPr>
          <a:lstStyle/>
          <a:p>
            <a:pPr algn="ctr"/>
            <a:r>
              <a:rPr lang="en-US" b="1" dirty="0"/>
              <a:t>Class 4:</a:t>
            </a:r>
            <a:br>
              <a:rPr lang="en-US" b="1" dirty="0"/>
            </a:br>
            <a:r>
              <a:rPr lang="en-US" dirty="0"/>
              <a:t>Modern Canonical Models</a:t>
            </a:r>
          </a:p>
        </p:txBody>
      </p:sp>
      <p:sp>
        <p:nvSpPr>
          <p:cNvPr id="3" name="Subtitle 2">
            <a:extLst>
              <a:ext uri="{FF2B5EF4-FFF2-40B4-BE49-F238E27FC236}">
                <a16:creationId xmlns:a16="http://schemas.microsoft.com/office/drawing/2014/main" id="{BE6B83D2-9B63-E9C3-1B6F-260C43EDFA02}"/>
              </a:ext>
            </a:extLst>
          </p:cNvPr>
          <p:cNvSpPr>
            <a:spLocks noGrp="1"/>
          </p:cNvSpPr>
          <p:nvPr>
            <p:ph type="subTitle" idx="1"/>
          </p:nvPr>
        </p:nvSpPr>
        <p:spPr>
          <a:xfrm>
            <a:off x="1524000" y="3924300"/>
            <a:ext cx="9144000" cy="1651000"/>
          </a:xfrm>
        </p:spPr>
        <p:txBody>
          <a:bodyPr/>
          <a:lstStyle/>
          <a:p>
            <a:pPr algn="ctr"/>
            <a:r>
              <a:rPr lang="en-US" dirty="0"/>
              <a:t>Based on M. Kruger, </a:t>
            </a:r>
            <a:r>
              <a:rPr lang="en-US" i="1" dirty="0"/>
              <a:t>Canon Revisited: Establishing the Origins and Authority of the New Testament Books</a:t>
            </a:r>
            <a:r>
              <a:rPr lang="en-US" dirty="0"/>
              <a:t>, Crossway (2012)</a:t>
            </a:r>
          </a:p>
        </p:txBody>
      </p:sp>
    </p:spTree>
    <p:extLst>
      <p:ext uri="{BB962C8B-B14F-4D97-AF65-F5344CB8AC3E}">
        <p14:creationId xmlns:p14="http://schemas.microsoft.com/office/powerpoint/2010/main" val="9096937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F3708-8485-1580-6301-0D79EB413D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6FC612-37CB-C5B8-F397-642D4C2C97B4}"/>
              </a:ext>
            </a:extLst>
          </p:cNvPr>
          <p:cNvSpPr>
            <a:spLocks noGrp="1"/>
          </p:cNvSpPr>
          <p:nvPr>
            <p:ph type="title"/>
          </p:nvPr>
        </p:nvSpPr>
        <p:spPr/>
        <p:txBody>
          <a:bodyPr/>
          <a:lstStyle/>
          <a:p>
            <a:r>
              <a:rPr lang="en-US" dirty="0"/>
              <a:t>Download Slides</a:t>
            </a:r>
          </a:p>
        </p:txBody>
      </p:sp>
      <p:sp>
        <p:nvSpPr>
          <p:cNvPr id="3" name="Content Placeholder 2">
            <a:extLst>
              <a:ext uri="{FF2B5EF4-FFF2-40B4-BE49-F238E27FC236}">
                <a16:creationId xmlns:a16="http://schemas.microsoft.com/office/drawing/2014/main" id="{1196C7F5-9192-1860-2097-C19567A8A37A}"/>
              </a:ext>
            </a:extLst>
          </p:cNvPr>
          <p:cNvSpPr>
            <a:spLocks noGrp="1"/>
          </p:cNvSpPr>
          <p:nvPr>
            <p:ph idx="1"/>
          </p:nvPr>
        </p:nvSpPr>
        <p:spPr>
          <a:xfrm>
            <a:off x="838200" y="1825625"/>
            <a:ext cx="9906000" cy="803275"/>
          </a:xfrm>
        </p:spPr>
        <p:txBody>
          <a:bodyPr>
            <a:normAutofit fontScale="92500"/>
          </a:bodyPr>
          <a:lstStyle/>
          <a:p>
            <a:r>
              <a:rPr lang="en-US" sz="4400" dirty="0"/>
              <a:t>https://</a:t>
            </a:r>
            <a:r>
              <a:rPr lang="en-US" sz="4400" dirty="0" err="1"/>
              <a:t>joshuahaub.com</a:t>
            </a:r>
            <a:r>
              <a:rPr lang="en-US" sz="4400" dirty="0"/>
              <a:t>/notes/</a:t>
            </a:r>
            <a:r>
              <a:rPr lang="en-US" sz="4400" dirty="0" err="1"/>
              <a:t>nt</a:t>
            </a:r>
            <a:r>
              <a:rPr lang="en-US" sz="4400" dirty="0"/>
              <a:t>-canon/</a:t>
            </a:r>
          </a:p>
        </p:txBody>
      </p:sp>
      <p:pic>
        <p:nvPicPr>
          <p:cNvPr id="4" name="Picture 3">
            <a:extLst>
              <a:ext uri="{FF2B5EF4-FFF2-40B4-BE49-F238E27FC236}">
                <a16:creationId xmlns:a16="http://schemas.microsoft.com/office/drawing/2014/main" id="{09C6DFDB-8098-5C64-9593-5D4C5E7E2154}"/>
              </a:ext>
            </a:extLst>
          </p:cNvPr>
          <p:cNvPicPr>
            <a:picLocks noChangeAspect="1"/>
          </p:cNvPicPr>
          <p:nvPr/>
        </p:nvPicPr>
        <p:blipFill>
          <a:blip r:embed="rId2"/>
          <a:stretch>
            <a:fillRect/>
          </a:stretch>
        </p:blipFill>
        <p:spPr>
          <a:xfrm>
            <a:off x="7962900" y="2628900"/>
            <a:ext cx="4229100" cy="4229100"/>
          </a:xfrm>
          <a:prstGeom prst="rect">
            <a:avLst/>
          </a:prstGeom>
        </p:spPr>
      </p:pic>
    </p:spTree>
    <p:extLst>
      <p:ext uri="{BB962C8B-B14F-4D97-AF65-F5344CB8AC3E}">
        <p14:creationId xmlns:p14="http://schemas.microsoft.com/office/powerpoint/2010/main" val="6780337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6C58D-4B44-39EC-3079-822415AE6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00AB5D-93C6-F68A-F211-465BB1262584}"/>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D84C8526-4CCC-C20E-FB71-285D6821F55D}"/>
              </a:ext>
            </a:extLst>
          </p:cNvPr>
          <p:cNvSpPr>
            <a:spLocks noGrp="1"/>
          </p:cNvSpPr>
          <p:nvPr>
            <p:ph idx="1"/>
          </p:nvPr>
        </p:nvSpPr>
        <p:spPr>
          <a:xfrm>
            <a:off x="838200" y="1825624"/>
            <a:ext cx="6808049" cy="4841393"/>
          </a:xfrm>
        </p:spPr>
        <p:txBody>
          <a:bodyPr>
            <a:noAutofit/>
          </a:bodyPr>
          <a:lstStyle/>
          <a:p>
            <a:r>
              <a:rPr lang="en-US" sz="2500" i="1" dirty="0"/>
              <a:t>Canon Revisited</a:t>
            </a:r>
            <a:r>
              <a:rPr lang="en-US" sz="2500" dirty="0"/>
              <a:t> by Michael J. Kruger</a:t>
            </a:r>
          </a:p>
          <a:p>
            <a:endParaRPr lang="en-US" sz="2500" dirty="0"/>
          </a:p>
          <a:p>
            <a:r>
              <a:rPr lang="en-US" sz="2500" dirty="0"/>
              <a:t>Canon discussed for a Christian audience, not for debating skeptics</a:t>
            </a:r>
          </a:p>
          <a:p>
            <a:pPr lvl="1"/>
            <a:r>
              <a:rPr lang="en-US" sz="2500" dirty="0"/>
              <a:t>“Nor, as we discussed in the introduction, are we attempting to somehow “prove” to the skeptic (in a way that would satisfy him) that these books are indeed from God. Rather, the question before us is whether the Christian faith, with its twenty-seven-book New Testament, can give an adequate account for how it can be known that these books are canonical” (p. 92)</a:t>
            </a:r>
          </a:p>
        </p:txBody>
      </p:sp>
      <p:pic>
        <p:nvPicPr>
          <p:cNvPr id="7" name="Picture 6">
            <a:extLst>
              <a:ext uri="{FF2B5EF4-FFF2-40B4-BE49-F238E27FC236}">
                <a16:creationId xmlns:a16="http://schemas.microsoft.com/office/drawing/2014/main" id="{2F79549D-DF2E-3A03-A6B4-608C39040576}"/>
              </a:ext>
            </a:extLst>
          </p:cNvPr>
          <p:cNvPicPr>
            <a:picLocks noChangeAspect="1"/>
          </p:cNvPicPr>
          <p:nvPr/>
        </p:nvPicPr>
        <p:blipFill>
          <a:blip r:embed="rId2"/>
          <a:stretch>
            <a:fillRect/>
          </a:stretch>
        </p:blipFill>
        <p:spPr>
          <a:xfrm>
            <a:off x="7825421" y="354012"/>
            <a:ext cx="4079624" cy="6138863"/>
          </a:xfrm>
          <a:prstGeom prst="rect">
            <a:avLst/>
          </a:prstGeom>
        </p:spPr>
      </p:pic>
    </p:spTree>
    <p:extLst>
      <p:ext uri="{BB962C8B-B14F-4D97-AF65-F5344CB8AC3E}">
        <p14:creationId xmlns:p14="http://schemas.microsoft.com/office/powerpoint/2010/main" val="188187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F31FA-CCB2-8E68-5BF4-ECCB30836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76B4A-4083-BD09-539B-B96D2C24FC83}"/>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92D385BC-70AD-AA43-F36D-B1BA3361F61F}"/>
              </a:ext>
            </a:extLst>
          </p:cNvPr>
          <p:cNvSpPr>
            <a:spLocks noGrp="1"/>
          </p:cNvSpPr>
          <p:nvPr>
            <p:ph idx="1"/>
          </p:nvPr>
        </p:nvSpPr>
        <p:spPr>
          <a:xfrm>
            <a:off x="838200" y="1825624"/>
            <a:ext cx="6808049" cy="4841393"/>
          </a:xfrm>
        </p:spPr>
        <p:txBody>
          <a:bodyPr>
            <a:noAutofit/>
          </a:bodyPr>
          <a:lstStyle/>
          <a:p>
            <a:r>
              <a:rPr lang="en-US" sz="2500" i="1" dirty="0"/>
              <a:t>Canon Revisited</a:t>
            </a:r>
            <a:r>
              <a:rPr lang="en-US" sz="2500" dirty="0"/>
              <a:t> by Michael J. Kruger</a:t>
            </a:r>
          </a:p>
          <a:p>
            <a:endParaRPr lang="en-US" sz="2500" dirty="0"/>
          </a:p>
          <a:p>
            <a:r>
              <a:rPr lang="en-US" sz="2500" dirty="0"/>
              <a:t>YouTube Lecture Series from Michael J. Kruger: </a:t>
            </a:r>
            <a:r>
              <a:rPr lang="en-US" sz="2500" dirty="0">
                <a:hlinkClick r:id="rId2"/>
              </a:rPr>
              <a:t>https://www.youtube.com/watch?v=SUvJQmduAdA&amp;list=PLzytIUBlFDMN62nZiv6cPVBYoBaCPJjQM</a:t>
            </a:r>
            <a:endParaRPr lang="en-US" sz="2500" dirty="0"/>
          </a:p>
        </p:txBody>
      </p:sp>
      <p:pic>
        <p:nvPicPr>
          <p:cNvPr id="7" name="Picture 6">
            <a:extLst>
              <a:ext uri="{FF2B5EF4-FFF2-40B4-BE49-F238E27FC236}">
                <a16:creationId xmlns:a16="http://schemas.microsoft.com/office/drawing/2014/main" id="{DCCFEDFD-623A-8E2E-098D-CE10F98D91C0}"/>
              </a:ext>
            </a:extLst>
          </p:cNvPr>
          <p:cNvPicPr>
            <a:picLocks noChangeAspect="1"/>
          </p:cNvPicPr>
          <p:nvPr/>
        </p:nvPicPr>
        <p:blipFill>
          <a:blip r:embed="rId3"/>
          <a:stretch>
            <a:fillRect/>
          </a:stretch>
        </p:blipFill>
        <p:spPr>
          <a:xfrm>
            <a:off x="7825421" y="354012"/>
            <a:ext cx="4079624" cy="6138863"/>
          </a:xfrm>
          <a:prstGeom prst="rect">
            <a:avLst/>
          </a:prstGeom>
        </p:spPr>
      </p:pic>
      <p:pic>
        <p:nvPicPr>
          <p:cNvPr id="6" name="Picture 5">
            <a:extLst>
              <a:ext uri="{FF2B5EF4-FFF2-40B4-BE49-F238E27FC236}">
                <a16:creationId xmlns:a16="http://schemas.microsoft.com/office/drawing/2014/main" id="{D78F624F-CB8D-5FB3-7240-2A9E2075CF56}"/>
              </a:ext>
            </a:extLst>
          </p:cNvPr>
          <p:cNvPicPr>
            <a:picLocks noChangeAspect="1"/>
          </p:cNvPicPr>
          <p:nvPr/>
        </p:nvPicPr>
        <p:blipFill>
          <a:blip r:embed="rId4"/>
          <a:stretch>
            <a:fillRect/>
          </a:stretch>
        </p:blipFill>
        <p:spPr>
          <a:xfrm>
            <a:off x="4927599" y="3904131"/>
            <a:ext cx="2897821" cy="2897821"/>
          </a:xfrm>
          <a:prstGeom prst="rect">
            <a:avLst/>
          </a:prstGeom>
        </p:spPr>
      </p:pic>
    </p:spTree>
    <p:extLst>
      <p:ext uri="{BB962C8B-B14F-4D97-AF65-F5344CB8AC3E}">
        <p14:creationId xmlns:p14="http://schemas.microsoft.com/office/powerpoint/2010/main" val="2153664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58002-66FA-8BCC-8FE5-E000E54288A9}"/>
              </a:ext>
            </a:extLst>
          </p:cNvPr>
          <p:cNvSpPr>
            <a:spLocks noGrp="1"/>
          </p:cNvSpPr>
          <p:nvPr>
            <p:ph type="title"/>
          </p:nvPr>
        </p:nvSpPr>
        <p:spPr/>
        <p:txBody>
          <a:bodyPr/>
          <a:lstStyle/>
          <a:p>
            <a:r>
              <a:rPr lang="en-US" dirty="0"/>
              <a:t>Historical-Critical Model</a:t>
            </a:r>
          </a:p>
        </p:txBody>
      </p:sp>
      <p:sp>
        <p:nvSpPr>
          <p:cNvPr id="3" name="Content Placeholder 2">
            <a:extLst>
              <a:ext uri="{FF2B5EF4-FFF2-40B4-BE49-F238E27FC236}">
                <a16:creationId xmlns:a16="http://schemas.microsoft.com/office/drawing/2014/main" id="{AEEA0C7E-52AB-CB32-EFC5-8E4C15C55639}"/>
              </a:ext>
            </a:extLst>
          </p:cNvPr>
          <p:cNvSpPr>
            <a:spLocks noGrp="1"/>
          </p:cNvSpPr>
          <p:nvPr>
            <p:ph idx="1"/>
          </p:nvPr>
        </p:nvSpPr>
        <p:spPr/>
        <p:txBody>
          <a:bodyPr>
            <a:normAutofit lnSpcReduction="10000"/>
          </a:bodyPr>
          <a:lstStyle/>
          <a:p>
            <a:r>
              <a:rPr lang="en-US" dirty="0"/>
              <a:t>“Scholars have argued that the idea of a canon, with its particular boundaries, is simply (or largely) the product of human activities within the church during the early centuries of Christianity” (p. 30)</a:t>
            </a:r>
          </a:p>
          <a:p>
            <a:r>
              <a:rPr lang="en-US" dirty="0"/>
              <a:t>“Thus, canon is just a social phenomenon that arises when a community desires to express its identity” (p. 31)</a:t>
            </a:r>
          </a:p>
          <a:p>
            <a:r>
              <a:rPr lang="en-US" dirty="0"/>
              <a:t>“Bauer argues that there was no “orthodoxy” or “heresy” within earliest Christianity, but rather there were various “</a:t>
            </a:r>
            <a:r>
              <a:rPr lang="en-US" dirty="0" err="1"/>
              <a:t>Christianities</a:t>
            </a:r>
            <a:r>
              <a:rPr lang="en-US" dirty="0"/>
              <a:t>,” each competing for dominance. Thus, says Bauer, </a:t>
            </a:r>
            <a:r>
              <a:rPr lang="en-US" dirty="0">
                <a:solidFill>
                  <a:srgbClr val="FF0000"/>
                </a:solidFill>
              </a:rPr>
              <a:t>the New Testament canon we possess is nothing more than the books chosen by the eventual theological winners—a historical accident, so to speak</a:t>
            </a:r>
            <a:r>
              <a:rPr lang="en-US" dirty="0"/>
              <a:t>”</a:t>
            </a:r>
            <a:r>
              <a:rPr lang="en-US" dirty="0">
                <a:solidFill>
                  <a:srgbClr val="FF0000"/>
                </a:solidFill>
              </a:rPr>
              <a:t> </a:t>
            </a:r>
            <a:r>
              <a:rPr lang="en-US" dirty="0"/>
              <a:t>(p. 32)</a:t>
            </a:r>
          </a:p>
        </p:txBody>
      </p:sp>
    </p:spTree>
    <p:extLst>
      <p:ext uri="{BB962C8B-B14F-4D97-AF65-F5344CB8AC3E}">
        <p14:creationId xmlns:p14="http://schemas.microsoft.com/office/powerpoint/2010/main" val="3757401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F63E6-BC97-8B77-E997-FC3CAA479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B7EE0-7464-F70E-A275-F8DA34B00EE1}"/>
              </a:ext>
            </a:extLst>
          </p:cNvPr>
          <p:cNvSpPr>
            <a:spLocks noGrp="1"/>
          </p:cNvSpPr>
          <p:nvPr>
            <p:ph type="title"/>
          </p:nvPr>
        </p:nvSpPr>
        <p:spPr/>
        <p:txBody>
          <a:bodyPr/>
          <a:lstStyle/>
          <a:p>
            <a:r>
              <a:rPr lang="en-US" dirty="0"/>
              <a:t>Historical-Critical Model</a:t>
            </a:r>
          </a:p>
        </p:txBody>
      </p:sp>
      <p:pic>
        <p:nvPicPr>
          <p:cNvPr id="5" name="Picture 4">
            <a:extLst>
              <a:ext uri="{FF2B5EF4-FFF2-40B4-BE49-F238E27FC236}">
                <a16:creationId xmlns:a16="http://schemas.microsoft.com/office/drawing/2014/main" id="{E1D7A4BE-C546-15E2-272C-20B2531369AE}"/>
              </a:ext>
            </a:extLst>
          </p:cNvPr>
          <p:cNvPicPr>
            <a:picLocks noChangeAspect="1"/>
          </p:cNvPicPr>
          <p:nvPr/>
        </p:nvPicPr>
        <p:blipFill>
          <a:blip r:embed="rId2"/>
          <a:srcRect/>
          <a:stretch>
            <a:fillRect/>
          </a:stretch>
        </p:blipFill>
        <p:spPr>
          <a:xfrm>
            <a:off x="-647700" y="1863445"/>
            <a:ext cx="7392692" cy="4032376"/>
          </a:xfrm>
          <a:prstGeom prst="rect">
            <a:avLst/>
          </a:prstGeom>
        </p:spPr>
      </p:pic>
      <p:pic>
        <p:nvPicPr>
          <p:cNvPr id="7" name="Picture 6">
            <a:extLst>
              <a:ext uri="{FF2B5EF4-FFF2-40B4-BE49-F238E27FC236}">
                <a16:creationId xmlns:a16="http://schemas.microsoft.com/office/drawing/2014/main" id="{B4051814-537F-625E-423B-4462E9CAEB3C}"/>
              </a:ext>
            </a:extLst>
          </p:cNvPr>
          <p:cNvPicPr>
            <a:picLocks noChangeAspect="1"/>
          </p:cNvPicPr>
          <p:nvPr/>
        </p:nvPicPr>
        <p:blipFill>
          <a:blip r:embed="rId3"/>
          <a:srcRect/>
          <a:stretch>
            <a:fillRect/>
          </a:stretch>
        </p:blipFill>
        <p:spPr>
          <a:xfrm>
            <a:off x="5447653" y="1863445"/>
            <a:ext cx="7392692" cy="4032376"/>
          </a:xfrm>
          <a:prstGeom prst="rect">
            <a:avLst/>
          </a:prstGeom>
        </p:spPr>
      </p:pic>
      <p:pic>
        <p:nvPicPr>
          <p:cNvPr id="10" name="Graphic 9" descr="Boxing Glove with solid fill">
            <a:extLst>
              <a:ext uri="{FF2B5EF4-FFF2-40B4-BE49-F238E27FC236}">
                <a16:creationId xmlns:a16="http://schemas.microsoft.com/office/drawing/2014/main" id="{A03BAE87-6C70-2AC1-0FD8-066DD09218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a:off x="3733800" y="2330824"/>
            <a:ext cx="2702859" cy="2702859"/>
          </a:xfrm>
          <a:prstGeom prst="rect">
            <a:avLst/>
          </a:prstGeom>
        </p:spPr>
      </p:pic>
      <p:pic>
        <p:nvPicPr>
          <p:cNvPr id="11" name="Graphic 10" descr="Boxing Glove with solid fill">
            <a:extLst>
              <a:ext uri="{FF2B5EF4-FFF2-40B4-BE49-F238E27FC236}">
                <a16:creationId xmlns:a16="http://schemas.microsoft.com/office/drawing/2014/main" id="{DAD2C5CE-D056-F2ED-3984-F548E5B960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flipV="1">
            <a:off x="5753100" y="2330824"/>
            <a:ext cx="2702859" cy="2702860"/>
          </a:xfrm>
          <a:prstGeom prst="rect">
            <a:avLst/>
          </a:prstGeom>
        </p:spPr>
      </p:pic>
      <p:pic>
        <p:nvPicPr>
          <p:cNvPr id="12" name="Graphic 12" descr="Crow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72000" y="-127000"/>
            <a:ext cx="3048000" cy="3048000"/>
          </a:xfrm>
          <a:prstGeom prst="rect">
            <a:avLst/>
          </a:prstGeom>
        </p:spPr>
      </p:pic>
      <p:sp>
        <p:nvSpPr>
          <p:cNvPr id="3" name="Crown Label">
            <a:extLst>
              <a:ext uri="{FF2B5EF4-FFF2-40B4-BE49-F238E27FC236}">
                <a16:creationId xmlns:a16="http://schemas.microsoft.com/office/drawing/2014/main" id="{7A5445B5-7FFF-4646-89E9-B1FB8D320E6F}"/>
              </a:ext>
            </a:extLst>
          </p:cNvPr>
          <p:cNvSpPr txBox="1"/>
          <p:nvPr/>
        </p:nvSpPr>
        <p:spPr>
          <a:xfrm>
            <a:off x="5011420" y="1612900"/>
            <a:ext cx="2169160" cy="698500"/>
          </a:xfrm>
          <a:prstGeom prst="rect">
            <a:avLst/>
          </a:prstGeom>
          <a:solidFill>
            <a:srgbClr val="F5C518"/>
          </a:solidFill>
          <a:ln>
            <a:noFill/>
          </a:ln>
        </p:spPr>
        <p:txBody>
          <a:bodyPr vertOverflow="overflow" vert="horz" wrap="none" rtlCol="0" anchor="ctr" anchorCtr="0">
            <a:noAutofit/>
          </a:bodyPr>
          <a:lstStyle/>
          <a:p>
            <a:pPr algn="ctr"/>
            <a:r>
              <a:rPr lang="en-US" sz="2800" b="1" dirty="0">
                <a:solidFill>
                  <a:srgbClr val="4A2511"/>
                </a:solidFill>
              </a:rPr>
              <a:t>Canonical</a:t>
            </a:r>
          </a:p>
        </p:txBody>
      </p:sp>
    </p:spTree>
    <p:extLst>
      <p:ext uri="{BB962C8B-B14F-4D97-AF65-F5344CB8AC3E}">
        <p14:creationId xmlns:p14="http://schemas.microsoft.com/office/powerpoint/2010/main" val="3148236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fill="hold" nodeType="clickEffect">
                                  <p:stCondLst>
                                    <p:cond delay="0"/>
                                  </p:stCondLst>
                                  <p:childTnLst>
                                    <p:animMotion origin="layout" path="M 2.70833E-6 4.44444E-6 L 0.025 4.44444E-6 " pathEditMode="relative" rAng="0" ptsTypes="AA">
                                      <p:cBhvr>
                                        <p:cTn id="6" dur="180" autoRev="1" fill="hold"/>
                                        <p:tgtEl>
                                          <p:spTgt spid="10"/>
                                        </p:tgtEl>
                                        <p:attrNameLst>
                                          <p:attrName>ppt_x</p:attrName>
                                          <p:attrName>ppt_y</p:attrName>
                                        </p:attrNameLst>
                                      </p:cBhvr>
                                      <p:rCtr x="1250" y="0"/>
                                    </p:animMotion>
                                  </p:childTnLst>
                                </p:cTn>
                              </p:par>
                            </p:childTnLst>
                          </p:cTn>
                        </p:par>
                        <p:par>
                          <p:cTn id="7" fill="hold">
                            <p:stCondLst>
                              <p:cond delay="40"/>
                            </p:stCondLst>
                            <p:childTnLst>
                              <p:par>
                                <p:cTn id="8" presetID="0" presetClass="path" presetSubtype="0" fill="hold" nodeType="withEffect">
                                  <p:stCondLst>
                                    <p:cond delay="0"/>
                                  </p:stCondLst>
                                  <p:childTnLst>
                                    <p:animMotion origin="layout" path="M -2.29167E-6 4.44444E-6 L 0.03998 4.44444E-6 " pathEditMode="relative" rAng="0" ptsTypes="AA">
                                      <p:cBhvr>
                                        <p:cTn id="9" dur="180" autoRev="1" fill="hold"/>
                                        <p:tgtEl>
                                          <p:spTgt spid="11"/>
                                        </p:tgtEl>
                                        <p:attrNameLst>
                                          <p:attrName>ppt_x</p:attrName>
                                          <p:attrName>ppt_y</p:attrName>
                                        </p:attrNameLst>
                                      </p:cBhvr>
                                      <p:rCtr x="1992" y="0"/>
                                    </p:animMotion>
                                  </p:childTnLst>
                                </p:cTn>
                              </p:par>
                            </p:childTnLst>
                          </p:cTn>
                        </p:par>
                        <p:par>
                          <p:cTn id="10" fill="hold">
                            <p:stCondLst>
                              <p:cond delay="40"/>
                            </p:stCondLst>
                            <p:childTnLst>
                              <p:par>
                                <p:cTn id="11" presetID="0" presetClass="path" presetSubtype="0" fill="hold" nodeType="withEffect">
                                  <p:stCondLst>
                                    <p:cond delay="0"/>
                                  </p:stCondLst>
                                  <p:childTnLst>
                                    <p:animMotion origin="layout" path="M 0 0 L 0.015 0 E" pathEditMode="relative" rAng="0">
                                      <p:cBhvr>
                                        <p:cTn id="12" dur="180" autoRev="1" fill="hold"/>
                                        <p:tgtEl>
                                          <p:spTgt spid="7"/>
                                        </p:tgtEl>
                                        <p:attrNameLst>
                                          <p:attrName>ppt_x</p:attrName>
                                          <p:attrName>ppt_y</p:attrName>
                                        </p:attrNameLst>
                                      </p:cBhvr>
                                      <p:rCtr x="0" y="0"/>
                                    </p:animMotion>
                                  </p:childTnLst>
                                </p:cTn>
                              </p:par>
                            </p:childTnLst>
                          </p:cTn>
                        </p:par>
                        <p:par>
                          <p:cTn id="13" fill="hold">
                            <p:stCondLst>
                              <p:cond delay="450"/>
                            </p:stCondLst>
                            <p:childTnLst>
                              <p:par>
                                <p:cTn id="14" presetID="0" presetClass="path" presetSubtype="0" accel="50000" fill="hold" nodeType="withEffect">
                                  <p:stCondLst>
                                    <p:cond delay="0"/>
                                  </p:stCondLst>
                                  <p:childTnLst>
                                    <p:animMotion origin="layout" path="M -2.29167E-6 4.44444E-6 L -0.025 4.44444E-6 " pathEditMode="relative" rAng="0" ptsTypes="AA">
                                      <p:cBhvr>
                                        <p:cTn id="15" dur="180" autoRev="1" fill="hold"/>
                                        <p:tgtEl>
                                          <p:spTgt spid="11"/>
                                        </p:tgtEl>
                                        <p:attrNameLst>
                                          <p:attrName>ppt_x</p:attrName>
                                          <p:attrName>ppt_y</p:attrName>
                                        </p:attrNameLst>
                                      </p:cBhvr>
                                      <p:rCtr x="-1250" y="0"/>
                                    </p:animMotion>
                                  </p:childTnLst>
                                </p:cTn>
                              </p:par>
                            </p:childTnLst>
                          </p:cTn>
                        </p:par>
                        <p:par>
                          <p:cTn id="16" fill="hold">
                            <p:stCondLst>
                              <p:cond delay="490"/>
                            </p:stCondLst>
                            <p:childTnLst>
                              <p:par>
                                <p:cTn id="17" presetID="0" presetClass="path" presetSubtype="0" fill="hold" nodeType="withEffect">
                                  <p:stCondLst>
                                    <p:cond delay="0"/>
                                  </p:stCondLst>
                                  <p:childTnLst>
                                    <p:animMotion origin="layout" path="M 2.70833E-6 4.44444E-6 L -0.03998 4.44444E-6 " pathEditMode="relative" rAng="0" ptsTypes="AA">
                                      <p:cBhvr>
                                        <p:cTn id="18" dur="180" autoRev="1" fill="hold"/>
                                        <p:tgtEl>
                                          <p:spTgt spid="10"/>
                                        </p:tgtEl>
                                        <p:attrNameLst>
                                          <p:attrName>ppt_x</p:attrName>
                                          <p:attrName>ppt_y</p:attrName>
                                        </p:attrNameLst>
                                      </p:cBhvr>
                                      <p:rCtr x="-2005" y="0"/>
                                    </p:animMotion>
                                  </p:childTnLst>
                                </p:cTn>
                              </p:par>
                            </p:childTnLst>
                          </p:cTn>
                        </p:par>
                        <p:par>
                          <p:cTn id="19" fill="hold">
                            <p:stCondLst>
                              <p:cond delay="490"/>
                            </p:stCondLst>
                            <p:childTnLst>
                              <p:par>
                                <p:cTn id="20" presetID="0" presetClass="path" presetSubtype="0" fill="hold" nodeType="withEffect">
                                  <p:stCondLst>
                                    <p:cond delay="0"/>
                                  </p:stCondLst>
                                  <p:childTnLst>
                                    <p:animMotion origin="layout" path="M 0 -7.40741E-7 L -0.01497 -7.40741E-7 " pathEditMode="relative" rAng="0" ptsTypes="AA">
                                      <p:cBhvr>
                                        <p:cTn id="21" dur="180" autoRev="1" fill="hold"/>
                                        <p:tgtEl>
                                          <p:spTgt spid="5"/>
                                        </p:tgtEl>
                                        <p:attrNameLst>
                                          <p:attrName>ppt_x</p:attrName>
                                          <p:attrName>ppt_y</p:attrName>
                                        </p:attrNameLst>
                                      </p:cBhvr>
                                      <p:rCtr x="-755" y="0"/>
                                    </p:animMotion>
                                  </p:childTnLst>
                                </p:cTn>
                              </p:par>
                            </p:childTnLst>
                          </p:cTn>
                        </p:par>
                        <p:par>
                          <p:cTn id="22" fill="hold">
                            <p:stCondLst>
                              <p:cond delay="950"/>
                            </p:stCondLst>
                            <p:childTnLst>
                              <p:par>
                                <p:cTn id="23" presetID="0" presetClass="path" presetSubtype="0" decel="50000" fill="hold" nodeType="withEffect">
                                  <p:stCondLst>
                                    <p:cond delay="0"/>
                                  </p:stCondLst>
                                  <p:childTnLst>
                                    <p:animMotion origin="layout" path="M -2.29167E-6 4.44444E-6 L 0.00495 -0.1 " pathEditMode="relative" rAng="0" ptsTypes="AA">
                                      <p:cBhvr>
                                        <p:cTn id="24" dur="300" autoRev="1" fill="hold"/>
                                        <p:tgtEl>
                                          <p:spTgt spid="11"/>
                                        </p:tgtEl>
                                        <p:attrNameLst>
                                          <p:attrName>ppt_x</p:attrName>
                                          <p:attrName>ppt_y</p:attrName>
                                        </p:attrNameLst>
                                      </p:cBhvr>
                                      <p:rCtr x="247" y="-5000"/>
                                    </p:animMotion>
                                  </p:childTnLst>
                                </p:cTn>
                              </p:par>
                            </p:childTnLst>
                          </p:cTn>
                        </p:par>
                        <p:par>
                          <p:cTn id="25" fill="hold">
                            <p:stCondLst>
                              <p:cond delay="950"/>
                            </p:stCondLst>
                            <p:childTnLst>
                              <p:par>
                                <p:cTn id="26" presetID="8" presetClass="emph" presetSubtype="0" fill="hold" nodeType="withEffect">
                                  <p:stCondLst>
                                    <p:cond delay="0"/>
                                  </p:stCondLst>
                                  <p:childTnLst>
                                    <p:animRot by="-900000">
                                      <p:cBhvr>
                                        <p:cTn id="27" dur="300" autoRev="1" fill="hold"/>
                                        <p:tgtEl>
                                          <p:spTgt spid="11"/>
                                        </p:tgtEl>
                                        <p:attrNameLst>
                                          <p:attrName>r</p:attrName>
                                        </p:attrNameLst>
                                      </p:cBhvr>
                                    </p:animRot>
                                  </p:childTnLst>
                                </p:cTn>
                              </p:par>
                            </p:childTnLst>
                          </p:cTn>
                        </p:par>
                        <p:par>
                          <p:cTn id="28" fill="hold">
                            <p:stCondLst>
                              <p:cond delay="1070"/>
                            </p:stCondLst>
                            <p:childTnLst>
                              <p:par>
                                <p:cTn id="29" presetID="0" presetClass="path" presetSubtype="0" accel="60000" fill="hold" nodeType="withEffect">
                                  <p:stCondLst>
                                    <p:cond delay="0"/>
                                  </p:stCondLst>
                                  <p:childTnLst>
                                    <p:animMotion origin="layout" path="M 2.70833E-6 4.44444E-6 L 0.02005 -0.1 " pathEditMode="relative" rAng="0" ptsTypes="AA">
                                      <p:cBhvr>
                                        <p:cTn id="30" dur="200" autoRev="1" fill="hold"/>
                                        <p:tgtEl>
                                          <p:spTgt spid="10"/>
                                        </p:tgtEl>
                                        <p:attrNameLst>
                                          <p:attrName>ppt_x</p:attrName>
                                          <p:attrName>ppt_y</p:attrName>
                                        </p:attrNameLst>
                                      </p:cBhvr>
                                      <p:rCtr x="1003" y="-5000"/>
                                    </p:animMotion>
                                  </p:childTnLst>
                                </p:cTn>
                              </p:par>
                            </p:childTnLst>
                          </p:cTn>
                        </p:par>
                        <p:par>
                          <p:cTn id="31" fill="hold">
                            <p:stCondLst>
                              <p:cond delay="1750"/>
                            </p:stCondLst>
                            <p:childTnLst>
                              <p:par>
                                <p:cTn id="32" presetID="0" presetClass="path" presetSubtype="0" accel="40000" fill="hold" nodeType="withEffect">
                                  <p:stCondLst>
                                    <p:cond delay="0"/>
                                  </p:stCondLst>
                                  <p:childTnLst>
                                    <p:animMotion origin="layout" path="M -2.29167E-6 4.44444E-6 C 0.02005 -0.09005 -0.02995 -0.10996 -0.04505 -0.01991 " pathEditMode="relative" rAng="0" ptsTypes="AA">
                                      <p:cBhvr>
                                        <p:cTn id="33" dur="250" autoRev="1" fill="hold"/>
                                        <p:tgtEl>
                                          <p:spTgt spid="11"/>
                                        </p:tgtEl>
                                        <p:attrNameLst>
                                          <p:attrName>ppt_x</p:attrName>
                                          <p:attrName>ppt_y</p:attrName>
                                        </p:attrNameLst>
                                      </p:cBhvr>
                                      <p:rCtr x="-2031" y="-3935"/>
                                    </p:animMotion>
                                  </p:childTnLst>
                                </p:cTn>
                              </p:par>
                            </p:childTnLst>
                          </p:cTn>
                        </p:par>
                        <p:par>
                          <p:cTn id="34" fill="hold">
                            <p:stCondLst>
                              <p:cond delay="1750"/>
                            </p:stCondLst>
                            <p:childTnLst>
                              <p:par>
                                <p:cTn id="35" presetID="8" presetClass="emph" presetSubtype="0" fill="hold" nodeType="withEffect">
                                  <p:stCondLst>
                                    <p:cond delay="0"/>
                                  </p:stCondLst>
                                  <p:childTnLst>
                                    <p:animRot by="-1500000">
                                      <p:cBhvr>
                                        <p:cTn id="36" dur="250" autoRev="1" fill="hold"/>
                                        <p:tgtEl>
                                          <p:spTgt spid="11"/>
                                        </p:tgtEl>
                                        <p:attrNameLst>
                                          <p:attrName>r</p:attrName>
                                        </p:attrNameLst>
                                      </p:cBhvr>
                                    </p:animRot>
                                  </p:childTnLst>
                                </p:cTn>
                              </p:par>
                            </p:childTnLst>
                          </p:cTn>
                        </p:par>
                        <p:par>
                          <p:cTn id="37" fill="hold">
                            <p:stCondLst>
                              <p:cond delay="1930"/>
                            </p:stCondLst>
                            <p:childTnLst>
                              <p:par>
                                <p:cTn id="38" presetID="0" presetClass="path" presetSubtype="0" fill="hold" nodeType="withEffect">
                                  <p:stCondLst>
                                    <p:cond delay="0"/>
                                  </p:stCondLst>
                                  <p:childTnLst>
                                    <p:animMotion origin="layout" path="M 2.70833E-6 4.44444E-6 L -0.04505 0.00995 " pathEditMode="relative" rAng="0" ptsTypes="AA">
                                      <p:cBhvr>
                                        <p:cTn id="39" dur="200" autoRev="1" fill="hold"/>
                                        <p:tgtEl>
                                          <p:spTgt spid="10"/>
                                        </p:tgtEl>
                                        <p:attrNameLst>
                                          <p:attrName>ppt_x</p:attrName>
                                          <p:attrName>ppt_y</p:attrName>
                                        </p:attrNameLst>
                                      </p:cBhvr>
                                      <p:rCtr x="-2253" y="486"/>
                                    </p:animMotion>
                                  </p:childTnLst>
                                </p:cTn>
                              </p:par>
                            </p:childTnLst>
                          </p:cTn>
                        </p:par>
                        <p:par>
                          <p:cTn id="40" fill="hold">
                            <p:stCondLst>
                              <p:cond delay="1930"/>
                            </p:stCondLst>
                            <p:childTnLst>
                              <p:par>
                                <p:cTn id="41" presetID="8" presetClass="emph" presetSubtype="0" fill="hold" nodeType="withEffect">
                                  <p:stCondLst>
                                    <p:cond delay="0"/>
                                  </p:stCondLst>
                                  <p:childTnLst>
                                    <p:animRot by="-1200000">
                                      <p:cBhvr>
                                        <p:cTn id="42" dur="200" autoRev="1" fill="hold"/>
                                        <p:tgtEl>
                                          <p:spTgt spid="10"/>
                                        </p:tgtEl>
                                        <p:attrNameLst>
                                          <p:attrName>r</p:attrName>
                                        </p:attrNameLst>
                                      </p:cBhvr>
                                    </p:animRot>
                                  </p:childTnLst>
                                </p:cTn>
                              </p:par>
                            </p:childTnLst>
                          </p:cTn>
                        </p:par>
                        <p:par>
                          <p:cTn id="43" fill="hold">
                            <p:stCondLst>
                              <p:cond delay="1930"/>
                            </p:stCondLst>
                            <p:childTnLst>
                              <p:par>
                                <p:cTn id="44" presetID="0" presetClass="path" presetSubtype="0" fill="hold" nodeType="withEffect">
                                  <p:stCondLst>
                                    <p:cond delay="0"/>
                                  </p:stCondLst>
                                  <p:childTnLst>
                                    <p:animMotion origin="layout" path="M 0 -7.40741E-7 L -0.02005 -7.40741E-7 " pathEditMode="relative" rAng="0" ptsTypes="AA">
                                      <p:cBhvr>
                                        <p:cTn id="45" dur="200" autoRev="1" fill="hold"/>
                                        <p:tgtEl>
                                          <p:spTgt spid="5"/>
                                        </p:tgtEl>
                                        <p:attrNameLst>
                                          <p:attrName>ppt_x</p:attrName>
                                          <p:attrName>ppt_y</p:attrName>
                                        </p:attrNameLst>
                                      </p:cBhvr>
                                      <p:rCtr x="-1003" y="0"/>
                                    </p:animMotion>
                                  </p:childTnLst>
                                </p:cTn>
                              </p:par>
                            </p:childTnLst>
                          </p:cTn>
                        </p:par>
                        <p:par>
                          <p:cTn id="46" fill="hold">
                            <p:stCondLst>
                              <p:cond delay="1930"/>
                            </p:stCondLst>
                            <p:childTnLst>
                              <p:par>
                                <p:cTn id="47" presetID="8" presetClass="emph" presetSubtype="0" fill="hold" nodeType="withEffect">
                                  <p:stCondLst>
                                    <p:cond delay="0"/>
                                  </p:stCondLst>
                                  <p:childTnLst>
                                    <p:animRot by="-240000">
                                      <p:cBhvr>
                                        <p:cTn id="48" dur="200" autoRev="1" fill="hold"/>
                                        <p:tgtEl>
                                          <p:spTgt spid="5"/>
                                        </p:tgtEl>
                                        <p:attrNameLst>
                                          <p:attrName>r</p:attrName>
                                        </p:attrNameLst>
                                      </p:cBhvr>
                                    </p:animRot>
                                  </p:childTnLst>
                                </p:cTn>
                              </p:par>
                            </p:childTnLst>
                          </p:cTn>
                        </p:par>
                        <p:par>
                          <p:cTn id="49" fill="hold">
                            <p:stCondLst>
                              <p:cond delay="2600"/>
                            </p:stCondLst>
                            <p:childTnLst>
                              <p:par>
                                <p:cTn id="50" presetID="0" presetClass="path" presetSubtype="0" decel="50000" fill="hold" nodeType="withEffect">
                                  <p:stCondLst>
                                    <p:cond delay="0"/>
                                  </p:stCondLst>
                                  <p:childTnLst>
                                    <p:animMotion origin="layout" path="M 2.70833E-6 4.44444E-6 L -0.01003 0.09004 " pathEditMode="relative" rAng="0" ptsTypes="AA">
                                      <p:cBhvr>
                                        <p:cTn id="51" dur="280" autoRev="1" fill="hold"/>
                                        <p:tgtEl>
                                          <p:spTgt spid="10"/>
                                        </p:tgtEl>
                                        <p:attrNameLst>
                                          <p:attrName>ppt_x</p:attrName>
                                          <p:attrName>ppt_y</p:attrName>
                                        </p:attrNameLst>
                                      </p:cBhvr>
                                      <p:rCtr x="-508" y="4491"/>
                                    </p:animMotion>
                                  </p:childTnLst>
                                </p:cTn>
                              </p:par>
                            </p:childTnLst>
                          </p:cTn>
                        </p:par>
                        <p:par>
                          <p:cTn id="52" fill="hold">
                            <p:stCondLst>
                              <p:cond delay="2600"/>
                            </p:stCondLst>
                            <p:childTnLst>
                              <p:par>
                                <p:cTn id="53" presetID="0" presetClass="path" presetSubtype="0" decel="50000" fill="hold" nodeType="withEffect">
                                  <p:stCondLst>
                                    <p:cond delay="0"/>
                                  </p:stCondLst>
                                  <p:childTnLst>
                                    <p:animMotion origin="layout" path="M 0 -7.40741E-7 L 0 0.05995 " pathEditMode="relative" rAng="0" ptsTypes="AA">
                                      <p:cBhvr>
                                        <p:cTn id="54" dur="280" autoRev="1" fill="hold"/>
                                        <p:tgtEl>
                                          <p:spTgt spid="5"/>
                                        </p:tgtEl>
                                        <p:attrNameLst>
                                          <p:attrName>ppt_x</p:attrName>
                                          <p:attrName>ppt_y</p:attrName>
                                        </p:attrNameLst>
                                      </p:cBhvr>
                                      <p:rCtr x="0" y="2986"/>
                                    </p:animMotion>
                                  </p:childTnLst>
                                </p:cTn>
                              </p:par>
                            </p:childTnLst>
                          </p:cTn>
                        </p:par>
                        <p:par>
                          <p:cTn id="55" fill="hold">
                            <p:stCondLst>
                              <p:cond delay="2660"/>
                            </p:stCondLst>
                            <p:childTnLst>
                              <p:par>
                                <p:cTn id="56" presetID="0" presetClass="path" presetSubtype="0" fill="hold" nodeType="withEffect">
                                  <p:stCondLst>
                                    <p:cond delay="0"/>
                                  </p:stCondLst>
                                  <p:childTnLst>
                                    <p:animMotion origin="layout" path="M -2.29167E-6 4.44444E-6 C -0.02995 -0.05996 -0.07005 -0.05996 -0.08997 -0.01991 " pathEditMode="relative" rAng="0" ptsTypes="AA">
                                      <p:cBhvr>
                                        <p:cTn id="57" dur="280" autoRev="1" fill="hold"/>
                                        <p:tgtEl>
                                          <p:spTgt spid="11"/>
                                        </p:tgtEl>
                                        <p:attrNameLst>
                                          <p:attrName>ppt_x</p:attrName>
                                          <p:attrName>ppt_y</p:attrName>
                                        </p:attrNameLst>
                                      </p:cBhvr>
                                      <p:rCtr x="-4505" y="-2407"/>
                                    </p:animMotion>
                                  </p:childTnLst>
                                </p:cTn>
                              </p:par>
                            </p:childTnLst>
                          </p:cTn>
                        </p:par>
                        <p:par>
                          <p:cTn id="58" fill="hold">
                            <p:stCondLst>
                              <p:cond delay="2660"/>
                            </p:stCondLst>
                            <p:childTnLst>
                              <p:par>
                                <p:cTn id="59" presetID="8" presetClass="emph" presetSubtype="0" fill="hold" nodeType="withEffect">
                                  <p:stCondLst>
                                    <p:cond delay="0"/>
                                  </p:stCondLst>
                                  <p:childTnLst>
                                    <p:animRot by="-1800000">
                                      <p:cBhvr>
                                        <p:cTn id="60" dur="280" autoRev="1" fill="hold"/>
                                        <p:tgtEl>
                                          <p:spTgt spid="11"/>
                                        </p:tgtEl>
                                        <p:attrNameLst>
                                          <p:attrName>r</p:attrName>
                                        </p:attrNameLst>
                                      </p:cBhvr>
                                    </p:animRot>
                                  </p:childTnLst>
                                </p:cTn>
                              </p:par>
                            </p:childTnLst>
                          </p:cTn>
                        </p:par>
                        <p:par>
                          <p:cTn id="61" fill="hold">
                            <p:stCondLst>
                              <p:cond delay="3400"/>
                            </p:stCondLst>
                            <p:childTnLst>
                              <p:par>
                                <p:cTn id="62" presetID="0" presetClass="path" presetSubtype="0" fill="hold" nodeType="withEffect">
                                  <p:stCondLst>
                                    <p:cond delay="0"/>
                                  </p:stCondLst>
                                  <p:childTnLst>
                                    <p:animMotion origin="layout" path="M -2.29167E-6 4.44444E-6 L 0.01498 0.25 C -0.00495 0.2 -0.04505 0.0199 -0.06002 -0.2 L -2.29167E-6 4.44444E-6 " pathEditMode="relative" rAng="0" ptsTypes="AAAA">
                                      <p:cBhvr>
                                        <p:cTn id="63" dur="1000" fill="hold"/>
                                        <p:tgtEl>
                                          <p:spTgt spid="11"/>
                                        </p:tgtEl>
                                        <p:attrNameLst>
                                          <p:attrName>ppt_x</p:attrName>
                                          <p:attrName>ppt_y</p:attrName>
                                        </p:attrNameLst>
                                      </p:cBhvr>
                                      <p:rCtr x="-2253" y="2500"/>
                                    </p:animMotion>
                                  </p:childTnLst>
                                </p:cTn>
                              </p:par>
                            </p:childTnLst>
                          </p:cTn>
                        </p:par>
                        <p:par>
                          <p:cTn id="64" fill="hold">
                            <p:stCondLst>
                              <p:cond delay="3820"/>
                            </p:stCondLst>
                            <p:childTnLst>
                              <p:par>
                                <p:cTn id="65" presetID="8" presetClass="emph" presetSubtype="0" fill="hold" nodeType="withEffect">
                                  <p:stCondLst>
                                    <p:cond delay="0"/>
                                  </p:stCondLst>
                                  <p:childTnLst>
                                    <p:animRot by="2100000">
                                      <p:cBhvr>
                                        <p:cTn id="66" dur="220" autoRev="1" fill="hold"/>
                                        <p:tgtEl>
                                          <p:spTgt spid="11"/>
                                        </p:tgtEl>
                                        <p:attrNameLst>
                                          <p:attrName>r</p:attrName>
                                        </p:attrNameLst>
                                      </p:cBhvr>
                                    </p:animRot>
                                  </p:childTnLst>
                                </p:cTn>
                              </p:par>
                            </p:childTnLst>
                          </p:cTn>
                        </p:par>
                        <p:par>
                          <p:cTn id="67" fill="hold">
                            <p:stCondLst>
                              <p:cond delay="4180"/>
                            </p:stCondLst>
                            <p:childTnLst>
                              <p:par>
                                <p:cTn id="68" presetID="0" presetClass="path" presetSubtype="0" decel="50000" fill="hold" nodeType="withEffect">
                                  <p:stCondLst>
                                    <p:cond delay="0"/>
                                  </p:stCondLst>
                                  <p:childTnLst>
                                    <p:animMotion origin="layout" path="M 2.70833E-6 4.44444E-6 L -0.06003 -0.2 " pathEditMode="relative" rAng="0" ptsTypes="AA">
                                      <p:cBhvr>
                                        <p:cTn id="69" dur="280" autoRev="1" fill="hold"/>
                                        <p:tgtEl>
                                          <p:spTgt spid="10"/>
                                        </p:tgtEl>
                                        <p:attrNameLst>
                                          <p:attrName>ppt_x</p:attrName>
                                          <p:attrName>ppt_y</p:attrName>
                                        </p:attrNameLst>
                                      </p:cBhvr>
                                      <p:rCtr x="-3008" y="-10000"/>
                                    </p:animMotion>
                                  </p:childTnLst>
                                </p:cTn>
                              </p:par>
                            </p:childTnLst>
                          </p:cTn>
                        </p:par>
                        <p:par>
                          <p:cTn id="70" fill="hold">
                            <p:stCondLst>
                              <p:cond delay="4180"/>
                            </p:stCondLst>
                            <p:childTnLst>
                              <p:par>
                                <p:cTn id="71" presetID="8" presetClass="emph" presetSubtype="0" fill="hold" nodeType="withEffect">
                                  <p:stCondLst>
                                    <p:cond delay="0"/>
                                  </p:stCondLst>
                                  <p:childTnLst>
                                    <p:animRot by="-1800000">
                                      <p:cBhvr>
                                        <p:cTn id="72" dur="280" autoRev="1" fill="hold"/>
                                        <p:tgtEl>
                                          <p:spTgt spid="10"/>
                                        </p:tgtEl>
                                        <p:attrNameLst>
                                          <p:attrName>r</p:attrName>
                                        </p:attrNameLst>
                                      </p:cBhvr>
                                    </p:animRot>
                                  </p:childTnLst>
                                </p:cTn>
                              </p:par>
                            </p:childTnLst>
                          </p:cTn>
                        </p:par>
                        <p:par>
                          <p:cTn id="73" fill="hold">
                            <p:stCondLst>
                              <p:cond delay="4180"/>
                            </p:stCondLst>
                            <p:childTnLst>
                              <p:par>
                                <p:cTn id="74" presetID="0" presetClass="path" presetSubtype="0" decel="50000" fill="hold" nodeType="withEffect">
                                  <p:stCondLst>
                                    <p:cond delay="0"/>
                                  </p:stCondLst>
                                  <p:childTnLst>
                                    <p:animMotion origin="layout" path="M 0 -7.40741E-7 L -0.02995 -0.09005 " pathEditMode="relative" rAng="0" ptsTypes="AA">
                                      <p:cBhvr>
                                        <p:cTn id="75" dur="280" autoRev="1" fill="hold"/>
                                        <p:tgtEl>
                                          <p:spTgt spid="5"/>
                                        </p:tgtEl>
                                        <p:attrNameLst>
                                          <p:attrName>ppt_x</p:attrName>
                                          <p:attrName>ppt_y</p:attrName>
                                        </p:attrNameLst>
                                      </p:cBhvr>
                                      <p:rCtr x="-1497" y="-4514"/>
                                    </p:animMotion>
                                  </p:childTnLst>
                                </p:cTn>
                              </p:par>
                            </p:childTnLst>
                          </p:cTn>
                        </p:par>
                        <p:par>
                          <p:cTn id="76" fill="hold">
                            <p:stCondLst>
                              <p:cond delay="4180"/>
                            </p:stCondLst>
                            <p:childTnLst>
                              <p:par>
                                <p:cTn id="77" presetID="8" presetClass="emph" presetSubtype="0" fill="hold" nodeType="withEffect">
                                  <p:stCondLst>
                                    <p:cond delay="0"/>
                                  </p:stCondLst>
                                  <p:childTnLst>
                                    <p:animRot by="-600000">
                                      <p:cBhvr>
                                        <p:cTn id="78" dur="280" autoRev="1" fill="hold"/>
                                        <p:tgtEl>
                                          <p:spTgt spid="5"/>
                                        </p:tgtEl>
                                        <p:attrNameLst>
                                          <p:attrName>r</p:attrName>
                                        </p:attrNameLst>
                                      </p:cBhvr>
                                    </p:animRot>
                                  </p:childTnLst>
                                </p:cTn>
                              </p:par>
                            </p:childTnLst>
                          </p:cTn>
                        </p:par>
                        <p:par>
                          <p:cTn id="79" fill="hold">
                            <p:stCondLst>
                              <p:cond delay="4650"/>
                            </p:stCondLst>
                            <p:childTnLst>
                              <p:par>
                                <p:cTn id="80" presetID="0" presetClass="path" presetSubtype="0" fill="hold" nodeType="withEffect">
                                  <p:stCondLst>
                                    <p:cond delay="0"/>
                                  </p:stCondLst>
                                  <p:childTnLst>
                                    <p:animMotion origin="layout" path="M 2.70833E-6 4.44444E-6 L -0.01498 0.25 C 0.00495 0.2 0.04505 0.0199 0.06002 -0.2 L 2.70833E-6 4.44444E-6 " pathEditMode="relative" rAng="0" ptsTypes="AAAA">
                                      <p:cBhvr>
                                        <p:cTn id="81" dur="1000" fill="hold"/>
                                        <p:tgtEl>
                                          <p:spTgt spid="10"/>
                                        </p:tgtEl>
                                        <p:attrNameLst>
                                          <p:attrName>ppt_x</p:attrName>
                                          <p:attrName>ppt_y</p:attrName>
                                        </p:attrNameLst>
                                      </p:cBhvr>
                                      <p:rCtr x="2253" y="2500"/>
                                    </p:animMotion>
                                  </p:childTnLst>
                                </p:cTn>
                              </p:par>
                            </p:childTnLst>
                          </p:cTn>
                        </p:par>
                        <p:par>
                          <p:cTn id="82" fill="hold">
                            <p:stCondLst>
                              <p:cond delay="5070"/>
                            </p:stCondLst>
                            <p:childTnLst>
                              <p:par>
                                <p:cTn id="83" presetID="8" presetClass="emph" presetSubtype="0" fill="hold" nodeType="withEffect">
                                  <p:stCondLst>
                                    <p:cond delay="0"/>
                                  </p:stCondLst>
                                  <p:childTnLst>
                                    <p:animRot by="-2100000">
                                      <p:cBhvr>
                                        <p:cTn id="84" dur="220" autoRev="1" fill="hold"/>
                                        <p:tgtEl>
                                          <p:spTgt spid="10"/>
                                        </p:tgtEl>
                                        <p:attrNameLst>
                                          <p:attrName>r</p:attrName>
                                        </p:attrNameLst>
                                      </p:cBhvr>
                                    </p:animRot>
                                  </p:childTnLst>
                                </p:cTn>
                              </p:par>
                            </p:childTnLst>
                          </p:cTn>
                        </p:par>
                        <p:par>
                          <p:cTn id="85" fill="hold">
                            <p:stCondLst>
                              <p:cond delay="5430"/>
                            </p:stCondLst>
                            <p:childTnLst>
                              <p:par>
                                <p:cTn id="86" presetID="0" presetClass="path" presetSubtype="0" decel="50000" fill="hold" nodeType="withEffect">
                                  <p:stCondLst>
                                    <p:cond delay="0"/>
                                  </p:stCondLst>
                                  <p:childTnLst>
                                    <p:animMotion origin="layout" path="M -2.29167E-6 4.44444E-6 L 0.06003 -0.2 " pathEditMode="relative" rAng="0" ptsTypes="AA">
                                      <p:cBhvr>
                                        <p:cTn id="87" dur="280" autoRev="1" fill="hold"/>
                                        <p:tgtEl>
                                          <p:spTgt spid="11"/>
                                        </p:tgtEl>
                                        <p:attrNameLst>
                                          <p:attrName>ppt_x</p:attrName>
                                          <p:attrName>ppt_y</p:attrName>
                                        </p:attrNameLst>
                                      </p:cBhvr>
                                      <p:rCtr x="2995" y="-10000"/>
                                    </p:animMotion>
                                  </p:childTnLst>
                                </p:cTn>
                              </p:par>
                            </p:childTnLst>
                          </p:cTn>
                        </p:par>
                        <p:par>
                          <p:cTn id="88" fill="hold">
                            <p:stCondLst>
                              <p:cond delay="5430"/>
                            </p:stCondLst>
                            <p:childTnLst>
                              <p:par>
                                <p:cTn id="89" presetID="8" presetClass="emph" presetSubtype="0" fill="hold" nodeType="withEffect">
                                  <p:stCondLst>
                                    <p:cond delay="0"/>
                                  </p:stCondLst>
                                  <p:childTnLst>
                                    <p:animRot by="1800000">
                                      <p:cBhvr>
                                        <p:cTn id="90" dur="280" autoRev="1" fill="hold"/>
                                        <p:tgtEl>
                                          <p:spTgt spid="11"/>
                                        </p:tgtEl>
                                        <p:attrNameLst>
                                          <p:attrName>r</p:attrName>
                                        </p:attrNameLst>
                                      </p:cBhvr>
                                    </p:animRot>
                                  </p:childTnLst>
                                </p:cTn>
                              </p:par>
                            </p:childTnLst>
                          </p:cTn>
                        </p:par>
                        <p:par>
                          <p:cTn id="91" fill="hold">
                            <p:stCondLst>
                              <p:cond delay="5430"/>
                            </p:stCondLst>
                            <p:childTnLst>
                              <p:par>
                                <p:cTn id="92" presetID="0" presetClass="path" presetSubtype="0" decel="50000" fill="hold" nodeType="withEffect">
                                  <p:stCondLst>
                                    <p:cond delay="0"/>
                                  </p:stCondLst>
                                  <p:childTnLst>
                                    <p:animMotion origin="layout" path="M 0 0 L 0.030 -0.09 E" pathEditMode="relative" rAng="0">
                                      <p:cBhvr>
                                        <p:cTn id="93" dur="280" autoRev="1" fill="hold"/>
                                        <p:tgtEl>
                                          <p:spTgt spid="7"/>
                                        </p:tgtEl>
                                        <p:attrNameLst>
                                          <p:attrName>ppt_x</p:attrName>
                                          <p:attrName>ppt_y</p:attrName>
                                        </p:attrNameLst>
                                      </p:cBhvr>
                                      <p:rCtr x="0" y="0"/>
                                    </p:animMotion>
                                  </p:childTnLst>
                                </p:cTn>
                              </p:par>
                            </p:childTnLst>
                          </p:cTn>
                        </p:par>
                        <p:par>
                          <p:cTn id="94" fill="hold">
                            <p:stCondLst>
                              <p:cond delay="5430"/>
                            </p:stCondLst>
                            <p:childTnLst>
                              <p:par>
                                <p:cTn id="95" presetID="8" presetClass="emph" presetSubtype="0" fill="hold" nodeType="withEffect">
                                  <p:stCondLst>
                                    <p:cond delay="0"/>
                                  </p:stCondLst>
                                  <p:childTnLst>
                                    <p:animRot by="600000">
                                      <p:cBhvr>
                                        <p:cTn id="96" dur="280" autoRev="1" fill="hold"/>
                                        <p:tgtEl>
                                          <p:spTgt spid="7"/>
                                        </p:tgtEl>
                                        <p:attrNameLst>
                                          <p:attrName>r</p:attrName>
                                        </p:attrNameLst>
                                      </p:cBhvr>
                                    </p:animRot>
                                  </p:childTnLst>
                                </p:cTn>
                              </p:par>
                            </p:childTnLst>
                          </p:cTn>
                        </p:par>
                        <p:par>
                          <p:cTn id="97" fill="hold">
                            <p:stCondLst>
                              <p:cond delay="5900"/>
                            </p:stCondLst>
                            <p:childTnLst>
                              <p:par>
                                <p:cTn id="98" presetID="0" presetClass="path" presetSubtype="0" accel="60000" fill="hold" nodeType="withEffect">
                                  <p:stCondLst>
                                    <p:cond delay="0"/>
                                  </p:stCondLst>
                                  <p:childTnLst>
                                    <p:animMotion origin="layout" path="M 2.70833E-6 4.44444E-6 L 0.06002 4.44444E-6 " pathEditMode="relative" rAng="0" ptsTypes="AA">
                                      <p:cBhvr>
                                        <p:cTn id="99" dur="150" autoRev="1" fill="hold"/>
                                        <p:tgtEl>
                                          <p:spTgt spid="10"/>
                                        </p:tgtEl>
                                        <p:attrNameLst>
                                          <p:attrName>ppt_x</p:attrName>
                                          <p:attrName>ppt_y</p:attrName>
                                        </p:attrNameLst>
                                      </p:cBhvr>
                                      <p:rCtr x="2995" y="0"/>
                                    </p:animMotion>
                                  </p:childTnLst>
                                </p:cTn>
                              </p:par>
                            </p:childTnLst>
                          </p:cTn>
                        </p:par>
                        <p:par>
                          <p:cTn id="100" fill="hold">
                            <p:stCondLst>
                              <p:cond delay="5900"/>
                            </p:stCondLst>
                            <p:childTnLst>
                              <p:par>
                                <p:cTn id="101" presetID="0" presetClass="path" presetSubtype="0" accel="60000" fill="hold" nodeType="withEffect">
                                  <p:stCondLst>
                                    <p:cond delay="0"/>
                                  </p:stCondLst>
                                  <p:childTnLst>
                                    <p:animMotion origin="layout" path="M 0 -7.40741E-7 L 0.02995 -7.40741E-7 " pathEditMode="relative" rAng="0" ptsTypes="AA">
                                      <p:cBhvr>
                                        <p:cTn id="102" dur="150" autoRev="1" fill="hold"/>
                                        <p:tgtEl>
                                          <p:spTgt spid="5"/>
                                        </p:tgtEl>
                                        <p:attrNameLst>
                                          <p:attrName>ppt_x</p:attrName>
                                          <p:attrName>ppt_y</p:attrName>
                                        </p:attrNameLst>
                                      </p:cBhvr>
                                      <p:rCtr x="1497" y="0"/>
                                    </p:animMotion>
                                  </p:childTnLst>
                                </p:cTn>
                              </p:par>
                            </p:childTnLst>
                          </p:cTn>
                        </p:par>
                        <p:par>
                          <p:cTn id="103" fill="hold">
                            <p:stCondLst>
                              <p:cond delay="6050"/>
                            </p:stCondLst>
                            <p:childTnLst>
                              <p:par>
                                <p:cTn id="104" presetID="0" presetClass="path" presetSubtype="0" accel="40000" fill="hold" nodeType="withEffect">
                                  <p:stCondLst>
                                    <p:cond delay="0"/>
                                  </p:stCondLst>
                                  <p:childTnLst>
                                    <p:animMotion origin="layout" path="M 0 0 C 0.05 -0.12 0.12 -0.12 0.18 1.0 E" pathEditMode="relative" rAng="0">
                                      <p:cBhvr>
                                        <p:cTn id="105" dur="1300" fill="hold"/>
                                        <p:tgtEl>
                                          <p:spTgt spid="7"/>
                                        </p:tgtEl>
                                        <p:attrNameLst>
                                          <p:attrName>ppt_x</p:attrName>
                                          <p:attrName>ppt_y</p:attrName>
                                        </p:attrNameLst>
                                      </p:cBhvr>
                                      <p:rCtr x="0" y="0"/>
                                    </p:animMotion>
                                  </p:childTnLst>
                                </p:cTn>
                              </p:par>
                            </p:childTnLst>
                          </p:cTn>
                        </p:par>
                        <p:par>
                          <p:cTn id="106" fill="hold">
                            <p:stCondLst>
                              <p:cond delay="6050"/>
                            </p:stCondLst>
                            <p:childTnLst>
                              <p:par>
                                <p:cTn id="107" presetID="8" presetClass="emph" presetSubtype="0" accel="50000" fill="hold" nodeType="withEffect">
                                  <p:stCondLst>
                                    <p:cond delay="0"/>
                                  </p:stCondLst>
                                  <p:childTnLst>
                                    <p:animRot by="5400000">
                                      <p:cBhvr>
                                        <p:cTn id="108" dur="1300" fill="hold"/>
                                        <p:tgtEl>
                                          <p:spTgt spid="7"/>
                                        </p:tgtEl>
                                        <p:attrNameLst>
                                          <p:attrName>r</p:attrName>
                                        </p:attrNameLst>
                                      </p:cBhvr>
                                    </p:animRot>
                                  </p:childTnLst>
                                </p:cTn>
                              </p:par>
                            </p:childTnLst>
                          </p:cTn>
                        </p:par>
                        <p:par>
                          <p:cTn id="109" fill="hold">
                            <p:stCondLst>
                              <p:cond delay="6050"/>
                            </p:stCondLst>
                            <p:childTnLst>
                              <p:par>
                                <p:cTn id="110" presetID="0" presetClass="path" presetSubtype="0" accel="40000" fill="hold" nodeType="withEffect">
                                  <p:stCondLst>
                                    <p:cond delay="0"/>
                                  </p:stCondLst>
                                  <p:childTnLst>
                                    <p:animMotion origin="layout" path="M -2.29167E-6 4.44444E-6 C 0.05 -0.11991 0.12005 -0.11991 0.17995 1 " pathEditMode="relative" rAng="0" ptsTypes="AA">
                                      <p:cBhvr>
                                        <p:cTn id="111" dur="1300" fill="hold"/>
                                        <p:tgtEl>
                                          <p:spTgt spid="11"/>
                                        </p:tgtEl>
                                        <p:attrNameLst>
                                          <p:attrName>ppt_x</p:attrName>
                                          <p:attrName>ppt_y</p:attrName>
                                        </p:attrNameLst>
                                      </p:cBhvr>
                                      <p:rCtr x="8997" y="47407"/>
                                    </p:animMotion>
                                  </p:childTnLst>
                                </p:cTn>
                              </p:par>
                            </p:childTnLst>
                          </p:cTn>
                        </p:par>
                        <p:par>
                          <p:cTn id="112" fill="hold">
                            <p:stCondLst>
                              <p:cond delay="6050"/>
                            </p:stCondLst>
                            <p:childTnLst>
                              <p:par>
                                <p:cTn id="113" presetID="8" presetClass="emph" presetSubtype="0" accel="50000" fill="hold" nodeType="withEffect">
                                  <p:stCondLst>
                                    <p:cond delay="0"/>
                                  </p:stCondLst>
                                  <p:childTnLst>
                                    <p:animRot by="10800000">
                                      <p:cBhvr>
                                        <p:cTn id="114" dur="1300" fill="hold"/>
                                        <p:tgtEl>
                                          <p:spTgt spid="11"/>
                                        </p:tgtEl>
                                        <p:attrNameLst>
                                          <p:attrName>r</p:attrName>
                                        </p:attrNameLst>
                                      </p:cBhvr>
                                    </p:animRot>
                                  </p:childTnLst>
                                </p:cTn>
                              </p:par>
                            </p:childTnLst>
                          </p:cTn>
                        </p:par>
                        <p:par>
                          <p:cTn id="115" fill="hold">
                            <p:stCondLst>
                              <p:cond delay="7600"/>
                            </p:stCondLst>
                            <p:childTnLst>
                              <p:par>
                                <p:cTn id="116" presetID="0" presetClass="path" presetSubtype="0" decel="60000" fill="hold" nodeType="withEffect">
                                  <p:stCondLst>
                                    <p:cond delay="0"/>
                                  </p:stCondLst>
                                  <p:childTnLst>
                                    <p:animMotion origin="layout" path="M 0 -7.40741E-7 L 0.25 -7.40741E-7 " pathEditMode="relative" rAng="0" ptsTypes="AA">
                                      <p:cBhvr>
                                        <p:cTn id="117" dur="1000" fill="hold"/>
                                        <p:tgtEl>
                                          <p:spTgt spid="5"/>
                                        </p:tgtEl>
                                        <p:attrNameLst>
                                          <p:attrName>ppt_x</p:attrName>
                                          <p:attrName>ppt_y</p:attrName>
                                        </p:attrNameLst>
                                      </p:cBhvr>
                                      <p:rCtr x="12500" y="0"/>
                                    </p:animMotion>
                                  </p:childTnLst>
                                </p:cTn>
                              </p:par>
                            </p:childTnLst>
                          </p:cTn>
                        </p:par>
                        <p:par>
                          <p:cTn id="118" fill="hold">
                            <p:stCondLst>
                              <p:cond delay="7600"/>
                            </p:stCondLst>
                            <p:childTnLst>
                              <p:par>
                                <p:cTn id="119" presetID="0" presetClass="path" presetSubtype="0" decel="60000" fill="hold" nodeType="withEffect">
                                  <p:stCondLst>
                                    <p:cond delay="0"/>
                                  </p:stCondLst>
                                  <p:childTnLst>
                                    <p:animMotion origin="layout" path="M 2.70833E-6 4.44444E-6 L 0.25 4.44444E-6 " pathEditMode="relative" rAng="0" ptsTypes="AA">
                                      <p:cBhvr>
                                        <p:cTn id="120" dur="1000" fill="hold"/>
                                        <p:tgtEl>
                                          <p:spTgt spid="10"/>
                                        </p:tgtEl>
                                        <p:attrNameLst>
                                          <p:attrName>ppt_x</p:attrName>
                                          <p:attrName>ppt_y</p:attrName>
                                        </p:attrNameLst>
                                      </p:cBhvr>
                                      <p:rCtr x="12500" y="0"/>
                                    </p:animMotion>
                                  </p:childTnLst>
                                </p:cTn>
                              </p:par>
                            </p:childTnLst>
                          </p:cTn>
                        </p:par>
                        <p:par>
                          <p:cTn id="121" fill="hold">
                            <p:stCondLst>
                              <p:cond delay="8800"/>
                            </p:stCondLst>
                            <p:childTnLst>
                              <p:par>
                                <p:cTn id="122" presetID="10" presetClass="exit" presetSubtype="0" fill="hold" nodeType="withEffect">
                                  <p:stCondLst>
                                    <p:cond delay="0"/>
                                  </p:stCondLst>
                                  <p:childTnLst>
                                    <p:animEffect transition="out" filter="fade">
                                      <p:cBhvr>
                                        <p:cTn id="123" dur="600"/>
                                        <p:tgtEl>
                                          <p:spTgt spid="10"/>
                                        </p:tgtEl>
                                      </p:cBhvr>
                                    </p:animEffect>
                                    <p:set>
                                      <p:cBhvr>
                                        <p:cTn id="124" dur="1" fill="hold">
                                          <p:stCondLst>
                                            <p:cond delay="599"/>
                                          </p:stCondLst>
                                        </p:cTn>
                                        <p:tgtEl>
                                          <p:spTgt spid="10"/>
                                        </p:tgtEl>
                                        <p:attrNameLst>
                                          <p:attrName>style.visibility</p:attrName>
                                        </p:attrNameLst>
                                      </p:cBhvr>
                                      <p:to>
                                        <p:strVal val="hidden"/>
                                      </p:to>
                                    </p:set>
                                  </p:childTnLst>
                                </p:cTn>
                              </p:par>
                            </p:childTnLst>
                          </p:cTn>
                        </p:par>
                        <p:par>
                          <p:cTn id="125" fill="hold">
                            <p:stCondLst>
                              <p:cond delay="8900"/>
                            </p:stCondLst>
                            <p:childTnLst>
                              <p:par>
                                <p:cTn id="126" presetID="1" presetClass="entr" presetSubtype="0" decel="70000" fill="hold" nodeType="withEffect">
                                  <p:stCondLst>
                                    <p:cond delay="0"/>
                                  </p:stCondLst>
                                  <p:childTnLst>
                                    <p:set>
                                      <p:cBhvr>
                                        <p:cTn id="127" dur="1" fill="hold">
                                          <p:stCondLst>
                                            <p:cond delay="0"/>
                                          </p:stCondLst>
                                        </p:cTn>
                                        <p:tgtEl>
                                          <p:spTgt spid="12"/>
                                        </p:tgtEl>
                                        <p:attrNameLst>
                                          <p:attrName>style.visibility</p:attrName>
                                        </p:attrNameLst>
                                      </p:cBhvr>
                                      <p:to>
                                        <p:strVal val="visible"/>
                                      </p:to>
                                    </p:set>
                                    <p:animMotion origin="layout" path="M 0 -0.6 L 0 0 E" pathEditMode="relative" rAng="0">
                                      <p:cBhvr>
                                        <p:cTn id="128" dur="1100" fill="hold"/>
                                        <p:tgtEl>
                                          <p:spTgt spid="12"/>
                                        </p:tgtEl>
                                        <p:attrNameLst>
                                          <p:attrName>ppt_x</p:attrName>
                                          <p:attrName>ppt_y</p:attrName>
                                        </p:attrNameLst>
                                      </p:cBhvr>
                                      <p:rCtr x="0" y="0"/>
                                    </p:animMotion>
                                  </p:childTnLst>
                                </p:cTn>
                              </p:par>
                            </p:childTnLst>
                          </p:cTn>
                        </p:par>
                        <p:par>
                          <p:cTn id="129" fill="hold">
                            <p:stCondLst>
                              <p:cond delay="8900"/>
                            </p:stCondLst>
                            <p:childTnLst>
                              <p:par>
                                <p:cTn id="130" presetID="1" presetClass="entr" presetSubtype="0" decel="70000" fill="hold" grpId="0" nodeType="withEffect">
                                  <p:stCondLst>
                                    <p:cond delay="0"/>
                                  </p:stCondLst>
                                  <p:childTnLst>
                                    <p:set>
                                      <p:cBhvr>
                                        <p:cTn id="131" dur="1" fill="hold">
                                          <p:stCondLst>
                                            <p:cond delay="0"/>
                                          </p:stCondLst>
                                        </p:cTn>
                                        <p:tgtEl>
                                          <p:spTgt spid="3"/>
                                        </p:tgtEl>
                                        <p:attrNameLst>
                                          <p:attrName>style.visibility</p:attrName>
                                        </p:attrNameLst>
                                      </p:cBhvr>
                                      <p:to>
                                        <p:strVal val="visible"/>
                                      </p:to>
                                    </p:set>
                                    <p:animMotion origin="layout" path="M 0 -0.6 L 0 0 E" pathEditMode="relative" rAng="0">
                                      <p:cBhvr>
                                        <p:cTn id="132" dur="1100" fill="hold"/>
                                        <p:tgtEl>
                                          <p:spTgt spid="3"/>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F6D84-879F-B4C3-0D7B-61A05072B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82DBF-EF0D-32CD-B1B8-6AFDA4C44153}"/>
              </a:ext>
            </a:extLst>
          </p:cNvPr>
          <p:cNvSpPr>
            <a:spLocks noGrp="1"/>
          </p:cNvSpPr>
          <p:nvPr>
            <p:ph type="title"/>
          </p:nvPr>
        </p:nvSpPr>
        <p:spPr/>
        <p:txBody>
          <a:bodyPr/>
          <a:lstStyle/>
          <a:p>
            <a:r>
              <a:rPr lang="en-US" dirty="0"/>
              <a:t>Historical-Critical Model Evaluation</a:t>
            </a:r>
          </a:p>
        </p:txBody>
      </p:sp>
      <p:sp>
        <p:nvSpPr>
          <p:cNvPr id="3" name="Content Placeholder 2">
            <a:extLst>
              <a:ext uri="{FF2B5EF4-FFF2-40B4-BE49-F238E27FC236}">
                <a16:creationId xmlns:a16="http://schemas.microsoft.com/office/drawing/2014/main" id="{779D96E9-A424-E511-0AFC-430CFAFE14A7}"/>
              </a:ext>
            </a:extLst>
          </p:cNvPr>
          <p:cNvSpPr>
            <a:spLocks noGrp="1"/>
          </p:cNvSpPr>
          <p:nvPr>
            <p:ph idx="1"/>
          </p:nvPr>
        </p:nvSpPr>
        <p:spPr>
          <a:xfrm>
            <a:off x="838200" y="1825625"/>
            <a:ext cx="11074052" cy="4925904"/>
          </a:xfrm>
        </p:spPr>
        <p:txBody>
          <a:bodyPr>
            <a:noAutofit/>
          </a:bodyPr>
          <a:lstStyle/>
          <a:p>
            <a:r>
              <a:rPr lang="en-US" sz="2600" dirty="0"/>
              <a:t>“the historical-critical model is correct to remind us of the role of the Christian community in the formation of the New Testament canon…. That being said, however, </a:t>
            </a:r>
            <a:r>
              <a:rPr lang="en-US" sz="2600" dirty="0">
                <a:solidFill>
                  <a:schemeClr val="accent2"/>
                </a:solidFill>
              </a:rPr>
              <a:t>the fundamental problem with the historical-critical model is not its affirmation that the church played a role, but rather its insistence that the church played the determinative and decisive role</a:t>
            </a:r>
            <a:r>
              <a:rPr lang="en-US" sz="2600" dirty="0"/>
              <a:t>. Quickly swept aside are any claims that these books contain any intrinsic authority that might have been a factor in their reception” (pp. 34-35)</a:t>
            </a:r>
          </a:p>
          <a:p>
            <a:pPr marL="0" indent="0">
              <a:buNone/>
            </a:pPr>
            <a:endParaRPr lang="en-US" sz="2600" dirty="0"/>
          </a:p>
          <a:p>
            <a:r>
              <a:rPr lang="en-US" sz="2600" dirty="0"/>
              <a:t>“simply demonstrating some human involvement in the canonical process is not sufficient to demonstrate </a:t>
            </a:r>
            <a:r>
              <a:rPr lang="en-US" sz="2600" i="1" dirty="0"/>
              <a:t>sole</a:t>
            </a:r>
            <a:r>
              <a:rPr lang="en-US" sz="2600" dirty="0"/>
              <a:t> human involvement. The fact that proximate, human decisions played a role in the development of the canon does not rule out the possibility that ultimate, divine activity also played a role. The two are not mutually exclusive” (p. 35)</a:t>
            </a:r>
          </a:p>
        </p:txBody>
      </p:sp>
    </p:spTree>
    <p:extLst>
      <p:ext uri="{BB962C8B-B14F-4D97-AF65-F5344CB8AC3E}">
        <p14:creationId xmlns:p14="http://schemas.microsoft.com/office/powerpoint/2010/main" val="127669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7018A-2B14-0B89-65CA-19DF83AC702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2DE471-85CB-A9CE-0037-7C11871E45E4}"/>
              </a:ext>
            </a:extLst>
          </p:cNvPr>
          <p:cNvSpPr>
            <a:spLocks noGrp="1"/>
          </p:cNvSpPr>
          <p:nvPr>
            <p:ph idx="1"/>
          </p:nvPr>
        </p:nvSpPr>
        <p:spPr>
          <a:xfrm>
            <a:off x="332015" y="682624"/>
            <a:ext cx="10746802" cy="695602"/>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DE2BBE90-129B-7352-38D4-37024A1A20CB}"/>
              </a:ext>
            </a:extLst>
          </p:cNvPr>
          <p:cNvSpPr txBox="1">
            <a:spLocks/>
          </p:cNvSpPr>
          <p:nvPr/>
        </p:nvSpPr>
        <p:spPr>
          <a:xfrm>
            <a:off x="903355" y="1378226"/>
            <a:ext cx="1012466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AE0B5EFD-971E-1A7D-D806-FF09612AD44E}"/>
              </a:ext>
            </a:extLst>
          </p:cNvPr>
          <p:cNvSpPr txBox="1">
            <a:spLocks/>
          </p:cNvSpPr>
          <p:nvPr/>
        </p:nvSpPr>
        <p:spPr>
          <a:xfrm>
            <a:off x="332015" y="1378226"/>
            <a:ext cx="847428"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Tree>
    <p:extLst>
      <p:ext uri="{BB962C8B-B14F-4D97-AF65-F5344CB8AC3E}">
        <p14:creationId xmlns:p14="http://schemas.microsoft.com/office/powerpoint/2010/main" val="825458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DA751-FA2D-9422-DCC2-C34E5FF8F9A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628843-308A-577F-2356-6A1AB1E6ECEF}"/>
              </a:ext>
            </a:extLst>
          </p:cNvPr>
          <p:cNvSpPr>
            <a:spLocks noGrp="1"/>
          </p:cNvSpPr>
          <p:nvPr>
            <p:ph idx="1"/>
          </p:nvPr>
        </p:nvSpPr>
        <p:spPr>
          <a:xfrm>
            <a:off x="281213" y="-1012826"/>
            <a:ext cx="10746802" cy="695602"/>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064B23DD-8EE6-3E02-5DA5-92F6F509E43F}"/>
              </a:ext>
            </a:extLst>
          </p:cNvPr>
          <p:cNvSpPr txBox="1">
            <a:spLocks/>
          </p:cNvSpPr>
          <p:nvPr/>
        </p:nvSpPr>
        <p:spPr>
          <a:xfrm>
            <a:off x="838200" y="682624"/>
            <a:ext cx="1051560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84CB4682-2FF9-5497-5B4A-C1236768C283}"/>
              </a:ext>
            </a:extLst>
          </p:cNvPr>
          <p:cNvSpPr txBox="1">
            <a:spLocks/>
          </p:cNvSpPr>
          <p:nvPr/>
        </p:nvSpPr>
        <p:spPr>
          <a:xfrm>
            <a:off x="-1611085" y="334823"/>
            <a:ext cx="847428"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2" name="Content Placeholder 2">
            <a:extLst>
              <a:ext uri="{FF2B5EF4-FFF2-40B4-BE49-F238E27FC236}">
                <a16:creationId xmlns:a16="http://schemas.microsoft.com/office/drawing/2014/main" id="{CB4B7E6B-46F6-0E2F-C169-253EAA71310A}"/>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 “At the core of the Roman Catholic view of canon is Rome’s view of the authority of Scripture. Roman Catholicism denies that ultimate authority exists in the Scriptures alone (</a:t>
            </a:r>
            <a:r>
              <a:rPr lang="en-US" i="1" dirty="0"/>
              <a:t>sola scriptura</a:t>
            </a:r>
            <a:r>
              <a:rPr lang="en-US" dirty="0"/>
              <a:t>) and has consequently adopted the well-known trifold authority structure that includes Scripture, tradition, and the Magisterium (the church’s teaching authority)” (pp. 38–39)</a:t>
            </a:r>
          </a:p>
          <a:p>
            <a:endParaRPr lang="en-US" dirty="0"/>
          </a:p>
        </p:txBody>
      </p:sp>
    </p:spTree>
    <p:extLst>
      <p:ext uri="{BB962C8B-B14F-4D97-AF65-F5344CB8AC3E}">
        <p14:creationId xmlns:p14="http://schemas.microsoft.com/office/powerpoint/2010/main" val="2673208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82549-6677-CAB2-BA62-72903CAF4FB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9C5522-1CF3-7CF9-8046-C8F802B1A272}"/>
              </a:ext>
            </a:extLst>
          </p:cNvPr>
          <p:cNvSpPr>
            <a:spLocks noGrp="1"/>
          </p:cNvSpPr>
          <p:nvPr>
            <p:ph idx="1"/>
          </p:nvPr>
        </p:nvSpPr>
        <p:spPr>
          <a:xfrm>
            <a:off x="281213" y="-1012826"/>
            <a:ext cx="10746802" cy="695602"/>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C17C139D-198E-EC64-D30E-971318CC964F}"/>
              </a:ext>
            </a:extLst>
          </p:cNvPr>
          <p:cNvSpPr txBox="1">
            <a:spLocks/>
          </p:cNvSpPr>
          <p:nvPr/>
        </p:nvSpPr>
        <p:spPr>
          <a:xfrm>
            <a:off x="838200" y="682624"/>
            <a:ext cx="1051560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14569907-F6D0-39B0-F7AB-D356E73100C2}"/>
              </a:ext>
            </a:extLst>
          </p:cNvPr>
          <p:cNvSpPr txBox="1">
            <a:spLocks/>
          </p:cNvSpPr>
          <p:nvPr/>
        </p:nvSpPr>
        <p:spPr>
          <a:xfrm>
            <a:off x="-1611085" y="334823"/>
            <a:ext cx="847428"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4" name="Triangle 3">
            <a:extLst>
              <a:ext uri="{FF2B5EF4-FFF2-40B4-BE49-F238E27FC236}">
                <a16:creationId xmlns:a16="http://schemas.microsoft.com/office/drawing/2014/main" id="{9B0FD893-B68B-7595-7711-A10EA65814D4}"/>
              </a:ext>
            </a:extLst>
          </p:cNvPr>
          <p:cNvSpPr/>
          <p:nvPr/>
        </p:nvSpPr>
        <p:spPr>
          <a:xfrm>
            <a:off x="3219450" y="2378074"/>
            <a:ext cx="5753100" cy="329565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F5277A7-138A-9C86-5528-84749041E8E9}"/>
              </a:ext>
            </a:extLst>
          </p:cNvPr>
          <p:cNvSpPr txBox="1"/>
          <p:nvPr/>
        </p:nvSpPr>
        <p:spPr>
          <a:xfrm>
            <a:off x="1496667" y="5673724"/>
            <a:ext cx="1722783" cy="553998"/>
          </a:xfrm>
          <a:prstGeom prst="rect">
            <a:avLst/>
          </a:prstGeom>
          <a:noFill/>
        </p:spPr>
        <p:txBody>
          <a:bodyPr wrap="square" rtlCol="0">
            <a:spAutoFit/>
          </a:bodyPr>
          <a:lstStyle/>
          <a:p>
            <a:pPr algn="ctr"/>
            <a:r>
              <a:rPr lang="en-US" sz="3000" dirty="0"/>
              <a:t>Scripture</a:t>
            </a:r>
          </a:p>
        </p:txBody>
      </p:sp>
      <p:sp>
        <p:nvSpPr>
          <p:cNvPr id="8" name="TextBox 7">
            <a:extLst>
              <a:ext uri="{FF2B5EF4-FFF2-40B4-BE49-F238E27FC236}">
                <a16:creationId xmlns:a16="http://schemas.microsoft.com/office/drawing/2014/main" id="{A2F3493A-01A9-93E5-3E13-344C1885C4BC}"/>
              </a:ext>
            </a:extLst>
          </p:cNvPr>
          <p:cNvSpPr txBox="1"/>
          <p:nvPr/>
        </p:nvSpPr>
        <p:spPr>
          <a:xfrm>
            <a:off x="8972550" y="5673724"/>
            <a:ext cx="1722783" cy="553998"/>
          </a:xfrm>
          <a:prstGeom prst="rect">
            <a:avLst/>
          </a:prstGeom>
          <a:noFill/>
        </p:spPr>
        <p:txBody>
          <a:bodyPr wrap="square" rtlCol="0">
            <a:spAutoFit/>
          </a:bodyPr>
          <a:lstStyle/>
          <a:p>
            <a:pPr algn="ctr"/>
            <a:r>
              <a:rPr lang="en-US" sz="3000" dirty="0"/>
              <a:t>Tradition</a:t>
            </a:r>
          </a:p>
        </p:txBody>
      </p:sp>
      <p:sp>
        <p:nvSpPr>
          <p:cNvPr id="9" name="TextBox 8">
            <a:extLst>
              <a:ext uri="{FF2B5EF4-FFF2-40B4-BE49-F238E27FC236}">
                <a16:creationId xmlns:a16="http://schemas.microsoft.com/office/drawing/2014/main" id="{79BF54EA-46D6-938F-15F9-5BD6FBD4C6B2}"/>
              </a:ext>
            </a:extLst>
          </p:cNvPr>
          <p:cNvSpPr txBox="1"/>
          <p:nvPr/>
        </p:nvSpPr>
        <p:spPr>
          <a:xfrm>
            <a:off x="4982817" y="1824076"/>
            <a:ext cx="2226366" cy="553998"/>
          </a:xfrm>
          <a:prstGeom prst="rect">
            <a:avLst/>
          </a:prstGeom>
          <a:noFill/>
        </p:spPr>
        <p:txBody>
          <a:bodyPr wrap="square" rtlCol="0">
            <a:spAutoFit/>
          </a:bodyPr>
          <a:lstStyle/>
          <a:p>
            <a:pPr algn="ctr"/>
            <a:r>
              <a:rPr lang="en-US" sz="3000" dirty="0"/>
              <a:t>Magisterium</a:t>
            </a:r>
          </a:p>
        </p:txBody>
      </p:sp>
      <p:sp>
        <p:nvSpPr>
          <p:cNvPr id="11" name="TextBox 10">
            <a:extLst>
              <a:ext uri="{FF2B5EF4-FFF2-40B4-BE49-F238E27FC236}">
                <a16:creationId xmlns:a16="http://schemas.microsoft.com/office/drawing/2014/main" id="{8FF82694-EC26-A346-9F08-0BDD17FD8215}"/>
              </a:ext>
            </a:extLst>
          </p:cNvPr>
          <p:cNvSpPr txBox="1"/>
          <p:nvPr/>
        </p:nvSpPr>
        <p:spPr>
          <a:xfrm>
            <a:off x="7173504" y="1856174"/>
            <a:ext cx="5592417" cy="1938992"/>
          </a:xfrm>
          <a:prstGeom prst="rect">
            <a:avLst/>
          </a:prstGeom>
          <a:noFill/>
        </p:spPr>
        <p:txBody>
          <a:bodyPr wrap="square" rtlCol="0">
            <a:spAutoFit/>
          </a:bodyPr>
          <a:lstStyle/>
          <a:p>
            <a:r>
              <a:rPr lang="en-US" sz="3000" dirty="0"/>
              <a:t>= 1. Interprets Scripture and Tradition</a:t>
            </a:r>
          </a:p>
          <a:p>
            <a:r>
              <a:rPr lang="en-US" sz="3000" dirty="0"/>
              <a:t>    2. Sole authority to define “Scripture” and “Tradition”</a:t>
            </a:r>
          </a:p>
        </p:txBody>
      </p:sp>
    </p:spTree>
    <p:extLst>
      <p:ext uri="{BB962C8B-B14F-4D97-AF65-F5344CB8AC3E}">
        <p14:creationId xmlns:p14="http://schemas.microsoft.com/office/powerpoint/2010/main" val="206798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C9BE6-FA2C-38C9-A0BE-398CD5FCD41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832F56-7DF6-1DCB-23F1-D61EC302C416}"/>
              </a:ext>
            </a:extLst>
          </p:cNvPr>
          <p:cNvSpPr>
            <a:spLocks noGrp="1"/>
          </p:cNvSpPr>
          <p:nvPr>
            <p:ph idx="1"/>
          </p:nvPr>
        </p:nvSpPr>
        <p:spPr>
          <a:xfrm>
            <a:off x="281213" y="-1012826"/>
            <a:ext cx="10746802" cy="695602"/>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CFDE6359-01C3-EA6A-2D40-80F24007BBB3}"/>
              </a:ext>
            </a:extLst>
          </p:cNvPr>
          <p:cNvSpPr txBox="1">
            <a:spLocks/>
          </p:cNvSpPr>
          <p:nvPr/>
        </p:nvSpPr>
        <p:spPr>
          <a:xfrm>
            <a:off x="838200" y="682624"/>
            <a:ext cx="1051560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FA010CCC-B3C9-2162-F49B-07F2C3C808D4}"/>
              </a:ext>
            </a:extLst>
          </p:cNvPr>
          <p:cNvSpPr txBox="1">
            <a:spLocks/>
          </p:cNvSpPr>
          <p:nvPr/>
        </p:nvSpPr>
        <p:spPr>
          <a:xfrm>
            <a:off x="-1611085" y="334823"/>
            <a:ext cx="847428"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pic>
        <p:nvPicPr>
          <p:cNvPr id="10" name="Picture 9">
            <a:extLst>
              <a:ext uri="{FF2B5EF4-FFF2-40B4-BE49-F238E27FC236}">
                <a16:creationId xmlns:a16="http://schemas.microsoft.com/office/drawing/2014/main" id="{C0FA87B9-583F-A9D5-C35E-2AA031A1DC63}"/>
              </a:ext>
            </a:extLst>
          </p:cNvPr>
          <p:cNvPicPr>
            <a:picLocks noChangeAspect="1"/>
          </p:cNvPicPr>
          <p:nvPr/>
        </p:nvPicPr>
        <p:blipFill>
          <a:blip r:embed="rId2"/>
          <a:srcRect/>
          <a:stretch>
            <a:fillRect/>
          </a:stretch>
        </p:blipFill>
        <p:spPr>
          <a:xfrm>
            <a:off x="-104329" y="2378074"/>
            <a:ext cx="6200329" cy="3460649"/>
          </a:xfrm>
          <a:prstGeom prst="rect">
            <a:avLst/>
          </a:prstGeom>
        </p:spPr>
      </p:pic>
      <p:pic>
        <p:nvPicPr>
          <p:cNvPr id="12" name="Picture 11" descr=", AI generated">
            <a:extLst>
              <a:ext uri="{FF2B5EF4-FFF2-40B4-BE49-F238E27FC236}">
                <a16:creationId xmlns:a16="http://schemas.microsoft.com/office/drawing/2014/main" id="{669D68C1-AD15-A7F1-C6C0-EFCDFC19B4FD}"/>
              </a:ext>
            </a:extLst>
          </p:cNvPr>
          <p:cNvPicPr>
            <a:picLocks noChangeAspect="1"/>
          </p:cNvPicPr>
          <p:nvPr/>
        </p:nvPicPr>
        <p:blipFill>
          <a:blip r:embed="rId3"/>
          <a:srcRect/>
          <a:stretch>
            <a:fillRect/>
          </a:stretch>
        </p:blipFill>
        <p:spPr>
          <a:xfrm>
            <a:off x="7364164" y="3159788"/>
            <a:ext cx="2542851" cy="2423654"/>
          </a:xfrm>
          <a:prstGeom prst="rect">
            <a:avLst/>
          </a:prstGeom>
          <a:ln>
            <a:solidFill>
              <a:schemeClr val="bg1"/>
            </a:solidFill>
          </a:ln>
        </p:spPr>
      </p:pic>
      <p:pic>
        <p:nvPicPr>
          <p:cNvPr id="13" name="Picture 12" descr="Generated image: Stick Figure Presenting an Ancient Scroll">
            <a:extLst>
              <a:ext uri="{FF2B5EF4-FFF2-40B4-BE49-F238E27FC236}">
                <a16:creationId xmlns:a16="http://schemas.microsoft.com/office/drawing/2014/main" id="{386E38D8-0B86-AFDE-D3A4-CC6DD887B489}"/>
              </a:ext>
            </a:extLst>
          </p:cNvPr>
          <p:cNvPicPr>
            <a:picLocks noChangeAspect="1"/>
          </p:cNvPicPr>
          <p:nvPr/>
        </p:nvPicPr>
        <p:blipFill>
          <a:blip r:embed="rId4"/>
          <a:stretch>
            <a:fillRect/>
          </a:stretch>
        </p:blipFill>
        <p:spPr>
          <a:xfrm flipH="1">
            <a:off x="11890512" y="3181350"/>
            <a:ext cx="2488049" cy="2373637"/>
          </a:xfrm>
          <a:prstGeom prst="rect">
            <a:avLst/>
          </a:prstGeom>
        </p:spPr>
      </p:pic>
      <p:sp>
        <p:nvSpPr>
          <p:cNvPr id="14" name="Oval Callout 13">
            <a:extLst>
              <a:ext uri="{FF2B5EF4-FFF2-40B4-BE49-F238E27FC236}">
                <a16:creationId xmlns:a16="http://schemas.microsoft.com/office/drawing/2014/main" id="{B794B124-41F0-E5AD-7239-90514D8E1D44}"/>
              </a:ext>
            </a:extLst>
          </p:cNvPr>
          <p:cNvSpPr/>
          <p:nvPr/>
        </p:nvSpPr>
        <p:spPr>
          <a:xfrm flipH="1">
            <a:off x="3541106" y="981177"/>
            <a:ext cx="4867005" cy="2308268"/>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“Is the </a:t>
            </a:r>
            <a:r>
              <a:rPr lang="en-US" sz="3600" i="1" dirty="0"/>
              <a:t>Gospel of Thomas</a:t>
            </a:r>
            <a:r>
              <a:rPr lang="en-US" sz="3600" dirty="0"/>
              <a:t> ‘Scripture’?”</a:t>
            </a:r>
          </a:p>
        </p:txBody>
      </p:sp>
      <p:sp>
        <p:nvSpPr>
          <p:cNvPr id="15" name="Oval Callout 14">
            <a:extLst>
              <a:ext uri="{FF2B5EF4-FFF2-40B4-BE49-F238E27FC236}">
                <a16:creationId xmlns:a16="http://schemas.microsoft.com/office/drawing/2014/main" id="{BAEA4A57-8919-ABF5-9F51-7A2364E15C02}"/>
              </a:ext>
            </a:extLst>
          </p:cNvPr>
          <p:cNvSpPr/>
          <p:nvPr/>
        </p:nvSpPr>
        <p:spPr>
          <a:xfrm flipH="1">
            <a:off x="3693506" y="1676779"/>
            <a:ext cx="3050194" cy="1765066"/>
          </a:xfrm>
          <a:prstGeom prst="wedgeEllipseCallout">
            <a:avLst>
              <a:gd name="adj1" fmla="val 55805"/>
              <a:gd name="adj2" fmla="val 37981"/>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“Nope!”</a:t>
            </a:r>
          </a:p>
        </p:txBody>
      </p:sp>
      <p:sp>
        <p:nvSpPr>
          <p:cNvPr id="16" name="Oval Callout 15">
            <a:extLst>
              <a:ext uri="{FF2B5EF4-FFF2-40B4-BE49-F238E27FC236}">
                <a16:creationId xmlns:a16="http://schemas.microsoft.com/office/drawing/2014/main" id="{5548F260-0321-8A80-54C5-86B0E4C1FDB0}"/>
              </a:ext>
            </a:extLst>
          </p:cNvPr>
          <p:cNvSpPr/>
          <p:nvPr/>
        </p:nvSpPr>
        <p:spPr>
          <a:xfrm flipH="1">
            <a:off x="3541106" y="968543"/>
            <a:ext cx="4867005" cy="2308268"/>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“Why?”</a:t>
            </a:r>
          </a:p>
        </p:txBody>
      </p:sp>
      <p:sp>
        <p:nvSpPr>
          <p:cNvPr id="17" name="Oval Callout 16">
            <a:extLst>
              <a:ext uri="{FF2B5EF4-FFF2-40B4-BE49-F238E27FC236}">
                <a16:creationId xmlns:a16="http://schemas.microsoft.com/office/drawing/2014/main" id="{CFF62C41-ADE4-C15A-9DD6-03C205F8AE25}"/>
              </a:ext>
            </a:extLst>
          </p:cNvPr>
          <p:cNvSpPr/>
          <p:nvPr/>
        </p:nvSpPr>
        <p:spPr>
          <a:xfrm flipH="1">
            <a:off x="3693506" y="1390860"/>
            <a:ext cx="3670658" cy="2050985"/>
          </a:xfrm>
          <a:prstGeom prst="wedgeEllipseCallout">
            <a:avLst>
              <a:gd name="adj1" fmla="val 55805"/>
              <a:gd name="adj2" fmla="val 37981"/>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“Because we said so”</a:t>
            </a:r>
          </a:p>
        </p:txBody>
      </p:sp>
    </p:spTree>
    <p:extLst>
      <p:ext uri="{BB962C8B-B14F-4D97-AF65-F5344CB8AC3E}">
        <p14:creationId xmlns:p14="http://schemas.microsoft.com/office/powerpoint/2010/main" val="3927534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5248 0.00138 L -0.3681 0.00138 " pathEditMode="relative" rAng="0" ptsTypes="AA">
                                      <p:cBhvr>
                                        <p:cTn id="6" dur="2000" fill="hold"/>
                                        <p:tgtEl>
                                          <p:spTgt spid="13"/>
                                        </p:tgtEl>
                                        <p:attrNameLst>
                                          <p:attrName>ppt_x</p:attrName>
                                          <p:attrName>ppt_y</p:attrName>
                                        </p:attrNameLst>
                                      </p:cBhvr>
                                      <p:rCtr x="-21029" y="0"/>
                                    </p:animMotion>
                                  </p:childTnLst>
                                </p:cTn>
                              </p:par>
                            </p:childTnLst>
                          </p:cTn>
                        </p:par>
                        <p:par>
                          <p:cTn id="7" fill="hold">
                            <p:stCondLst>
                              <p:cond delay="2000"/>
                            </p:stCondLst>
                            <p:childTnLst>
                              <p:par>
                                <p:cTn id="8" presetID="1" presetClass="entr" presetSubtype="0" fill="hold" nodeType="afterEffect">
                                  <p:stCondLst>
                                    <p:cond delay="0"/>
                                  </p:stCondLst>
                                  <p:childTnLst>
                                    <p:set>
                                      <p:cBhvr>
                                        <p:cTn id="9" dur="1" fill="hold">
                                          <p:stCondLst>
                                            <p:cond delay="0"/>
                                          </p:stCondLst>
                                        </p:cTn>
                                        <p:tgtEl>
                                          <p:spTgt spid="12"/>
                                        </p:tgtEl>
                                        <p:attrNameLst>
                                          <p:attrName>style.visibility</p:attrName>
                                        </p:attrNameLst>
                                      </p:cBhvr>
                                      <p:to>
                                        <p:strVal val="visible"/>
                                      </p:to>
                                    </p:set>
                                  </p:childTnLst>
                                </p:cTn>
                              </p:par>
                              <p:par>
                                <p:cTn id="10" presetID="1" presetClass="exit" presetSubtype="0" fill="hold" nodeType="withEffect">
                                  <p:stCondLst>
                                    <p:cond delay="0"/>
                                  </p:stCondLst>
                                  <p:childTnLst>
                                    <p:set>
                                      <p:cBhvr>
                                        <p:cTn id="11" dur="1" fill="hold">
                                          <p:stCondLst>
                                            <p:cond delay="0"/>
                                          </p:stCondLst>
                                        </p:cTn>
                                        <p:tgtEl>
                                          <p:spTgt spid="13"/>
                                        </p:tgtEl>
                                        <p:attrNameLst>
                                          <p:attrName>style.visibility</p:attrName>
                                        </p:attrNameLst>
                                      </p:cBhvr>
                                      <p:to>
                                        <p:strVal val="hidden"/>
                                      </p:to>
                                    </p:set>
                                  </p:childTnLst>
                                </p:cTn>
                              </p:par>
                            </p:childTnLst>
                          </p:cTn>
                        </p:par>
                        <p:par>
                          <p:cTn id="12" fill="hold">
                            <p:stCondLst>
                              <p:cond delay="2000"/>
                            </p:stCondLst>
                            <p:childTnLst>
                              <p:par>
                                <p:cTn id="13" presetID="22" presetClass="entr" presetSubtype="4"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down)">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down)">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down)">
                                      <p:cBhvr>
                                        <p:cTn id="3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288EF-C02E-C569-1811-9E2A24F66D8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38BB14-FCBF-5727-F4AE-BBDD435BFECA}"/>
              </a:ext>
            </a:extLst>
          </p:cNvPr>
          <p:cNvSpPr>
            <a:spLocks noGrp="1"/>
          </p:cNvSpPr>
          <p:nvPr>
            <p:ph idx="1"/>
          </p:nvPr>
        </p:nvSpPr>
        <p:spPr>
          <a:xfrm>
            <a:off x="281213" y="-1012826"/>
            <a:ext cx="10746802" cy="695602"/>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E0D39E6C-6E6C-5871-D8AB-1CD9AEEADE55}"/>
              </a:ext>
            </a:extLst>
          </p:cNvPr>
          <p:cNvSpPr txBox="1">
            <a:spLocks/>
          </p:cNvSpPr>
          <p:nvPr/>
        </p:nvSpPr>
        <p:spPr>
          <a:xfrm>
            <a:off x="838200" y="682624"/>
            <a:ext cx="1051560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EE8430CE-4AC2-A151-FFF8-FA4228E17521}"/>
              </a:ext>
            </a:extLst>
          </p:cNvPr>
          <p:cNvSpPr txBox="1">
            <a:spLocks/>
          </p:cNvSpPr>
          <p:nvPr/>
        </p:nvSpPr>
        <p:spPr>
          <a:xfrm>
            <a:off x="-1611085" y="334823"/>
            <a:ext cx="847428"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2" name="Content Placeholder 2">
            <a:extLst>
              <a:ext uri="{FF2B5EF4-FFF2-40B4-BE49-F238E27FC236}">
                <a16:creationId xmlns:a16="http://schemas.microsoft.com/office/drawing/2014/main" id="{0D85D0C6-5BF2-D76C-548B-15078C02E5B4}"/>
              </a:ext>
            </a:extLst>
          </p:cNvPr>
          <p:cNvSpPr txBox="1">
            <a:spLocks/>
          </p:cNvSpPr>
          <p:nvPr/>
        </p:nvSpPr>
        <p:spPr>
          <a:xfrm>
            <a:off x="838200" y="1825624"/>
            <a:ext cx="10991850" cy="503237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300" dirty="0"/>
              <a:t>“H. J. Adriaanse observes, ‘Catholic Theology … has solved the canon problem with a plea to the authority of the Church’” (p. 39)</a:t>
            </a:r>
          </a:p>
          <a:p>
            <a:r>
              <a:rPr lang="en-US" sz="2300" dirty="0"/>
              <a:t>“Thus, the canon is ultimately community determined. </a:t>
            </a:r>
            <a:r>
              <a:rPr lang="en-US" sz="2300" dirty="0">
                <a:solidFill>
                  <a:schemeClr val="accent2"/>
                </a:solidFill>
              </a:rPr>
              <a:t>The fundamental challenge from Roman Catholicism is that in order to have an infallible Scripture, we need to have an infallible guide (namely, the church) to tell us what is, and what is not, Scripture</a:t>
            </a:r>
            <a:r>
              <a:rPr lang="en-US" sz="2300" dirty="0"/>
              <a:t>” (pp. 39–40)</a:t>
            </a:r>
          </a:p>
          <a:p>
            <a:r>
              <a:rPr lang="en-US" sz="2300" dirty="0"/>
              <a:t>“Karl Rahner asserts, ‘[Scripture] exists because the church exists’” (p. 40)</a:t>
            </a:r>
          </a:p>
          <a:p>
            <a:r>
              <a:rPr lang="en-US" sz="2300" dirty="0"/>
              <a:t>“the term </a:t>
            </a:r>
            <a:r>
              <a:rPr lang="en-US" sz="2300" i="1" dirty="0"/>
              <a:t>canon</a:t>
            </a:r>
            <a:r>
              <a:rPr lang="en-US" sz="2300" dirty="0"/>
              <a:t> is often used simply to refer to the books that functioned as an authoritative ‘norm’ or standard for the Christian community, that is, as Scripture” (p. 40)</a:t>
            </a:r>
          </a:p>
          <a:p>
            <a:r>
              <a:rPr lang="en-US" sz="2300" dirty="0"/>
              <a:t>Belief the NT books are inspired and ”Thus, Joseph Lienhard… [declares] that ‘about 180 [AD], there is a New Testament’ and ‘a New Testament exists when a collection of Christian writings is generally accepted in the church as equal in authority to the Jewish Scriptures” (p. 40)</a:t>
            </a:r>
          </a:p>
        </p:txBody>
      </p:sp>
    </p:spTree>
    <p:extLst>
      <p:ext uri="{BB962C8B-B14F-4D97-AF65-F5344CB8AC3E}">
        <p14:creationId xmlns:p14="http://schemas.microsoft.com/office/powerpoint/2010/main" val="3237268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EBB15-093C-B223-2418-F736A2AA46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052BEA-44EA-A1A0-E485-A07E20476E44}"/>
              </a:ext>
            </a:extLst>
          </p:cNvPr>
          <p:cNvSpPr>
            <a:spLocks noGrp="1"/>
          </p:cNvSpPr>
          <p:nvPr>
            <p:ph idx="1"/>
          </p:nvPr>
        </p:nvSpPr>
        <p:spPr>
          <a:xfrm>
            <a:off x="265715" y="-695602"/>
            <a:ext cx="10746802" cy="695602"/>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79F86772-76CC-A3E7-BC24-49CB542A2EFC}"/>
              </a:ext>
            </a:extLst>
          </p:cNvPr>
          <p:cNvSpPr txBox="1">
            <a:spLocks/>
          </p:cNvSpPr>
          <p:nvPr/>
        </p:nvSpPr>
        <p:spPr>
          <a:xfrm>
            <a:off x="838200" y="682624"/>
            <a:ext cx="1051560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 Evaluation</a:t>
            </a:r>
          </a:p>
        </p:txBody>
      </p:sp>
      <p:sp>
        <p:nvSpPr>
          <p:cNvPr id="7" name="Content Placeholder 2">
            <a:extLst>
              <a:ext uri="{FF2B5EF4-FFF2-40B4-BE49-F238E27FC236}">
                <a16:creationId xmlns:a16="http://schemas.microsoft.com/office/drawing/2014/main" id="{62799C1B-62F0-0A31-C835-F1F66446E418}"/>
              </a:ext>
            </a:extLst>
          </p:cNvPr>
          <p:cNvSpPr txBox="1">
            <a:spLocks/>
          </p:cNvSpPr>
          <p:nvPr/>
        </p:nvSpPr>
        <p:spPr>
          <a:xfrm>
            <a:off x="-1611085" y="334823"/>
            <a:ext cx="847428"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2" name="Intro Line">
            <a:extLst>
              <a:ext uri="{FF2B5EF4-FFF2-40B4-BE49-F238E27FC236}">
                <a16:creationId xmlns:a16="http://schemas.microsoft.com/office/drawing/2014/main" id="{ED8118F7-BC7A-794A-34CD-357B444D55AF}"/>
              </a:ext>
            </a:extLst>
          </p:cNvPr>
          <p:cNvSpPr txBox="1">
            <a:spLocks/>
          </p:cNvSpPr>
          <p:nvPr/>
        </p:nvSpPr>
        <p:spPr>
          <a:xfrm>
            <a:off x="838200" y="1825624"/>
            <a:ext cx="10991850" cy="609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Different conceptions in this model:</a:t>
            </a:r>
          </a:p>
        </p:txBody>
      </p:sp>
      <p:sp>
        <p:nvSpPr>
          <p:cNvPr id="20" name="!!Point1"/>
          <p:cNvSpPr txBox="1">
            <a:spLocks/>
          </p:cNvSpPr>
          <p:nvPr/>
        </p:nvSpPr>
        <p:spPr>
          <a:xfrm>
            <a:off x="838200" y="2339340"/>
            <a:ext cx="10991850" cy="8128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en-US" sz="2100" dirty="0"/>
              <a:t>“The church not as creating or constituting the canon, but merely as recognizing the authority of the canon that was already there” (p. 41)</a:t>
            </a:r>
          </a:p>
        </p:txBody>
      </p:sp>
      <p:sp>
        <p:nvSpPr>
          <p:cNvPr id="21" name="!!Body"/>
          <p:cNvSpPr txBox="1">
            <a:spLocks/>
          </p:cNvSpPr>
          <p:nvPr/>
        </p:nvSpPr>
        <p:spPr>
          <a:xfrm>
            <a:off x="838200" y="2941320"/>
            <a:ext cx="10991850" cy="3810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Arial"/>
              <a:buChar char="•"/>
            </a:pPr>
            <a:r>
              <a:rPr lang="en-US" sz="2100" dirty="0"/>
              <a:t>“The church’s role is primarily epistemological—it is the sole and fundamental means by which we infallibly </a:t>
            </a:r>
            <a:r>
              <a:rPr lang="en-US" sz="2100" i="1" dirty="0"/>
              <a:t>know</a:t>
            </a:r>
            <a:r>
              <a:rPr lang="en-US" sz="2100" dirty="0"/>
              <a:t> which books belong in the canon” (p. 41)</a:t>
            </a:r>
          </a:p>
          <a:p>
            <a:pPr marL="914400" lvl="1" indent="-457200">
              <a:buFont typeface="Arial"/>
              <a:buChar char="•"/>
            </a:pPr>
            <a:r>
              <a:rPr lang="en-US" sz="2100" dirty="0"/>
              <a:t>“The Bible is in the Church, but </a:t>
            </a:r>
            <a:r>
              <a:rPr lang="en-US" sz="2100" i="1" dirty="0"/>
              <a:t>not from the Church</a:t>
            </a:r>
            <a:r>
              <a:rPr lang="en-US" sz="2100" dirty="0"/>
              <a:t>” (Lienhard as qtd on p. 41)</a:t>
            </a:r>
          </a:p>
          <a:p>
            <a:pPr marL="457200" indent="-457200">
              <a:buAutoNum type="arabicPeriod" startAt="2"/>
            </a:pPr>
            <a:r>
              <a:rPr lang="en-US" sz="2100" dirty="0"/>
              <a:t>“The church not simply as the means by which the canon is infallibly recognized (although it does affirm this), but as, in some sense, the foundation or the grounds for the canon” (p. 42)</a:t>
            </a:r>
          </a:p>
          <a:p>
            <a:pPr marL="914400" lvl="1" indent="-457200">
              <a:buFont typeface="Arial"/>
              <a:buChar char="•"/>
            </a:pPr>
            <a:r>
              <a:rPr lang="en-US" sz="2100" dirty="0"/>
              <a:t>“We ‘derive the essence of the Scripture from the essence of the church’ and therefore the Scripture is ‘derivative’ from the church and ‘</a:t>
            </a:r>
            <a:r>
              <a:rPr lang="en-US" sz="2100" dirty="0">
                <a:solidFill>
                  <a:srgbClr val="FF0000"/>
                </a:solidFill>
              </a:rPr>
              <a:t>an act of the Church</a:t>
            </a:r>
            <a:r>
              <a:rPr lang="en-US" sz="2100" dirty="0"/>
              <a:t>’” (Rahner as qtd on p. 42)</a:t>
            </a:r>
          </a:p>
          <a:p>
            <a:pPr marL="914400" lvl="1" indent="-457200">
              <a:buFont typeface="Arial"/>
              <a:buChar char="•"/>
            </a:pPr>
            <a:r>
              <a:rPr lang="en-US" sz="2100" dirty="0"/>
              <a:t>“Peter Kreeft…argues that the church ‘caused’ the canon because it preceded the canon” (p. 42)</a:t>
            </a:r>
          </a:p>
          <a:p>
            <a:pPr marL="914400" lvl="1" indent="-457200">
              <a:buFont typeface="Arial"/>
              <a:buChar char="•"/>
            </a:pPr>
            <a:r>
              <a:rPr lang="en-US" sz="2100" dirty="0"/>
              <a:t>“Hans Küng…: ’Without the Church there would be no New Testament” (p. 42)</a:t>
            </a:r>
          </a:p>
        </p:txBody>
      </p:sp>
    </p:spTree>
    <p:extLst>
      <p:ext uri="{BB962C8B-B14F-4D97-AF65-F5344CB8AC3E}">
        <p14:creationId xmlns:p14="http://schemas.microsoft.com/office/powerpoint/2010/main" val="2898245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34716-C24C-1CF6-78D7-AA03E4CBBC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D3E907-BC13-3642-6D0E-9C9C2431689A}"/>
              </a:ext>
            </a:extLst>
          </p:cNvPr>
          <p:cNvSpPr>
            <a:spLocks noGrp="1"/>
          </p:cNvSpPr>
          <p:nvPr>
            <p:ph idx="1"/>
          </p:nvPr>
        </p:nvSpPr>
        <p:spPr>
          <a:xfrm>
            <a:off x="265715" y="-695602"/>
            <a:ext cx="10746802" cy="695602"/>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DC1F9F73-27CE-D021-5599-6794AE0AA12C}"/>
              </a:ext>
            </a:extLst>
          </p:cNvPr>
          <p:cNvSpPr txBox="1">
            <a:spLocks/>
          </p:cNvSpPr>
          <p:nvPr/>
        </p:nvSpPr>
        <p:spPr>
          <a:xfrm>
            <a:off x="838200" y="682624"/>
            <a:ext cx="1051560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 Evaluation</a:t>
            </a:r>
          </a:p>
        </p:txBody>
      </p:sp>
      <p:sp>
        <p:nvSpPr>
          <p:cNvPr id="7" name="Content Placeholder 2">
            <a:extLst>
              <a:ext uri="{FF2B5EF4-FFF2-40B4-BE49-F238E27FC236}">
                <a16:creationId xmlns:a16="http://schemas.microsoft.com/office/drawing/2014/main" id="{A649F53A-D972-C204-17CB-A29CE60252EA}"/>
              </a:ext>
            </a:extLst>
          </p:cNvPr>
          <p:cNvSpPr txBox="1">
            <a:spLocks/>
          </p:cNvSpPr>
          <p:nvPr/>
        </p:nvSpPr>
        <p:spPr>
          <a:xfrm>
            <a:off x="-1611085" y="334823"/>
            <a:ext cx="847428"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20" name="!!Point1"/>
          <p:cNvSpPr txBox="1">
            <a:spLocks/>
          </p:cNvSpPr>
          <p:nvPr/>
        </p:nvSpPr>
        <p:spPr>
          <a:xfrm>
            <a:off x="838200" y="1828800"/>
            <a:ext cx="10991850" cy="1473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en-US" sz="3000" dirty="0"/>
              <a:t>“The church not as creating or constituting the canon, but merely as recognizing the authority of the canon that was already there” (p. 41)</a:t>
            </a:r>
          </a:p>
        </p:txBody>
      </p:sp>
      <p:sp>
        <p:nvSpPr>
          <p:cNvPr id="2" name="!!Body">
            <a:extLst>
              <a:ext uri="{FF2B5EF4-FFF2-40B4-BE49-F238E27FC236}">
                <a16:creationId xmlns:a16="http://schemas.microsoft.com/office/drawing/2014/main" id="{4A0E1802-50FB-18D0-87A3-4DDAAA0BC9A9}"/>
              </a:ext>
            </a:extLst>
          </p:cNvPr>
          <p:cNvSpPr txBox="1">
            <a:spLocks/>
          </p:cNvSpPr>
          <p:nvPr/>
        </p:nvSpPr>
        <p:spPr>
          <a:xfrm>
            <a:off x="838200" y="3126740"/>
            <a:ext cx="10991850" cy="3657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Arial"/>
              <a:buChar char="•"/>
            </a:pPr>
            <a:r>
              <a:rPr lang="en-US" sz="3000" dirty="0"/>
              <a:t>Claims that without the RCC, there is </a:t>
            </a:r>
            <a:r>
              <a:rPr lang="en-US" sz="3000" i="1" dirty="0"/>
              <a:t>no way of knowing</a:t>
            </a:r>
            <a:r>
              <a:rPr lang="en-US" sz="3000" dirty="0"/>
              <a:t> which books belong in the canon</a:t>
            </a:r>
          </a:p>
          <a:p>
            <a:pPr marL="914400" lvl="1" indent="-457200">
              <a:buFont typeface="Arial"/>
              <a:buChar char="•"/>
            </a:pPr>
            <a:r>
              <a:rPr lang="en-US" sz="3000" dirty="0"/>
              <a:t>“If only Christians had…[an] inspired table of contents, then we would not need the authoritative rulings of the Roman Catholic Church to authenticate the canon” (p. 42)</a:t>
            </a:r>
          </a:p>
          <a:p>
            <a:pPr marL="457200" indent="-457200">
              <a:buFont typeface="Arial"/>
              <a:buChar char="•"/>
            </a:pPr>
            <a:r>
              <a:rPr lang="en-US" sz="3000" dirty="0"/>
              <a:t>The issue here:</a:t>
            </a:r>
          </a:p>
          <a:p>
            <a:pPr marL="914400" lvl="1" indent="-457200">
              <a:buFont typeface="Arial"/>
              <a:buChar char="•"/>
            </a:pPr>
            <a:r>
              <a:rPr lang="en-US" sz="3000" dirty="0"/>
              <a:t>How does one know that this “inspired table of contents” is really inspired? Wouldn’t the RCC need to confirm that too!</a:t>
            </a:r>
          </a:p>
        </p:txBody>
      </p:sp>
    </p:spTree>
    <p:extLst>
      <p:ext uri="{BB962C8B-B14F-4D97-AF65-F5344CB8AC3E}">
        <p14:creationId xmlns:p14="http://schemas.microsoft.com/office/powerpoint/2010/main" val="2775996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251D1-AC9C-A132-89F3-AC2DFC39FEA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6D856A-B13A-7BC0-2FC9-C83C057D61C8}"/>
              </a:ext>
            </a:extLst>
          </p:cNvPr>
          <p:cNvSpPr>
            <a:spLocks noGrp="1"/>
          </p:cNvSpPr>
          <p:nvPr>
            <p:ph idx="1"/>
          </p:nvPr>
        </p:nvSpPr>
        <p:spPr>
          <a:xfrm>
            <a:off x="265715" y="-695602"/>
            <a:ext cx="10746802" cy="695602"/>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7A18F93E-6234-E48F-6034-180F6DA59BA2}"/>
              </a:ext>
            </a:extLst>
          </p:cNvPr>
          <p:cNvSpPr txBox="1">
            <a:spLocks/>
          </p:cNvSpPr>
          <p:nvPr/>
        </p:nvSpPr>
        <p:spPr>
          <a:xfrm>
            <a:off x="838200" y="682624"/>
            <a:ext cx="1051560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 Evaluation</a:t>
            </a:r>
          </a:p>
        </p:txBody>
      </p:sp>
      <p:sp>
        <p:nvSpPr>
          <p:cNvPr id="7" name="Content Placeholder 2">
            <a:extLst>
              <a:ext uri="{FF2B5EF4-FFF2-40B4-BE49-F238E27FC236}">
                <a16:creationId xmlns:a16="http://schemas.microsoft.com/office/drawing/2014/main" id="{4B64B908-87A2-9EED-B6A7-AFC1C56329EA}"/>
              </a:ext>
            </a:extLst>
          </p:cNvPr>
          <p:cNvSpPr txBox="1">
            <a:spLocks/>
          </p:cNvSpPr>
          <p:nvPr/>
        </p:nvSpPr>
        <p:spPr>
          <a:xfrm>
            <a:off x="-1611085" y="334823"/>
            <a:ext cx="847428"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20" name="!!Point1">
            <a:extLst>
              <a:ext uri="{FF2B5EF4-FFF2-40B4-BE49-F238E27FC236}">
                <a16:creationId xmlns:a16="http://schemas.microsoft.com/office/drawing/2014/main" id="{7FE862B5-8429-7AFF-E688-F9BDB3F9539D}"/>
              </a:ext>
            </a:extLst>
          </p:cNvPr>
          <p:cNvSpPr txBox="1">
            <a:spLocks/>
          </p:cNvSpPr>
          <p:nvPr/>
        </p:nvSpPr>
        <p:spPr>
          <a:xfrm>
            <a:off x="838200" y="1828800"/>
            <a:ext cx="10991850" cy="1473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en-US" sz="3000" dirty="0"/>
              <a:t>“The church not as creating or constituting the canon, but merely as recognizing the authority of the canon that was already there” (p. 41)</a:t>
            </a:r>
          </a:p>
        </p:txBody>
      </p:sp>
      <p:sp>
        <p:nvSpPr>
          <p:cNvPr id="2" name="!!Body">
            <a:extLst>
              <a:ext uri="{FF2B5EF4-FFF2-40B4-BE49-F238E27FC236}">
                <a16:creationId xmlns:a16="http://schemas.microsoft.com/office/drawing/2014/main" id="{AB040B94-93AE-59A0-D364-59693D380C0E}"/>
              </a:ext>
            </a:extLst>
          </p:cNvPr>
          <p:cNvSpPr txBox="1">
            <a:spLocks/>
          </p:cNvSpPr>
          <p:nvPr/>
        </p:nvSpPr>
        <p:spPr>
          <a:xfrm>
            <a:off x="838200" y="3126740"/>
            <a:ext cx="10991850" cy="3657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3000" dirty="0"/>
              <a:t>“The problem, then, is not that the church plays a role in identifying canonical books (Protestants would agree with this), but the Catholic insistence that it plays the </a:t>
            </a:r>
            <a:r>
              <a:rPr lang="en-US" sz="3000" i="1" dirty="0"/>
              <a:t>only</a:t>
            </a:r>
            <a:r>
              <a:rPr lang="en-US" sz="3000" dirty="0"/>
              <a:t> and </a:t>
            </a:r>
            <a:r>
              <a:rPr lang="en-US" sz="3000" i="1" dirty="0"/>
              <a:t>definitive</a:t>
            </a:r>
            <a:r>
              <a:rPr lang="en-US" sz="3000" dirty="0"/>
              <a:t> role” (p. 44)</a:t>
            </a:r>
          </a:p>
          <a:p>
            <a:pPr marL="914400" lvl="1" indent="-457200">
              <a:buFont typeface="Arial"/>
              <a:buChar char="•"/>
            </a:pPr>
            <a:endParaRPr lang="en-US" sz="3000" dirty="0"/>
          </a:p>
        </p:txBody>
      </p:sp>
    </p:spTree>
    <p:extLst>
      <p:ext uri="{BB962C8B-B14F-4D97-AF65-F5344CB8AC3E}">
        <p14:creationId xmlns:p14="http://schemas.microsoft.com/office/powerpoint/2010/main" val="15677958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7DD7B-02D9-DC13-B94C-F9520240F7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5D20C3-B83D-417F-543E-7E1CB0A46B49}"/>
              </a:ext>
            </a:extLst>
          </p:cNvPr>
          <p:cNvSpPr>
            <a:spLocks noGrp="1"/>
          </p:cNvSpPr>
          <p:nvPr>
            <p:ph idx="1"/>
          </p:nvPr>
        </p:nvSpPr>
        <p:spPr>
          <a:xfrm>
            <a:off x="265715" y="-695602"/>
            <a:ext cx="10746802" cy="695602"/>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FAF8561D-7045-CFA5-68B7-9178C605F504}"/>
              </a:ext>
            </a:extLst>
          </p:cNvPr>
          <p:cNvSpPr txBox="1">
            <a:spLocks/>
          </p:cNvSpPr>
          <p:nvPr/>
        </p:nvSpPr>
        <p:spPr>
          <a:xfrm>
            <a:off x="838200" y="682624"/>
            <a:ext cx="1051560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 Evaluation</a:t>
            </a:r>
          </a:p>
        </p:txBody>
      </p:sp>
      <p:sp>
        <p:nvSpPr>
          <p:cNvPr id="7" name="Content Placeholder 2">
            <a:extLst>
              <a:ext uri="{FF2B5EF4-FFF2-40B4-BE49-F238E27FC236}">
                <a16:creationId xmlns:a16="http://schemas.microsoft.com/office/drawing/2014/main" id="{23BF3154-EB78-720C-A947-5619106E5E68}"/>
              </a:ext>
            </a:extLst>
          </p:cNvPr>
          <p:cNvSpPr txBox="1">
            <a:spLocks/>
          </p:cNvSpPr>
          <p:nvPr/>
        </p:nvSpPr>
        <p:spPr>
          <a:xfrm>
            <a:off x="-1611085" y="334823"/>
            <a:ext cx="847428"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20" name="!!Point1">
            <a:extLst>
              <a:ext uri="{FF2B5EF4-FFF2-40B4-BE49-F238E27FC236}">
                <a16:creationId xmlns:a16="http://schemas.microsoft.com/office/drawing/2014/main" id="{4A7CFB91-72B0-29E5-211F-34673F88D6A6}"/>
              </a:ext>
            </a:extLst>
          </p:cNvPr>
          <p:cNvSpPr txBox="1">
            <a:spLocks/>
          </p:cNvSpPr>
          <p:nvPr/>
        </p:nvSpPr>
        <p:spPr>
          <a:xfrm>
            <a:off x="838200" y="1670538"/>
            <a:ext cx="11353800" cy="51874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2"/>
            </a:pPr>
            <a:r>
              <a:rPr lang="en-US" sz="3200" dirty="0"/>
              <a:t>“The church not simply as the means by which the canon is infallibly recognized (although it does affirm this), but as, in some sense, the foundation or the grounds for the canon” (p. 42)</a:t>
            </a:r>
          </a:p>
          <a:p>
            <a:pPr marL="971550" lvl="1" indent="-514350">
              <a:buFont typeface="Arial"/>
              <a:buChar char="•"/>
            </a:pPr>
            <a:r>
              <a:rPr lang="en-US" sz="2800" dirty="0"/>
              <a:t>But the apostolic teachings are the foundation of the church, not the other way around (cf. Eph 2:20)!</a:t>
            </a:r>
          </a:p>
          <a:p>
            <a:pPr marL="971550" lvl="1" indent="-514350">
              <a:buFont typeface="Arial"/>
              <a:buChar char="•"/>
            </a:pPr>
            <a:r>
              <a:rPr lang="en-US" sz="2800" dirty="0"/>
              <a:t>Chapman: “The biblical canon is not a creation of the church, the church is instead a creation of the biblical canon” (qtd on p. 44)</a:t>
            </a:r>
          </a:p>
          <a:p>
            <a:pPr marL="971550" lvl="1" indent="-514350">
              <a:buFont typeface="Arial"/>
              <a:buChar char="•"/>
            </a:pPr>
            <a:r>
              <a:rPr lang="en-US" sz="2800" dirty="0"/>
              <a:t>Paul’s writings were authoritative before the RCC! (cf. 1 Thess 2:13, Gal 1:1-24, 2 Peter 3:16)</a:t>
            </a:r>
          </a:p>
          <a:p>
            <a:pPr marL="971550" lvl="1" indent="-514350">
              <a:buFont typeface="Arial"/>
              <a:buChar char="•"/>
            </a:pPr>
            <a:r>
              <a:rPr lang="en-US" sz="2800" dirty="0"/>
              <a:t>The Council of Trent (1546) was the RCC’s official declaration of the canon. No canon before that?</a:t>
            </a:r>
          </a:p>
        </p:txBody>
      </p:sp>
      <p:sp>
        <p:nvSpPr>
          <p:cNvPr id="2" name="!!Body">
            <a:extLst>
              <a:ext uri="{FF2B5EF4-FFF2-40B4-BE49-F238E27FC236}">
                <a16:creationId xmlns:a16="http://schemas.microsoft.com/office/drawing/2014/main" id="{852CB914-68C9-4128-0A16-8C6175805B6C}"/>
              </a:ext>
            </a:extLst>
          </p:cNvPr>
          <p:cNvSpPr txBox="1">
            <a:spLocks/>
          </p:cNvSpPr>
          <p:nvPr/>
        </p:nvSpPr>
        <p:spPr>
          <a:xfrm>
            <a:off x="838200" y="3126740"/>
            <a:ext cx="10991850" cy="3657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Arial"/>
              <a:buChar char="•"/>
            </a:pPr>
            <a:endParaRPr lang="en-US" sz="3000" dirty="0"/>
          </a:p>
        </p:txBody>
      </p:sp>
    </p:spTree>
    <p:extLst>
      <p:ext uri="{BB962C8B-B14F-4D97-AF65-F5344CB8AC3E}">
        <p14:creationId xmlns:p14="http://schemas.microsoft.com/office/powerpoint/2010/main" val="1142178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FB7BF-0A82-CC3F-8C33-25641D272B0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89DAA7-2FC3-A73D-444D-75D1382B9E5A}"/>
              </a:ext>
            </a:extLst>
          </p:cNvPr>
          <p:cNvSpPr>
            <a:spLocks noGrp="1"/>
          </p:cNvSpPr>
          <p:nvPr>
            <p:ph idx="1"/>
          </p:nvPr>
        </p:nvSpPr>
        <p:spPr>
          <a:xfrm>
            <a:off x="265715" y="-695602"/>
            <a:ext cx="10746802" cy="695602"/>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B9CCAC2C-1AE3-0C61-22AD-45C088A1DA5D}"/>
              </a:ext>
            </a:extLst>
          </p:cNvPr>
          <p:cNvSpPr txBox="1">
            <a:spLocks/>
          </p:cNvSpPr>
          <p:nvPr/>
        </p:nvSpPr>
        <p:spPr>
          <a:xfrm>
            <a:off x="838200" y="682624"/>
            <a:ext cx="1051560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 Evaluation</a:t>
            </a:r>
          </a:p>
        </p:txBody>
      </p:sp>
      <p:sp>
        <p:nvSpPr>
          <p:cNvPr id="7" name="Content Placeholder 2">
            <a:extLst>
              <a:ext uri="{FF2B5EF4-FFF2-40B4-BE49-F238E27FC236}">
                <a16:creationId xmlns:a16="http://schemas.microsoft.com/office/drawing/2014/main" id="{C6E1E810-5A47-C4A9-BBB9-EA1F077EAB98}"/>
              </a:ext>
            </a:extLst>
          </p:cNvPr>
          <p:cNvSpPr txBox="1">
            <a:spLocks/>
          </p:cNvSpPr>
          <p:nvPr/>
        </p:nvSpPr>
        <p:spPr>
          <a:xfrm>
            <a:off x="-1611085" y="334823"/>
            <a:ext cx="847428"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20" name="!!Point1">
            <a:extLst>
              <a:ext uri="{FF2B5EF4-FFF2-40B4-BE49-F238E27FC236}">
                <a16:creationId xmlns:a16="http://schemas.microsoft.com/office/drawing/2014/main" id="{9A3531B1-8D0D-3F5C-148F-EDEE81D216B0}"/>
              </a:ext>
            </a:extLst>
          </p:cNvPr>
          <p:cNvSpPr txBox="1">
            <a:spLocks/>
          </p:cNvSpPr>
          <p:nvPr/>
        </p:nvSpPr>
        <p:spPr>
          <a:xfrm>
            <a:off x="838200" y="1670538"/>
            <a:ext cx="11353800" cy="51874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2"/>
            </a:pPr>
            <a:r>
              <a:rPr lang="en-US" sz="3200" dirty="0"/>
              <a:t>“The church not simply as the means by which the canon is infallibly recognized (although it does affirm this), but as, in some sense, the foundation or the grounds for the canon” (p. 42)</a:t>
            </a:r>
          </a:p>
          <a:p>
            <a:pPr marL="971550" lvl="1" indent="-514350">
              <a:buFont typeface="Arial"/>
              <a:buChar char="•"/>
            </a:pPr>
            <a:r>
              <a:rPr lang="en-US" sz="2800" dirty="0"/>
              <a:t>J. I. Parker: “The Church no more gave us the New Testament canon than Sir Isaac Newton gave us the force of gravity. God gave us gravity … Newton did not create gravity but recognized it” (qtd on p. 45)</a:t>
            </a:r>
          </a:p>
        </p:txBody>
      </p:sp>
      <p:sp>
        <p:nvSpPr>
          <p:cNvPr id="2" name="!!Body">
            <a:extLst>
              <a:ext uri="{FF2B5EF4-FFF2-40B4-BE49-F238E27FC236}">
                <a16:creationId xmlns:a16="http://schemas.microsoft.com/office/drawing/2014/main" id="{A5A19F1F-3341-1DF2-830F-6F4A3DD3AB76}"/>
              </a:ext>
            </a:extLst>
          </p:cNvPr>
          <p:cNvSpPr txBox="1">
            <a:spLocks/>
          </p:cNvSpPr>
          <p:nvPr/>
        </p:nvSpPr>
        <p:spPr>
          <a:xfrm>
            <a:off x="838200" y="3126740"/>
            <a:ext cx="10991850" cy="3657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Arial"/>
              <a:buChar char="•"/>
            </a:pPr>
            <a:endParaRPr lang="en-US" sz="3000" dirty="0"/>
          </a:p>
        </p:txBody>
      </p:sp>
    </p:spTree>
    <p:extLst>
      <p:ext uri="{BB962C8B-B14F-4D97-AF65-F5344CB8AC3E}">
        <p14:creationId xmlns:p14="http://schemas.microsoft.com/office/powerpoint/2010/main" val="9648805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B06CE-58B1-D63B-0A92-3D01B9886E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14A3AB-34F8-BF3F-4AA8-D4651CCC30A2}"/>
              </a:ext>
            </a:extLst>
          </p:cNvPr>
          <p:cNvSpPr>
            <a:spLocks noGrp="1"/>
          </p:cNvSpPr>
          <p:nvPr>
            <p:ph idx="1"/>
          </p:nvPr>
        </p:nvSpPr>
        <p:spPr>
          <a:xfrm>
            <a:off x="265715" y="-695602"/>
            <a:ext cx="10746802" cy="695602"/>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BEA52B45-3090-0046-B87A-09577C32D951}"/>
              </a:ext>
            </a:extLst>
          </p:cNvPr>
          <p:cNvSpPr txBox="1">
            <a:spLocks/>
          </p:cNvSpPr>
          <p:nvPr/>
        </p:nvSpPr>
        <p:spPr>
          <a:xfrm>
            <a:off x="838200" y="682624"/>
            <a:ext cx="1051560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 Evaluation</a:t>
            </a:r>
          </a:p>
        </p:txBody>
      </p:sp>
      <p:sp>
        <p:nvSpPr>
          <p:cNvPr id="7" name="Content Placeholder 2">
            <a:extLst>
              <a:ext uri="{FF2B5EF4-FFF2-40B4-BE49-F238E27FC236}">
                <a16:creationId xmlns:a16="http://schemas.microsoft.com/office/drawing/2014/main" id="{4351F9D6-04BF-A545-2179-2950533F04CB}"/>
              </a:ext>
            </a:extLst>
          </p:cNvPr>
          <p:cNvSpPr txBox="1">
            <a:spLocks/>
          </p:cNvSpPr>
          <p:nvPr/>
        </p:nvSpPr>
        <p:spPr>
          <a:xfrm>
            <a:off x="-1611085" y="334823"/>
            <a:ext cx="847428"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20" name="!!Point1">
            <a:extLst>
              <a:ext uri="{FF2B5EF4-FFF2-40B4-BE49-F238E27FC236}">
                <a16:creationId xmlns:a16="http://schemas.microsoft.com/office/drawing/2014/main" id="{D6E53372-8063-B980-787B-7404945177D8}"/>
              </a:ext>
            </a:extLst>
          </p:cNvPr>
          <p:cNvSpPr txBox="1">
            <a:spLocks/>
          </p:cNvSpPr>
          <p:nvPr/>
        </p:nvSpPr>
        <p:spPr>
          <a:xfrm>
            <a:off x="838200" y="1670538"/>
            <a:ext cx="11353800" cy="51874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400" dirty="0"/>
              <a:t>The problem with RCM: confuses the instruments God used to produce the Bible (humans) and God’s work to make the canon</a:t>
            </a:r>
          </a:p>
          <a:p>
            <a:r>
              <a:rPr lang="en-US" sz="3400" dirty="0"/>
              <a:t>The NT canon is not the production of the church but of God, recognized by the church</a:t>
            </a:r>
          </a:p>
        </p:txBody>
      </p:sp>
      <p:sp>
        <p:nvSpPr>
          <p:cNvPr id="2" name="!!Body">
            <a:extLst>
              <a:ext uri="{FF2B5EF4-FFF2-40B4-BE49-F238E27FC236}">
                <a16:creationId xmlns:a16="http://schemas.microsoft.com/office/drawing/2014/main" id="{A834B9C4-D830-76D4-0134-D857C212732B}"/>
              </a:ext>
            </a:extLst>
          </p:cNvPr>
          <p:cNvSpPr txBox="1">
            <a:spLocks/>
          </p:cNvSpPr>
          <p:nvPr/>
        </p:nvSpPr>
        <p:spPr>
          <a:xfrm>
            <a:off x="838200" y="3126740"/>
            <a:ext cx="10991850" cy="3657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Arial"/>
              <a:buChar char="•"/>
            </a:pPr>
            <a:endParaRPr lang="en-US" sz="3000" dirty="0"/>
          </a:p>
        </p:txBody>
      </p:sp>
    </p:spTree>
    <p:extLst>
      <p:ext uri="{BB962C8B-B14F-4D97-AF65-F5344CB8AC3E}">
        <p14:creationId xmlns:p14="http://schemas.microsoft.com/office/powerpoint/2010/main" val="1931745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3FE6D-CDD3-6B1A-FE74-2CD08C8CD6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9BB2B4-D4CD-07F1-5D88-70027F6ADE3E}"/>
              </a:ext>
            </a:extLst>
          </p:cNvPr>
          <p:cNvSpPr>
            <a:spLocks noGrp="1"/>
          </p:cNvSpPr>
          <p:nvPr>
            <p:ph idx="1"/>
          </p:nvPr>
        </p:nvSpPr>
        <p:spPr>
          <a:xfrm>
            <a:off x="265715" y="-695602"/>
            <a:ext cx="10746802" cy="695602"/>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AECF0E76-9FD2-1CDF-9E32-D9C46A9B7F01}"/>
              </a:ext>
            </a:extLst>
          </p:cNvPr>
          <p:cNvSpPr txBox="1">
            <a:spLocks/>
          </p:cNvSpPr>
          <p:nvPr/>
        </p:nvSpPr>
        <p:spPr>
          <a:xfrm>
            <a:off x="838200" y="682624"/>
            <a:ext cx="1051560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 Evaluation</a:t>
            </a:r>
          </a:p>
        </p:txBody>
      </p:sp>
      <p:sp>
        <p:nvSpPr>
          <p:cNvPr id="7" name="Content Placeholder 2">
            <a:extLst>
              <a:ext uri="{FF2B5EF4-FFF2-40B4-BE49-F238E27FC236}">
                <a16:creationId xmlns:a16="http://schemas.microsoft.com/office/drawing/2014/main" id="{795AA45A-330C-FAED-6378-B97094CE20B5}"/>
              </a:ext>
            </a:extLst>
          </p:cNvPr>
          <p:cNvSpPr txBox="1">
            <a:spLocks/>
          </p:cNvSpPr>
          <p:nvPr/>
        </p:nvSpPr>
        <p:spPr>
          <a:xfrm>
            <a:off x="-1611085" y="334823"/>
            <a:ext cx="847428"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20" name="!!Point1">
            <a:extLst>
              <a:ext uri="{FF2B5EF4-FFF2-40B4-BE49-F238E27FC236}">
                <a16:creationId xmlns:a16="http://schemas.microsoft.com/office/drawing/2014/main" id="{D57C648E-3728-44F5-0121-5B9368490777}"/>
              </a:ext>
            </a:extLst>
          </p:cNvPr>
          <p:cNvSpPr txBox="1">
            <a:spLocks/>
          </p:cNvSpPr>
          <p:nvPr/>
        </p:nvSpPr>
        <p:spPr>
          <a:xfrm>
            <a:off x="838200" y="1670538"/>
            <a:ext cx="11353800" cy="51874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dirty="0"/>
              <a:t>Where does RCC get its authority from?</a:t>
            </a:r>
          </a:p>
          <a:p>
            <a:pPr marL="1028700" lvl="1" indent="-571500">
              <a:buAutoNum type="arabicPeriod"/>
            </a:pPr>
            <a:r>
              <a:rPr lang="en-US" sz="4000" dirty="0"/>
              <a:t>From the Scriptures? That is circular reasoning!</a:t>
            </a:r>
          </a:p>
          <a:p>
            <a:pPr marL="1028700" lvl="1" indent="-571500">
              <a:buAutoNum type="arabicPeriod"/>
            </a:pPr>
            <a:r>
              <a:rPr lang="en-US" sz="4000" dirty="0"/>
              <a:t>From history? But those aren’t </a:t>
            </a:r>
            <a:r>
              <a:rPr lang="en-US" sz="4000" i="1" dirty="0"/>
              <a:t>infallible</a:t>
            </a:r>
            <a:r>
              <a:rPr lang="en-US" sz="4000" dirty="0"/>
              <a:t> grounds</a:t>
            </a:r>
          </a:p>
          <a:p>
            <a:pPr marL="1028700" lvl="1" indent="-571500">
              <a:buAutoNum type="arabicPeriod"/>
            </a:pPr>
            <a:r>
              <a:rPr lang="en-US" sz="4000" dirty="0"/>
              <a:t>Only logical answer: ”the church’s authority is self-authenticating and needs no external authority to validate it” (p. 47)</a:t>
            </a:r>
          </a:p>
        </p:txBody>
      </p:sp>
      <p:sp>
        <p:nvSpPr>
          <p:cNvPr id="2" name="!!Body">
            <a:extLst>
              <a:ext uri="{FF2B5EF4-FFF2-40B4-BE49-F238E27FC236}">
                <a16:creationId xmlns:a16="http://schemas.microsoft.com/office/drawing/2014/main" id="{027842DE-2A75-F996-AE27-F46F617C98E0}"/>
              </a:ext>
            </a:extLst>
          </p:cNvPr>
          <p:cNvSpPr txBox="1">
            <a:spLocks/>
          </p:cNvSpPr>
          <p:nvPr/>
        </p:nvSpPr>
        <p:spPr>
          <a:xfrm>
            <a:off x="838200" y="3126740"/>
            <a:ext cx="10991850" cy="3657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Arial"/>
              <a:buChar char="•"/>
            </a:pPr>
            <a:endParaRPr lang="en-US" sz="3000" dirty="0"/>
          </a:p>
        </p:txBody>
      </p:sp>
    </p:spTree>
    <p:extLst>
      <p:ext uri="{BB962C8B-B14F-4D97-AF65-F5344CB8AC3E}">
        <p14:creationId xmlns:p14="http://schemas.microsoft.com/office/powerpoint/2010/main" val="211640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B759D-A945-3B94-F1B9-C1A6835881B1}"/>
            </a:ext>
          </a:extLst>
        </p:cNvPr>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7A717330-8020-4D25-43C2-B912643114FC}"/>
              </a:ext>
            </a:extLst>
          </p:cNvPr>
          <p:cNvSpPr txBox="1">
            <a:spLocks/>
          </p:cNvSpPr>
          <p:nvPr/>
        </p:nvSpPr>
        <p:spPr>
          <a:xfrm>
            <a:off x="838200" y="689474"/>
            <a:ext cx="1051560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Evaluation</a:t>
            </a:r>
          </a:p>
        </p:txBody>
      </p:sp>
      <p:sp>
        <p:nvSpPr>
          <p:cNvPr id="3" name="Content Placeholder 2">
            <a:extLst>
              <a:ext uri="{FF2B5EF4-FFF2-40B4-BE49-F238E27FC236}">
                <a16:creationId xmlns:a16="http://schemas.microsoft.com/office/drawing/2014/main" id="{B9B0BE02-8299-11E5-D186-C1940722BAC0}"/>
              </a:ext>
            </a:extLst>
          </p:cNvPr>
          <p:cNvSpPr>
            <a:spLocks noGrp="1"/>
          </p:cNvSpPr>
          <p:nvPr>
            <p:ph idx="1"/>
          </p:nvPr>
        </p:nvSpPr>
        <p:spPr>
          <a:xfrm>
            <a:off x="265715" y="-695602"/>
            <a:ext cx="10746802" cy="695602"/>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54076AF6-5914-A00E-DB88-10FC3A368DE9}"/>
              </a:ext>
            </a:extLst>
          </p:cNvPr>
          <p:cNvSpPr txBox="1">
            <a:spLocks/>
          </p:cNvSpPr>
          <p:nvPr/>
        </p:nvSpPr>
        <p:spPr>
          <a:xfrm>
            <a:off x="838200" y="682624"/>
            <a:ext cx="1051560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393AEC1A-6909-698F-A312-E799B47F1779}"/>
              </a:ext>
            </a:extLst>
          </p:cNvPr>
          <p:cNvSpPr txBox="1">
            <a:spLocks/>
          </p:cNvSpPr>
          <p:nvPr/>
        </p:nvSpPr>
        <p:spPr>
          <a:xfrm>
            <a:off x="-1611085" y="334823"/>
            <a:ext cx="847428"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2" name="!!Body">
            <a:extLst>
              <a:ext uri="{FF2B5EF4-FFF2-40B4-BE49-F238E27FC236}">
                <a16:creationId xmlns:a16="http://schemas.microsoft.com/office/drawing/2014/main" id="{B71BEE0C-B4B9-FB93-2611-FB52377A507E}"/>
              </a:ext>
            </a:extLst>
          </p:cNvPr>
          <p:cNvSpPr txBox="1">
            <a:spLocks/>
          </p:cNvSpPr>
          <p:nvPr/>
        </p:nvSpPr>
        <p:spPr>
          <a:xfrm>
            <a:off x="838200" y="3126740"/>
            <a:ext cx="10991850" cy="3657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Arial"/>
              <a:buChar char="•"/>
            </a:pPr>
            <a:endParaRPr lang="en-US" sz="3000" dirty="0"/>
          </a:p>
        </p:txBody>
      </p:sp>
      <p:pic>
        <p:nvPicPr>
          <p:cNvPr id="4" name="Picture 3">
            <a:extLst>
              <a:ext uri="{FF2B5EF4-FFF2-40B4-BE49-F238E27FC236}">
                <a16:creationId xmlns:a16="http://schemas.microsoft.com/office/drawing/2014/main" id="{75EBD999-537B-30DF-82D5-C49444E5C592}"/>
              </a:ext>
            </a:extLst>
          </p:cNvPr>
          <p:cNvPicPr>
            <a:picLocks noChangeAspect="1"/>
          </p:cNvPicPr>
          <p:nvPr/>
        </p:nvPicPr>
        <p:blipFill>
          <a:blip r:embed="rId2"/>
          <a:srcRect/>
          <a:stretch>
            <a:fillRect/>
          </a:stretch>
        </p:blipFill>
        <p:spPr>
          <a:xfrm>
            <a:off x="-104329" y="2378074"/>
            <a:ext cx="6200329" cy="3460649"/>
          </a:xfrm>
          <a:prstGeom prst="rect">
            <a:avLst/>
          </a:prstGeom>
        </p:spPr>
      </p:pic>
      <p:grpSp>
        <p:nvGrpSpPr>
          <p:cNvPr id="9" name="Stick Figure">
            <a:extLst>
              <a:ext uri="{FF2B5EF4-FFF2-40B4-BE49-F238E27FC236}">
                <a16:creationId xmlns:a16="http://schemas.microsoft.com/office/drawing/2014/main" id="{BB6B92DF-46AC-30CC-5A78-90CB9F3DF6D0}"/>
              </a:ext>
            </a:extLst>
          </p:cNvPr>
          <p:cNvGrpSpPr/>
          <p:nvPr/>
        </p:nvGrpSpPr>
        <p:grpSpPr>
          <a:xfrm>
            <a:off x="12017539" y="3429000"/>
            <a:ext cx="2542850" cy="2423653"/>
            <a:chOff x="7364164" y="3159788"/>
            <a:chExt cx="2542851" cy="2423654"/>
          </a:xfrm>
        </p:grpSpPr>
        <p:pic>
          <p:nvPicPr>
            <p:cNvPr id="5" name="Picture 4" descr=", AI generated">
              <a:extLst>
                <a:ext uri="{FF2B5EF4-FFF2-40B4-BE49-F238E27FC236}">
                  <a16:creationId xmlns:a16="http://schemas.microsoft.com/office/drawing/2014/main" id="{D9D11BDE-4907-A28E-F060-43EB51AD96E9}"/>
                </a:ext>
              </a:extLst>
            </p:cNvPr>
            <p:cNvPicPr>
              <a:picLocks noChangeAspect="1"/>
            </p:cNvPicPr>
            <p:nvPr/>
          </p:nvPicPr>
          <p:blipFill>
            <a:blip r:embed="rId3"/>
            <a:srcRect/>
            <a:stretch>
              <a:fillRect/>
            </a:stretch>
          </p:blipFill>
          <p:spPr>
            <a:xfrm>
              <a:off x="7364164" y="3159788"/>
              <a:ext cx="2542851" cy="2423654"/>
            </a:xfrm>
            <a:prstGeom prst="rect">
              <a:avLst/>
            </a:prstGeom>
            <a:ln>
              <a:solidFill>
                <a:schemeClr val="bg1"/>
              </a:solidFill>
            </a:ln>
          </p:spPr>
        </p:pic>
        <p:sp>
          <p:nvSpPr>
            <p:cNvPr id="8" name="Scroll Cover">
              <a:extLst>
                <a:ext uri="{FF2B5EF4-FFF2-40B4-BE49-F238E27FC236}">
                  <a16:creationId xmlns:a16="http://schemas.microsoft.com/office/drawing/2014/main" id="{B50E607B-8B3B-2946-BCCB-09BDEBD6707C}"/>
                </a:ext>
              </a:extLst>
            </p:cNvPr>
            <p:cNvSpPr/>
            <p:nvPr/>
          </p:nvSpPr>
          <p:spPr>
            <a:xfrm>
              <a:off x="7696200" y="3843020"/>
              <a:ext cx="704850" cy="74549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Arm Cover"/>
            <p:cNvSpPr/>
            <p:nvPr/>
          </p:nvSpPr>
          <p:spPr>
            <a:xfrm>
              <a:off x="8191500" y="3855720"/>
              <a:ext cx="532130" cy="18415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Left Hand">
              <a:extLst>
                <a:ext uri="{FF2B5EF4-FFF2-40B4-BE49-F238E27FC236}">
                  <a16:creationId xmlns:a16="http://schemas.microsoft.com/office/drawing/2014/main" id="{4D0181B4-D2E8-2549-85D9-BBFBF6E78E59}"/>
                </a:ext>
              </a:extLst>
            </p:cNvPr>
            <p:cNvSpPr/>
            <p:nvPr/>
          </p:nvSpPr>
          <p:spPr>
            <a:xfrm>
              <a:off x="8394700" y="4470400"/>
              <a:ext cx="95250" cy="152400"/>
            </a:xfrm>
            <a:prstGeom prst="ellipse">
              <a:avLst/>
            </a:prstGeom>
            <a:solidFill>
              <a:srgbClr val="0000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Left Arm"/>
            <p:cNvSpPr/>
            <p:nvPr/>
          </p:nvSpPr>
          <p:spPr>
            <a:xfrm>
              <a:off x="8449310" y="3873500"/>
              <a:ext cx="295910" cy="615950"/>
            </a:xfrm>
            <a:custGeom>
              <a:avLst/>
              <a:gdLst/>
              <a:ahLst/>
              <a:cxnLst/>
              <a:rect l="0" t="0" r="r" b="b"/>
              <a:pathLst>
                <a:path w="295910" h="615950" fill="none">
                  <a:moveTo>
                    <a:pt x="295910" y="0"/>
                  </a:moveTo>
                  <a:quadBezTo>
                    <a:pt x="63500" y="203200"/>
                    <a:pt x="12700" y="615950"/>
                  </a:quadBezTo>
                </a:path>
              </a:pathLst>
            </a:custGeom>
            <a:noFill/>
            <a:ln w="57150" cap="rnd">
              <a:solidFill>
                <a:srgbClr val="000000"/>
              </a:solidFill>
              <a:round/>
            </a:ln>
          </p:spPr>
          <p:txBody>
            <a:bodyPr/>
            <a:lstStyle/>
            <a:p>
              <a:endParaRPr lang="en-US"/>
            </a:p>
          </p:txBody>
        </p:sp>
      </p:grpSp>
      <p:sp>
        <p:nvSpPr>
          <p:cNvPr id="10" name="Oval Callout 9">
            <a:extLst>
              <a:ext uri="{FF2B5EF4-FFF2-40B4-BE49-F238E27FC236}">
                <a16:creationId xmlns:a16="http://schemas.microsoft.com/office/drawing/2014/main" id="{A4A71393-34B2-7AB3-EF2A-F7EE1A726D46}"/>
              </a:ext>
            </a:extLst>
          </p:cNvPr>
          <p:cNvSpPr/>
          <p:nvPr/>
        </p:nvSpPr>
        <p:spPr>
          <a:xfrm flipH="1">
            <a:off x="3900622" y="1162450"/>
            <a:ext cx="4867005" cy="2308268"/>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“Who decides what is 'Scripture’”?</a:t>
            </a:r>
          </a:p>
        </p:txBody>
      </p:sp>
      <p:sp>
        <p:nvSpPr>
          <p:cNvPr id="12" name="Oval Callout 11">
            <a:extLst>
              <a:ext uri="{FF2B5EF4-FFF2-40B4-BE49-F238E27FC236}">
                <a16:creationId xmlns:a16="http://schemas.microsoft.com/office/drawing/2014/main" id="{06ACC894-8E37-4BB1-3368-E2F75F23F2CA}"/>
              </a:ext>
            </a:extLst>
          </p:cNvPr>
          <p:cNvSpPr/>
          <p:nvPr/>
        </p:nvSpPr>
        <p:spPr>
          <a:xfrm flipH="1">
            <a:off x="3994365" y="1162450"/>
            <a:ext cx="4867005" cy="2308268"/>
          </a:xfrm>
          <a:prstGeom prst="wedgeEllipseCallout">
            <a:avLst>
              <a:gd name="adj1" fmla="val 59484"/>
              <a:gd name="adj2" fmla="val 34878"/>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“We do!”</a:t>
            </a:r>
          </a:p>
        </p:txBody>
      </p:sp>
      <p:sp>
        <p:nvSpPr>
          <p:cNvPr id="13" name="Oval Callout 12">
            <a:extLst>
              <a:ext uri="{FF2B5EF4-FFF2-40B4-BE49-F238E27FC236}">
                <a16:creationId xmlns:a16="http://schemas.microsoft.com/office/drawing/2014/main" id="{12138D12-4D4D-3213-F19F-9CD6712B3071}"/>
              </a:ext>
            </a:extLst>
          </p:cNvPr>
          <p:cNvSpPr/>
          <p:nvPr/>
        </p:nvSpPr>
        <p:spPr>
          <a:xfrm flipH="1">
            <a:off x="3947493" y="1223940"/>
            <a:ext cx="4867005" cy="2308268"/>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“By what authority?”</a:t>
            </a:r>
          </a:p>
        </p:txBody>
      </p:sp>
      <p:sp>
        <p:nvSpPr>
          <p:cNvPr id="14" name="Oval Callout 13">
            <a:extLst>
              <a:ext uri="{FF2B5EF4-FFF2-40B4-BE49-F238E27FC236}">
                <a16:creationId xmlns:a16="http://schemas.microsoft.com/office/drawing/2014/main" id="{119D979F-8714-BC61-B229-8C57737DF852}"/>
              </a:ext>
            </a:extLst>
          </p:cNvPr>
          <p:cNvSpPr/>
          <p:nvPr/>
        </p:nvSpPr>
        <p:spPr>
          <a:xfrm flipH="1">
            <a:off x="4181854" y="1272402"/>
            <a:ext cx="4867005" cy="2308268"/>
          </a:xfrm>
          <a:prstGeom prst="wedgeEllipseCallout">
            <a:avLst>
              <a:gd name="adj1" fmla="val 63617"/>
              <a:gd name="adj2" fmla="val 29332"/>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“Ours!”</a:t>
            </a:r>
          </a:p>
        </p:txBody>
      </p:sp>
    </p:spTree>
    <p:extLst>
      <p:ext uri="{BB962C8B-B14F-4D97-AF65-F5344CB8AC3E}">
        <p14:creationId xmlns:p14="http://schemas.microsoft.com/office/powerpoint/2010/main" val="4012819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651 -0.0206 L -0.34596 -0.0206 " pathEditMode="relative" ptsTypes="AA">
                                      <p:cBhvr>
                                        <p:cTn id="6" dur="2000" fill="hold"/>
                                        <p:tgtEl>
                                          <p:spTgt spid="9"/>
                                        </p:tgtEl>
                                        <p:attrNameLst>
                                          <p:attrName>ppt_x</p:attrName>
                                          <p:attrName>ppt_y</p:attrName>
                                        </p:attrNameLst>
                                      </p:cBhvr>
                                    </p:animMotion>
                                  </p:childTnLst>
                                </p:cTn>
                              </p:par>
                            </p:childTnLst>
                          </p:cTn>
                        </p:par>
                        <p:par>
                          <p:cTn id="7" fill="hold">
                            <p:stCondLst>
                              <p:cond delay="2000"/>
                            </p:stCondLst>
                            <p:childTnLst>
                              <p:par>
                                <p:cTn id="8" presetID="22" presetClass="entr" presetSubtype="4"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down)">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F4A5C-47A3-67B7-AB3B-FBB0F1E07B9A}"/>
            </a:ext>
          </a:extLst>
        </p:cNvPr>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4B4CE573-FEA0-9E92-D91C-3D33D8132FEC}"/>
              </a:ext>
            </a:extLst>
          </p:cNvPr>
          <p:cNvSpPr txBox="1">
            <a:spLocks/>
          </p:cNvSpPr>
          <p:nvPr/>
        </p:nvSpPr>
        <p:spPr>
          <a:xfrm>
            <a:off x="906780" y="138084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 Church Created</a:t>
            </a:r>
          </a:p>
        </p:txBody>
      </p:sp>
      <p:sp>
        <p:nvSpPr>
          <p:cNvPr id="15" name="Content Placeholder 2">
            <a:extLst>
              <a:ext uri="{FF2B5EF4-FFF2-40B4-BE49-F238E27FC236}">
                <a16:creationId xmlns:a16="http://schemas.microsoft.com/office/drawing/2014/main" id="{61C80DD6-6D53-0D87-37BE-F833327AEB28}"/>
              </a:ext>
            </a:extLst>
          </p:cNvPr>
          <p:cNvSpPr txBox="1">
            <a:spLocks/>
          </p:cNvSpPr>
          <p:nvPr/>
        </p:nvSpPr>
        <p:spPr>
          <a:xfrm>
            <a:off x="6615356" y="658117"/>
            <a:ext cx="10515600" cy="6956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Evaluation</a:t>
            </a:r>
          </a:p>
        </p:txBody>
      </p:sp>
      <p:sp>
        <p:nvSpPr>
          <p:cNvPr id="3" name="Content Placeholder 2">
            <a:extLst>
              <a:ext uri="{FF2B5EF4-FFF2-40B4-BE49-F238E27FC236}">
                <a16:creationId xmlns:a16="http://schemas.microsoft.com/office/drawing/2014/main" id="{5A3B97C1-A279-4DCD-9228-5D8683C83197}"/>
              </a:ext>
            </a:extLst>
          </p:cNvPr>
          <p:cNvSpPr>
            <a:spLocks noGrp="1"/>
          </p:cNvSpPr>
          <p:nvPr>
            <p:ph idx="1"/>
          </p:nvPr>
        </p:nvSpPr>
        <p:spPr>
          <a:xfrm>
            <a:off x="331470" y="681990"/>
            <a:ext cx="10746740" cy="695960"/>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5C33546E-18B6-96C1-CFED-42983E455646}"/>
              </a:ext>
            </a:extLst>
          </p:cNvPr>
          <p:cNvSpPr txBox="1">
            <a:spLocks/>
          </p:cNvSpPr>
          <p:nvPr/>
        </p:nvSpPr>
        <p:spPr>
          <a:xfrm>
            <a:off x="902969" y="137795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38909916-F8D9-FF10-5E53-BC81E05E4B33}"/>
              </a:ext>
            </a:extLst>
          </p:cNvPr>
          <p:cNvSpPr txBox="1">
            <a:spLocks/>
          </p:cNvSpPr>
          <p:nvPr/>
        </p:nvSpPr>
        <p:spPr>
          <a:xfrm>
            <a:off x="331470" y="1377950"/>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2" name="!!Body">
            <a:extLst>
              <a:ext uri="{FF2B5EF4-FFF2-40B4-BE49-F238E27FC236}">
                <a16:creationId xmlns:a16="http://schemas.microsoft.com/office/drawing/2014/main" id="{225F1061-B8F3-E485-9A16-64654C081542}"/>
              </a:ext>
            </a:extLst>
          </p:cNvPr>
          <p:cNvSpPr txBox="1">
            <a:spLocks/>
          </p:cNvSpPr>
          <p:nvPr/>
        </p:nvSpPr>
        <p:spPr>
          <a:xfrm>
            <a:off x="838200" y="9436100"/>
            <a:ext cx="10991850" cy="3657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Arial"/>
              <a:buChar char="•"/>
            </a:pPr>
            <a:endParaRPr lang="en-US" sz="3000" dirty="0"/>
          </a:p>
        </p:txBody>
      </p:sp>
      <p:pic>
        <p:nvPicPr>
          <p:cNvPr id="4" name="Picture 3">
            <a:extLst>
              <a:ext uri="{FF2B5EF4-FFF2-40B4-BE49-F238E27FC236}">
                <a16:creationId xmlns:a16="http://schemas.microsoft.com/office/drawing/2014/main" id="{3016A173-2FE3-5D5D-1327-30669DB45583}"/>
              </a:ext>
            </a:extLst>
          </p:cNvPr>
          <p:cNvPicPr>
            <a:picLocks noChangeAspect="1"/>
          </p:cNvPicPr>
          <p:nvPr/>
        </p:nvPicPr>
        <p:blipFill>
          <a:blip r:embed="rId2"/>
          <a:srcRect/>
          <a:stretch>
            <a:fillRect/>
          </a:stretch>
        </p:blipFill>
        <p:spPr>
          <a:xfrm>
            <a:off x="-104329" y="8687434"/>
            <a:ext cx="6200329" cy="3460649"/>
          </a:xfrm>
          <a:prstGeom prst="rect">
            <a:avLst/>
          </a:prstGeom>
        </p:spPr>
      </p:pic>
      <p:grpSp>
        <p:nvGrpSpPr>
          <p:cNvPr id="9" name="Stick Figure">
            <a:extLst>
              <a:ext uri="{FF2B5EF4-FFF2-40B4-BE49-F238E27FC236}">
                <a16:creationId xmlns:a16="http://schemas.microsoft.com/office/drawing/2014/main" id="{0F8F3FEC-FD03-5011-0682-A115B0D44097}"/>
              </a:ext>
            </a:extLst>
          </p:cNvPr>
          <p:cNvGrpSpPr/>
          <p:nvPr/>
        </p:nvGrpSpPr>
        <p:grpSpPr>
          <a:xfrm>
            <a:off x="12017539" y="9738360"/>
            <a:ext cx="2542850" cy="2423653"/>
            <a:chOff x="7364164" y="3159788"/>
            <a:chExt cx="2542851" cy="2423654"/>
          </a:xfrm>
        </p:grpSpPr>
        <p:pic>
          <p:nvPicPr>
            <p:cNvPr id="5" name="Picture 4" descr=", AI generated">
              <a:extLst>
                <a:ext uri="{FF2B5EF4-FFF2-40B4-BE49-F238E27FC236}">
                  <a16:creationId xmlns:a16="http://schemas.microsoft.com/office/drawing/2014/main" id="{3A6C1811-601B-5546-05D6-39CF32918C86}"/>
                </a:ext>
              </a:extLst>
            </p:cNvPr>
            <p:cNvPicPr>
              <a:picLocks noChangeAspect="1"/>
            </p:cNvPicPr>
            <p:nvPr/>
          </p:nvPicPr>
          <p:blipFill>
            <a:blip r:embed="rId3"/>
            <a:srcRect/>
            <a:stretch>
              <a:fillRect/>
            </a:stretch>
          </p:blipFill>
          <p:spPr>
            <a:xfrm>
              <a:off x="7364164" y="3159788"/>
              <a:ext cx="2542851" cy="2423654"/>
            </a:xfrm>
            <a:prstGeom prst="rect">
              <a:avLst/>
            </a:prstGeom>
            <a:ln>
              <a:solidFill>
                <a:schemeClr val="bg1"/>
              </a:solidFill>
            </a:ln>
          </p:spPr>
        </p:pic>
        <p:sp>
          <p:nvSpPr>
            <p:cNvPr id="8" name="Scroll Cover">
              <a:extLst>
                <a:ext uri="{FF2B5EF4-FFF2-40B4-BE49-F238E27FC236}">
                  <a16:creationId xmlns:a16="http://schemas.microsoft.com/office/drawing/2014/main" id="{430427C9-FF6F-6B3A-074A-4B4AA6637761}"/>
                </a:ext>
              </a:extLst>
            </p:cNvPr>
            <p:cNvSpPr/>
            <p:nvPr/>
          </p:nvSpPr>
          <p:spPr>
            <a:xfrm>
              <a:off x="7696200" y="3843020"/>
              <a:ext cx="704850" cy="74549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Arm Cover">
              <a:extLst>
                <a:ext uri="{FF2B5EF4-FFF2-40B4-BE49-F238E27FC236}">
                  <a16:creationId xmlns:a16="http://schemas.microsoft.com/office/drawing/2014/main" id="{67CB6039-58FF-E4E2-2A45-7ECECE081B00}"/>
                </a:ext>
              </a:extLst>
            </p:cNvPr>
            <p:cNvSpPr/>
            <p:nvPr/>
          </p:nvSpPr>
          <p:spPr>
            <a:xfrm>
              <a:off x="8191500" y="3855720"/>
              <a:ext cx="532130" cy="18415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Left Hand">
              <a:extLst>
                <a:ext uri="{FF2B5EF4-FFF2-40B4-BE49-F238E27FC236}">
                  <a16:creationId xmlns:a16="http://schemas.microsoft.com/office/drawing/2014/main" id="{70F06834-19A4-C267-F115-E7BC2F85BD07}"/>
                </a:ext>
              </a:extLst>
            </p:cNvPr>
            <p:cNvSpPr/>
            <p:nvPr/>
          </p:nvSpPr>
          <p:spPr>
            <a:xfrm>
              <a:off x="8394700" y="4470400"/>
              <a:ext cx="95250" cy="152400"/>
            </a:xfrm>
            <a:prstGeom prst="ellipse">
              <a:avLst/>
            </a:prstGeom>
            <a:solidFill>
              <a:srgbClr val="0000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Left Arm">
              <a:extLst>
                <a:ext uri="{FF2B5EF4-FFF2-40B4-BE49-F238E27FC236}">
                  <a16:creationId xmlns:a16="http://schemas.microsoft.com/office/drawing/2014/main" id="{4C8C6D11-D8FA-BAA4-A436-61BAD18066D2}"/>
                </a:ext>
              </a:extLst>
            </p:cNvPr>
            <p:cNvSpPr/>
            <p:nvPr/>
          </p:nvSpPr>
          <p:spPr>
            <a:xfrm>
              <a:off x="8449310" y="3873500"/>
              <a:ext cx="295910" cy="615950"/>
            </a:xfrm>
            <a:custGeom>
              <a:avLst/>
              <a:gdLst/>
              <a:ahLst/>
              <a:cxnLst/>
              <a:rect l="0" t="0" r="r" b="b"/>
              <a:pathLst>
                <a:path w="295910" h="615950" fill="none">
                  <a:moveTo>
                    <a:pt x="295910" y="0"/>
                  </a:moveTo>
                  <a:quadBezTo>
                    <a:pt x="63500" y="203200"/>
                    <a:pt x="12700" y="615950"/>
                  </a:quadBezTo>
                </a:path>
              </a:pathLst>
            </a:custGeom>
            <a:noFill/>
            <a:ln w="57150" cap="rnd">
              <a:solidFill>
                <a:srgbClr val="000000"/>
              </a:solidFill>
              <a:round/>
            </a:ln>
          </p:spPr>
          <p:txBody>
            <a:bodyPr/>
            <a:lstStyle/>
            <a:p>
              <a:endParaRPr lang="en-US"/>
            </a:p>
          </p:txBody>
        </p:sp>
      </p:grpSp>
      <p:sp>
        <p:nvSpPr>
          <p:cNvPr id="10" name="Oval Callout 9">
            <a:extLst>
              <a:ext uri="{FF2B5EF4-FFF2-40B4-BE49-F238E27FC236}">
                <a16:creationId xmlns:a16="http://schemas.microsoft.com/office/drawing/2014/main" id="{77523D90-608A-5E5E-CC43-ACF71F55D804}"/>
              </a:ext>
            </a:extLst>
          </p:cNvPr>
          <p:cNvSpPr/>
          <p:nvPr/>
        </p:nvSpPr>
        <p:spPr>
          <a:xfrm flipH="1">
            <a:off x="3900622" y="7471810"/>
            <a:ext cx="4867005" cy="2308268"/>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“Who decides what is 'Scripture’”?</a:t>
            </a:r>
          </a:p>
        </p:txBody>
      </p:sp>
      <p:sp>
        <p:nvSpPr>
          <p:cNvPr id="12" name="Oval Callout 11">
            <a:extLst>
              <a:ext uri="{FF2B5EF4-FFF2-40B4-BE49-F238E27FC236}">
                <a16:creationId xmlns:a16="http://schemas.microsoft.com/office/drawing/2014/main" id="{FACC246B-1D77-C45B-7CEF-EFEB106D146F}"/>
              </a:ext>
            </a:extLst>
          </p:cNvPr>
          <p:cNvSpPr/>
          <p:nvPr/>
        </p:nvSpPr>
        <p:spPr>
          <a:xfrm flipH="1">
            <a:off x="3994365" y="7471810"/>
            <a:ext cx="4867005" cy="2308268"/>
          </a:xfrm>
          <a:prstGeom prst="wedgeEllipseCallout">
            <a:avLst>
              <a:gd name="adj1" fmla="val 59484"/>
              <a:gd name="adj2" fmla="val 34878"/>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“We do!”</a:t>
            </a:r>
          </a:p>
        </p:txBody>
      </p:sp>
      <p:sp>
        <p:nvSpPr>
          <p:cNvPr id="13" name="Oval Callout 12">
            <a:extLst>
              <a:ext uri="{FF2B5EF4-FFF2-40B4-BE49-F238E27FC236}">
                <a16:creationId xmlns:a16="http://schemas.microsoft.com/office/drawing/2014/main" id="{0C7154D5-1903-9ED1-59DA-105C325A6105}"/>
              </a:ext>
            </a:extLst>
          </p:cNvPr>
          <p:cNvSpPr/>
          <p:nvPr/>
        </p:nvSpPr>
        <p:spPr>
          <a:xfrm flipH="1">
            <a:off x="3947493" y="7533300"/>
            <a:ext cx="4867005" cy="2308268"/>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“By what authority?”</a:t>
            </a:r>
          </a:p>
        </p:txBody>
      </p:sp>
      <p:sp>
        <p:nvSpPr>
          <p:cNvPr id="14" name="Oval Callout 13">
            <a:extLst>
              <a:ext uri="{FF2B5EF4-FFF2-40B4-BE49-F238E27FC236}">
                <a16:creationId xmlns:a16="http://schemas.microsoft.com/office/drawing/2014/main" id="{364D03BA-B922-3E7D-D488-78D7A4675443}"/>
              </a:ext>
            </a:extLst>
          </p:cNvPr>
          <p:cNvSpPr/>
          <p:nvPr/>
        </p:nvSpPr>
        <p:spPr>
          <a:xfrm flipH="1">
            <a:off x="4181854" y="7581762"/>
            <a:ext cx="4867005" cy="2308268"/>
          </a:xfrm>
          <a:prstGeom prst="wedgeEllipseCallout">
            <a:avLst>
              <a:gd name="adj1" fmla="val 63617"/>
              <a:gd name="adj2" fmla="val 29332"/>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“Ours!”</a:t>
            </a:r>
          </a:p>
        </p:txBody>
      </p:sp>
      <p:sp>
        <p:nvSpPr>
          <p:cNvPr id="19" name="Content Placeholder 2">
            <a:extLst>
              <a:ext uri="{FF2B5EF4-FFF2-40B4-BE49-F238E27FC236}">
                <a16:creationId xmlns:a16="http://schemas.microsoft.com/office/drawing/2014/main" id="{B7E245B0-366B-CE35-6059-4E4B1E7E4B3B}"/>
              </a:ext>
            </a:extLst>
          </p:cNvPr>
          <p:cNvSpPr txBox="1">
            <a:spLocks/>
          </p:cNvSpPr>
          <p:nvPr/>
        </p:nvSpPr>
        <p:spPr>
          <a:xfrm>
            <a:off x="902969" y="212950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4400" dirty="0"/>
          </a:p>
        </p:txBody>
      </p:sp>
      <p:sp>
        <p:nvSpPr>
          <p:cNvPr id="20" name="Content Placeholder 2">
            <a:extLst>
              <a:ext uri="{FF2B5EF4-FFF2-40B4-BE49-F238E27FC236}">
                <a16:creationId xmlns:a16="http://schemas.microsoft.com/office/drawing/2014/main" id="{45852F08-6E0A-C2B8-E873-25FD19DDE8EA}"/>
              </a:ext>
            </a:extLst>
          </p:cNvPr>
          <p:cNvSpPr txBox="1">
            <a:spLocks/>
          </p:cNvSpPr>
          <p:nvPr/>
        </p:nvSpPr>
        <p:spPr>
          <a:xfrm>
            <a:off x="899158" y="212661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Canonical-Critical Model</a:t>
            </a:r>
          </a:p>
        </p:txBody>
      </p:sp>
      <p:sp>
        <p:nvSpPr>
          <p:cNvPr id="21" name="Content Placeholder 2">
            <a:extLst>
              <a:ext uri="{FF2B5EF4-FFF2-40B4-BE49-F238E27FC236}">
                <a16:creationId xmlns:a16="http://schemas.microsoft.com/office/drawing/2014/main" id="{2767B7D4-4745-001E-8929-1A16D01A1D82}"/>
              </a:ext>
            </a:extLst>
          </p:cNvPr>
          <p:cNvSpPr txBox="1">
            <a:spLocks/>
          </p:cNvSpPr>
          <p:nvPr/>
        </p:nvSpPr>
        <p:spPr>
          <a:xfrm>
            <a:off x="327659" y="2126616"/>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3.</a:t>
            </a:r>
          </a:p>
        </p:txBody>
      </p:sp>
    </p:spTree>
    <p:extLst>
      <p:ext uri="{BB962C8B-B14F-4D97-AF65-F5344CB8AC3E}">
        <p14:creationId xmlns:p14="http://schemas.microsoft.com/office/powerpoint/2010/main" val="24526291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D6E4B-ECD0-3E5C-F332-255AB74C89E3}"/>
            </a:ext>
          </a:extLst>
        </p:cNvPr>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C0BC4E43-6981-491C-354E-6191ECDF005C}"/>
              </a:ext>
            </a:extLst>
          </p:cNvPr>
          <p:cNvSpPr txBox="1">
            <a:spLocks/>
          </p:cNvSpPr>
          <p:nvPr/>
        </p:nvSpPr>
        <p:spPr>
          <a:xfrm>
            <a:off x="906780" y="-103578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 Church Created</a:t>
            </a:r>
          </a:p>
        </p:txBody>
      </p:sp>
      <p:sp>
        <p:nvSpPr>
          <p:cNvPr id="3" name="Content Placeholder 2">
            <a:extLst>
              <a:ext uri="{FF2B5EF4-FFF2-40B4-BE49-F238E27FC236}">
                <a16:creationId xmlns:a16="http://schemas.microsoft.com/office/drawing/2014/main" id="{FCB5F3DE-7F92-B7A2-A3DF-E7AEA640438E}"/>
              </a:ext>
            </a:extLst>
          </p:cNvPr>
          <p:cNvSpPr>
            <a:spLocks noGrp="1"/>
          </p:cNvSpPr>
          <p:nvPr>
            <p:ph idx="1"/>
          </p:nvPr>
        </p:nvSpPr>
        <p:spPr>
          <a:xfrm>
            <a:off x="331470" y="-1734636"/>
            <a:ext cx="10746740" cy="695960"/>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78D3C280-3825-BFC9-6E88-CFC5513B7350}"/>
              </a:ext>
            </a:extLst>
          </p:cNvPr>
          <p:cNvSpPr txBox="1">
            <a:spLocks/>
          </p:cNvSpPr>
          <p:nvPr/>
        </p:nvSpPr>
        <p:spPr>
          <a:xfrm>
            <a:off x="902969" y="-103867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43071613-64FF-3B32-BC18-32620E16CED7}"/>
              </a:ext>
            </a:extLst>
          </p:cNvPr>
          <p:cNvSpPr txBox="1">
            <a:spLocks/>
          </p:cNvSpPr>
          <p:nvPr/>
        </p:nvSpPr>
        <p:spPr>
          <a:xfrm>
            <a:off x="331470" y="-1038676"/>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19" name="Content Placeholder 2">
            <a:extLst>
              <a:ext uri="{FF2B5EF4-FFF2-40B4-BE49-F238E27FC236}">
                <a16:creationId xmlns:a16="http://schemas.microsoft.com/office/drawing/2014/main" id="{34B278B5-C8E7-53F0-1D92-C844CF819B4D}"/>
              </a:ext>
            </a:extLst>
          </p:cNvPr>
          <p:cNvSpPr txBox="1">
            <a:spLocks/>
          </p:cNvSpPr>
          <p:nvPr/>
        </p:nvSpPr>
        <p:spPr>
          <a:xfrm>
            <a:off x="902969" y="88854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4400" dirty="0"/>
          </a:p>
        </p:txBody>
      </p:sp>
      <p:sp>
        <p:nvSpPr>
          <p:cNvPr id="20" name="Content Placeholder 2">
            <a:extLst>
              <a:ext uri="{FF2B5EF4-FFF2-40B4-BE49-F238E27FC236}">
                <a16:creationId xmlns:a16="http://schemas.microsoft.com/office/drawing/2014/main" id="{4385EF7D-B0E3-88A9-A7A1-509A99D0FBA7}"/>
              </a:ext>
            </a:extLst>
          </p:cNvPr>
          <p:cNvSpPr txBox="1">
            <a:spLocks/>
          </p:cNvSpPr>
          <p:nvPr/>
        </p:nvSpPr>
        <p:spPr>
          <a:xfrm>
            <a:off x="838200" y="68072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Canonical-Critical Model</a:t>
            </a:r>
          </a:p>
        </p:txBody>
      </p:sp>
      <p:sp>
        <p:nvSpPr>
          <p:cNvPr id="21" name="Content Placeholder 2">
            <a:extLst>
              <a:ext uri="{FF2B5EF4-FFF2-40B4-BE49-F238E27FC236}">
                <a16:creationId xmlns:a16="http://schemas.microsoft.com/office/drawing/2014/main" id="{9B39A3F0-58A3-A072-1328-586AD19BB2ED}"/>
              </a:ext>
            </a:extLst>
          </p:cNvPr>
          <p:cNvSpPr txBox="1">
            <a:spLocks/>
          </p:cNvSpPr>
          <p:nvPr/>
        </p:nvSpPr>
        <p:spPr>
          <a:xfrm>
            <a:off x="-847090" y="614840"/>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3.</a:t>
            </a:r>
          </a:p>
        </p:txBody>
      </p:sp>
      <p:sp>
        <p:nvSpPr>
          <p:cNvPr id="18" name="Content Placeholder 2">
            <a:extLst>
              <a:ext uri="{FF2B5EF4-FFF2-40B4-BE49-F238E27FC236}">
                <a16:creationId xmlns:a16="http://schemas.microsoft.com/office/drawing/2014/main" id="{2BDEACF1-2CAA-774E-1AB6-2BD02B6FAE43}"/>
              </a:ext>
            </a:extLst>
          </p:cNvPr>
          <p:cNvSpPr txBox="1">
            <a:spLocks/>
          </p:cNvSpPr>
          <p:nvPr/>
        </p:nvSpPr>
        <p:spPr>
          <a:xfrm>
            <a:off x="838200" y="1825624"/>
            <a:ext cx="11099800" cy="50323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600" dirty="0"/>
              <a:t>Started with OT scholars Brevard Childs and James Sanders (then expanded to NT)</a:t>
            </a:r>
          </a:p>
          <a:p>
            <a:r>
              <a:rPr lang="en-US" sz="2600" dirty="0"/>
              <a:t>“Childs argues that the meaning of the biblical text is not best found by trying to discover its earliest ‘layer’ via form criticism, source criticism, or redaction criticism—the standard tools of modern critical scholarship—but the meaning of a text is bound up with how the text functions within its larger canonical context. In other words, contrary to popular perceptions, the text is best understood not at its earliest stage of literary development (after the scholar peels back the various layers), but in its latest stage of literary development, when it has taken its final shape…. Thus, </a:t>
            </a:r>
            <a:r>
              <a:rPr lang="en-US" sz="2600" dirty="0">
                <a:solidFill>
                  <a:schemeClr val="accent2"/>
                </a:solidFill>
              </a:rPr>
              <a:t>the central tenet of canonical criticism (at least according to Childs) is that only the final canonical form of the text embraced by the early church is the proper ground for biblical theology and exegesis</a:t>
            </a:r>
            <a:r>
              <a:rPr lang="en-US" sz="2600" dirty="0"/>
              <a:t>” (p. 49)</a:t>
            </a:r>
          </a:p>
        </p:txBody>
      </p:sp>
    </p:spTree>
    <p:extLst>
      <p:ext uri="{BB962C8B-B14F-4D97-AF65-F5344CB8AC3E}">
        <p14:creationId xmlns:p14="http://schemas.microsoft.com/office/powerpoint/2010/main" val="3256654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90875-A071-075E-7D81-D4C345292DDE}"/>
            </a:ext>
          </a:extLst>
        </p:cNvPr>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494A5113-AC12-CED4-0F8B-D5A6E4CB72EA}"/>
              </a:ext>
            </a:extLst>
          </p:cNvPr>
          <p:cNvSpPr txBox="1">
            <a:spLocks/>
          </p:cNvSpPr>
          <p:nvPr/>
        </p:nvSpPr>
        <p:spPr>
          <a:xfrm>
            <a:off x="906780" y="-103578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 Church Created</a:t>
            </a:r>
          </a:p>
        </p:txBody>
      </p:sp>
      <p:sp>
        <p:nvSpPr>
          <p:cNvPr id="3" name="Content Placeholder 2">
            <a:extLst>
              <a:ext uri="{FF2B5EF4-FFF2-40B4-BE49-F238E27FC236}">
                <a16:creationId xmlns:a16="http://schemas.microsoft.com/office/drawing/2014/main" id="{D0B090DB-F84A-59C8-02A7-5814E585E402}"/>
              </a:ext>
            </a:extLst>
          </p:cNvPr>
          <p:cNvSpPr>
            <a:spLocks noGrp="1"/>
          </p:cNvSpPr>
          <p:nvPr>
            <p:ph idx="1"/>
          </p:nvPr>
        </p:nvSpPr>
        <p:spPr>
          <a:xfrm>
            <a:off x="331470" y="-1734636"/>
            <a:ext cx="10746740" cy="695960"/>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3D20780B-9C1E-5D1C-368D-F1B44E4A301B}"/>
              </a:ext>
            </a:extLst>
          </p:cNvPr>
          <p:cNvSpPr txBox="1">
            <a:spLocks/>
          </p:cNvSpPr>
          <p:nvPr/>
        </p:nvSpPr>
        <p:spPr>
          <a:xfrm>
            <a:off x="902969" y="-103867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413D06B3-9F13-2A3B-6E8E-FF02FAA008B6}"/>
              </a:ext>
            </a:extLst>
          </p:cNvPr>
          <p:cNvSpPr txBox="1">
            <a:spLocks/>
          </p:cNvSpPr>
          <p:nvPr/>
        </p:nvSpPr>
        <p:spPr>
          <a:xfrm>
            <a:off x="331470" y="-1038676"/>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19" name="Content Placeholder 2">
            <a:extLst>
              <a:ext uri="{FF2B5EF4-FFF2-40B4-BE49-F238E27FC236}">
                <a16:creationId xmlns:a16="http://schemas.microsoft.com/office/drawing/2014/main" id="{E1AB656B-45A8-73FD-96B4-91540BD0E867}"/>
              </a:ext>
            </a:extLst>
          </p:cNvPr>
          <p:cNvSpPr txBox="1">
            <a:spLocks/>
          </p:cNvSpPr>
          <p:nvPr/>
        </p:nvSpPr>
        <p:spPr>
          <a:xfrm>
            <a:off x="902969" y="88854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4400" dirty="0"/>
          </a:p>
        </p:txBody>
      </p:sp>
      <p:sp>
        <p:nvSpPr>
          <p:cNvPr id="20" name="Content Placeholder 2">
            <a:extLst>
              <a:ext uri="{FF2B5EF4-FFF2-40B4-BE49-F238E27FC236}">
                <a16:creationId xmlns:a16="http://schemas.microsoft.com/office/drawing/2014/main" id="{5AF4B494-BBE8-E5C4-FECC-851E6B97458F}"/>
              </a:ext>
            </a:extLst>
          </p:cNvPr>
          <p:cNvSpPr txBox="1">
            <a:spLocks/>
          </p:cNvSpPr>
          <p:nvPr/>
        </p:nvSpPr>
        <p:spPr>
          <a:xfrm>
            <a:off x="838200" y="68072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Canonical-Critical Model</a:t>
            </a:r>
          </a:p>
        </p:txBody>
      </p:sp>
      <p:sp>
        <p:nvSpPr>
          <p:cNvPr id="21" name="Content Placeholder 2">
            <a:extLst>
              <a:ext uri="{FF2B5EF4-FFF2-40B4-BE49-F238E27FC236}">
                <a16:creationId xmlns:a16="http://schemas.microsoft.com/office/drawing/2014/main" id="{D4E4BB7D-99E6-3385-E999-E3568127DC81}"/>
              </a:ext>
            </a:extLst>
          </p:cNvPr>
          <p:cNvSpPr txBox="1">
            <a:spLocks/>
          </p:cNvSpPr>
          <p:nvPr/>
        </p:nvSpPr>
        <p:spPr>
          <a:xfrm>
            <a:off x="-847090" y="614840"/>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3.</a:t>
            </a:r>
          </a:p>
        </p:txBody>
      </p:sp>
      <p:sp>
        <p:nvSpPr>
          <p:cNvPr id="18" name="Content Placeholder 2">
            <a:extLst>
              <a:ext uri="{FF2B5EF4-FFF2-40B4-BE49-F238E27FC236}">
                <a16:creationId xmlns:a16="http://schemas.microsoft.com/office/drawing/2014/main" id="{AE38BAC7-5D52-6907-7E41-42B29E8BC4B2}"/>
              </a:ext>
            </a:extLst>
          </p:cNvPr>
          <p:cNvSpPr txBox="1">
            <a:spLocks/>
          </p:cNvSpPr>
          <p:nvPr/>
        </p:nvSpPr>
        <p:spPr>
          <a:xfrm>
            <a:off x="838200" y="1825624"/>
            <a:ext cx="11099800" cy="50323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t>
            </a:r>
            <a:r>
              <a:rPr lang="en-US" dirty="0">
                <a:solidFill>
                  <a:schemeClr val="accent2"/>
                </a:solidFill>
              </a:rPr>
              <a:t>Childs has argued that our canonical texts have undergone significant development throughout the canonical process as successive Christian generations not only chose writings, but have shaped, modified, and redacted these writings</a:t>
            </a:r>
            <a:r>
              <a:rPr lang="en-US" dirty="0"/>
              <a:t>. Such a view broadens the activity of inspiration by moving it beyond its traditional locale—in the ‘apostles and prophets’—and expanding it to include the overall ecclesiastical community” (pp. 52-53)</a:t>
            </a:r>
          </a:p>
        </p:txBody>
      </p:sp>
    </p:spTree>
    <p:extLst>
      <p:ext uri="{BB962C8B-B14F-4D97-AF65-F5344CB8AC3E}">
        <p14:creationId xmlns:p14="http://schemas.microsoft.com/office/powerpoint/2010/main" val="65543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9A742-5DFC-E0F9-8A89-2E25B384CBAA}"/>
            </a:ext>
          </a:extLst>
        </p:cNvPr>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51F675F4-555E-FD26-E1CB-873966E97FA3}"/>
              </a:ext>
            </a:extLst>
          </p:cNvPr>
          <p:cNvSpPr txBox="1">
            <a:spLocks/>
          </p:cNvSpPr>
          <p:nvPr/>
        </p:nvSpPr>
        <p:spPr>
          <a:xfrm>
            <a:off x="906780" y="-103578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 Church Created</a:t>
            </a:r>
          </a:p>
        </p:txBody>
      </p:sp>
      <p:sp>
        <p:nvSpPr>
          <p:cNvPr id="3" name="Content Placeholder 2">
            <a:extLst>
              <a:ext uri="{FF2B5EF4-FFF2-40B4-BE49-F238E27FC236}">
                <a16:creationId xmlns:a16="http://schemas.microsoft.com/office/drawing/2014/main" id="{7AC6D08F-547A-8B81-5E0D-48FE1FF8FF6F}"/>
              </a:ext>
            </a:extLst>
          </p:cNvPr>
          <p:cNvSpPr>
            <a:spLocks noGrp="1"/>
          </p:cNvSpPr>
          <p:nvPr>
            <p:ph idx="1"/>
          </p:nvPr>
        </p:nvSpPr>
        <p:spPr>
          <a:xfrm>
            <a:off x="331470" y="-1734636"/>
            <a:ext cx="10746740" cy="695960"/>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FC8E0BEA-A706-F0AC-63BC-B30DA014235C}"/>
              </a:ext>
            </a:extLst>
          </p:cNvPr>
          <p:cNvSpPr txBox="1">
            <a:spLocks/>
          </p:cNvSpPr>
          <p:nvPr/>
        </p:nvSpPr>
        <p:spPr>
          <a:xfrm>
            <a:off x="902969" y="-103867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9ADD5092-4E51-BDF7-7D3E-7BF8E71F5102}"/>
              </a:ext>
            </a:extLst>
          </p:cNvPr>
          <p:cNvSpPr txBox="1">
            <a:spLocks/>
          </p:cNvSpPr>
          <p:nvPr/>
        </p:nvSpPr>
        <p:spPr>
          <a:xfrm>
            <a:off x="331470" y="-1038676"/>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19" name="Content Placeholder 2">
            <a:extLst>
              <a:ext uri="{FF2B5EF4-FFF2-40B4-BE49-F238E27FC236}">
                <a16:creationId xmlns:a16="http://schemas.microsoft.com/office/drawing/2014/main" id="{A2C9558F-F931-A903-0132-08BC02B5F7A0}"/>
              </a:ext>
            </a:extLst>
          </p:cNvPr>
          <p:cNvSpPr txBox="1">
            <a:spLocks/>
          </p:cNvSpPr>
          <p:nvPr/>
        </p:nvSpPr>
        <p:spPr>
          <a:xfrm>
            <a:off x="902969" y="88854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4400" dirty="0"/>
          </a:p>
        </p:txBody>
      </p:sp>
      <p:sp>
        <p:nvSpPr>
          <p:cNvPr id="20" name="Content Placeholder 2">
            <a:extLst>
              <a:ext uri="{FF2B5EF4-FFF2-40B4-BE49-F238E27FC236}">
                <a16:creationId xmlns:a16="http://schemas.microsoft.com/office/drawing/2014/main" id="{43A5699F-068D-587B-A98A-7289EF5429A9}"/>
              </a:ext>
            </a:extLst>
          </p:cNvPr>
          <p:cNvSpPr txBox="1">
            <a:spLocks/>
          </p:cNvSpPr>
          <p:nvPr/>
        </p:nvSpPr>
        <p:spPr>
          <a:xfrm>
            <a:off x="838200" y="68072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Canonical-Critical Model</a:t>
            </a:r>
          </a:p>
        </p:txBody>
      </p:sp>
      <p:sp>
        <p:nvSpPr>
          <p:cNvPr id="21" name="Content Placeholder 2">
            <a:extLst>
              <a:ext uri="{FF2B5EF4-FFF2-40B4-BE49-F238E27FC236}">
                <a16:creationId xmlns:a16="http://schemas.microsoft.com/office/drawing/2014/main" id="{B6D6AFC1-B4A7-20A3-FDA5-F312C4CF53F0}"/>
              </a:ext>
            </a:extLst>
          </p:cNvPr>
          <p:cNvSpPr txBox="1">
            <a:spLocks/>
          </p:cNvSpPr>
          <p:nvPr/>
        </p:nvSpPr>
        <p:spPr>
          <a:xfrm>
            <a:off x="-847090" y="614840"/>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3.</a:t>
            </a:r>
          </a:p>
        </p:txBody>
      </p:sp>
      <p:sp>
        <p:nvSpPr>
          <p:cNvPr id="18" name="Content Placeholder 2">
            <a:extLst>
              <a:ext uri="{FF2B5EF4-FFF2-40B4-BE49-F238E27FC236}">
                <a16:creationId xmlns:a16="http://schemas.microsoft.com/office/drawing/2014/main" id="{FB002315-A890-BD62-1E2E-614162ED208C}"/>
              </a:ext>
            </a:extLst>
          </p:cNvPr>
          <p:cNvSpPr txBox="1">
            <a:spLocks/>
          </p:cNvSpPr>
          <p:nvPr/>
        </p:nvSpPr>
        <p:spPr>
          <a:xfrm>
            <a:off x="838200" y="1825624"/>
            <a:ext cx="11353800" cy="50323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00" b="1" dirty="0"/>
              <a:t>2 factors driving this theory:</a:t>
            </a:r>
          </a:p>
          <a:p>
            <a:pPr marL="685800" lvl="1" indent="-342900">
              <a:buFont typeface="+mj-lt"/>
              <a:buAutoNum type="arabicPeriod"/>
            </a:pPr>
            <a:r>
              <a:rPr lang="en-US" dirty="0"/>
              <a:t>“Childs argues that it is only the final form of the New Testament canon that </a:t>
            </a:r>
            <a:r>
              <a:rPr lang="en-US" sz="2500" dirty="0"/>
              <a:t>brings together the divergent (and often contradictory) streams of early Christianity and provides a larger framework in which they can be understood and even harmonized” (p. 50)</a:t>
            </a:r>
          </a:p>
          <a:p>
            <a:pPr lvl="2"/>
            <a:r>
              <a:rPr lang="en-US" sz="2500" dirty="0"/>
              <a:t>“In other words, the theological struggle among the early factions of Christianity is what shaped, formed, and molded the canon as we know it; to ignore the final form of the canon in favor of its earliest layer is to ignore all the factors that went into shaping it and thus is to ignore the real ‘historical’ aspect of canon” (p. 50)</a:t>
            </a:r>
          </a:p>
          <a:p>
            <a:pPr marL="685800" lvl="1" indent="-342900">
              <a:buFont typeface="+mj-lt"/>
              <a:buAutoNum type="arabicPeriod" startAt="2"/>
            </a:pPr>
            <a:r>
              <a:rPr lang="en-US" sz="2500" dirty="0"/>
              <a:t>“The final form of the New Testament should be normative because the final redactors who put the New Testament together intentionally shaped the material into a medium that would allow it to be transmitted to future generations” (p. 50)</a:t>
            </a:r>
          </a:p>
        </p:txBody>
      </p:sp>
    </p:spTree>
    <p:extLst>
      <p:ext uri="{BB962C8B-B14F-4D97-AF65-F5344CB8AC3E}">
        <p14:creationId xmlns:p14="http://schemas.microsoft.com/office/powerpoint/2010/main" val="4151528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1B1E0-359E-E2A9-C871-8F445E831020}"/>
            </a:ext>
          </a:extLst>
        </p:cNvPr>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5C584C37-4C5D-EF4D-2C0A-BCC591DA420B}"/>
              </a:ext>
            </a:extLst>
          </p:cNvPr>
          <p:cNvSpPr txBox="1">
            <a:spLocks/>
          </p:cNvSpPr>
          <p:nvPr/>
        </p:nvSpPr>
        <p:spPr>
          <a:xfrm>
            <a:off x="906780" y="-103578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 Church Created</a:t>
            </a:r>
          </a:p>
        </p:txBody>
      </p:sp>
      <p:sp>
        <p:nvSpPr>
          <p:cNvPr id="3" name="Content Placeholder 2">
            <a:extLst>
              <a:ext uri="{FF2B5EF4-FFF2-40B4-BE49-F238E27FC236}">
                <a16:creationId xmlns:a16="http://schemas.microsoft.com/office/drawing/2014/main" id="{C2F0212C-1DFC-7EA5-EF64-AB1D6519A604}"/>
              </a:ext>
            </a:extLst>
          </p:cNvPr>
          <p:cNvSpPr>
            <a:spLocks noGrp="1"/>
          </p:cNvSpPr>
          <p:nvPr>
            <p:ph idx="1"/>
          </p:nvPr>
        </p:nvSpPr>
        <p:spPr>
          <a:xfrm>
            <a:off x="331470" y="-1734636"/>
            <a:ext cx="10746740" cy="695960"/>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C5D603D1-C1B8-473A-90E4-1850318DD608}"/>
              </a:ext>
            </a:extLst>
          </p:cNvPr>
          <p:cNvSpPr txBox="1">
            <a:spLocks/>
          </p:cNvSpPr>
          <p:nvPr/>
        </p:nvSpPr>
        <p:spPr>
          <a:xfrm>
            <a:off x="902969" y="-103867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89513BF3-55ED-D3DD-3C6C-93DBBB1E038E}"/>
              </a:ext>
            </a:extLst>
          </p:cNvPr>
          <p:cNvSpPr txBox="1">
            <a:spLocks/>
          </p:cNvSpPr>
          <p:nvPr/>
        </p:nvSpPr>
        <p:spPr>
          <a:xfrm>
            <a:off x="331470" y="-1038676"/>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19" name="Content Placeholder 2">
            <a:extLst>
              <a:ext uri="{FF2B5EF4-FFF2-40B4-BE49-F238E27FC236}">
                <a16:creationId xmlns:a16="http://schemas.microsoft.com/office/drawing/2014/main" id="{F8A7610F-751F-A766-11E3-29866B90456D}"/>
              </a:ext>
            </a:extLst>
          </p:cNvPr>
          <p:cNvSpPr txBox="1">
            <a:spLocks/>
          </p:cNvSpPr>
          <p:nvPr/>
        </p:nvSpPr>
        <p:spPr>
          <a:xfrm>
            <a:off x="902969" y="88854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4400" dirty="0"/>
          </a:p>
        </p:txBody>
      </p:sp>
      <p:sp>
        <p:nvSpPr>
          <p:cNvPr id="20" name="Content Placeholder 2">
            <a:extLst>
              <a:ext uri="{FF2B5EF4-FFF2-40B4-BE49-F238E27FC236}">
                <a16:creationId xmlns:a16="http://schemas.microsoft.com/office/drawing/2014/main" id="{358D01AC-DBAF-12C5-6DE1-B4F944814714}"/>
              </a:ext>
            </a:extLst>
          </p:cNvPr>
          <p:cNvSpPr txBox="1">
            <a:spLocks/>
          </p:cNvSpPr>
          <p:nvPr/>
        </p:nvSpPr>
        <p:spPr>
          <a:xfrm>
            <a:off x="838200" y="68072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Canonical-Critical Model</a:t>
            </a:r>
          </a:p>
        </p:txBody>
      </p:sp>
      <p:sp>
        <p:nvSpPr>
          <p:cNvPr id="21" name="Content Placeholder 2">
            <a:extLst>
              <a:ext uri="{FF2B5EF4-FFF2-40B4-BE49-F238E27FC236}">
                <a16:creationId xmlns:a16="http://schemas.microsoft.com/office/drawing/2014/main" id="{2F7919EE-A162-3618-F09C-7969972FFB61}"/>
              </a:ext>
            </a:extLst>
          </p:cNvPr>
          <p:cNvSpPr txBox="1">
            <a:spLocks/>
          </p:cNvSpPr>
          <p:nvPr/>
        </p:nvSpPr>
        <p:spPr>
          <a:xfrm>
            <a:off x="-847090" y="614840"/>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3.</a:t>
            </a:r>
          </a:p>
        </p:txBody>
      </p:sp>
      <p:sp>
        <p:nvSpPr>
          <p:cNvPr id="18" name="Content Placeholder 2">
            <a:extLst>
              <a:ext uri="{FF2B5EF4-FFF2-40B4-BE49-F238E27FC236}">
                <a16:creationId xmlns:a16="http://schemas.microsoft.com/office/drawing/2014/main" id="{5D401369-72E8-5691-85AE-A3C024DE936A}"/>
              </a:ext>
            </a:extLst>
          </p:cNvPr>
          <p:cNvSpPr txBox="1">
            <a:spLocks/>
          </p:cNvSpPr>
          <p:nvPr/>
        </p:nvSpPr>
        <p:spPr>
          <a:xfrm>
            <a:off x="838200" y="1825624"/>
            <a:ext cx="11353800" cy="50323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00" b="1" dirty="0"/>
              <a:t>2 factors driving this theory:</a:t>
            </a:r>
          </a:p>
          <a:p>
            <a:endParaRPr lang="en-US" sz="2700" b="1" dirty="0"/>
          </a:p>
          <a:p>
            <a:pPr marL="923925" lvl="1" indent="-581025">
              <a:buFont typeface="+mj-lt"/>
              <a:buAutoNum type="arabicPeriod"/>
            </a:pPr>
            <a:r>
              <a:rPr lang="en-US" sz="4000" dirty="0"/>
              <a:t>Final form = the final, official form shaped by the struggles during pre-canonical state</a:t>
            </a:r>
          </a:p>
          <a:p>
            <a:pPr marL="923925" lvl="1" indent="-581025">
              <a:buFont typeface="+mj-lt"/>
              <a:buAutoNum type="arabicPeriod"/>
            </a:pPr>
            <a:endParaRPr lang="en-US" sz="4000" dirty="0"/>
          </a:p>
          <a:p>
            <a:pPr marL="923925" lvl="1" indent="-581025">
              <a:buFont typeface="+mj-lt"/>
              <a:buAutoNum type="arabicPeriod"/>
            </a:pPr>
            <a:r>
              <a:rPr lang="en-US" sz="4000" dirty="0"/>
              <a:t>Final form = form redactors made for future generations</a:t>
            </a:r>
          </a:p>
        </p:txBody>
      </p:sp>
    </p:spTree>
    <p:extLst>
      <p:ext uri="{BB962C8B-B14F-4D97-AF65-F5344CB8AC3E}">
        <p14:creationId xmlns:p14="http://schemas.microsoft.com/office/powerpoint/2010/main" val="31950184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8EFF9-734B-20B9-04DF-423B46B6CC4B}"/>
            </a:ext>
          </a:extLst>
        </p:cNvPr>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E48020CA-6C72-5373-BDD5-94E9DB048B4C}"/>
              </a:ext>
            </a:extLst>
          </p:cNvPr>
          <p:cNvSpPr txBox="1">
            <a:spLocks/>
          </p:cNvSpPr>
          <p:nvPr/>
        </p:nvSpPr>
        <p:spPr>
          <a:xfrm>
            <a:off x="906780" y="-103578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 Church Created</a:t>
            </a:r>
          </a:p>
        </p:txBody>
      </p:sp>
      <p:sp>
        <p:nvSpPr>
          <p:cNvPr id="3" name="Content Placeholder 2">
            <a:extLst>
              <a:ext uri="{FF2B5EF4-FFF2-40B4-BE49-F238E27FC236}">
                <a16:creationId xmlns:a16="http://schemas.microsoft.com/office/drawing/2014/main" id="{50F1E20B-AB18-AE2F-8489-B75705AC8EA4}"/>
              </a:ext>
            </a:extLst>
          </p:cNvPr>
          <p:cNvSpPr>
            <a:spLocks noGrp="1"/>
          </p:cNvSpPr>
          <p:nvPr>
            <p:ph idx="1"/>
          </p:nvPr>
        </p:nvSpPr>
        <p:spPr>
          <a:xfrm>
            <a:off x="331470" y="-1734636"/>
            <a:ext cx="10746740" cy="695960"/>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89715B6E-396A-0DD0-5451-7C33F051C0E6}"/>
              </a:ext>
            </a:extLst>
          </p:cNvPr>
          <p:cNvSpPr txBox="1">
            <a:spLocks/>
          </p:cNvSpPr>
          <p:nvPr/>
        </p:nvSpPr>
        <p:spPr>
          <a:xfrm>
            <a:off x="902969" y="-103867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722DC53A-BE62-5E88-96DD-459F847B8F0A}"/>
              </a:ext>
            </a:extLst>
          </p:cNvPr>
          <p:cNvSpPr txBox="1">
            <a:spLocks/>
          </p:cNvSpPr>
          <p:nvPr/>
        </p:nvSpPr>
        <p:spPr>
          <a:xfrm>
            <a:off x="331470" y="-1038676"/>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19" name="Content Placeholder 2">
            <a:extLst>
              <a:ext uri="{FF2B5EF4-FFF2-40B4-BE49-F238E27FC236}">
                <a16:creationId xmlns:a16="http://schemas.microsoft.com/office/drawing/2014/main" id="{B7015A26-A6DD-CF7F-A84D-BA7B06A6F3DB}"/>
              </a:ext>
            </a:extLst>
          </p:cNvPr>
          <p:cNvSpPr txBox="1">
            <a:spLocks/>
          </p:cNvSpPr>
          <p:nvPr/>
        </p:nvSpPr>
        <p:spPr>
          <a:xfrm>
            <a:off x="902969" y="88854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4400" dirty="0"/>
          </a:p>
        </p:txBody>
      </p:sp>
      <p:sp>
        <p:nvSpPr>
          <p:cNvPr id="20" name="Content Placeholder 2">
            <a:extLst>
              <a:ext uri="{FF2B5EF4-FFF2-40B4-BE49-F238E27FC236}">
                <a16:creationId xmlns:a16="http://schemas.microsoft.com/office/drawing/2014/main" id="{74CA5C3B-C9D1-7B84-272D-67E79742F84D}"/>
              </a:ext>
            </a:extLst>
          </p:cNvPr>
          <p:cNvSpPr txBox="1">
            <a:spLocks/>
          </p:cNvSpPr>
          <p:nvPr/>
        </p:nvSpPr>
        <p:spPr>
          <a:xfrm>
            <a:off x="838200" y="68072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Canonical-Critical Model</a:t>
            </a:r>
          </a:p>
        </p:txBody>
      </p:sp>
      <p:sp>
        <p:nvSpPr>
          <p:cNvPr id="21" name="Content Placeholder 2">
            <a:extLst>
              <a:ext uri="{FF2B5EF4-FFF2-40B4-BE49-F238E27FC236}">
                <a16:creationId xmlns:a16="http://schemas.microsoft.com/office/drawing/2014/main" id="{A630FE00-3E4F-EE6E-CE37-3820036756D0}"/>
              </a:ext>
            </a:extLst>
          </p:cNvPr>
          <p:cNvSpPr txBox="1">
            <a:spLocks/>
          </p:cNvSpPr>
          <p:nvPr/>
        </p:nvSpPr>
        <p:spPr>
          <a:xfrm>
            <a:off x="-847090" y="614840"/>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3.</a:t>
            </a:r>
          </a:p>
        </p:txBody>
      </p:sp>
      <p:sp>
        <p:nvSpPr>
          <p:cNvPr id="18" name="Content Placeholder 2">
            <a:extLst>
              <a:ext uri="{FF2B5EF4-FFF2-40B4-BE49-F238E27FC236}">
                <a16:creationId xmlns:a16="http://schemas.microsoft.com/office/drawing/2014/main" id="{3C734B37-0884-7DE4-27C5-A80193236D3A}"/>
              </a:ext>
            </a:extLst>
          </p:cNvPr>
          <p:cNvSpPr txBox="1">
            <a:spLocks/>
          </p:cNvSpPr>
          <p:nvPr/>
        </p:nvSpPr>
        <p:spPr>
          <a:xfrm>
            <a:off x="838200" y="1825624"/>
            <a:ext cx="11353800" cy="50323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“Child’s approach, then, would reject the historical-critical notion that the idea of a canon is merely ‘a late, ecclesiastical activity, external to the biblical literature itself, which was subsequently imposed on those writings.’ On the contrary, Childs would affirm that the church’s ‘canonical consciousness’ was there from the beginning and ‘lies deep within the New Testament literature itself’” (p. 51)</a:t>
            </a:r>
          </a:p>
          <a:p>
            <a:r>
              <a:rPr lang="en-US" dirty="0"/>
              <a:t>“By now it is clear how Childs’s canonical-criticism model determines which books should be included in the canon. It consists of the books (and the shape of those books) finally settled upon and received by the early church as the basis for their understanding of the gospel. Even so, Childs does not restrict the technical term </a:t>
            </a:r>
            <a:r>
              <a:rPr lang="en-US" i="1" dirty="0"/>
              <a:t>canon</a:t>
            </a:r>
            <a:r>
              <a:rPr lang="en-US" dirty="0"/>
              <a:t> to only this final stage” (p. 51)</a:t>
            </a:r>
          </a:p>
        </p:txBody>
      </p:sp>
    </p:spTree>
    <p:extLst>
      <p:ext uri="{BB962C8B-B14F-4D97-AF65-F5344CB8AC3E}">
        <p14:creationId xmlns:p14="http://schemas.microsoft.com/office/powerpoint/2010/main" val="3910535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9F41E-A63B-BC6B-4D71-9A282C9507E5}"/>
            </a:ext>
          </a:extLst>
        </p:cNvPr>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6594F546-C150-E9D0-72CA-7464A18084C3}"/>
              </a:ext>
            </a:extLst>
          </p:cNvPr>
          <p:cNvSpPr txBox="1">
            <a:spLocks/>
          </p:cNvSpPr>
          <p:nvPr/>
        </p:nvSpPr>
        <p:spPr>
          <a:xfrm>
            <a:off x="906780" y="-103578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 Church Created</a:t>
            </a:r>
          </a:p>
        </p:txBody>
      </p:sp>
      <p:sp>
        <p:nvSpPr>
          <p:cNvPr id="3" name="Content Placeholder 2">
            <a:extLst>
              <a:ext uri="{FF2B5EF4-FFF2-40B4-BE49-F238E27FC236}">
                <a16:creationId xmlns:a16="http://schemas.microsoft.com/office/drawing/2014/main" id="{734F293E-8716-4B4F-33B4-FD7ECC5703AB}"/>
              </a:ext>
            </a:extLst>
          </p:cNvPr>
          <p:cNvSpPr>
            <a:spLocks noGrp="1"/>
          </p:cNvSpPr>
          <p:nvPr>
            <p:ph idx="1"/>
          </p:nvPr>
        </p:nvSpPr>
        <p:spPr>
          <a:xfrm>
            <a:off x="331470" y="-1734636"/>
            <a:ext cx="10746740" cy="695960"/>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2354B4A6-92FC-9BB5-320A-B606194E7612}"/>
              </a:ext>
            </a:extLst>
          </p:cNvPr>
          <p:cNvSpPr txBox="1">
            <a:spLocks/>
          </p:cNvSpPr>
          <p:nvPr/>
        </p:nvSpPr>
        <p:spPr>
          <a:xfrm>
            <a:off x="902969" y="-103867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2DD6E681-713D-B2FE-C923-45E1F9A8C0FB}"/>
              </a:ext>
            </a:extLst>
          </p:cNvPr>
          <p:cNvSpPr txBox="1">
            <a:spLocks/>
          </p:cNvSpPr>
          <p:nvPr/>
        </p:nvSpPr>
        <p:spPr>
          <a:xfrm>
            <a:off x="331470" y="-1038676"/>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19" name="Content Placeholder 2">
            <a:extLst>
              <a:ext uri="{FF2B5EF4-FFF2-40B4-BE49-F238E27FC236}">
                <a16:creationId xmlns:a16="http://schemas.microsoft.com/office/drawing/2014/main" id="{43E1C63E-AB09-B7A8-26EC-BC8CCCBA4021}"/>
              </a:ext>
            </a:extLst>
          </p:cNvPr>
          <p:cNvSpPr txBox="1">
            <a:spLocks/>
          </p:cNvSpPr>
          <p:nvPr/>
        </p:nvSpPr>
        <p:spPr>
          <a:xfrm>
            <a:off x="902969" y="88854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4400" dirty="0"/>
          </a:p>
        </p:txBody>
      </p:sp>
      <p:sp>
        <p:nvSpPr>
          <p:cNvPr id="20" name="Content Placeholder 2">
            <a:extLst>
              <a:ext uri="{FF2B5EF4-FFF2-40B4-BE49-F238E27FC236}">
                <a16:creationId xmlns:a16="http://schemas.microsoft.com/office/drawing/2014/main" id="{1736F65A-828A-6504-C0C2-11E0EB8F949F}"/>
              </a:ext>
            </a:extLst>
          </p:cNvPr>
          <p:cNvSpPr txBox="1">
            <a:spLocks/>
          </p:cNvSpPr>
          <p:nvPr/>
        </p:nvSpPr>
        <p:spPr>
          <a:xfrm>
            <a:off x="838200" y="68072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Canonical-Critical Model</a:t>
            </a:r>
          </a:p>
        </p:txBody>
      </p:sp>
      <p:sp>
        <p:nvSpPr>
          <p:cNvPr id="21" name="Content Placeholder 2">
            <a:extLst>
              <a:ext uri="{FF2B5EF4-FFF2-40B4-BE49-F238E27FC236}">
                <a16:creationId xmlns:a16="http://schemas.microsoft.com/office/drawing/2014/main" id="{6AAB16AC-7540-C98A-D745-BCC0BBAB2F6B}"/>
              </a:ext>
            </a:extLst>
          </p:cNvPr>
          <p:cNvSpPr txBox="1">
            <a:spLocks/>
          </p:cNvSpPr>
          <p:nvPr/>
        </p:nvSpPr>
        <p:spPr>
          <a:xfrm>
            <a:off x="-847090" y="614840"/>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3.</a:t>
            </a:r>
          </a:p>
        </p:txBody>
      </p:sp>
      <p:sp>
        <p:nvSpPr>
          <p:cNvPr id="18" name="Content Placeholder 2">
            <a:extLst>
              <a:ext uri="{FF2B5EF4-FFF2-40B4-BE49-F238E27FC236}">
                <a16:creationId xmlns:a16="http://schemas.microsoft.com/office/drawing/2014/main" id="{CA7C4DF0-59B6-258B-4820-3A735ED62965}"/>
              </a:ext>
            </a:extLst>
          </p:cNvPr>
          <p:cNvSpPr txBox="1">
            <a:spLocks/>
          </p:cNvSpPr>
          <p:nvPr/>
        </p:nvSpPr>
        <p:spPr>
          <a:xfrm>
            <a:off x="838200" y="1825624"/>
            <a:ext cx="11353800" cy="50323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“Instead of merely denoting a closed list, Childs and others have suggested that the term can refer to a collection of books that constitutes a religious norm for a community (regardless of whether the collection is ‘open’ or ‘closed’). A canon would exist, on this definition, when there is evidence that books are functioning as Scripture. James Sanders agrees: “Canon as </a:t>
            </a:r>
            <a:r>
              <a:rPr lang="en-US" i="1" dirty="0"/>
              <a:t>function</a:t>
            </a:r>
            <a:r>
              <a:rPr lang="en-US" dirty="0"/>
              <a:t> antedates canon as </a:t>
            </a:r>
            <a:r>
              <a:rPr lang="en-US" i="1" dirty="0"/>
              <a:t>shape</a:t>
            </a:r>
            <a:r>
              <a:rPr lang="en-US" dirty="0"/>
              <a:t>” (p. 52)</a:t>
            </a:r>
          </a:p>
        </p:txBody>
      </p:sp>
    </p:spTree>
    <p:extLst>
      <p:ext uri="{BB962C8B-B14F-4D97-AF65-F5344CB8AC3E}">
        <p14:creationId xmlns:p14="http://schemas.microsoft.com/office/powerpoint/2010/main" val="37609976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15C4F-7479-844F-661F-BA4F272C646F}"/>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7B601A17-7D92-D9F5-A82C-9D42A5A2CF92}"/>
              </a:ext>
            </a:extLst>
          </p:cNvPr>
          <p:cNvPicPr>
            <a:picLocks noChangeAspect="1"/>
          </p:cNvPicPr>
          <p:nvPr/>
        </p:nvPicPr>
        <p:blipFill>
          <a:blip r:embed="rId2"/>
          <a:stretch>
            <a:fillRect/>
          </a:stretch>
        </p:blipFill>
        <p:spPr>
          <a:xfrm>
            <a:off x="324319" y="2605046"/>
            <a:ext cx="4093219" cy="4252954"/>
          </a:xfrm>
          <a:prstGeom prst="rect">
            <a:avLst/>
          </a:prstGeom>
        </p:spPr>
      </p:pic>
      <p:sp>
        <p:nvSpPr>
          <p:cNvPr id="17" name="Content Placeholder 2">
            <a:extLst>
              <a:ext uri="{FF2B5EF4-FFF2-40B4-BE49-F238E27FC236}">
                <a16:creationId xmlns:a16="http://schemas.microsoft.com/office/drawing/2014/main" id="{8C36186F-28E6-F83B-6091-D2AB5DB25638}"/>
              </a:ext>
            </a:extLst>
          </p:cNvPr>
          <p:cNvSpPr txBox="1">
            <a:spLocks/>
          </p:cNvSpPr>
          <p:nvPr/>
        </p:nvSpPr>
        <p:spPr>
          <a:xfrm>
            <a:off x="906780" y="-103578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 Church Created</a:t>
            </a:r>
          </a:p>
        </p:txBody>
      </p:sp>
      <p:sp>
        <p:nvSpPr>
          <p:cNvPr id="3" name="Content Placeholder 2">
            <a:extLst>
              <a:ext uri="{FF2B5EF4-FFF2-40B4-BE49-F238E27FC236}">
                <a16:creationId xmlns:a16="http://schemas.microsoft.com/office/drawing/2014/main" id="{50DB05B0-8081-7A6B-32ED-FA7CCB01AA01}"/>
              </a:ext>
            </a:extLst>
          </p:cNvPr>
          <p:cNvSpPr>
            <a:spLocks noGrp="1"/>
          </p:cNvSpPr>
          <p:nvPr>
            <p:ph idx="1"/>
          </p:nvPr>
        </p:nvSpPr>
        <p:spPr>
          <a:xfrm>
            <a:off x="331470" y="-1734636"/>
            <a:ext cx="10746740" cy="695960"/>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AEF5D6DD-EC18-0BE1-A4CF-609DBA436B5D}"/>
              </a:ext>
            </a:extLst>
          </p:cNvPr>
          <p:cNvSpPr txBox="1">
            <a:spLocks/>
          </p:cNvSpPr>
          <p:nvPr/>
        </p:nvSpPr>
        <p:spPr>
          <a:xfrm>
            <a:off x="902969" y="-103867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4CB0B91F-35DC-4D9C-C04A-5A397EBB9674}"/>
              </a:ext>
            </a:extLst>
          </p:cNvPr>
          <p:cNvSpPr txBox="1">
            <a:spLocks/>
          </p:cNvSpPr>
          <p:nvPr/>
        </p:nvSpPr>
        <p:spPr>
          <a:xfrm>
            <a:off x="331470" y="-1038676"/>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19" name="Content Placeholder 2">
            <a:extLst>
              <a:ext uri="{FF2B5EF4-FFF2-40B4-BE49-F238E27FC236}">
                <a16:creationId xmlns:a16="http://schemas.microsoft.com/office/drawing/2014/main" id="{EE7255AE-F67B-04C3-D13E-9898F68ADE60}"/>
              </a:ext>
            </a:extLst>
          </p:cNvPr>
          <p:cNvSpPr txBox="1">
            <a:spLocks/>
          </p:cNvSpPr>
          <p:nvPr/>
        </p:nvSpPr>
        <p:spPr>
          <a:xfrm>
            <a:off x="902969" y="88854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4400" dirty="0"/>
          </a:p>
        </p:txBody>
      </p:sp>
      <p:sp>
        <p:nvSpPr>
          <p:cNvPr id="20" name="Content Placeholder 2">
            <a:extLst>
              <a:ext uri="{FF2B5EF4-FFF2-40B4-BE49-F238E27FC236}">
                <a16:creationId xmlns:a16="http://schemas.microsoft.com/office/drawing/2014/main" id="{8768FBEA-E44F-E732-C1AF-EC8BB724A3F6}"/>
              </a:ext>
            </a:extLst>
          </p:cNvPr>
          <p:cNvSpPr txBox="1">
            <a:spLocks/>
          </p:cNvSpPr>
          <p:nvPr/>
        </p:nvSpPr>
        <p:spPr>
          <a:xfrm>
            <a:off x="838200" y="68072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Canonical-Critical Model</a:t>
            </a:r>
          </a:p>
        </p:txBody>
      </p:sp>
      <p:sp>
        <p:nvSpPr>
          <p:cNvPr id="21" name="Content Placeholder 2">
            <a:extLst>
              <a:ext uri="{FF2B5EF4-FFF2-40B4-BE49-F238E27FC236}">
                <a16:creationId xmlns:a16="http://schemas.microsoft.com/office/drawing/2014/main" id="{460E1B69-3097-8511-1D29-6D70672DD8DB}"/>
              </a:ext>
            </a:extLst>
          </p:cNvPr>
          <p:cNvSpPr txBox="1">
            <a:spLocks/>
          </p:cNvSpPr>
          <p:nvPr/>
        </p:nvSpPr>
        <p:spPr>
          <a:xfrm>
            <a:off x="-847090" y="614840"/>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3.</a:t>
            </a:r>
          </a:p>
        </p:txBody>
      </p:sp>
      <p:sp>
        <p:nvSpPr>
          <p:cNvPr id="11" name="TextBox 10">
            <a:extLst>
              <a:ext uri="{FF2B5EF4-FFF2-40B4-BE49-F238E27FC236}">
                <a16:creationId xmlns:a16="http://schemas.microsoft.com/office/drawing/2014/main" id="{52BF53EC-7478-E08E-0924-3349692DA160}"/>
              </a:ext>
            </a:extLst>
          </p:cNvPr>
          <p:cNvSpPr txBox="1"/>
          <p:nvPr/>
        </p:nvSpPr>
        <p:spPr>
          <a:xfrm>
            <a:off x="-46486" y="3389058"/>
            <a:ext cx="2111829" cy="523220"/>
          </a:xfrm>
          <a:prstGeom prst="rect">
            <a:avLst/>
          </a:prstGeom>
          <a:noFill/>
        </p:spPr>
        <p:txBody>
          <a:bodyPr wrap="square" rtlCol="0">
            <a:spAutoFit/>
          </a:bodyPr>
          <a:lstStyle/>
          <a:p>
            <a:pPr algn="ctr"/>
            <a:r>
              <a:rPr lang="en-US" sz="2800" b="1" dirty="0"/>
              <a:t>Childs</a:t>
            </a:r>
          </a:p>
        </p:txBody>
      </p:sp>
      <p:pic>
        <p:nvPicPr>
          <p:cNvPr id="14" name="Picture 13">
            <a:extLst>
              <a:ext uri="{FF2B5EF4-FFF2-40B4-BE49-F238E27FC236}">
                <a16:creationId xmlns:a16="http://schemas.microsoft.com/office/drawing/2014/main" id="{D9757CB0-F12A-76B5-0123-B7E370FD820B}"/>
              </a:ext>
            </a:extLst>
          </p:cNvPr>
          <p:cNvPicPr>
            <a:picLocks noChangeAspect="1"/>
          </p:cNvPicPr>
          <p:nvPr/>
        </p:nvPicPr>
        <p:blipFill>
          <a:blip r:embed="rId3"/>
          <a:stretch>
            <a:fillRect/>
          </a:stretch>
        </p:blipFill>
        <p:spPr>
          <a:xfrm>
            <a:off x="7807065" y="3437475"/>
            <a:ext cx="3155576" cy="3155576"/>
          </a:xfrm>
          <a:prstGeom prst="rect">
            <a:avLst/>
          </a:prstGeom>
        </p:spPr>
      </p:pic>
      <p:pic>
        <p:nvPicPr>
          <p:cNvPr id="16" name="Picture 15">
            <a:extLst>
              <a:ext uri="{FF2B5EF4-FFF2-40B4-BE49-F238E27FC236}">
                <a16:creationId xmlns:a16="http://schemas.microsoft.com/office/drawing/2014/main" id="{77C62A1F-583F-AFA1-C003-5D993FA0BDD9}"/>
              </a:ext>
            </a:extLst>
          </p:cNvPr>
          <p:cNvPicPr>
            <a:picLocks noChangeAspect="1"/>
          </p:cNvPicPr>
          <p:nvPr/>
        </p:nvPicPr>
        <p:blipFill rotWithShape="1">
          <a:blip r:embed="rId4"/>
          <a:srcRect l="16636" t="4648" r="24536" b="1010"/>
          <a:stretch>
            <a:fillRect/>
          </a:stretch>
        </p:blipFill>
        <p:spPr>
          <a:xfrm>
            <a:off x="12310994" y="3443358"/>
            <a:ext cx="3155576" cy="3373702"/>
          </a:xfrm>
          <a:prstGeom prst="rect">
            <a:avLst/>
          </a:prstGeom>
        </p:spPr>
      </p:pic>
      <p:sp>
        <p:nvSpPr>
          <p:cNvPr id="24" name="Oval Callout 23">
            <a:extLst>
              <a:ext uri="{FF2B5EF4-FFF2-40B4-BE49-F238E27FC236}">
                <a16:creationId xmlns:a16="http://schemas.microsoft.com/office/drawing/2014/main" id="{3B021F6B-4105-F797-E9DD-248428D57D79}"/>
              </a:ext>
            </a:extLst>
          </p:cNvPr>
          <p:cNvSpPr/>
          <p:nvPr/>
        </p:nvSpPr>
        <p:spPr>
          <a:xfrm flipH="1">
            <a:off x="3947493" y="1223940"/>
            <a:ext cx="4867005" cy="2308268"/>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“What is the canon?”</a:t>
            </a:r>
          </a:p>
        </p:txBody>
      </p:sp>
      <p:sp>
        <p:nvSpPr>
          <p:cNvPr id="8" name="Oval Callout 7">
            <a:extLst>
              <a:ext uri="{FF2B5EF4-FFF2-40B4-BE49-F238E27FC236}">
                <a16:creationId xmlns:a16="http://schemas.microsoft.com/office/drawing/2014/main" id="{A865F22A-4099-218D-5711-80823FF9A54B}"/>
              </a:ext>
            </a:extLst>
          </p:cNvPr>
          <p:cNvSpPr/>
          <p:nvPr/>
        </p:nvSpPr>
        <p:spPr>
          <a:xfrm>
            <a:off x="2734189" y="353244"/>
            <a:ext cx="4612542" cy="2862524"/>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“All the books that the church uses as Scripture”</a:t>
            </a:r>
          </a:p>
        </p:txBody>
      </p:sp>
      <p:sp>
        <p:nvSpPr>
          <p:cNvPr id="29" name="Oval Callout 28">
            <a:extLst>
              <a:ext uri="{FF2B5EF4-FFF2-40B4-BE49-F238E27FC236}">
                <a16:creationId xmlns:a16="http://schemas.microsoft.com/office/drawing/2014/main" id="{77C75AF4-D459-AEC0-2F5A-FE592ED93659}"/>
              </a:ext>
            </a:extLst>
          </p:cNvPr>
          <p:cNvSpPr/>
          <p:nvPr/>
        </p:nvSpPr>
        <p:spPr>
          <a:xfrm flipH="1">
            <a:off x="3389526" y="353244"/>
            <a:ext cx="5419715" cy="3173704"/>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“Okay, so how do we know that these are the </a:t>
            </a:r>
            <a:r>
              <a:rPr lang="en-US" sz="3600" i="1" dirty="0"/>
              <a:t>right</a:t>
            </a:r>
            <a:r>
              <a:rPr lang="en-US" sz="3600" dirty="0"/>
              <a:t> books?”</a:t>
            </a:r>
          </a:p>
        </p:txBody>
      </p:sp>
      <p:sp>
        <p:nvSpPr>
          <p:cNvPr id="30" name="Oval Callout 29">
            <a:extLst>
              <a:ext uri="{FF2B5EF4-FFF2-40B4-BE49-F238E27FC236}">
                <a16:creationId xmlns:a16="http://schemas.microsoft.com/office/drawing/2014/main" id="{4A3698B8-D2CC-F4FD-6FAB-150D375B85DE}"/>
              </a:ext>
            </a:extLst>
          </p:cNvPr>
          <p:cNvSpPr/>
          <p:nvPr/>
        </p:nvSpPr>
        <p:spPr>
          <a:xfrm>
            <a:off x="2750808" y="347984"/>
            <a:ext cx="4612542" cy="2862524"/>
          </a:xfrm>
          <a:prstGeom prst="wedgeEllipseCallout">
            <a:avLst>
              <a:gd name="adj1" fmla="val -49485"/>
              <a:gd name="adj2" fmla="val 5943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“Because they were received by the church!”</a:t>
            </a:r>
          </a:p>
        </p:txBody>
      </p:sp>
    </p:spTree>
    <p:extLst>
      <p:ext uri="{BB962C8B-B14F-4D97-AF65-F5344CB8AC3E}">
        <p14:creationId xmlns:p14="http://schemas.microsoft.com/office/powerpoint/2010/main" val="880998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70833E-6 -0.01042 L -0.35495 -0.01042 " pathEditMode="relative" rAng="0" ptsTypes="AA">
                                      <p:cBhvr>
                                        <p:cTn id="6" dur="2000" fill="hold"/>
                                        <p:tgtEl>
                                          <p:spTgt spid="16"/>
                                        </p:tgtEl>
                                        <p:attrNameLst>
                                          <p:attrName>ppt_x</p:attrName>
                                          <p:attrName>ppt_y</p:attrName>
                                        </p:attrNameLst>
                                      </p:cBhvr>
                                      <p:rCtr x="-17747" y="0"/>
                                    </p:animMotion>
                                  </p:childTnLst>
                                </p:cTn>
                              </p:par>
                            </p:childTnLst>
                          </p:cTn>
                        </p:par>
                        <p:par>
                          <p:cTn id="7" fill="hold">
                            <p:stCondLst>
                              <p:cond delay="2000"/>
                            </p:stCondLst>
                            <p:childTnLst>
                              <p:par>
                                <p:cTn id="8" presetID="1" presetClass="exit" presetSubtype="0" fill="hold" nodeType="afterEffect">
                                  <p:stCondLst>
                                    <p:cond delay="0"/>
                                  </p:stCondLst>
                                  <p:childTnLst>
                                    <p:set>
                                      <p:cBhvr>
                                        <p:cTn id="9" dur="1" fill="hold">
                                          <p:stCondLst>
                                            <p:cond delay="0"/>
                                          </p:stCondLst>
                                        </p:cTn>
                                        <p:tgtEl>
                                          <p:spTgt spid="16"/>
                                        </p:tgtEl>
                                        <p:attrNameLst>
                                          <p:attrName>style.visibility</p:attrName>
                                        </p:attrNameLst>
                                      </p:cBhvr>
                                      <p:to>
                                        <p:strVal val="hidden"/>
                                      </p:to>
                                    </p:set>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par>
                          <p:cTn id="13" fill="hold">
                            <p:stCondLst>
                              <p:cond delay="2000"/>
                            </p:stCondLst>
                            <p:childTnLst>
                              <p:par>
                                <p:cTn id="14" presetID="22" presetClass="entr" presetSubtype="4"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down)">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down)">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wipe(down)">
                                      <p:cBhvr>
                                        <p:cTn id="3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8" grpId="0" animBg="1"/>
      <p:bldP spid="29" grpId="0" animBg="1"/>
      <p:bldP spid="30"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C974D-DAAD-D562-FB57-052512696B0D}"/>
            </a:ext>
          </a:extLst>
        </p:cNvPr>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736C2702-C6A0-5665-7D1E-33E110804D0A}"/>
              </a:ext>
            </a:extLst>
          </p:cNvPr>
          <p:cNvSpPr txBox="1">
            <a:spLocks/>
          </p:cNvSpPr>
          <p:nvPr/>
        </p:nvSpPr>
        <p:spPr>
          <a:xfrm>
            <a:off x="906780" y="-103578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 Church Created</a:t>
            </a:r>
          </a:p>
        </p:txBody>
      </p:sp>
      <p:sp>
        <p:nvSpPr>
          <p:cNvPr id="3" name="Content Placeholder 2">
            <a:extLst>
              <a:ext uri="{FF2B5EF4-FFF2-40B4-BE49-F238E27FC236}">
                <a16:creationId xmlns:a16="http://schemas.microsoft.com/office/drawing/2014/main" id="{3B9BC840-D31A-E6FA-BDBE-FE0332960A02}"/>
              </a:ext>
            </a:extLst>
          </p:cNvPr>
          <p:cNvSpPr>
            <a:spLocks noGrp="1"/>
          </p:cNvSpPr>
          <p:nvPr>
            <p:ph idx="1"/>
          </p:nvPr>
        </p:nvSpPr>
        <p:spPr>
          <a:xfrm>
            <a:off x="331470" y="-1734636"/>
            <a:ext cx="10746740" cy="695960"/>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79401B3A-5076-A995-3714-B8BF85C464A8}"/>
              </a:ext>
            </a:extLst>
          </p:cNvPr>
          <p:cNvSpPr txBox="1">
            <a:spLocks/>
          </p:cNvSpPr>
          <p:nvPr/>
        </p:nvSpPr>
        <p:spPr>
          <a:xfrm>
            <a:off x="902969" y="-103867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CD656333-E5C6-9888-17E7-77964A5A25BC}"/>
              </a:ext>
            </a:extLst>
          </p:cNvPr>
          <p:cNvSpPr txBox="1">
            <a:spLocks/>
          </p:cNvSpPr>
          <p:nvPr/>
        </p:nvSpPr>
        <p:spPr>
          <a:xfrm>
            <a:off x="331470" y="-1038676"/>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19" name="Content Placeholder 2">
            <a:extLst>
              <a:ext uri="{FF2B5EF4-FFF2-40B4-BE49-F238E27FC236}">
                <a16:creationId xmlns:a16="http://schemas.microsoft.com/office/drawing/2014/main" id="{469EC2C1-4825-E37E-F018-13D514622BBE}"/>
              </a:ext>
            </a:extLst>
          </p:cNvPr>
          <p:cNvSpPr txBox="1">
            <a:spLocks/>
          </p:cNvSpPr>
          <p:nvPr/>
        </p:nvSpPr>
        <p:spPr>
          <a:xfrm>
            <a:off x="902969" y="88854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4400" dirty="0"/>
          </a:p>
        </p:txBody>
      </p:sp>
      <p:sp>
        <p:nvSpPr>
          <p:cNvPr id="20" name="Content Placeholder 2">
            <a:extLst>
              <a:ext uri="{FF2B5EF4-FFF2-40B4-BE49-F238E27FC236}">
                <a16:creationId xmlns:a16="http://schemas.microsoft.com/office/drawing/2014/main" id="{4519C952-78C3-5838-04CC-55745F70D8DB}"/>
              </a:ext>
            </a:extLst>
          </p:cNvPr>
          <p:cNvSpPr txBox="1">
            <a:spLocks/>
          </p:cNvSpPr>
          <p:nvPr/>
        </p:nvSpPr>
        <p:spPr>
          <a:xfrm>
            <a:off x="838200" y="68072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Canonical-Critical Model</a:t>
            </a:r>
          </a:p>
        </p:txBody>
      </p:sp>
      <p:sp>
        <p:nvSpPr>
          <p:cNvPr id="21" name="Content Placeholder 2">
            <a:extLst>
              <a:ext uri="{FF2B5EF4-FFF2-40B4-BE49-F238E27FC236}">
                <a16:creationId xmlns:a16="http://schemas.microsoft.com/office/drawing/2014/main" id="{74C283F1-C774-7987-65FD-0F700376519B}"/>
              </a:ext>
            </a:extLst>
          </p:cNvPr>
          <p:cNvSpPr txBox="1">
            <a:spLocks/>
          </p:cNvSpPr>
          <p:nvPr/>
        </p:nvSpPr>
        <p:spPr>
          <a:xfrm>
            <a:off x="-847090" y="614840"/>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3.</a:t>
            </a:r>
          </a:p>
        </p:txBody>
      </p:sp>
      <p:sp>
        <p:nvSpPr>
          <p:cNvPr id="2" name="Content Placeholder 2">
            <a:extLst>
              <a:ext uri="{FF2B5EF4-FFF2-40B4-BE49-F238E27FC236}">
                <a16:creationId xmlns:a16="http://schemas.microsoft.com/office/drawing/2014/main" id="{3C0BFC87-3A5B-AA1E-B4E7-C0F750AA7C11}"/>
              </a:ext>
            </a:extLst>
          </p:cNvPr>
          <p:cNvSpPr txBox="1">
            <a:spLocks/>
          </p:cNvSpPr>
          <p:nvPr/>
        </p:nvSpPr>
        <p:spPr>
          <a:xfrm>
            <a:off x="38100" y="1636103"/>
            <a:ext cx="1219200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dirty="0"/>
              <a:t>Historical-Critical Method</a:t>
            </a:r>
          </a:p>
        </p:txBody>
      </p:sp>
      <p:sp>
        <p:nvSpPr>
          <p:cNvPr id="9" name="Rectangle 8">
            <a:extLst>
              <a:ext uri="{FF2B5EF4-FFF2-40B4-BE49-F238E27FC236}">
                <a16:creationId xmlns:a16="http://schemas.microsoft.com/office/drawing/2014/main" id="{2C903D57-0DA6-051F-DE5E-68F6CD800DBE}"/>
              </a:ext>
            </a:extLst>
          </p:cNvPr>
          <p:cNvSpPr/>
          <p:nvPr/>
        </p:nvSpPr>
        <p:spPr>
          <a:xfrm>
            <a:off x="887730" y="4145489"/>
            <a:ext cx="1049274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116AB8-F8BE-4E49-839D-5BB6E857BE1C}"/>
              </a:ext>
            </a:extLst>
          </p:cNvPr>
          <p:cNvSpPr/>
          <p:nvPr/>
        </p:nvSpPr>
        <p:spPr>
          <a:xfrm rot="16200000">
            <a:off x="796873" y="4374830"/>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32CC101-020A-B8BE-BCDF-0C0EE49AD15C}"/>
              </a:ext>
            </a:extLst>
          </p:cNvPr>
          <p:cNvSpPr/>
          <p:nvPr/>
        </p:nvSpPr>
        <p:spPr>
          <a:xfrm rot="16200000">
            <a:off x="11160238" y="4374828"/>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2" name="Picture 21" descr="Generated image: Stick Figure Presenting an Ancient Scroll">
            <a:extLst>
              <a:ext uri="{FF2B5EF4-FFF2-40B4-BE49-F238E27FC236}">
                <a16:creationId xmlns:a16="http://schemas.microsoft.com/office/drawing/2014/main" id="{DAB1FE0A-2C48-B6AE-4A55-65CBC0D3019E}"/>
              </a:ext>
            </a:extLst>
          </p:cNvPr>
          <p:cNvPicPr>
            <a:picLocks noChangeAspect="1"/>
          </p:cNvPicPr>
          <p:nvPr/>
        </p:nvPicPr>
        <p:blipFill rotWithShape="1">
          <a:blip r:embed="rId2"/>
          <a:srcRect l="36294" t="13897" r="20000" b="34902"/>
          <a:stretch>
            <a:fillRect/>
          </a:stretch>
        </p:blipFill>
        <p:spPr>
          <a:xfrm flipH="1">
            <a:off x="-256205" y="4440109"/>
            <a:ext cx="2418438" cy="2833173"/>
          </a:xfrm>
          <a:prstGeom prst="rect">
            <a:avLst/>
          </a:prstGeom>
        </p:spPr>
      </p:pic>
      <p:pic>
        <p:nvPicPr>
          <p:cNvPr id="23" name="Picture 22" descr="Generated image: Stick Figure Presenting an Ancient Scroll">
            <a:extLst>
              <a:ext uri="{FF2B5EF4-FFF2-40B4-BE49-F238E27FC236}">
                <a16:creationId xmlns:a16="http://schemas.microsoft.com/office/drawing/2014/main" id="{6668DFE2-5A29-5FF2-681F-BEE7093BBC6B}"/>
              </a:ext>
            </a:extLst>
          </p:cNvPr>
          <p:cNvPicPr>
            <a:picLocks noChangeAspect="1"/>
          </p:cNvPicPr>
          <p:nvPr/>
        </p:nvPicPr>
        <p:blipFill rotWithShape="1">
          <a:blip r:embed="rId2"/>
          <a:srcRect l="36294" t="13897" r="20000" b="34902"/>
          <a:stretch>
            <a:fillRect/>
          </a:stretch>
        </p:blipFill>
        <p:spPr>
          <a:xfrm flipH="1">
            <a:off x="10107159" y="4440109"/>
            <a:ext cx="2418439" cy="2833174"/>
          </a:xfrm>
          <a:prstGeom prst="rect">
            <a:avLst/>
          </a:prstGeom>
        </p:spPr>
      </p:pic>
      <p:sp>
        <p:nvSpPr>
          <p:cNvPr id="25" name="TextBox 24">
            <a:extLst>
              <a:ext uri="{FF2B5EF4-FFF2-40B4-BE49-F238E27FC236}">
                <a16:creationId xmlns:a16="http://schemas.microsoft.com/office/drawing/2014/main" id="{C12D59F0-2154-E4A5-59F9-BAD6807081BA}"/>
              </a:ext>
            </a:extLst>
          </p:cNvPr>
          <p:cNvSpPr txBox="1"/>
          <p:nvPr/>
        </p:nvSpPr>
        <p:spPr>
          <a:xfrm>
            <a:off x="-34893" y="4713809"/>
            <a:ext cx="2197126" cy="369332"/>
          </a:xfrm>
          <a:prstGeom prst="rect">
            <a:avLst/>
          </a:prstGeom>
          <a:noFill/>
        </p:spPr>
        <p:txBody>
          <a:bodyPr wrap="square" rtlCol="0">
            <a:spAutoFit/>
          </a:bodyPr>
          <a:lstStyle/>
          <a:p>
            <a:pPr algn="ctr"/>
            <a:r>
              <a:rPr lang="en-US" b="1" dirty="0"/>
              <a:t>First, Original Form</a:t>
            </a:r>
          </a:p>
        </p:txBody>
      </p:sp>
      <p:sp>
        <p:nvSpPr>
          <p:cNvPr id="26" name="TextBox 25">
            <a:extLst>
              <a:ext uri="{FF2B5EF4-FFF2-40B4-BE49-F238E27FC236}">
                <a16:creationId xmlns:a16="http://schemas.microsoft.com/office/drawing/2014/main" id="{BE4B91E1-FC66-1C39-77D2-F34233D559A3}"/>
              </a:ext>
            </a:extLst>
          </p:cNvPr>
          <p:cNvSpPr txBox="1"/>
          <p:nvPr/>
        </p:nvSpPr>
        <p:spPr>
          <a:xfrm>
            <a:off x="10217815" y="4710600"/>
            <a:ext cx="2197126" cy="369332"/>
          </a:xfrm>
          <a:prstGeom prst="rect">
            <a:avLst/>
          </a:prstGeom>
          <a:noFill/>
        </p:spPr>
        <p:txBody>
          <a:bodyPr wrap="square" rtlCol="0">
            <a:spAutoFit/>
          </a:bodyPr>
          <a:lstStyle/>
          <a:p>
            <a:pPr algn="ctr"/>
            <a:r>
              <a:rPr lang="en-US" b="1" dirty="0"/>
              <a:t>Final Form</a:t>
            </a:r>
          </a:p>
        </p:txBody>
      </p:sp>
      <p:sp>
        <p:nvSpPr>
          <p:cNvPr id="27" name="TextBox 26">
            <a:extLst>
              <a:ext uri="{FF2B5EF4-FFF2-40B4-BE49-F238E27FC236}">
                <a16:creationId xmlns:a16="http://schemas.microsoft.com/office/drawing/2014/main" id="{97D69C0B-362E-4193-5B73-F5FBADE76BD7}"/>
              </a:ext>
            </a:extLst>
          </p:cNvPr>
          <p:cNvSpPr txBox="1"/>
          <p:nvPr/>
        </p:nvSpPr>
        <p:spPr>
          <a:xfrm>
            <a:off x="0" y="3671194"/>
            <a:ext cx="2197126" cy="369332"/>
          </a:xfrm>
          <a:prstGeom prst="rect">
            <a:avLst/>
          </a:prstGeom>
          <a:noFill/>
        </p:spPr>
        <p:txBody>
          <a:bodyPr wrap="square" rtlCol="0">
            <a:spAutoFit/>
          </a:bodyPr>
          <a:lstStyle/>
          <a:p>
            <a:pPr algn="ctr"/>
            <a:r>
              <a:rPr lang="en-US" b="1" dirty="0"/>
              <a:t>1</a:t>
            </a:r>
            <a:r>
              <a:rPr lang="en-US" b="1" baseline="30000" dirty="0"/>
              <a:t>st</a:t>
            </a:r>
            <a:r>
              <a:rPr lang="en-US" b="1" dirty="0"/>
              <a:t> century AD</a:t>
            </a:r>
          </a:p>
        </p:txBody>
      </p:sp>
      <p:sp>
        <p:nvSpPr>
          <p:cNvPr id="28" name="TextBox 27">
            <a:extLst>
              <a:ext uri="{FF2B5EF4-FFF2-40B4-BE49-F238E27FC236}">
                <a16:creationId xmlns:a16="http://schemas.microsoft.com/office/drawing/2014/main" id="{4B883986-FF75-6FF3-766E-FB9F6F928364}"/>
              </a:ext>
            </a:extLst>
          </p:cNvPr>
          <p:cNvSpPr txBox="1"/>
          <p:nvPr/>
        </p:nvSpPr>
        <p:spPr>
          <a:xfrm>
            <a:off x="9979647" y="3671194"/>
            <a:ext cx="2197126" cy="369332"/>
          </a:xfrm>
          <a:prstGeom prst="rect">
            <a:avLst/>
          </a:prstGeom>
          <a:noFill/>
        </p:spPr>
        <p:txBody>
          <a:bodyPr wrap="square" rtlCol="0">
            <a:spAutoFit/>
          </a:bodyPr>
          <a:lstStyle/>
          <a:p>
            <a:pPr algn="ctr"/>
            <a:r>
              <a:rPr lang="en-US" b="1" dirty="0"/>
              <a:t>4</a:t>
            </a:r>
            <a:r>
              <a:rPr lang="en-US" b="1" baseline="30000" dirty="0"/>
              <a:t>th</a:t>
            </a:r>
            <a:r>
              <a:rPr lang="en-US" b="1" dirty="0"/>
              <a:t> century AD</a:t>
            </a:r>
          </a:p>
        </p:txBody>
      </p:sp>
      <p:sp>
        <p:nvSpPr>
          <p:cNvPr id="31" name="Rectangle 30">
            <a:extLst>
              <a:ext uri="{FF2B5EF4-FFF2-40B4-BE49-F238E27FC236}">
                <a16:creationId xmlns:a16="http://schemas.microsoft.com/office/drawing/2014/main" id="{8728AE64-5763-831A-D163-CA00BD0D876E}"/>
              </a:ext>
            </a:extLst>
          </p:cNvPr>
          <p:cNvSpPr/>
          <p:nvPr/>
        </p:nvSpPr>
        <p:spPr>
          <a:xfrm rot="16200000">
            <a:off x="3750224" y="4376861"/>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1E473A2-4C27-BBE2-CDDB-6A2A08B82F0D}"/>
              </a:ext>
            </a:extLst>
          </p:cNvPr>
          <p:cNvSpPr/>
          <p:nvPr/>
        </p:nvSpPr>
        <p:spPr>
          <a:xfrm rot="16200000">
            <a:off x="5468534" y="4369241"/>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A8054BA-E446-3B28-DC23-0B90D871BD87}"/>
              </a:ext>
            </a:extLst>
          </p:cNvPr>
          <p:cNvSpPr txBox="1"/>
          <p:nvPr/>
        </p:nvSpPr>
        <p:spPr>
          <a:xfrm>
            <a:off x="2807802" y="4637841"/>
            <a:ext cx="2197126" cy="369332"/>
          </a:xfrm>
          <a:prstGeom prst="rect">
            <a:avLst/>
          </a:prstGeom>
          <a:noFill/>
        </p:spPr>
        <p:txBody>
          <a:bodyPr wrap="square" rtlCol="0">
            <a:spAutoFit/>
          </a:bodyPr>
          <a:lstStyle/>
          <a:p>
            <a:pPr algn="ctr"/>
            <a:r>
              <a:rPr lang="en-US" b="1" dirty="0"/>
              <a:t>Edited</a:t>
            </a:r>
          </a:p>
        </p:txBody>
      </p:sp>
      <p:sp>
        <p:nvSpPr>
          <p:cNvPr id="35" name="TextBox 34">
            <a:extLst>
              <a:ext uri="{FF2B5EF4-FFF2-40B4-BE49-F238E27FC236}">
                <a16:creationId xmlns:a16="http://schemas.microsoft.com/office/drawing/2014/main" id="{5E5C2091-1DE6-B16F-0BCC-6EBB80FBC743}"/>
              </a:ext>
            </a:extLst>
          </p:cNvPr>
          <p:cNvSpPr txBox="1"/>
          <p:nvPr/>
        </p:nvSpPr>
        <p:spPr>
          <a:xfrm>
            <a:off x="4526112" y="4637841"/>
            <a:ext cx="2197126" cy="369332"/>
          </a:xfrm>
          <a:prstGeom prst="rect">
            <a:avLst/>
          </a:prstGeom>
          <a:noFill/>
        </p:spPr>
        <p:txBody>
          <a:bodyPr wrap="square" rtlCol="0">
            <a:spAutoFit/>
          </a:bodyPr>
          <a:lstStyle/>
          <a:p>
            <a:pPr algn="ctr"/>
            <a:r>
              <a:rPr lang="en-US" b="1" dirty="0"/>
              <a:t>Revised</a:t>
            </a:r>
          </a:p>
        </p:txBody>
      </p:sp>
      <p:sp>
        <p:nvSpPr>
          <p:cNvPr id="36" name="Rectangle 35">
            <a:extLst>
              <a:ext uri="{FF2B5EF4-FFF2-40B4-BE49-F238E27FC236}">
                <a16:creationId xmlns:a16="http://schemas.microsoft.com/office/drawing/2014/main" id="{33D3EBF0-A36D-BADD-328C-842E70730325}"/>
              </a:ext>
            </a:extLst>
          </p:cNvPr>
          <p:cNvSpPr/>
          <p:nvPr/>
        </p:nvSpPr>
        <p:spPr>
          <a:xfrm rot="16200000">
            <a:off x="6592484" y="4373051"/>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F483C884-072E-9475-D11A-90CA57042C3B}"/>
              </a:ext>
            </a:extLst>
          </p:cNvPr>
          <p:cNvSpPr txBox="1"/>
          <p:nvPr/>
        </p:nvSpPr>
        <p:spPr>
          <a:xfrm>
            <a:off x="5624675" y="4643982"/>
            <a:ext cx="2197126" cy="369332"/>
          </a:xfrm>
          <a:prstGeom prst="rect">
            <a:avLst/>
          </a:prstGeom>
          <a:noFill/>
        </p:spPr>
        <p:txBody>
          <a:bodyPr wrap="square" rtlCol="0">
            <a:spAutoFit/>
          </a:bodyPr>
          <a:lstStyle/>
          <a:p>
            <a:pPr algn="ctr"/>
            <a:r>
              <a:rPr lang="en-US" b="1" dirty="0"/>
              <a:t>Changed</a:t>
            </a:r>
          </a:p>
        </p:txBody>
      </p:sp>
      <p:sp>
        <p:nvSpPr>
          <p:cNvPr id="39" name="Rectangle 38">
            <a:extLst>
              <a:ext uri="{FF2B5EF4-FFF2-40B4-BE49-F238E27FC236}">
                <a16:creationId xmlns:a16="http://schemas.microsoft.com/office/drawing/2014/main" id="{888027E2-E85D-BB76-762A-671E2EBCED90}"/>
              </a:ext>
            </a:extLst>
          </p:cNvPr>
          <p:cNvSpPr/>
          <p:nvPr/>
        </p:nvSpPr>
        <p:spPr>
          <a:xfrm rot="16200000">
            <a:off x="7932754" y="4376864"/>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78CA2768-3A5E-915A-2C93-66D2EB30E9BF}"/>
              </a:ext>
            </a:extLst>
          </p:cNvPr>
          <p:cNvSpPr txBox="1"/>
          <p:nvPr/>
        </p:nvSpPr>
        <p:spPr>
          <a:xfrm>
            <a:off x="6990332" y="4603978"/>
            <a:ext cx="2197126" cy="369332"/>
          </a:xfrm>
          <a:prstGeom prst="rect">
            <a:avLst/>
          </a:prstGeom>
          <a:noFill/>
        </p:spPr>
        <p:txBody>
          <a:bodyPr wrap="square" rtlCol="0">
            <a:spAutoFit/>
          </a:bodyPr>
          <a:lstStyle/>
          <a:p>
            <a:pPr algn="ctr"/>
            <a:r>
              <a:rPr lang="en-US" b="1" dirty="0"/>
              <a:t>Edited</a:t>
            </a:r>
          </a:p>
        </p:txBody>
      </p:sp>
      <p:sp>
        <p:nvSpPr>
          <p:cNvPr id="44" name="Circular Arrow 43">
            <a:extLst>
              <a:ext uri="{FF2B5EF4-FFF2-40B4-BE49-F238E27FC236}">
                <a16:creationId xmlns:a16="http://schemas.microsoft.com/office/drawing/2014/main" id="{9F520B87-3D8A-176D-91E6-44C65A797D63}"/>
              </a:ext>
            </a:extLst>
          </p:cNvPr>
          <p:cNvSpPr/>
          <p:nvPr/>
        </p:nvSpPr>
        <p:spPr>
          <a:xfrm>
            <a:off x="1270000" y="2438400"/>
            <a:ext cx="9875520" cy="1181100"/>
          </a:xfrm>
          <a:custGeom>
            <a:avLst/>
            <a:gdLst/>
            <a:ahLst/>
            <a:cxnLst/>
            <a:rect l="0" t="0" r="r" b="b"/>
            <a:pathLst>
              <a:path w="9715500" h="1270000" fill="none">
                <a:moveTo>
                  <a:pt x="9715500" y="1270000"/>
                </a:moveTo>
                <a:cubicBezTo>
                  <a:pt x="8743950" y="-423333"/>
                  <a:pt x="971550" y="-423333"/>
                  <a:pt x="0" y="1270000"/>
                </a:cubicBezTo>
              </a:path>
            </a:pathLst>
          </a:custGeom>
          <a:noFill/>
          <a:ln w="101600" cap="rnd" cmpd="sng" algn="ctr">
            <a:solidFill>
              <a:srgbClr val="000000"/>
            </a:solidFill>
            <a:prstDash val="solid"/>
            <a:roun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 name="TextBox 3">
            <a:extLst>
              <a:ext uri="{FF2B5EF4-FFF2-40B4-BE49-F238E27FC236}">
                <a16:creationId xmlns:a16="http://schemas.microsoft.com/office/drawing/2014/main" id="{E5EF0A14-8940-0C3F-C0B6-D986E10D7A1A}"/>
              </a:ext>
            </a:extLst>
          </p:cNvPr>
          <p:cNvSpPr txBox="1"/>
          <p:nvPr/>
        </p:nvSpPr>
        <p:spPr>
          <a:xfrm>
            <a:off x="2440145" y="2908509"/>
            <a:ext cx="7387909" cy="1077218"/>
          </a:xfrm>
          <a:prstGeom prst="rect">
            <a:avLst/>
          </a:prstGeom>
          <a:noFill/>
        </p:spPr>
        <p:txBody>
          <a:bodyPr wrap="square" rtlCol="0">
            <a:spAutoFit/>
          </a:bodyPr>
          <a:lstStyle/>
          <a:p>
            <a:pPr algn="ctr"/>
            <a:r>
              <a:rPr lang="en-US" sz="3200" b="1" dirty="0"/>
              <a:t>“We want to figure out this!”</a:t>
            </a:r>
            <a:br>
              <a:rPr lang="en-US" sz="3200" b="1" dirty="0"/>
            </a:br>
            <a:r>
              <a:rPr lang="en-US" sz="3200" b="1" dirty="0"/>
              <a:t>“What is the </a:t>
            </a:r>
            <a:r>
              <a:rPr lang="en-US" sz="3200" b="1" i="1" dirty="0"/>
              <a:t>earliest</a:t>
            </a:r>
            <a:r>
              <a:rPr lang="en-US" sz="3200" b="1" dirty="0"/>
              <a:t> layer of the text?”</a:t>
            </a:r>
          </a:p>
        </p:txBody>
      </p:sp>
      <p:pic>
        <p:nvPicPr>
          <p:cNvPr id="8" name="Picture 7">
            <a:extLst>
              <a:ext uri="{FF2B5EF4-FFF2-40B4-BE49-F238E27FC236}">
                <a16:creationId xmlns:a16="http://schemas.microsoft.com/office/drawing/2014/main" id="{C80E0751-EE7D-E295-CC74-AD5FBA90FC8A}"/>
              </a:ext>
            </a:extLst>
          </p:cNvPr>
          <p:cNvPicPr>
            <a:picLocks noChangeAspect="1"/>
          </p:cNvPicPr>
          <p:nvPr/>
        </p:nvPicPr>
        <p:blipFill rotWithShape="1">
          <a:blip r:embed="rId3"/>
          <a:srcRect l="26675" r="22699"/>
          <a:stretch>
            <a:fillRect/>
          </a:stretch>
        </p:blipFill>
        <p:spPr>
          <a:xfrm>
            <a:off x="12479033" y="3110373"/>
            <a:ext cx="3175070" cy="3424267"/>
          </a:xfrm>
          <a:prstGeom prst="rect">
            <a:avLst/>
          </a:prstGeom>
        </p:spPr>
      </p:pic>
      <p:sp>
        <p:nvSpPr>
          <p:cNvPr id="11" name="Head Fill">
            <a:extLst>
              <a:ext uri="{FF2B5EF4-FFF2-40B4-BE49-F238E27FC236}">
                <a16:creationId xmlns:a16="http://schemas.microsoft.com/office/drawing/2014/main" id="{D3E73DDB-B28F-3F44-A834-0AB998248B84}"/>
              </a:ext>
            </a:extLst>
          </p:cNvPr>
          <p:cNvSpPr/>
          <p:nvPr/>
        </p:nvSpPr>
        <p:spPr>
          <a:xfrm>
            <a:off x="13512800" y="3327400"/>
            <a:ext cx="508000" cy="508000"/>
          </a:xfrm>
          <a:prstGeom prst="ellipse">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45" name="Picture 7">
            <a:extLst>
              <a:ext uri="{FF2B5EF4-FFF2-40B4-BE49-F238E27FC236}">
                <a16:creationId xmlns:a16="http://schemas.microsoft.com/office/drawing/2014/main" id="{08BB8A67-D25D-30C1-B17B-AE2D3332C740}"/>
              </a:ext>
            </a:extLst>
          </p:cNvPr>
          <p:cNvPicPr>
            <a:picLocks noChangeAspect="1"/>
          </p:cNvPicPr>
          <p:nvPr/>
        </p:nvPicPr>
        <p:blipFill rotWithShape="1">
          <a:blip r:embed="rId3">
            <a:clrChange>
              <a:clrFrom>
                <a:srgbClr val="FFFFFF"/>
              </a:clrFrom>
              <a:clrTo>
                <a:srgbClr val="FFFFFF">
                  <a:alpha val="0"/>
                </a:srgbClr>
              </a:clrTo>
            </a:clrChange>
          </a:blip>
          <a:srcRect l="26675" r="22699"/>
          <a:stretch>
            <a:fillRect/>
          </a:stretch>
        </p:blipFill>
        <p:spPr>
          <a:xfrm>
            <a:off x="12293600" y="3111500"/>
            <a:ext cx="3175070" cy="3424267"/>
          </a:xfrm>
          <a:prstGeom prst="rect">
            <a:avLst/>
          </a:prstGeom>
        </p:spPr>
      </p:pic>
      <p:sp>
        <p:nvSpPr>
          <p:cNvPr id="5" name="TextBox 4">
            <a:extLst>
              <a:ext uri="{FF2B5EF4-FFF2-40B4-BE49-F238E27FC236}">
                <a16:creationId xmlns:a16="http://schemas.microsoft.com/office/drawing/2014/main" id="{FC3CA501-A4F1-F63F-DCD0-327C1B989FF1}"/>
              </a:ext>
            </a:extLst>
          </p:cNvPr>
          <p:cNvSpPr txBox="1"/>
          <p:nvPr/>
        </p:nvSpPr>
        <p:spPr>
          <a:xfrm>
            <a:off x="13627100" y="2387600"/>
            <a:ext cx="1244600" cy="523220"/>
          </a:xfrm>
          <a:prstGeom prst="rect">
            <a:avLst/>
          </a:prstGeom>
          <a:noFill/>
        </p:spPr>
        <p:txBody>
          <a:bodyPr wrap="none" lIns="0" rIns="0" rtlCol="0">
            <a:spAutoFit/>
          </a:bodyPr>
          <a:lstStyle/>
          <a:p>
            <a:pPr algn="ctr"/>
            <a:r>
              <a:rPr lang="en-US" sz="2800" b="1" dirty="0"/>
              <a:t>Childs</a:t>
            </a:r>
          </a:p>
        </p:txBody>
      </p:sp>
    </p:spTree>
    <p:extLst>
      <p:ext uri="{BB962C8B-B14F-4D97-AF65-F5344CB8AC3E}">
        <p14:creationId xmlns:p14="http://schemas.microsoft.com/office/powerpoint/2010/main" val="3164734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500"/>
                                        <p:tgtEl>
                                          <p:spTgt spid="3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up)">
                                      <p:cBhvr>
                                        <p:cTn id="11" dur="500"/>
                                        <p:tgtEl>
                                          <p:spTgt spid="34"/>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up)">
                                      <p:cBhvr>
                                        <p:cTn id="15" dur="500"/>
                                        <p:tgtEl>
                                          <p:spTgt spid="33"/>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ipe(up)">
                                      <p:cBhvr>
                                        <p:cTn id="19" dur="500"/>
                                        <p:tgtEl>
                                          <p:spTgt spid="35"/>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wipe(up)">
                                      <p:cBhvr>
                                        <p:cTn id="23" dur="500"/>
                                        <p:tgtEl>
                                          <p:spTgt spid="36"/>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up)">
                                      <p:cBhvr>
                                        <p:cTn id="27" dur="500"/>
                                        <p:tgtEl>
                                          <p:spTgt spid="37"/>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up)">
                                      <p:cBhvr>
                                        <p:cTn id="31" dur="500"/>
                                        <p:tgtEl>
                                          <p:spTgt spid="39"/>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wipe(up)">
                                      <p:cBhvr>
                                        <p:cTn id="35" dur="500"/>
                                        <p:tgtEl>
                                          <p:spTgt spid="4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wipe(right)">
                                      <p:cBhvr>
                                        <p:cTn id="40" dur="500"/>
                                        <p:tgtEl>
                                          <p:spTgt spid="44"/>
                                        </p:tgtEl>
                                      </p:cBhvr>
                                    </p:animEffect>
                                  </p:childTnLst>
                                </p:cTn>
                              </p:par>
                            </p:childTnLst>
                          </p:cTn>
                        </p:par>
                        <p:par>
                          <p:cTn id="41" fill="hold">
                            <p:stCondLst>
                              <p:cond delay="500"/>
                            </p:stCondLst>
                            <p:childTnLst>
                              <p:par>
                                <p:cTn id="42" presetID="1" presetClass="entr" presetSubtype="0" fill="hold" nodeType="afterEffect">
                                  <p:stCondLst>
                                    <p:cond delay="0"/>
                                  </p:stCondLst>
                                  <p:childTnLst>
                                    <p:set>
                                      <p:cBhvr>
                                        <p:cTn id="43"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3" grpId="0" animBg="1"/>
      <p:bldP spid="34" grpId="0"/>
      <p:bldP spid="35" grpId="0"/>
      <p:bldP spid="36" grpId="0" animBg="1"/>
      <p:bldP spid="37" grpId="0"/>
      <p:bldP spid="39" grpId="0" animBg="1"/>
      <p:bldP spid="40" grpId="0"/>
      <p:bldP spid="44"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C974D-DAAD-D562-FB57-052512696B0D}"/>
            </a:ext>
          </a:extLst>
        </p:cNvPr>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736C2702-C6A0-5665-7D1E-33E110804D0A}"/>
              </a:ext>
            </a:extLst>
          </p:cNvPr>
          <p:cNvSpPr txBox="1">
            <a:spLocks/>
          </p:cNvSpPr>
          <p:nvPr/>
        </p:nvSpPr>
        <p:spPr>
          <a:xfrm>
            <a:off x="906780" y="-103578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 Church Created</a:t>
            </a:r>
          </a:p>
        </p:txBody>
      </p:sp>
      <p:sp>
        <p:nvSpPr>
          <p:cNvPr id="3" name="Content Placeholder 2">
            <a:extLst>
              <a:ext uri="{FF2B5EF4-FFF2-40B4-BE49-F238E27FC236}">
                <a16:creationId xmlns:a16="http://schemas.microsoft.com/office/drawing/2014/main" id="{3B9BC840-D31A-E6FA-BDBE-FE0332960A02}"/>
              </a:ext>
            </a:extLst>
          </p:cNvPr>
          <p:cNvSpPr>
            <a:spLocks noGrp="1"/>
          </p:cNvSpPr>
          <p:nvPr>
            <p:ph idx="1"/>
          </p:nvPr>
        </p:nvSpPr>
        <p:spPr>
          <a:xfrm>
            <a:off x="331470" y="-1734636"/>
            <a:ext cx="10746740" cy="695960"/>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79401B3A-5076-A995-3714-B8BF85C464A8}"/>
              </a:ext>
            </a:extLst>
          </p:cNvPr>
          <p:cNvSpPr txBox="1">
            <a:spLocks/>
          </p:cNvSpPr>
          <p:nvPr/>
        </p:nvSpPr>
        <p:spPr>
          <a:xfrm>
            <a:off x="902969" y="-103867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CD656333-E5C6-9888-17E7-77964A5A25BC}"/>
              </a:ext>
            </a:extLst>
          </p:cNvPr>
          <p:cNvSpPr txBox="1">
            <a:spLocks/>
          </p:cNvSpPr>
          <p:nvPr/>
        </p:nvSpPr>
        <p:spPr>
          <a:xfrm>
            <a:off x="331470" y="-1038676"/>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19" name="Content Placeholder 2">
            <a:extLst>
              <a:ext uri="{FF2B5EF4-FFF2-40B4-BE49-F238E27FC236}">
                <a16:creationId xmlns:a16="http://schemas.microsoft.com/office/drawing/2014/main" id="{469EC2C1-4825-E37E-F018-13D514622BBE}"/>
              </a:ext>
            </a:extLst>
          </p:cNvPr>
          <p:cNvSpPr txBox="1">
            <a:spLocks/>
          </p:cNvSpPr>
          <p:nvPr/>
        </p:nvSpPr>
        <p:spPr>
          <a:xfrm>
            <a:off x="902969" y="88854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4400" dirty="0"/>
          </a:p>
        </p:txBody>
      </p:sp>
      <p:sp>
        <p:nvSpPr>
          <p:cNvPr id="20" name="Content Placeholder 2">
            <a:extLst>
              <a:ext uri="{FF2B5EF4-FFF2-40B4-BE49-F238E27FC236}">
                <a16:creationId xmlns:a16="http://schemas.microsoft.com/office/drawing/2014/main" id="{4519C952-78C3-5838-04CC-55745F70D8DB}"/>
              </a:ext>
            </a:extLst>
          </p:cNvPr>
          <p:cNvSpPr txBox="1">
            <a:spLocks/>
          </p:cNvSpPr>
          <p:nvPr/>
        </p:nvSpPr>
        <p:spPr>
          <a:xfrm>
            <a:off x="838200" y="68072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Canonical-Critical Model</a:t>
            </a:r>
          </a:p>
        </p:txBody>
      </p:sp>
      <p:sp>
        <p:nvSpPr>
          <p:cNvPr id="21" name="Content Placeholder 2">
            <a:extLst>
              <a:ext uri="{FF2B5EF4-FFF2-40B4-BE49-F238E27FC236}">
                <a16:creationId xmlns:a16="http://schemas.microsoft.com/office/drawing/2014/main" id="{74C283F1-C774-7987-65FD-0F700376519B}"/>
              </a:ext>
            </a:extLst>
          </p:cNvPr>
          <p:cNvSpPr txBox="1">
            <a:spLocks/>
          </p:cNvSpPr>
          <p:nvPr/>
        </p:nvSpPr>
        <p:spPr>
          <a:xfrm>
            <a:off x="-847090" y="614840"/>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3.</a:t>
            </a:r>
          </a:p>
        </p:txBody>
      </p:sp>
      <p:sp>
        <p:nvSpPr>
          <p:cNvPr id="2" name="Content Placeholder 2">
            <a:extLst>
              <a:ext uri="{FF2B5EF4-FFF2-40B4-BE49-F238E27FC236}">
                <a16:creationId xmlns:a16="http://schemas.microsoft.com/office/drawing/2014/main" id="{3C0BFC87-3A5B-AA1E-B4E7-C0F750AA7C11}"/>
              </a:ext>
            </a:extLst>
          </p:cNvPr>
          <p:cNvSpPr txBox="1">
            <a:spLocks/>
          </p:cNvSpPr>
          <p:nvPr/>
        </p:nvSpPr>
        <p:spPr>
          <a:xfrm>
            <a:off x="38100" y="1636103"/>
            <a:ext cx="1219200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dirty="0"/>
              <a:t>Historical-Critical Method</a:t>
            </a:r>
          </a:p>
        </p:txBody>
      </p:sp>
      <p:sp>
        <p:nvSpPr>
          <p:cNvPr id="9" name="Rectangle 8">
            <a:extLst>
              <a:ext uri="{FF2B5EF4-FFF2-40B4-BE49-F238E27FC236}">
                <a16:creationId xmlns:a16="http://schemas.microsoft.com/office/drawing/2014/main" id="{2C903D57-0DA6-051F-DE5E-68F6CD800DBE}"/>
              </a:ext>
            </a:extLst>
          </p:cNvPr>
          <p:cNvSpPr/>
          <p:nvPr/>
        </p:nvSpPr>
        <p:spPr>
          <a:xfrm>
            <a:off x="887730" y="4145489"/>
            <a:ext cx="1049274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116AB8-F8BE-4E49-839D-5BB6E857BE1C}"/>
              </a:ext>
            </a:extLst>
          </p:cNvPr>
          <p:cNvSpPr/>
          <p:nvPr/>
        </p:nvSpPr>
        <p:spPr>
          <a:xfrm rot="16200000">
            <a:off x="796873" y="4374830"/>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32CC101-020A-B8BE-BCDF-0C0EE49AD15C}"/>
              </a:ext>
            </a:extLst>
          </p:cNvPr>
          <p:cNvSpPr/>
          <p:nvPr/>
        </p:nvSpPr>
        <p:spPr>
          <a:xfrm rot="16200000">
            <a:off x="11160238" y="4374828"/>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2" name="Picture 21" descr="Generated image: Stick Figure Presenting an Ancient Scroll">
            <a:extLst>
              <a:ext uri="{FF2B5EF4-FFF2-40B4-BE49-F238E27FC236}">
                <a16:creationId xmlns:a16="http://schemas.microsoft.com/office/drawing/2014/main" id="{DAB1FE0A-2C48-B6AE-4A55-65CBC0D3019E}"/>
              </a:ext>
            </a:extLst>
          </p:cNvPr>
          <p:cNvPicPr>
            <a:picLocks noChangeAspect="1"/>
          </p:cNvPicPr>
          <p:nvPr/>
        </p:nvPicPr>
        <p:blipFill rotWithShape="1">
          <a:blip r:embed="rId2"/>
          <a:srcRect l="36294" t="13897" r="20000" b="34902"/>
          <a:stretch>
            <a:fillRect/>
          </a:stretch>
        </p:blipFill>
        <p:spPr>
          <a:xfrm flipH="1">
            <a:off x="-256205" y="4440109"/>
            <a:ext cx="2418438" cy="2833173"/>
          </a:xfrm>
          <a:prstGeom prst="rect">
            <a:avLst/>
          </a:prstGeom>
        </p:spPr>
      </p:pic>
      <p:pic>
        <p:nvPicPr>
          <p:cNvPr id="23" name="Picture 22" descr="Generated image: Stick Figure Presenting an Ancient Scroll">
            <a:extLst>
              <a:ext uri="{FF2B5EF4-FFF2-40B4-BE49-F238E27FC236}">
                <a16:creationId xmlns:a16="http://schemas.microsoft.com/office/drawing/2014/main" id="{6668DFE2-5A29-5FF2-681F-BEE7093BBC6B}"/>
              </a:ext>
            </a:extLst>
          </p:cNvPr>
          <p:cNvPicPr>
            <a:picLocks noChangeAspect="1"/>
          </p:cNvPicPr>
          <p:nvPr/>
        </p:nvPicPr>
        <p:blipFill rotWithShape="1">
          <a:blip r:embed="rId2"/>
          <a:srcRect l="36294" t="13897" r="20000" b="34902"/>
          <a:stretch>
            <a:fillRect/>
          </a:stretch>
        </p:blipFill>
        <p:spPr>
          <a:xfrm flipH="1">
            <a:off x="10107159" y="4440109"/>
            <a:ext cx="2418439" cy="2833174"/>
          </a:xfrm>
          <a:prstGeom prst="rect">
            <a:avLst/>
          </a:prstGeom>
        </p:spPr>
      </p:pic>
      <p:sp>
        <p:nvSpPr>
          <p:cNvPr id="25" name="TextBox 24">
            <a:extLst>
              <a:ext uri="{FF2B5EF4-FFF2-40B4-BE49-F238E27FC236}">
                <a16:creationId xmlns:a16="http://schemas.microsoft.com/office/drawing/2014/main" id="{C12D59F0-2154-E4A5-59F9-BAD6807081BA}"/>
              </a:ext>
            </a:extLst>
          </p:cNvPr>
          <p:cNvSpPr txBox="1"/>
          <p:nvPr/>
        </p:nvSpPr>
        <p:spPr>
          <a:xfrm>
            <a:off x="-34893" y="4713809"/>
            <a:ext cx="2197126" cy="369332"/>
          </a:xfrm>
          <a:prstGeom prst="rect">
            <a:avLst/>
          </a:prstGeom>
          <a:noFill/>
        </p:spPr>
        <p:txBody>
          <a:bodyPr wrap="square" rtlCol="0">
            <a:spAutoFit/>
          </a:bodyPr>
          <a:lstStyle/>
          <a:p>
            <a:pPr algn="ctr"/>
            <a:r>
              <a:rPr lang="en-US" b="1" dirty="0"/>
              <a:t>First, Original Form</a:t>
            </a:r>
          </a:p>
        </p:txBody>
      </p:sp>
      <p:sp>
        <p:nvSpPr>
          <p:cNvPr id="26" name="TextBox 25">
            <a:extLst>
              <a:ext uri="{FF2B5EF4-FFF2-40B4-BE49-F238E27FC236}">
                <a16:creationId xmlns:a16="http://schemas.microsoft.com/office/drawing/2014/main" id="{BE4B91E1-FC66-1C39-77D2-F34233D559A3}"/>
              </a:ext>
            </a:extLst>
          </p:cNvPr>
          <p:cNvSpPr txBox="1"/>
          <p:nvPr/>
        </p:nvSpPr>
        <p:spPr>
          <a:xfrm>
            <a:off x="10217815" y="4710600"/>
            <a:ext cx="2197126" cy="369332"/>
          </a:xfrm>
          <a:prstGeom prst="rect">
            <a:avLst/>
          </a:prstGeom>
          <a:noFill/>
        </p:spPr>
        <p:txBody>
          <a:bodyPr wrap="square" rtlCol="0">
            <a:spAutoFit/>
          </a:bodyPr>
          <a:lstStyle/>
          <a:p>
            <a:pPr algn="ctr"/>
            <a:r>
              <a:rPr lang="en-US" b="1" dirty="0"/>
              <a:t>Final Form</a:t>
            </a:r>
          </a:p>
        </p:txBody>
      </p:sp>
      <p:sp>
        <p:nvSpPr>
          <p:cNvPr id="27" name="TextBox 26">
            <a:extLst>
              <a:ext uri="{FF2B5EF4-FFF2-40B4-BE49-F238E27FC236}">
                <a16:creationId xmlns:a16="http://schemas.microsoft.com/office/drawing/2014/main" id="{97D69C0B-362E-4193-5B73-F5FBADE76BD7}"/>
              </a:ext>
            </a:extLst>
          </p:cNvPr>
          <p:cNvSpPr txBox="1"/>
          <p:nvPr/>
        </p:nvSpPr>
        <p:spPr>
          <a:xfrm>
            <a:off x="0" y="3671194"/>
            <a:ext cx="2197126" cy="369332"/>
          </a:xfrm>
          <a:prstGeom prst="rect">
            <a:avLst/>
          </a:prstGeom>
          <a:noFill/>
        </p:spPr>
        <p:txBody>
          <a:bodyPr wrap="square" rtlCol="0">
            <a:spAutoFit/>
          </a:bodyPr>
          <a:lstStyle/>
          <a:p>
            <a:pPr algn="ctr"/>
            <a:r>
              <a:rPr lang="en-US" b="1" dirty="0"/>
              <a:t>1</a:t>
            </a:r>
            <a:r>
              <a:rPr lang="en-US" b="1" baseline="30000" dirty="0"/>
              <a:t>st</a:t>
            </a:r>
            <a:r>
              <a:rPr lang="en-US" b="1" dirty="0"/>
              <a:t> century AD</a:t>
            </a:r>
          </a:p>
        </p:txBody>
      </p:sp>
      <p:sp>
        <p:nvSpPr>
          <p:cNvPr id="28" name="TextBox 27">
            <a:extLst>
              <a:ext uri="{FF2B5EF4-FFF2-40B4-BE49-F238E27FC236}">
                <a16:creationId xmlns:a16="http://schemas.microsoft.com/office/drawing/2014/main" id="{4B883986-FF75-6FF3-766E-FB9F6F928364}"/>
              </a:ext>
            </a:extLst>
          </p:cNvPr>
          <p:cNvSpPr txBox="1"/>
          <p:nvPr/>
        </p:nvSpPr>
        <p:spPr>
          <a:xfrm>
            <a:off x="9979647" y="3671194"/>
            <a:ext cx="2197126" cy="369332"/>
          </a:xfrm>
          <a:prstGeom prst="rect">
            <a:avLst/>
          </a:prstGeom>
          <a:noFill/>
        </p:spPr>
        <p:txBody>
          <a:bodyPr wrap="square" rtlCol="0">
            <a:spAutoFit/>
          </a:bodyPr>
          <a:lstStyle/>
          <a:p>
            <a:pPr algn="ctr"/>
            <a:r>
              <a:rPr lang="en-US" b="1" dirty="0"/>
              <a:t>4</a:t>
            </a:r>
            <a:r>
              <a:rPr lang="en-US" b="1" baseline="30000" dirty="0"/>
              <a:t>th</a:t>
            </a:r>
            <a:r>
              <a:rPr lang="en-US" b="1" dirty="0"/>
              <a:t> century AD</a:t>
            </a:r>
          </a:p>
        </p:txBody>
      </p:sp>
      <p:sp>
        <p:nvSpPr>
          <p:cNvPr id="31" name="Rectangle 30">
            <a:extLst>
              <a:ext uri="{FF2B5EF4-FFF2-40B4-BE49-F238E27FC236}">
                <a16:creationId xmlns:a16="http://schemas.microsoft.com/office/drawing/2014/main" id="{8728AE64-5763-831A-D163-CA00BD0D876E}"/>
              </a:ext>
            </a:extLst>
          </p:cNvPr>
          <p:cNvSpPr/>
          <p:nvPr/>
        </p:nvSpPr>
        <p:spPr>
          <a:xfrm rot="16200000">
            <a:off x="3750224" y="4376861"/>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1E473A2-4C27-BBE2-CDDB-6A2A08B82F0D}"/>
              </a:ext>
            </a:extLst>
          </p:cNvPr>
          <p:cNvSpPr/>
          <p:nvPr/>
        </p:nvSpPr>
        <p:spPr>
          <a:xfrm rot="16200000">
            <a:off x="5468534" y="4369241"/>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A8054BA-E446-3B28-DC23-0B90D871BD87}"/>
              </a:ext>
            </a:extLst>
          </p:cNvPr>
          <p:cNvSpPr txBox="1"/>
          <p:nvPr/>
        </p:nvSpPr>
        <p:spPr>
          <a:xfrm>
            <a:off x="2807802" y="4637841"/>
            <a:ext cx="2197126" cy="369332"/>
          </a:xfrm>
          <a:prstGeom prst="rect">
            <a:avLst/>
          </a:prstGeom>
          <a:noFill/>
        </p:spPr>
        <p:txBody>
          <a:bodyPr wrap="square" rtlCol="0">
            <a:spAutoFit/>
          </a:bodyPr>
          <a:lstStyle/>
          <a:p>
            <a:pPr algn="ctr"/>
            <a:r>
              <a:rPr lang="en-US" b="1" dirty="0"/>
              <a:t>Edited</a:t>
            </a:r>
          </a:p>
        </p:txBody>
      </p:sp>
      <p:sp>
        <p:nvSpPr>
          <p:cNvPr id="35" name="TextBox 34">
            <a:extLst>
              <a:ext uri="{FF2B5EF4-FFF2-40B4-BE49-F238E27FC236}">
                <a16:creationId xmlns:a16="http://schemas.microsoft.com/office/drawing/2014/main" id="{5E5C2091-1DE6-B16F-0BCC-6EBB80FBC743}"/>
              </a:ext>
            </a:extLst>
          </p:cNvPr>
          <p:cNvSpPr txBox="1"/>
          <p:nvPr/>
        </p:nvSpPr>
        <p:spPr>
          <a:xfrm>
            <a:off x="4526112" y="4637841"/>
            <a:ext cx="2197126" cy="369332"/>
          </a:xfrm>
          <a:prstGeom prst="rect">
            <a:avLst/>
          </a:prstGeom>
          <a:noFill/>
        </p:spPr>
        <p:txBody>
          <a:bodyPr wrap="square" rtlCol="0">
            <a:spAutoFit/>
          </a:bodyPr>
          <a:lstStyle/>
          <a:p>
            <a:pPr algn="ctr"/>
            <a:r>
              <a:rPr lang="en-US" b="1" dirty="0"/>
              <a:t>Revised</a:t>
            </a:r>
          </a:p>
        </p:txBody>
      </p:sp>
      <p:sp>
        <p:nvSpPr>
          <p:cNvPr id="36" name="Rectangle 35">
            <a:extLst>
              <a:ext uri="{FF2B5EF4-FFF2-40B4-BE49-F238E27FC236}">
                <a16:creationId xmlns:a16="http://schemas.microsoft.com/office/drawing/2014/main" id="{33D3EBF0-A36D-BADD-328C-842E70730325}"/>
              </a:ext>
            </a:extLst>
          </p:cNvPr>
          <p:cNvSpPr/>
          <p:nvPr/>
        </p:nvSpPr>
        <p:spPr>
          <a:xfrm rot="16200000">
            <a:off x="6592484" y="4373051"/>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F483C884-072E-9475-D11A-90CA57042C3B}"/>
              </a:ext>
            </a:extLst>
          </p:cNvPr>
          <p:cNvSpPr txBox="1"/>
          <p:nvPr/>
        </p:nvSpPr>
        <p:spPr>
          <a:xfrm>
            <a:off x="5624675" y="4643982"/>
            <a:ext cx="2197126" cy="369332"/>
          </a:xfrm>
          <a:prstGeom prst="rect">
            <a:avLst/>
          </a:prstGeom>
          <a:noFill/>
        </p:spPr>
        <p:txBody>
          <a:bodyPr wrap="square" rtlCol="0">
            <a:spAutoFit/>
          </a:bodyPr>
          <a:lstStyle/>
          <a:p>
            <a:pPr algn="ctr"/>
            <a:r>
              <a:rPr lang="en-US" b="1" dirty="0"/>
              <a:t>Changed</a:t>
            </a:r>
          </a:p>
        </p:txBody>
      </p:sp>
      <p:sp>
        <p:nvSpPr>
          <p:cNvPr id="39" name="Rectangle 38">
            <a:extLst>
              <a:ext uri="{FF2B5EF4-FFF2-40B4-BE49-F238E27FC236}">
                <a16:creationId xmlns:a16="http://schemas.microsoft.com/office/drawing/2014/main" id="{888027E2-E85D-BB76-762A-671E2EBCED90}"/>
              </a:ext>
            </a:extLst>
          </p:cNvPr>
          <p:cNvSpPr/>
          <p:nvPr/>
        </p:nvSpPr>
        <p:spPr>
          <a:xfrm rot="16200000">
            <a:off x="7932754" y="4376864"/>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78CA2768-3A5E-915A-2C93-66D2EB30E9BF}"/>
              </a:ext>
            </a:extLst>
          </p:cNvPr>
          <p:cNvSpPr txBox="1"/>
          <p:nvPr/>
        </p:nvSpPr>
        <p:spPr>
          <a:xfrm>
            <a:off x="6990332" y="4603978"/>
            <a:ext cx="2197126" cy="369332"/>
          </a:xfrm>
          <a:prstGeom prst="rect">
            <a:avLst/>
          </a:prstGeom>
          <a:noFill/>
        </p:spPr>
        <p:txBody>
          <a:bodyPr wrap="square" rtlCol="0">
            <a:spAutoFit/>
          </a:bodyPr>
          <a:lstStyle/>
          <a:p>
            <a:pPr algn="ctr"/>
            <a:r>
              <a:rPr lang="en-US" b="1" dirty="0"/>
              <a:t>Edited</a:t>
            </a:r>
          </a:p>
        </p:txBody>
      </p:sp>
      <p:sp>
        <p:nvSpPr>
          <p:cNvPr id="44" name="Circular Arrow 43">
            <a:extLst>
              <a:ext uri="{FF2B5EF4-FFF2-40B4-BE49-F238E27FC236}">
                <a16:creationId xmlns:a16="http://schemas.microsoft.com/office/drawing/2014/main" id="{9F520B87-3D8A-176D-91E6-44C65A797D63}"/>
              </a:ext>
            </a:extLst>
          </p:cNvPr>
          <p:cNvSpPr/>
          <p:nvPr/>
        </p:nvSpPr>
        <p:spPr>
          <a:xfrm>
            <a:off x="1270000" y="2438400"/>
            <a:ext cx="9875520" cy="1181100"/>
          </a:xfrm>
          <a:custGeom>
            <a:avLst/>
            <a:gdLst/>
            <a:ahLst/>
            <a:cxnLst/>
            <a:rect l="0" t="0" r="r" b="b"/>
            <a:pathLst>
              <a:path w="9715500" h="1270000" fill="none">
                <a:moveTo>
                  <a:pt x="9715500" y="1270000"/>
                </a:moveTo>
                <a:cubicBezTo>
                  <a:pt x="8743950" y="-423333"/>
                  <a:pt x="971550" y="-423333"/>
                  <a:pt x="0" y="1270000"/>
                </a:cubicBezTo>
              </a:path>
            </a:pathLst>
          </a:custGeom>
          <a:noFill/>
          <a:ln w="101600" cap="rnd" cmpd="sng" algn="ctr">
            <a:solidFill>
              <a:srgbClr val="000000"/>
            </a:solidFill>
            <a:prstDash val="solid"/>
            <a:roun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 name="TextBox 3">
            <a:extLst>
              <a:ext uri="{FF2B5EF4-FFF2-40B4-BE49-F238E27FC236}">
                <a16:creationId xmlns:a16="http://schemas.microsoft.com/office/drawing/2014/main" id="{E5EF0A14-8940-0C3F-C0B6-D986E10D7A1A}"/>
              </a:ext>
            </a:extLst>
          </p:cNvPr>
          <p:cNvSpPr txBox="1"/>
          <p:nvPr/>
        </p:nvSpPr>
        <p:spPr>
          <a:xfrm>
            <a:off x="2440145" y="2908509"/>
            <a:ext cx="7387909" cy="1077218"/>
          </a:xfrm>
          <a:prstGeom prst="rect">
            <a:avLst/>
          </a:prstGeom>
          <a:noFill/>
        </p:spPr>
        <p:txBody>
          <a:bodyPr wrap="square" rtlCol="0">
            <a:spAutoFit/>
          </a:bodyPr>
          <a:lstStyle/>
          <a:p>
            <a:pPr algn="ctr"/>
            <a:r>
              <a:rPr lang="en-US" sz="3200" b="1" dirty="0"/>
              <a:t>“We want to figure out this!”</a:t>
            </a:r>
            <a:br>
              <a:rPr lang="en-US" sz="3200" b="1" dirty="0"/>
            </a:br>
            <a:r>
              <a:rPr lang="en-US" sz="3200" b="1" dirty="0"/>
              <a:t>“What is the </a:t>
            </a:r>
            <a:r>
              <a:rPr lang="en-US" sz="3200" b="1" i="1" dirty="0"/>
              <a:t>earliest</a:t>
            </a:r>
            <a:r>
              <a:rPr lang="en-US" sz="3200" b="1" dirty="0"/>
              <a:t> layer of the text?”</a:t>
            </a:r>
          </a:p>
        </p:txBody>
      </p:sp>
      <p:pic>
        <p:nvPicPr>
          <p:cNvPr id="8" name="Picture 7">
            <a:extLst>
              <a:ext uri="{FF2B5EF4-FFF2-40B4-BE49-F238E27FC236}">
                <a16:creationId xmlns:a16="http://schemas.microsoft.com/office/drawing/2014/main" id="{C80E0751-EE7D-E295-CC74-AD5FBA90FC8A}"/>
              </a:ext>
            </a:extLst>
          </p:cNvPr>
          <p:cNvPicPr>
            <a:picLocks noChangeAspect="1"/>
          </p:cNvPicPr>
          <p:nvPr/>
        </p:nvPicPr>
        <p:blipFill rotWithShape="1">
          <a:blip r:embed="rId3"/>
          <a:srcRect l="26675" r="22699"/>
          <a:stretch>
            <a:fillRect/>
          </a:stretch>
        </p:blipFill>
        <p:spPr>
          <a:xfrm>
            <a:off x="12479033" y="3110373"/>
            <a:ext cx="3175070" cy="3424267"/>
          </a:xfrm>
          <a:prstGeom prst="rect">
            <a:avLst/>
          </a:prstGeom>
        </p:spPr>
      </p:pic>
      <p:sp>
        <p:nvSpPr>
          <p:cNvPr id="11" name="Head Fill">
            <a:extLst>
              <a:ext uri="{FF2B5EF4-FFF2-40B4-BE49-F238E27FC236}">
                <a16:creationId xmlns:a16="http://schemas.microsoft.com/office/drawing/2014/main" id="{F0A7934A-E8C1-9D48-BC0D-E8FE616B9B65}"/>
              </a:ext>
            </a:extLst>
          </p:cNvPr>
          <p:cNvSpPr/>
          <p:nvPr/>
        </p:nvSpPr>
        <p:spPr>
          <a:xfrm>
            <a:off x="10871200" y="3327400"/>
            <a:ext cx="508000" cy="508000"/>
          </a:xfrm>
          <a:prstGeom prst="ellipse">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45" name="Picture 7">
            <a:extLst>
              <a:ext uri="{FF2B5EF4-FFF2-40B4-BE49-F238E27FC236}">
                <a16:creationId xmlns:a16="http://schemas.microsoft.com/office/drawing/2014/main" id="{08BB8A67-D25D-30C1-B17B-AE2D3332C740}"/>
              </a:ext>
            </a:extLst>
          </p:cNvPr>
          <p:cNvPicPr>
            <a:picLocks noChangeAspect="1"/>
          </p:cNvPicPr>
          <p:nvPr/>
        </p:nvPicPr>
        <p:blipFill rotWithShape="1">
          <a:blip r:embed="rId3">
            <a:clrChange>
              <a:clrFrom>
                <a:srgbClr val="FFFFFF"/>
              </a:clrFrom>
              <a:clrTo>
                <a:srgbClr val="FFFFFF">
                  <a:alpha val="0"/>
                </a:srgbClr>
              </a:clrTo>
            </a:clrChange>
          </a:blip>
          <a:srcRect l="26675" r="22699"/>
          <a:stretch>
            <a:fillRect/>
          </a:stretch>
        </p:blipFill>
        <p:spPr>
          <a:xfrm>
            <a:off x="9652000" y="3111500"/>
            <a:ext cx="3175070" cy="3424267"/>
          </a:xfrm>
          <a:prstGeom prst="rect">
            <a:avLst/>
          </a:prstGeom>
        </p:spPr>
      </p:pic>
      <p:sp>
        <p:nvSpPr>
          <p:cNvPr id="5" name="TextBox 4">
            <a:extLst>
              <a:ext uri="{FF2B5EF4-FFF2-40B4-BE49-F238E27FC236}">
                <a16:creationId xmlns:a16="http://schemas.microsoft.com/office/drawing/2014/main" id="{FC3CA501-A4F1-F63F-DCD0-327C1B989FF1}"/>
              </a:ext>
            </a:extLst>
          </p:cNvPr>
          <p:cNvSpPr txBox="1"/>
          <p:nvPr/>
        </p:nvSpPr>
        <p:spPr>
          <a:xfrm>
            <a:off x="10985500" y="2387600"/>
            <a:ext cx="1244600" cy="523220"/>
          </a:xfrm>
          <a:prstGeom prst="rect">
            <a:avLst/>
          </a:prstGeom>
          <a:noFill/>
        </p:spPr>
        <p:txBody>
          <a:bodyPr wrap="none" lIns="0" rIns="0" rtlCol="0">
            <a:spAutoFit/>
          </a:bodyPr>
          <a:lstStyle/>
          <a:p>
            <a:pPr algn="ctr"/>
            <a:r>
              <a:rPr lang="en-US" sz="2800" b="1" dirty="0"/>
              <a:t>Childs</a:t>
            </a:r>
          </a:p>
        </p:txBody>
      </p:sp>
    </p:spTree>
    <p:extLst>
      <p:ext uri="{BB962C8B-B14F-4D97-AF65-F5344CB8AC3E}">
        <p14:creationId xmlns:p14="http://schemas.microsoft.com/office/powerpoint/2010/main" val="1167462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0">
        <p159:morph option="byObject"/>
      </p:transition>
    </mc:Choice>
    <mc:Fallback xmlns="">
      <p:transition spd="slow" advClick="0" advTm="0">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2AC80-06B7-0E2E-43E0-D017139B79F6}"/>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CF340349-10FF-D220-EC08-15D33A54AAB1}"/>
              </a:ext>
            </a:extLst>
          </p:cNvPr>
          <p:cNvPicPr>
            <a:picLocks noChangeAspect="1"/>
          </p:cNvPicPr>
          <p:nvPr/>
        </p:nvPicPr>
        <p:blipFill>
          <a:blip r:embed="rId2"/>
          <a:stretch>
            <a:fillRect/>
          </a:stretch>
        </p:blipFill>
        <p:spPr>
          <a:xfrm>
            <a:off x="7709790" y="3670935"/>
            <a:ext cx="3155576" cy="3155576"/>
          </a:xfrm>
          <a:prstGeom prst="rect">
            <a:avLst/>
          </a:prstGeom>
        </p:spPr>
      </p:pic>
      <p:pic>
        <p:nvPicPr>
          <p:cNvPr id="15" name="Picture 14">
            <a:extLst>
              <a:ext uri="{FF2B5EF4-FFF2-40B4-BE49-F238E27FC236}">
                <a16:creationId xmlns:a16="http://schemas.microsoft.com/office/drawing/2014/main" id="{5923E2C9-E481-FA1B-411C-F30D9DCE8CDA}"/>
              </a:ext>
            </a:extLst>
          </p:cNvPr>
          <p:cNvPicPr>
            <a:picLocks noChangeAspect="1"/>
          </p:cNvPicPr>
          <p:nvPr/>
        </p:nvPicPr>
        <p:blipFill rotWithShape="1">
          <a:blip r:embed="rId3"/>
          <a:srcRect l="16636" t="4648" r="24536" b="1010"/>
          <a:stretch>
            <a:fillRect/>
          </a:stretch>
        </p:blipFill>
        <p:spPr>
          <a:xfrm>
            <a:off x="12213719" y="3676818"/>
            <a:ext cx="3155576" cy="3373702"/>
          </a:xfrm>
          <a:prstGeom prst="rect">
            <a:avLst/>
          </a:prstGeom>
        </p:spPr>
      </p:pic>
      <p:sp>
        <p:nvSpPr>
          <p:cNvPr id="17" name="Content Placeholder 2">
            <a:extLst>
              <a:ext uri="{FF2B5EF4-FFF2-40B4-BE49-F238E27FC236}">
                <a16:creationId xmlns:a16="http://schemas.microsoft.com/office/drawing/2014/main" id="{D8E59511-9D54-5E8F-9E98-E38A52865574}"/>
              </a:ext>
            </a:extLst>
          </p:cNvPr>
          <p:cNvSpPr txBox="1">
            <a:spLocks/>
          </p:cNvSpPr>
          <p:nvPr/>
        </p:nvSpPr>
        <p:spPr>
          <a:xfrm>
            <a:off x="906780" y="-103578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 Church Created</a:t>
            </a:r>
          </a:p>
        </p:txBody>
      </p:sp>
      <p:sp>
        <p:nvSpPr>
          <p:cNvPr id="3" name="Content Placeholder 2">
            <a:extLst>
              <a:ext uri="{FF2B5EF4-FFF2-40B4-BE49-F238E27FC236}">
                <a16:creationId xmlns:a16="http://schemas.microsoft.com/office/drawing/2014/main" id="{3D56E92B-DA0D-E088-D18C-E5302DF2783B}"/>
              </a:ext>
            </a:extLst>
          </p:cNvPr>
          <p:cNvSpPr>
            <a:spLocks noGrp="1"/>
          </p:cNvSpPr>
          <p:nvPr>
            <p:ph idx="1"/>
          </p:nvPr>
        </p:nvSpPr>
        <p:spPr>
          <a:xfrm>
            <a:off x="331470" y="-1734636"/>
            <a:ext cx="10746740" cy="695960"/>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C82DF55E-FE1D-8D1B-0D1D-947F94DF2503}"/>
              </a:ext>
            </a:extLst>
          </p:cNvPr>
          <p:cNvSpPr txBox="1">
            <a:spLocks/>
          </p:cNvSpPr>
          <p:nvPr/>
        </p:nvSpPr>
        <p:spPr>
          <a:xfrm>
            <a:off x="902969" y="-103867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94EFDC9B-56F4-7143-4C2D-58BE19390401}"/>
              </a:ext>
            </a:extLst>
          </p:cNvPr>
          <p:cNvSpPr txBox="1">
            <a:spLocks/>
          </p:cNvSpPr>
          <p:nvPr/>
        </p:nvSpPr>
        <p:spPr>
          <a:xfrm>
            <a:off x="331470" y="-1038676"/>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19" name="Content Placeholder 2">
            <a:extLst>
              <a:ext uri="{FF2B5EF4-FFF2-40B4-BE49-F238E27FC236}">
                <a16:creationId xmlns:a16="http://schemas.microsoft.com/office/drawing/2014/main" id="{8E1A97AA-90A8-7839-F414-194FDB7F886A}"/>
              </a:ext>
            </a:extLst>
          </p:cNvPr>
          <p:cNvSpPr txBox="1">
            <a:spLocks/>
          </p:cNvSpPr>
          <p:nvPr/>
        </p:nvSpPr>
        <p:spPr>
          <a:xfrm>
            <a:off x="902969" y="88854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4400" dirty="0"/>
          </a:p>
        </p:txBody>
      </p:sp>
      <p:sp>
        <p:nvSpPr>
          <p:cNvPr id="20" name="Content Placeholder 2">
            <a:extLst>
              <a:ext uri="{FF2B5EF4-FFF2-40B4-BE49-F238E27FC236}">
                <a16:creationId xmlns:a16="http://schemas.microsoft.com/office/drawing/2014/main" id="{6412D810-1950-E056-5F97-79CA857BE26B}"/>
              </a:ext>
            </a:extLst>
          </p:cNvPr>
          <p:cNvSpPr txBox="1">
            <a:spLocks/>
          </p:cNvSpPr>
          <p:nvPr/>
        </p:nvSpPr>
        <p:spPr>
          <a:xfrm>
            <a:off x="838200" y="68072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Canonical-Critical Model</a:t>
            </a:r>
          </a:p>
        </p:txBody>
      </p:sp>
      <p:sp>
        <p:nvSpPr>
          <p:cNvPr id="21" name="Content Placeholder 2">
            <a:extLst>
              <a:ext uri="{FF2B5EF4-FFF2-40B4-BE49-F238E27FC236}">
                <a16:creationId xmlns:a16="http://schemas.microsoft.com/office/drawing/2014/main" id="{9EE36186-0C34-6CF5-2218-DFC9EDF8F63A}"/>
              </a:ext>
            </a:extLst>
          </p:cNvPr>
          <p:cNvSpPr txBox="1">
            <a:spLocks/>
          </p:cNvSpPr>
          <p:nvPr/>
        </p:nvSpPr>
        <p:spPr>
          <a:xfrm>
            <a:off x="-847090" y="614840"/>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3.</a:t>
            </a:r>
          </a:p>
        </p:txBody>
      </p:sp>
      <p:sp>
        <p:nvSpPr>
          <p:cNvPr id="2" name="Content Placeholder 2">
            <a:extLst>
              <a:ext uri="{FF2B5EF4-FFF2-40B4-BE49-F238E27FC236}">
                <a16:creationId xmlns:a16="http://schemas.microsoft.com/office/drawing/2014/main" id="{8AA09549-B5BC-CBA2-CA5C-13BCF1801517}"/>
              </a:ext>
            </a:extLst>
          </p:cNvPr>
          <p:cNvSpPr txBox="1">
            <a:spLocks/>
          </p:cNvSpPr>
          <p:nvPr/>
        </p:nvSpPr>
        <p:spPr>
          <a:xfrm>
            <a:off x="-12357112" y="1636103"/>
            <a:ext cx="1219200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dirty="0"/>
              <a:t>Historical-Critical Method</a:t>
            </a:r>
          </a:p>
        </p:txBody>
      </p:sp>
      <p:sp>
        <p:nvSpPr>
          <p:cNvPr id="9" name="Rectangle 8">
            <a:extLst>
              <a:ext uri="{FF2B5EF4-FFF2-40B4-BE49-F238E27FC236}">
                <a16:creationId xmlns:a16="http://schemas.microsoft.com/office/drawing/2014/main" id="{A0428F79-3763-693F-E9AF-01D7FB8CAD85}"/>
              </a:ext>
            </a:extLst>
          </p:cNvPr>
          <p:cNvSpPr/>
          <p:nvPr/>
        </p:nvSpPr>
        <p:spPr>
          <a:xfrm>
            <a:off x="-11507482" y="4145489"/>
            <a:ext cx="10492740"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52CBB7-2BDF-F51A-3361-DDD50FDBC482}"/>
              </a:ext>
            </a:extLst>
          </p:cNvPr>
          <p:cNvSpPr/>
          <p:nvPr/>
        </p:nvSpPr>
        <p:spPr>
          <a:xfrm rot="16200000">
            <a:off x="-11598339" y="4374830"/>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27FFA9E-A76D-5495-33F7-93D45F546C66}"/>
              </a:ext>
            </a:extLst>
          </p:cNvPr>
          <p:cNvSpPr/>
          <p:nvPr/>
        </p:nvSpPr>
        <p:spPr>
          <a:xfrm rot="16200000">
            <a:off x="-1234974" y="4374828"/>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2" name="Picture 21" descr="Generated image: Stick Figure Presenting an Ancient Scroll">
            <a:extLst>
              <a:ext uri="{FF2B5EF4-FFF2-40B4-BE49-F238E27FC236}">
                <a16:creationId xmlns:a16="http://schemas.microsoft.com/office/drawing/2014/main" id="{BF0411C3-7381-C0CE-3BAF-55F69D0A7374}"/>
              </a:ext>
            </a:extLst>
          </p:cNvPr>
          <p:cNvPicPr>
            <a:picLocks noChangeAspect="1"/>
          </p:cNvPicPr>
          <p:nvPr/>
        </p:nvPicPr>
        <p:blipFill rotWithShape="1">
          <a:blip r:embed="rId4"/>
          <a:srcRect l="36294" t="13897" r="20000" b="34902"/>
          <a:stretch>
            <a:fillRect/>
          </a:stretch>
        </p:blipFill>
        <p:spPr>
          <a:xfrm flipH="1">
            <a:off x="-12651417" y="4440109"/>
            <a:ext cx="2418438" cy="2833173"/>
          </a:xfrm>
          <a:prstGeom prst="rect">
            <a:avLst/>
          </a:prstGeom>
        </p:spPr>
      </p:pic>
      <p:pic>
        <p:nvPicPr>
          <p:cNvPr id="23" name="Picture 22" descr="Generated image: Stick Figure Presenting an Ancient Scroll">
            <a:extLst>
              <a:ext uri="{FF2B5EF4-FFF2-40B4-BE49-F238E27FC236}">
                <a16:creationId xmlns:a16="http://schemas.microsoft.com/office/drawing/2014/main" id="{F6EEB9D9-7688-29C0-CA04-B3FC79CEAB21}"/>
              </a:ext>
            </a:extLst>
          </p:cNvPr>
          <p:cNvPicPr>
            <a:picLocks noChangeAspect="1"/>
          </p:cNvPicPr>
          <p:nvPr/>
        </p:nvPicPr>
        <p:blipFill rotWithShape="1">
          <a:blip r:embed="rId4"/>
          <a:srcRect l="36294" t="13897" r="20000" b="34902"/>
          <a:stretch>
            <a:fillRect/>
          </a:stretch>
        </p:blipFill>
        <p:spPr>
          <a:xfrm flipH="1">
            <a:off x="-2288053" y="4440109"/>
            <a:ext cx="2418439" cy="2833174"/>
          </a:xfrm>
          <a:prstGeom prst="rect">
            <a:avLst/>
          </a:prstGeom>
        </p:spPr>
      </p:pic>
      <p:sp>
        <p:nvSpPr>
          <p:cNvPr id="25" name="TextBox 24">
            <a:extLst>
              <a:ext uri="{FF2B5EF4-FFF2-40B4-BE49-F238E27FC236}">
                <a16:creationId xmlns:a16="http://schemas.microsoft.com/office/drawing/2014/main" id="{21619F11-0403-96C0-B133-20321D14E114}"/>
              </a:ext>
            </a:extLst>
          </p:cNvPr>
          <p:cNvSpPr txBox="1"/>
          <p:nvPr/>
        </p:nvSpPr>
        <p:spPr>
          <a:xfrm>
            <a:off x="-12430105" y="4713809"/>
            <a:ext cx="2197126" cy="369332"/>
          </a:xfrm>
          <a:prstGeom prst="rect">
            <a:avLst/>
          </a:prstGeom>
          <a:noFill/>
        </p:spPr>
        <p:txBody>
          <a:bodyPr wrap="square" rtlCol="0">
            <a:spAutoFit/>
          </a:bodyPr>
          <a:lstStyle/>
          <a:p>
            <a:pPr algn="ctr"/>
            <a:r>
              <a:rPr lang="en-US" b="1" dirty="0"/>
              <a:t>First, Original Form</a:t>
            </a:r>
          </a:p>
        </p:txBody>
      </p:sp>
      <p:sp>
        <p:nvSpPr>
          <p:cNvPr id="26" name="TextBox 25">
            <a:extLst>
              <a:ext uri="{FF2B5EF4-FFF2-40B4-BE49-F238E27FC236}">
                <a16:creationId xmlns:a16="http://schemas.microsoft.com/office/drawing/2014/main" id="{C0754DA8-95DC-C6F9-05AB-ED6228CF25AE}"/>
              </a:ext>
            </a:extLst>
          </p:cNvPr>
          <p:cNvSpPr txBox="1"/>
          <p:nvPr/>
        </p:nvSpPr>
        <p:spPr>
          <a:xfrm>
            <a:off x="-2177397" y="4710600"/>
            <a:ext cx="2197126" cy="369332"/>
          </a:xfrm>
          <a:prstGeom prst="rect">
            <a:avLst/>
          </a:prstGeom>
          <a:noFill/>
        </p:spPr>
        <p:txBody>
          <a:bodyPr wrap="square" rtlCol="0">
            <a:spAutoFit/>
          </a:bodyPr>
          <a:lstStyle/>
          <a:p>
            <a:pPr algn="ctr"/>
            <a:r>
              <a:rPr lang="en-US" b="1" dirty="0"/>
              <a:t>Final Form</a:t>
            </a:r>
          </a:p>
        </p:txBody>
      </p:sp>
      <p:sp>
        <p:nvSpPr>
          <p:cNvPr id="27" name="TextBox 26">
            <a:extLst>
              <a:ext uri="{FF2B5EF4-FFF2-40B4-BE49-F238E27FC236}">
                <a16:creationId xmlns:a16="http://schemas.microsoft.com/office/drawing/2014/main" id="{F62A55C1-7AAA-907E-437D-7915AB4A0371}"/>
              </a:ext>
            </a:extLst>
          </p:cNvPr>
          <p:cNvSpPr txBox="1"/>
          <p:nvPr/>
        </p:nvSpPr>
        <p:spPr>
          <a:xfrm>
            <a:off x="-12395212" y="3671194"/>
            <a:ext cx="2197126" cy="369332"/>
          </a:xfrm>
          <a:prstGeom prst="rect">
            <a:avLst/>
          </a:prstGeom>
          <a:noFill/>
        </p:spPr>
        <p:txBody>
          <a:bodyPr wrap="square" rtlCol="0">
            <a:spAutoFit/>
          </a:bodyPr>
          <a:lstStyle/>
          <a:p>
            <a:pPr algn="ctr"/>
            <a:r>
              <a:rPr lang="en-US" b="1" dirty="0"/>
              <a:t>1</a:t>
            </a:r>
            <a:r>
              <a:rPr lang="en-US" b="1" baseline="30000" dirty="0"/>
              <a:t>st</a:t>
            </a:r>
            <a:r>
              <a:rPr lang="en-US" b="1" dirty="0"/>
              <a:t> century AD</a:t>
            </a:r>
          </a:p>
        </p:txBody>
      </p:sp>
      <p:sp>
        <p:nvSpPr>
          <p:cNvPr id="28" name="TextBox 27">
            <a:extLst>
              <a:ext uri="{FF2B5EF4-FFF2-40B4-BE49-F238E27FC236}">
                <a16:creationId xmlns:a16="http://schemas.microsoft.com/office/drawing/2014/main" id="{0B03E3B3-5A57-7CAA-8A79-E6930F954FC3}"/>
              </a:ext>
            </a:extLst>
          </p:cNvPr>
          <p:cNvSpPr txBox="1"/>
          <p:nvPr/>
        </p:nvSpPr>
        <p:spPr>
          <a:xfrm>
            <a:off x="-2415565" y="3671194"/>
            <a:ext cx="2197126" cy="369332"/>
          </a:xfrm>
          <a:prstGeom prst="rect">
            <a:avLst/>
          </a:prstGeom>
          <a:noFill/>
        </p:spPr>
        <p:txBody>
          <a:bodyPr wrap="square" rtlCol="0">
            <a:spAutoFit/>
          </a:bodyPr>
          <a:lstStyle/>
          <a:p>
            <a:pPr algn="ctr"/>
            <a:r>
              <a:rPr lang="en-US" b="1" dirty="0"/>
              <a:t>4</a:t>
            </a:r>
            <a:r>
              <a:rPr lang="en-US" b="1" baseline="30000" dirty="0"/>
              <a:t>th</a:t>
            </a:r>
            <a:r>
              <a:rPr lang="en-US" b="1" dirty="0"/>
              <a:t> century AD</a:t>
            </a:r>
          </a:p>
        </p:txBody>
      </p:sp>
      <p:sp>
        <p:nvSpPr>
          <p:cNvPr id="31" name="Rectangle 30">
            <a:extLst>
              <a:ext uri="{FF2B5EF4-FFF2-40B4-BE49-F238E27FC236}">
                <a16:creationId xmlns:a16="http://schemas.microsoft.com/office/drawing/2014/main" id="{F12D50AC-A843-9293-853C-6F692DDFE340}"/>
              </a:ext>
            </a:extLst>
          </p:cNvPr>
          <p:cNvSpPr/>
          <p:nvPr/>
        </p:nvSpPr>
        <p:spPr>
          <a:xfrm rot="16200000">
            <a:off x="-8644988" y="4376861"/>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C16FA4A-B3CF-CAC5-0CF4-9D1159A5BAEF}"/>
              </a:ext>
            </a:extLst>
          </p:cNvPr>
          <p:cNvSpPr/>
          <p:nvPr/>
        </p:nvSpPr>
        <p:spPr>
          <a:xfrm rot="16200000">
            <a:off x="-6926678" y="4369241"/>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632384CF-052A-EC87-A201-76E097D0EE17}"/>
              </a:ext>
            </a:extLst>
          </p:cNvPr>
          <p:cNvSpPr txBox="1"/>
          <p:nvPr/>
        </p:nvSpPr>
        <p:spPr>
          <a:xfrm>
            <a:off x="-9587410" y="4637841"/>
            <a:ext cx="2197126" cy="369332"/>
          </a:xfrm>
          <a:prstGeom prst="rect">
            <a:avLst/>
          </a:prstGeom>
          <a:noFill/>
        </p:spPr>
        <p:txBody>
          <a:bodyPr wrap="square" rtlCol="0">
            <a:spAutoFit/>
          </a:bodyPr>
          <a:lstStyle/>
          <a:p>
            <a:pPr algn="ctr"/>
            <a:r>
              <a:rPr lang="en-US" b="1" dirty="0"/>
              <a:t>Edited</a:t>
            </a:r>
          </a:p>
        </p:txBody>
      </p:sp>
      <p:sp>
        <p:nvSpPr>
          <p:cNvPr id="35" name="TextBox 34">
            <a:extLst>
              <a:ext uri="{FF2B5EF4-FFF2-40B4-BE49-F238E27FC236}">
                <a16:creationId xmlns:a16="http://schemas.microsoft.com/office/drawing/2014/main" id="{57F4FB4A-C6D1-865E-028A-E88A719A91C7}"/>
              </a:ext>
            </a:extLst>
          </p:cNvPr>
          <p:cNvSpPr txBox="1"/>
          <p:nvPr/>
        </p:nvSpPr>
        <p:spPr>
          <a:xfrm>
            <a:off x="-7869100" y="4637841"/>
            <a:ext cx="2197126" cy="369332"/>
          </a:xfrm>
          <a:prstGeom prst="rect">
            <a:avLst/>
          </a:prstGeom>
          <a:noFill/>
        </p:spPr>
        <p:txBody>
          <a:bodyPr wrap="square" rtlCol="0">
            <a:spAutoFit/>
          </a:bodyPr>
          <a:lstStyle/>
          <a:p>
            <a:pPr algn="ctr"/>
            <a:r>
              <a:rPr lang="en-US" b="1" dirty="0"/>
              <a:t>Revised</a:t>
            </a:r>
          </a:p>
        </p:txBody>
      </p:sp>
      <p:sp>
        <p:nvSpPr>
          <p:cNvPr id="36" name="Rectangle 35">
            <a:extLst>
              <a:ext uri="{FF2B5EF4-FFF2-40B4-BE49-F238E27FC236}">
                <a16:creationId xmlns:a16="http://schemas.microsoft.com/office/drawing/2014/main" id="{71806F88-5968-5C80-B32D-ED150C769336}"/>
              </a:ext>
            </a:extLst>
          </p:cNvPr>
          <p:cNvSpPr/>
          <p:nvPr/>
        </p:nvSpPr>
        <p:spPr>
          <a:xfrm rot="16200000">
            <a:off x="-5802728" y="4373051"/>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A325584-B9D5-79E2-1260-03CC5A592C6F}"/>
              </a:ext>
            </a:extLst>
          </p:cNvPr>
          <p:cNvSpPr txBox="1"/>
          <p:nvPr/>
        </p:nvSpPr>
        <p:spPr>
          <a:xfrm>
            <a:off x="-6770537" y="4643982"/>
            <a:ext cx="2197126" cy="369332"/>
          </a:xfrm>
          <a:prstGeom prst="rect">
            <a:avLst/>
          </a:prstGeom>
          <a:noFill/>
        </p:spPr>
        <p:txBody>
          <a:bodyPr wrap="square" rtlCol="0">
            <a:spAutoFit/>
          </a:bodyPr>
          <a:lstStyle/>
          <a:p>
            <a:pPr algn="ctr"/>
            <a:r>
              <a:rPr lang="en-US" b="1" dirty="0"/>
              <a:t>Changed</a:t>
            </a:r>
          </a:p>
        </p:txBody>
      </p:sp>
      <p:sp>
        <p:nvSpPr>
          <p:cNvPr id="39" name="Rectangle 38">
            <a:extLst>
              <a:ext uri="{FF2B5EF4-FFF2-40B4-BE49-F238E27FC236}">
                <a16:creationId xmlns:a16="http://schemas.microsoft.com/office/drawing/2014/main" id="{66776D45-1E01-8E87-E40B-046785C8ED43}"/>
              </a:ext>
            </a:extLst>
          </p:cNvPr>
          <p:cNvSpPr/>
          <p:nvPr/>
        </p:nvSpPr>
        <p:spPr>
          <a:xfrm rot="16200000">
            <a:off x="-4462458" y="4376864"/>
            <a:ext cx="312282" cy="130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8F6DFC63-95CD-26E4-6A60-B284F2A9C648}"/>
              </a:ext>
            </a:extLst>
          </p:cNvPr>
          <p:cNvSpPr txBox="1"/>
          <p:nvPr/>
        </p:nvSpPr>
        <p:spPr>
          <a:xfrm>
            <a:off x="-5404880" y="4603978"/>
            <a:ext cx="2197126" cy="369332"/>
          </a:xfrm>
          <a:prstGeom prst="rect">
            <a:avLst/>
          </a:prstGeom>
          <a:noFill/>
        </p:spPr>
        <p:txBody>
          <a:bodyPr wrap="square" rtlCol="0">
            <a:spAutoFit/>
          </a:bodyPr>
          <a:lstStyle/>
          <a:p>
            <a:pPr algn="ctr"/>
            <a:r>
              <a:rPr lang="en-US" b="1" dirty="0"/>
              <a:t>Edited</a:t>
            </a:r>
          </a:p>
        </p:txBody>
      </p:sp>
      <p:sp>
        <p:nvSpPr>
          <p:cNvPr id="44" name="Circular Arrow 43">
            <a:extLst>
              <a:ext uri="{FF2B5EF4-FFF2-40B4-BE49-F238E27FC236}">
                <a16:creationId xmlns:a16="http://schemas.microsoft.com/office/drawing/2014/main" id="{11358D9D-C971-8ED1-D557-0147FD12605E}"/>
              </a:ext>
            </a:extLst>
          </p:cNvPr>
          <p:cNvSpPr/>
          <p:nvPr/>
        </p:nvSpPr>
        <p:spPr>
          <a:xfrm>
            <a:off x="-11125212" y="2438400"/>
            <a:ext cx="9875520" cy="1181100"/>
          </a:xfrm>
          <a:custGeom>
            <a:avLst/>
            <a:gdLst/>
            <a:ahLst/>
            <a:cxnLst/>
            <a:rect l="0" t="0" r="r" b="b"/>
            <a:pathLst>
              <a:path w="9715500" h="1270000" fill="none">
                <a:moveTo>
                  <a:pt x="9715500" y="1270000"/>
                </a:moveTo>
                <a:cubicBezTo>
                  <a:pt x="8743950" y="-423333"/>
                  <a:pt x="971550" y="-423333"/>
                  <a:pt x="0" y="1270000"/>
                </a:cubicBezTo>
              </a:path>
            </a:pathLst>
          </a:custGeom>
          <a:noFill/>
          <a:ln w="101600" cap="rnd" cmpd="sng" algn="ctr">
            <a:solidFill>
              <a:srgbClr val="000000"/>
            </a:solidFill>
            <a:prstDash val="solid"/>
            <a:roun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 name="TextBox 3">
            <a:extLst>
              <a:ext uri="{FF2B5EF4-FFF2-40B4-BE49-F238E27FC236}">
                <a16:creationId xmlns:a16="http://schemas.microsoft.com/office/drawing/2014/main" id="{278E2E1A-BBB9-3FF6-07A6-5D69E5AA4E83}"/>
              </a:ext>
            </a:extLst>
          </p:cNvPr>
          <p:cNvSpPr txBox="1"/>
          <p:nvPr/>
        </p:nvSpPr>
        <p:spPr>
          <a:xfrm>
            <a:off x="-9955067" y="2908509"/>
            <a:ext cx="7387909" cy="1077218"/>
          </a:xfrm>
          <a:prstGeom prst="rect">
            <a:avLst/>
          </a:prstGeom>
          <a:noFill/>
        </p:spPr>
        <p:txBody>
          <a:bodyPr wrap="square" rtlCol="0">
            <a:spAutoFit/>
          </a:bodyPr>
          <a:lstStyle/>
          <a:p>
            <a:pPr algn="ctr"/>
            <a:r>
              <a:rPr lang="en-US" sz="3200" b="1" dirty="0"/>
              <a:t>“We want to figure out this!”</a:t>
            </a:r>
            <a:br>
              <a:rPr lang="en-US" sz="3200" b="1" dirty="0"/>
            </a:br>
            <a:r>
              <a:rPr lang="en-US" sz="3200" b="1" dirty="0"/>
              <a:t>“What is the </a:t>
            </a:r>
            <a:r>
              <a:rPr lang="en-US" sz="3200" b="1" i="1" dirty="0"/>
              <a:t>earliest</a:t>
            </a:r>
            <a:r>
              <a:rPr lang="en-US" sz="3200" b="1" dirty="0"/>
              <a:t> layer of the text?”</a:t>
            </a:r>
          </a:p>
        </p:txBody>
      </p:sp>
      <p:sp>
        <p:nvSpPr>
          <p:cNvPr id="11" name="Head Fill">
            <a:extLst>
              <a:ext uri="{FF2B5EF4-FFF2-40B4-BE49-F238E27FC236}">
                <a16:creationId xmlns:a16="http://schemas.microsoft.com/office/drawing/2014/main" id="{5A047F8B-C37C-9941-9149-A12BD75DA6B6}"/>
              </a:ext>
            </a:extLst>
          </p:cNvPr>
          <p:cNvSpPr/>
          <p:nvPr/>
        </p:nvSpPr>
        <p:spPr>
          <a:xfrm>
            <a:off x="1303021" y="3326273"/>
            <a:ext cx="508000" cy="508000"/>
          </a:xfrm>
          <a:prstGeom prst="ellipse">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8" name="Picture 7">
            <a:extLst>
              <a:ext uri="{FF2B5EF4-FFF2-40B4-BE49-F238E27FC236}">
                <a16:creationId xmlns:a16="http://schemas.microsoft.com/office/drawing/2014/main" id="{08BB8A67-D25D-30C1-B17B-AE2D3332C740}"/>
              </a:ext>
            </a:extLst>
          </p:cNvPr>
          <p:cNvPicPr>
            <a:picLocks noChangeAspect="1"/>
          </p:cNvPicPr>
          <p:nvPr/>
        </p:nvPicPr>
        <p:blipFill rotWithShape="1">
          <a:blip r:embed="rId5">
            <a:clrChange>
              <a:clrFrom>
                <a:srgbClr val="FFFFFF"/>
              </a:clrFrom>
              <a:clrTo>
                <a:srgbClr val="FFFFFF">
                  <a:alpha val="0"/>
                </a:srgbClr>
              </a:clrTo>
            </a:clrChange>
          </a:blip>
          <a:srcRect l="26675" r="22699"/>
          <a:stretch>
            <a:fillRect/>
          </a:stretch>
        </p:blipFill>
        <p:spPr>
          <a:xfrm>
            <a:off x="-82435" y="3110373"/>
            <a:ext cx="3175070" cy="3424267"/>
          </a:xfrm>
          <a:prstGeom prst="rect">
            <a:avLst/>
          </a:prstGeom>
        </p:spPr>
      </p:pic>
      <p:sp>
        <p:nvSpPr>
          <p:cNvPr id="5" name="TextBox 4">
            <a:extLst>
              <a:ext uri="{FF2B5EF4-FFF2-40B4-BE49-F238E27FC236}">
                <a16:creationId xmlns:a16="http://schemas.microsoft.com/office/drawing/2014/main" id="{FC3CA501-A4F1-F63F-DCD0-327C1B989FF1}"/>
              </a:ext>
            </a:extLst>
          </p:cNvPr>
          <p:cNvSpPr txBox="1"/>
          <p:nvPr/>
        </p:nvSpPr>
        <p:spPr>
          <a:xfrm>
            <a:off x="1256144" y="2387600"/>
            <a:ext cx="1244600" cy="523220"/>
          </a:xfrm>
          <a:prstGeom prst="rect">
            <a:avLst/>
          </a:prstGeom>
          <a:noFill/>
        </p:spPr>
        <p:txBody>
          <a:bodyPr wrap="none" lIns="0" rIns="0" rtlCol="0">
            <a:spAutoFit/>
          </a:bodyPr>
          <a:lstStyle/>
          <a:p>
            <a:pPr algn="ctr"/>
            <a:r>
              <a:rPr lang="en-US" sz="2800" b="1" dirty="0"/>
              <a:t>Childs</a:t>
            </a:r>
          </a:p>
        </p:txBody>
      </p:sp>
      <p:pic>
        <p:nvPicPr>
          <p:cNvPr id="13" name="Picture 12">
            <a:extLst>
              <a:ext uri="{FF2B5EF4-FFF2-40B4-BE49-F238E27FC236}">
                <a16:creationId xmlns:a16="http://schemas.microsoft.com/office/drawing/2014/main" id="{40AAE789-7819-8AF4-BDB0-C48014DF5A44}"/>
              </a:ext>
            </a:extLst>
          </p:cNvPr>
          <p:cNvPicPr>
            <a:picLocks noChangeAspect="1"/>
          </p:cNvPicPr>
          <p:nvPr/>
        </p:nvPicPr>
        <p:blipFill rotWithShape="1">
          <a:blip r:embed="rId6"/>
          <a:srcRect l="27574" r="41106"/>
          <a:stretch>
            <a:fillRect/>
          </a:stretch>
        </p:blipFill>
        <p:spPr>
          <a:xfrm>
            <a:off x="382537" y="3224404"/>
            <a:ext cx="1898907" cy="3310236"/>
          </a:xfrm>
          <a:prstGeom prst="rect">
            <a:avLst/>
          </a:prstGeom>
        </p:spPr>
      </p:pic>
      <p:sp>
        <p:nvSpPr>
          <p:cNvPr id="45" name="Mini Rectangle 8"/>
          <p:cNvSpPr/>
          <p:nvPr/>
        </p:nvSpPr>
        <p:spPr>
          <a:xfrm>
            <a:off x="4190154" y="3006986"/>
            <a:ext cx="6925208" cy="1261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6" name="Mini Rectangle 9"/>
          <p:cNvSpPr/>
          <p:nvPr/>
        </p:nvSpPr>
        <p:spPr>
          <a:xfrm rot="16200000">
            <a:off x="4150049" y="3183078"/>
            <a:ext cx="249826" cy="16973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7" name="Mini Rectangle 17"/>
          <p:cNvSpPr/>
          <p:nvPr/>
        </p:nvSpPr>
        <p:spPr>
          <a:xfrm rot="16200000">
            <a:off x="10905584" y="3177825"/>
            <a:ext cx="249826" cy="16973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8" name="Mini Rectangle 30"/>
          <p:cNvSpPr/>
          <p:nvPr/>
        </p:nvSpPr>
        <p:spPr>
          <a:xfrm rot="16200000">
            <a:off x="5891285" y="3121025"/>
            <a:ext cx="249826" cy="16973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9" name="Mini Rectangle 32"/>
          <p:cNvSpPr/>
          <p:nvPr/>
        </p:nvSpPr>
        <p:spPr>
          <a:xfrm rot="16200000">
            <a:off x="7001620" y="3121025"/>
            <a:ext cx="249826" cy="16973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0" name="Mini Rectangle 35"/>
          <p:cNvSpPr/>
          <p:nvPr/>
        </p:nvSpPr>
        <p:spPr>
          <a:xfrm rot="16200000">
            <a:off x="8254065" y="3121025"/>
            <a:ext cx="249826" cy="16973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1" name="Mini Rectangle 38"/>
          <p:cNvSpPr/>
          <p:nvPr/>
        </p:nvSpPr>
        <p:spPr>
          <a:xfrm rot="16200000">
            <a:off x="9227710" y="3121025"/>
            <a:ext cx="249826" cy="16973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2" name="Mini TextBox 24"/>
          <p:cNvSpPr txBox="1"/>
          <p:nvPr/>
        </p:nvSpPr>
        <p:spPr>
          <a:xfrm>
            <a:off x="3054241" y="3389406"/>
            <a:ext cx="2411302" cy="400110"/>
          </a:xfrm>
          <a:prstGeom prst="rect">
            <a:avLst/>
          </a:prstGeom>
          <a:noFill/>
        </p:spPr>
        <p:txBody>
          <a:bodyPr wrap="none" rtlCol="0">
            <a:spAutoFit/>
          </a:bodyPr>
          <a:lstStyle/>
          <a:p>
            <a:pPr algn="ctr"/>
            <a:r>
              <a:rPr lang="en-US" sz="2000" b="1" dirty="0"/>
              <a:t>First, Original Form</a:t>
            </a:r>
          </a:p>
        </p:txBody>
      </p:sp>
      <p:sp>
        <p:nvSpPr>
          <p:cNvPr id="53" name="Mini TextBox 25"/>
          <p:cNvSpPr txBox="1"/>
          <p:nvPr/>
        </p:nvSpPr>
        <p:spPr>
          <a:xfrm>
            <a:off x="10320389" y="3429000"/>
            <a:ext cx="1414040" cy="400110"/>
          </a:xfrm>
          <a:prstGeom prst="rect">
            <a:avLst/>
          </a:prstGeom>
          <a:noFill/>
        </p:spPr>
        <p:txBody>
          <a:bodyPr wrap="none" rtlCol="0">
            <a:spAutoFit/>
          </a:bodyPr>
          <a:lstStyle/>
          <a:p>
            <a:pPr algn="ctr"/>
            <a:r>
              <a:rPr lang="en-US" sz="2000" b="1" dirty="0"/>
              <a:t>Final Form</a:t>
            </a:r>
          </a:p>
        </p:txBody>
      </p:sp>
      <p:sp>
        <p:nvSpPr>
          <p:cNvPr id="54" name="Mini TextBox 26"/>
          <p:cNvSpPr txBox="1"/>
          <p:nvPr/>
        </p:nvSpPr>
        <p:spPr>
          <a:xfrm>
            <a:off x="3422998" y="2578100"/>
            <a:ext cx="1812611" cy="400110"/>
          </a:xfrm>
          <a:prstGeom prst="rect">
            <a:avLst/>
          </a:prstGeom>
          <a:noFill/>
        </p:spPr>
        <p:txBody>
          <a:bodyPr wrap="none" rtlCol="0">
            <a:spAutoFit/>
          </a:bodyPr>
          <a:lstStyle/>
          <a:p>
            <a:pPr algn="ctr"/>
            <a:r>
              <a:rPr lang="en-US" sz="2000" b="1" dirty="0"/>
              <a:t>1</a:t>
            </a:r>
            <a:r>
              <a:rPr lang="en-US" sz="2000" b="1" baseline="30000" dirty="0"/>
              <a:t>st</a:t>
            </a:r>
            <a:r>
              <a:rPr lang="en-US" sz="2000" b="1" dirty="0"/>
              <a:t> century AD</a:t>
            </a:r>
          </a:p>
        </p:txBody>
      </p:sp>
      <p:sp>
        <p:nvSpPr>
          <p:cNvPr id="55" name="Mini TextBox 27"/>
          <p:cNvSpPr txBox="1"/>
          <p:nvPr/>
        </p:nvSpPr>
        <p:spPr>
          <a:xfrm>
            <a:off x="10003249" y="2578100"/>
            <a:ext cx="1825243" cy="400110"/>
          </a:xfrm>
          <a:prstGeom prst="rect">
            <a:avLst/>
          </a:prstGeom>
          <a:noFill/>
        </p:spPr>
        <p:txBody>
          <a:bodyPr wrap="none" rtlCol="0">
            <a:spAutoFit/>
          </a:bodyPr>
          <a:lstStyle/>
          <a:p>
            <a:pPr algn="ctr"/>
            <a:r>
              <a:rPr lang="en-US" sz="2000" b="1" dirty="0"/>
              <a:t>4</a:t>
            </a:r>
            <a:r>
              <a:rPr lang="en-US" sz="2000" b="1" baseline="30000" dirty="0"/>
              <a:t>th</a:t>
            </a:r>
            <a:r>
              <a:rPr lang="en-US" sz="2000" b="1" dirty="0"/>
              <a:t> century AD</a:t>
            </a:r>
          </a:p>
        </p:txBody>
      </p:sp>
      <p:sp>
        <p:nvSpPr>
          <p:cNvPr id="56" name="Mini TextBox 33"/>
          <p:cNvSpPr txBox="1"/>
          <p:nvPr/>
        </p:nvSpPr>
        <p:spPr>
          <a:xfrm>
            <a:off x="5546430" y="3419445"/>
            <a:ext cx="935192" cy="400110"/>
          </a:xfrm>
          <a:prstGeom prst="rect">
            <a:avLst/>
          </a:prstGeom>
          <a:noFill/>
        </p:spPr>
        <p:txBody>
          <a:bodyPr wrap="none" rtlCol="0">
            <a:spAutoFit/>
          </a:bodyPr>
          <a:lstStyle/>
          <a:p>
            <a:pPr algn="ctr"/>
            <a:r>
              <a:rPr lang="en-US" sz="2000" b="1" dirty="0"/>
              <a:t>Edited</a:t>
            </a:r>
          </a:p>
        </p:txBody>
      </p:sp>
      <p:sp>
        <p:nvSpPr>
          <p:cNvPr id="57" name="Mini TextBox 34"/>
          <p:cNvSpPr txBox="1"/>
          <p:nvPr/>
        </p:nvSpPr>
        <p:spPr>
          <a:xfrm>
            <a:off x="6552590" y="3404795"/>
            <a:ext cx="1110304" cy="400110"/>
          </a:xfrm>
          <a:prstGeom prst="rect">
            <a:avLst/>
          </a:prstGeom>
          <a:noFill/>
        </p:spPr>
        <p:txBody>
          <a:bodyPr wrap="none" rtlCol="0">
            <a:spAutoFit/>
          </a:bodyPr>
          <a:lstStyle/>
          <a:p>
            <a:pPr algn="ctr"/>
            <a:r>
              <a:rPr lang="en-US" sz="2000" b="1" dirty="0"/>
              <a:t>Revised</a:t>
            </a:r>
          </a:p>
        </p:txBody>
      </p:sp>
      <p:sp>
        <p:nvSpPr>
          <p:cNvPr id="58" name="Mini TextBox 36"/>
          <p:cNvSpPr txBox="1"/>
          <p:nvPr/>
        </p:nvSpPr>
        <p:spPr>
          <a:xfrm>
            <a:off x="7704196" y="3389406"/>
            <a:ext cx="1226682" cy="400110"/>
          </a:xfrm>
          <a:prstGeom prst="rect">
            <a:avLst/>
          </a:prstGeom>
          <a:noFill/>
        </p:spPr>
        <p:txBody>
          <a:bodyPr wrap="none" rtlCol="0">
            <a:spAutoFit/>
          </a:bodyPr>
          <a:lstStyle/>
          <a:p>
            <a:pPr algn="ctr"/>
            <a:r>
              <a:rPr lang="en-US" sz="2000" b="1" dirty="0"/>
              <a:t>Changed</a:t>
            </a:r>
          </a:p>
        </p:txBody>
      </p:sp>
      <p:sp>
        <p:nvSpPr>
          <p:cNvPr id="59" name="Mini TextBox 39"/>
          <p:cNvSpPr txBox="1"/>
          <p:nvPr/>
        </p:nvSpPr>
        <p:spPr>
          <a:xfrm>
            <a:off x="8889109" y="3419445"/>
            <a:ext cx="935191" cy="400110"/>
          </a:xfrm>
          <a:prstGeom prst="rect">
            <a:avLst/>
          </a:prstGeom>
          <a:noFill/>
        </p:spPr>
        <p:txBody>
          <a:bodyPr wrap="none" rtlCol="0">
            <a:spAutoFit/>
          </a:bodyPr>
          <a:lstStyle/>
          <a:p>
            <a:pPr algn="ctr"/>
            <a:r>
              <a:rPr lang="en-US" sz="2000" b="1" dirty="0"/>
              <a:t>Edited</a:t>
            </a:r>
          </a:p>
        </p:txBody>
      </p:sp>
      <p:pic>
        <p:nvPicPr>
          <p:cNvPr id="60" name="Mini Picture 21" descr="Generated image: Stick Figure Presenting an Ancient Scroll"/>
          <p:cNvPicPr>
            <a:picLocks noChangeAspect="1"/>
          </p:cNvPicPr>
          <p:nvPr/>
        </p:nvPicPr>
        <p:blipFill rotWithShape="1">
          <a:blip r:embed="rId4"/>
          <a:srcRect l="36294" t="13897" r="20000" b="34902"/>
          <a:stretch>
            <a:fillRect/>
          </a:stretch>
        </p:blipFill>
        <p:spPr>
          <a:xfrm flipH="1">
            <a:off x="3117762" y="3162300"/>
            <a:ext cx="2224963" cy="2606519"/>
          </a:xfrm>
          <a:prstGeom prst="rect">
            <a:avLst/>
          </a:prstGeom>
        </p:spPr>
      </p:pic>
      <p:pic>
        <p:nvPicPr>
          <p:cNvPr id="61" name="Mini Picture 22" descr="Generated image: Stick Figure Presenting an Ancient Scroll"/>
          <p:cNvPicPr>
            <a:picLocks noChangeAspect="1"/>
          </p:cNvPicPr>
          <p:nvPr/>
        </p:nvPicPr>
        <p:blipFill rotWithShape="1">
          <a:blip r:embed="rId4"/>
          <a:srcRect l="36294" t="13897" r="20000" b="34902"/>
          <a:stretch>
            <a:fillRect/>
          </a:stretch>
        </p:blipFill>
        <p:spPr>
          <a:xfrm flipH="1">
            <a:off x="9889612" y="3162300"/>
            <a:ext cx="2224964" cy="2606520"/>
          </a:xfrm>
          <a:prstGeom prst="rect">
            <a:avLst/>
          </a:prstGeom>
        </p:spPr>
      </p:pic>
      <p:sp>
        <p:nvSpPr>
          <p:cNvPr id="12" name="Donut 11">
            <a:extLst>
              <a:ext uri="{FF2B5EF4-FFF2-40B4-BE49-F238E27FC236}">
                <a16:creationId xmlns:a16="http://schemas.microsoft.com/office/drawing/2014/main" id="{988E32C0-1356-C250-BCA4-C14D9B23374E}"/>
              </a:ext>
            </a:extLst>
          </p:cNvPr>
          <p:cNvSpPr/>
          <p:nvPr/>
        </p:nvSpPr>
        <p:spPr>
          <a:xfrm>
            <a:off x="9734791" y="1947333"/>
            <a:ext cx="2379785" cy="3892102"/>
          </a:xfrm>
          <a:prstGeom prst="donut">
            <a:avLst>
              <a:gd name="adj" fmla="val 3238"/>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Oval Callout 15">
            <a:extLst>
              <a:ext uri="{FF2B5EF4-FFF2-40B4-BE49-F238E27FC236}">
                <a16:creationId xmlns:a16="http://schemas.microsoft.com/office/drawing/2014/main" id="{9C932712-7760-4704-4E4E-0DDECCFDA42B}"/>
              </a:ext>
            </a:extLst>
          </p:cNvPr>
          <p:cNvSpPr/>
          <p:nvPr/>
        </p:nvSpPr>
        <p:spPr>
          <a:xfrm>
            <a:off x="957101" y="117478"/>
            <a:ext cx="6982976" cy="2224856"/>
          </a:xfrm>
          <a:prstGeom prst="wedgeEllipseCallout">
            <a:avLst>
              <a:gd name="adj1" fmla="val -33247"/>
              <a:gd name="adj2" fmla="val 96820"/>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“This is the form we want! We don’t need to look for the ‘first form’”</a:t>
            </a:r>
          </a:p>
        </p:txBody>
      </p:sp>
      <p:sp>
        <p:nvSpPr>
          <p:cNvPr id="24" name="Oval Callout 23">
            <a:extLst>
              <a:ext uri="{FF2B5EF4-FFF2-40B4-BE49-F238E27FC236}">
                <a16:creationId xmlns:a16="http://schemas.microsoft.com/office/drawing/2014/main" id="{13577845-9864-2112-143F-7E91A587D77A}"/>
              </a:ext>
            </a:extLst>
          </p:cNvPr>
          <p:cNvSpPr/>
          <p:nvPr/>
        </p:nvSpPr>
        <p:spPr>
          <a:xfrm>
            <a:off x="3509612" y="4973310"/>
            <a:ext cx="4857934" cy="1853201"/>
          </a:xfrm>
          <a:prstGeom prst="wedgeEllipseCallout">
            <a:avLst>
              <a:gd name="adj1" fmla="val 57910"/>
              <a:gd name="adj2" fmla="val -8778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“Okay but wait, what about…”</a:t>
            </a:r>
          </a:p>
        </p:txBody>
      </p:sp>
      <p:sp>
        <p:nvSpPr>
          <p:cNvPr id="62" name="Pointer Edited (1)"/>
          <p:cNvSpPr/>
          <p:nvPr/>
        </p:nvSpPr>
        <p:spPr>
          <a:xfrm>
            <a:off x="7708900" y="3670300"/>
            <a:ext cx="3149600" cy="3149600"/>
          </a:xfrm>
          <a:custGeom>
            <a:avLst/>
            <a:gdLst/>
            <a:ahLst/>
            <a:cxnLst/>
            <a:rect l="0" t="0" r="r" b="b"/>
            <a:pathLst>
              <a:path w="3149600" h="3149600">
                <a:moveTo>
                  <a:pt x="1917700" y="571500"/>
                </a:moveTo>
                <a:arcTo wR="342900" hR="342900" stAng="0" swAng="21600000"/>
                <a:close/>
              </a:path>
              <a:path w="3149600" h="3149600" fill="none">
                <a:moveTo>
                  <a:pt x="1574800" y="914400"/>
                </a:moveTo>
                <a:lnTo>
                  <a:pt x="1574800" y="1905000"/>
                </a:lnTo>
                <a:moveTo>
                  <a:pt x="1270000" y="2946400"/>
                </a:moveTo>
                <a:lnTo>
                  <a:pt x="1574800" y="1905000"/>
                </a:lnTo>
                <a:lnTo>
                  <a:pt x="1905000" y="2946400"/>
                </a:lnTo>
                <a:moveTo>
                  <a:pt x="1574800" y="1041400"/>
                </a:moveTo>
                <a:lnTo>
                  <a:pt x="766865" y="818196"/>
                </a:lnTo>
                <a:moveTo>
                  <a:pt x="1574800" y="1041400"/>
                </a:moveTo>
                <a:lnTo>
                  <a:pt x="1993900" y="1778000"/>
                </a:lnTo>
              </a:path>
            </a:pathLst>
          </a:custGeom>
          <a:solidFill>
            <a:srgbClr val="FFFFFF"/>
          </a:solidFill>
          <a:ln w="88900" cap="rnd">
            <a:solidFill>
              <a:srgbClr val="000000"/>
            </a:solidFill>
            <a:round/>
          </a:ln>
        </p:spPr>
        <p:txBody>
          <a:bodyPr/>
          <a:lstStyle/>
          <a:p>
            <a:endParaRPr lang="en-US"/>
          </a:p>
        </p:txBody>
      </p:sp>
      <p:sp>
        <p:nvSpPr>
          <p:cNvPr id="63" name="Gold Circle Edited (1)"/>
          <p:cNvSpPr/>
          <p:nvPr/>
        </p:nvSpPr>
        <p:spPr>
          <a:xfrm>
            <a:off x="5397500" y="3327400"/>
            <a:ext cx="1244600" cy="584200"/>
          </a:xfrm>
          <a:prstGeom prst="donut">
            <a:avLst>
              <a:gd name="adj" fmla="val 13043"/>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Pointer Revised"/>
          <p:cNvSpPr/>
          <p:nvPr/>
        </p:nvSpPr>
        <p:spPr>
          <a:xfrm>
            <a:off x="7708900" y="3670300"/>
            <a:ext cx="3149600" cy="3149600"/>
          </a:xfrm>
          <a:custGeom>
            <a:avLst/>
            <a:gdLst/>
            <a:ahLst/>
            <a:cxnLst/>
            <a:rect l="0" t="0" r="r" b="b"/>
            <a:pathLst>
              <a:path w="3149600" h="3149600">
                <a:moveTo>
                  <a:pt x="1917700" y="571500"/>
                </a:moveTo>
                <a:arcTo wR="342900" hR="342900" stAng="0" swAng="21600000"/>
                <a:close/>
              </a:path>
              <a:path w="3149600" h="3149600" fill="none">
                <a:moveTo>
                  <a:pt x="1574800" y="914400"/>
                </a:moveTo>
                <a:lnTo>
                  <a:pt x="1574800" y="1905000"/>
                </a:lnTo>
                <a:moveTo>
                  <a:pt x="1270000" y="2946400"/>
                </a:moveTo>
                <a:lnTo>
                  <a:pt x="1574800" y="1905000"/>
                </a:lnTo>
                <a:lnTo>
                  <a:pt x="1905000" y="2946400"/>
                </a:lnTo>
                <a:moveTo>
                  <a:pt x="1574800" y="1041400"/>
                </a:moveTo>
                <a:lnTo>
                  <a:pt x="800344" y="720780"/>
                </a:lnTo>
                <a:moveTo>
                  <a:pt x="1574800" y="1041400"/>
                </a:moveTo>
                <a:lnTo>
                  <a:pt x="1993900" y="1778000"/>
                </a:lnTo>
              </a:path>
            </a:pathLst>
          </a:custGeom>
          <a:solidFill>
            <a:srgbClr val="FFFFFF"/>
          </a:solidFill>
          <a:ln w="88900" cap="rnd">
            <a:solidFill>
              <a:srgbClr val="000000"/>
            </a:solidFill>
            <a:round/>
          </a:ln>
        </p:spPr>
        <p:txBody>
          <a:bodyPr/>
          <a:lstStyle/>
          <a:p>
            <a:endParaRPr lang="en-US"/>
          </a:p>
        </p:txBody>
      </p:sp>
      <p:sp>
        <p:nvSpPr>
          <p:cNvPr id="65" name="Gold Circle Revised"/>
          <p:cNvSpPr/>
          <p:nvPr/>
        </p:nvSpPr>
        <p:spPr>
          <a:xfrm>
            <a:off x="6400800" y="3327400"/>
            <a:ext cx="1409700" cy="584200"/>
          </a:xfrm>
          <a:prstGeom prst="donut">
            <a:avLst>
              <a:gd name="adj" fmla="val 13043"/>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Pointer Changed"/>
          <p:cNvSpPr/>
          <p:nvPr/>
        </p:nvSpPr>
        <p:spPr>
          <a:xfrm>
            <a:off x="7708900" y="3670300"/>
            <a:ext cx="3149600" cy="3149600"/>
          </a:xfrm>
          <a:custGeom>
            <a:avLst/>
            <a:gdLst/>
            <a:ahLst/>
            <a:cxnLst/>
            <a:rect l="0" t="0" r="r" b="b"/>
            <a:pathLst>
              <a:path w="3149600" h="3149600">
                <a:moveTo>
                  <a:pt x="1917700" y="571500"/>
                </a:moveTo>
                <a:arcTo wR="342900" hR="342900" stAng="0" swAng="21600000"/>
                <a:close/>
              </a:path>
              <a:path w="3149600" h="3149600" fill="none">
                <a:moveTo>
                  <a:pt x="1574800" y="914400"/>
                </a:moveTo>
                <a:lnTo>
                  <a:pt x="1574800" y="1905000"/>
                </a:lnTo>
                <a:moveTo>
                  <a:pt x="1270000" y="2946400"/>
                </a:moveTo>
                <a:lnTo>
                  <a:pt x="1574800" y="1905000"/>
                </a:lnTo>
                <a:lnTo>
                  <a:pt x="1905000" y="2946400"/>
                </a:lnTo>
                <a:moveTo>
                  <a:pt x="1574800" y="1041400"/>
                </a:moveTo>
                <a:lnTo>
                  <a:pt x="964185" y="467180"/>
                </a:lnTo>
                <a:moveTo>
                  <a:pt x="1574800" y="1041400"/>
                </a:moveTo>
                <a:lnTo>
                  <a:pt x="1993900" y="1778000"/>
                </a:lnTo>
              </a:path>
            </a:pathLst>
          </a:custGeom>
          <a:solidFill>
            <a:srgbClr val="FFFFFF"/>
          </a:solidFill>
          <a:ln w="88900" cap="rnd">
            <a:solidFill>
              <a:srgbClr val="000000"/>
            </a:solidFill>
            <a:round/>
          </a:ln>
        </p:spPr>
        <p:txBody>
          <a:bodyPr/>
          <a:lstStyle/>
          <a:p>
            <a:endParaRPr lang="en-US"/>
          </a:p>
        </p:txBody>
      </p:sp>
      <p:sp>
        <p:nvSpPr>
          <p:cNvPr id="67" name="Gold Circle Changed"/>
          <p:cNvSpPr/>
          <p:nvPr/>
        </p:nvSpPr>
        <p:spPr>
          <a:xfrm>
            <a:off x="7556500" y="3327400"/>
            <a:ext cx="1536700" cy="584200"/>
          </a:xfrm>
          <a:prstGeom prst="donut">
            <a:avLst>
              <a:gd name="adj" fmla="val 13043"/>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Pointer Edited (2)"/>
          <p:cNvSpPr/>
          <p:nvPr/>
        </p:nvSpPr>
        <p:spPr>
          <a:xfrm>
            <a:off x="7708900" y="3670300"/>
            <a:ext cx="3149600" cy="3149600"/>
          </a:xfrm>
          <a:custGeom>
            <a:avLst/>
            <a:gdLst/>
            <a:ahLst/>
            <a:cxnLst/>
            <a:rect l="0" t="0" r="r" b="b"/>
            <a:pathLst>
              <a:path w="3149600" h="3149600">
                <a:moveTo>
                  <a:pt x="1917700" y="571500"/>
                </a:moveTo>
                <a:arcTo wR="342900" hR="342900" stAng="0" swAng="21600000"/>
                <a:close/>
              </a:path>
              <a:path w="3149600" h="3149600" fill="none">
                <a:moveTo>
                  <a:pt x="1574800" y="914400"/>
                </a:moveTo>
                <a:lnTo>
                  <a:pt x="1574800" y="1905000"/>
                </a:lnTo>
                <a:moveTo>
                  <a:pt x="1270000" y="2946400"/>
                </a:moveTo>
                <a:lnTo>
                  <a:pt x="1574800" y="1905000"/>
                </a:lnTo>
                <a:lnTo>
                  <a:pt x="1905000" y="2946400"/>
                </a:lnTo>
                <a:moveTo>
                  <a:pt x="1574800" y="1041400"/>
                </a:moveTo>
                <a:lnTo>
                  <a:pt x="2235200" y="381000"/>
                </a:lnTo>
                <a:moveTo>
                  <a:pt x="1574800" y="1041400"/>
                </a:moveTo>
                <a:lnTo>
                  <a:pt x="1168400" y="1778000"/>
                </a:lnTo>
              </a:path>
            </a:pathLst>
          </a:custGeom>
          <a:solidFill>
            <a:srgbClr val="FFFFFF"/>
          </a:solidFill>
          <a:ln w="88900" cap="rnd">
            <a:solidFill>
              <a:srgbClr val="000000"/>
            </a:solidFill>
            <a:round/>
          </a:ln>
        </p:spPr>
        <p:txBody>
          <a:bodyPr/>
          <a:lstStyle/>
          <a:p>
            <a:endParaRPr lang="en-US"/>
          </a:p>
        </p:txBody>
      </p:sp>
      <p:sp>
        <p:nvSpPr>
          <p:cNvPr id="69" name="Gold Circle Edited (2)"/>
          <p:cNvSpPr/>
          <p:nvPr/>
        </p:nvSpPr>
        <p:spPr>
          <a:xfrm>
            <a:off x="8801100" y="3327400"/>
            <a:ext cx="1244600" cy="584200"/>
          </a:xfrm>
          <a:prstGeom prst="donut">
            <a:avLst>
              <a:gd name="adj" fmla="val 13043"/>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Callout 28">
            <a:extLst>
              <a:ext uri="{FF2B5EF4-FFF2-40B4-BE49-F238E27FC236}">
                <a16:creationId xmlns:a16="http://schemas.microsoft.com/office/drawing/2014/main" id="{C1CD7F24-5EDB-491B-632A-D1126805B43C}"/>
              </a:ext>
            </a:extLst>
          </p:cNvPr>
          <p:cNvSpPr/>
          <p:nvPr/>
        </p:nvSpPr>
        <p:spPr>
          <a:xfrm>
            <a:off x="3513202" y="4976615"/>
            <a:ext cx="4857934" cy="1853201"/>
          </a:xfrm>
          <a:prstGeom prst="wedgeEllipseCallout">
            <a:avLst>
              <a:gd name="adj1" fmla="val 57910"/>
              <a:gd name="adj2" fmla="val -8778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“All the edits?”</a:t>
            </a:r>
          </a:p>
        </p:txBody>
      </p:sp>
      <p:sp>
        <p:nvSpPr>
          <p:cNvPr id="32" name="Oval Callout 31">
            <a:extLst>
              <a:ext uri="{FF2B5EF4-FFF2-40B4-BE49-F238E27FC236}">
                <a16:creationId xmlns:a16="http://schemas.microsoft.com/office/drawing/2014/main" id="{19B973AD-49CC-BF8C-3B60-5C128CFDB555}"/>
              </a:ext>
            </a:extLst>
          </p:cNvPr>
          <p:cNvSpPr/>
          <p:nvPr/>
        </p:nvSpPr>
        <p:spPr>
          <a:xfrm>
            <a:off x="959623" y="119436"/>
            <a:ext cx="6982976" cy="2224856"/>
          </a:xfrm>
          <a:prstGeom prst="wedgeEllipseCallout">
            <a:avLst>
              <a:gd name="adj1" fmla="val -33247"/>
              <a:gd name="adj2" fmla="val 96820"/>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“They are inspired edits!”</a:t>
            </a:r>
          </a:p>
        </p:txBody>
      </p:sp>
      <p:sp>
        <p:nvSpPr>
          <p:cNvPr id="38" name="Oval Callout 37">
            <a:extLst>
              <a:ext uri="{FF2B5EF4-FFF2-40B4-BE49-F238E27FC236}">
                <a16:creationId xmlns:a16="http://schemas.microsoft.com/office/drawing/2014/main" id="{923B749E-4E1E-3E8F-299C-C87826201AF7}"/>
              </a:ext>
            </a:extLst>
          </p:cNvPr>
          <p:cNvSpPr/>
          <p:nvPr/>
        </p:nvSpPr>
        <p:spPr>
          <a:xfrm>
            <a:off x="3516792" y="4958009"/>
            <a:ext cx="4857934" cy="1853201"/>
          </a:xfrm>
          <a:prstGeom prst="wedgeEllipseCallout">
            <a:avLst>
              <a:gd name="adj1" fmla="val 57910"/>
              <a:gd name="adj2" fmla="val -8778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“What about the revisions?”</a:t>
            </a:r>
          </a:p>
        </p:txBody>
      </p:sp>
      <p:sp>
        <p:nvSpPr>
          <p:cNvPr id="41" name="Oval Callout 40">
            <a:extLst>
              <a:ext uri="{FF2B5EF4-FFF2-40B4-BE49-F238E27FC236}">
                <a16:creationId xmlns:a16="http://schemas.microsoft.com/office/drawing/2014/main" id="{FFA3EFE0-4CC9-7649-33E2-4FBD5D9822EC}"/>
              </a:ext>
            </a:extLst>
          </p:cNvPr>
          <p:cNvSpPr/>
          <p:nvPr/>
        </p:nvSpPr>
        <p:spPr>
          <a:xfrm>
            <a:off x="933691" y="123781"/>
            <a:ext cx="6982976" cy="2224856"/>
          </a:xfrm>
          <a:prstGeom prst="wedgeEllipseCallout">
            <a:avLst>
              <a:gd name="adj1" fmla="val -33247"/>
              <a:gd name="adj2" fmla="val 96820"/>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“They are inspired revisions!”</a:t>
            </a:r>
          </a:p>
        </p:txBody>
      </p:sp>
      <p:sp>
        <p:nvSpPr>
          <p:cNvPr id="42" name="Oval Callout 41">
            <a:extLst>
              <a:ext uri="{FF2B5EF4-FFF2-40B4-BE49-F238E27FC236}">
                <a16:creationId xmlns:a16="http://schemas.microsoft.com/office/drawing/2014/main" id="{BEFE8E57-AFE6-1E4B-048D-12854E15D93A}"/>
              </a:ext>
            </a:extLst>
          </p:cNvPr>
          <p:cNvSpPr/>
          <p:nvPr/>
        </p:nvSpPr>
        <p:spPr>
          <a:xfrm>
            <a:off x="3519290" y="4962000"/>
            <a:ext cx="4857934" cy="1853201"/>
          </a:xfrm>
          <a:prstGeom prst="wedgeEllipseCallout">
            <a:avLst>
              <a:gd name="adj1" fmla="val 57910"/>
              <a:gd name="adj2" fmla="val -87789"/>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“What about the changes?”</a:t>
            </a:r>
          </a:p>
        </p:txBody>
      </p:sp>
      <p:sp>
        <p:nvSpPr>
          <p:cNvPr id="43" name="Oval Callout 42">
            <a:extLst>
              <a:ext uri="{FF2B5EF4-FFF2-40B4-BE49-F238E27FC236}">
                <a16:creationId xmlns:a16="http://schemas.microsoft.com/office/drawing/2014/main" id="{382435DB-B4CC-16B5-97CE-CAFB82FAD704}"/>
              </a:ext>
            </a:extLst>
          </p:cNvPr>
          <p:cNvSpPr/>
          <p:nvPr/>
        </p:nvSpPr>
        <p:spPr>
          <a:xfrm>
            <a:off x="957101" y="105729"/>
            <a:ext cx="6982976" cy="2224856"/>
          </a:xfrm>
          <a:prstGeom prst="wedgeEllipseCallout">
            <a:avLst>
              <a:gd name="adj1" fmla="val -33247"/>
              <a:gd name="adj2" fmla="val 96820"/>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“They are inspired changes!”</a:t>
            </a:r>
          </a:p>
        </p:txBody>
      </p:sp>
      <p:sp>
        <p:nvSpPr>
          <p:cNvPr id="70" name="Oval Callout 69">
            <a:extLst>
              <a:ext uri="{FF2B5EF4-FFF2-40B4-BE49-F238E27FC236}">
                <a16:creationId xmlns:a16="http://schemas.microsoft.com/office/drawing/2014/main" id="{44EDAD26-9171-F5B7-B685-A788C74A74F4}"/>
              </a:ext>
            </a:extLst>
          </p:cNvPr>
          <p:cNvSpPr/>
          <p:nvPr/>
        </p:nvSpPr>
        <p:spPr>
          <a:xfrm>
            <a:off x="3344786" y="4710600"/>
            <a:ext cx="5292486" cy="2147399"/>
          </a:xfrm>
          <a:prstGeom prst="wedgeEllipseCallout">
            <a:avLst>
              <a:gd name="adj1" fmla="val 50678"/>
              <a:gd name="adj2" fmla="val -69964"/>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“What about these edits </a:t>
            </a:r>
            <a:r>
              <a:rPr lang="en-US" sz="3600" i="1" dirty="0"/>
              <a:t>centuries</a:t>
            </a:r>
            <a:r>
              <a:rPr lang="en-US" sz="3600" dirty="0"/>
              <a:t> later??”</a:t>
            </a:r>
          </a:p>
        </p:txBody>
      </p:sp>
      <p:sp>
        <p:nvSpPr>
          <p:cNvPr id="71" name="Oval Callout 70">
            <a:extLst>
              <a:ext uri="{FF2B5EF4-FFF2-40B4-BE49-F238E27FC236}">
                <a16:creationId xmlns:a16="http://schemas.microsoft.com/office/drawing/2014/main" id="{CD9313CB-81A6-A20E-2AD1-272AD06DA226}"/>
              </a:ext>
            </a:extLst>
          </p:cNvPr>
          <p:cNvSpPr/>
          <p:nvPr/>
        </p:nvSpPr>
        <p:spPr>
          <a:xfrm>
            <a:off x="950289" y="110024"/>
            <a:ext cx="6982976" cy="2224856"/>
          </a:xfrm>
          <a:prstGeom prst="wedgeEllipseCallout">
            <a:avLst>
              <a:gd name="adj1" fmla="val -33247"/>
              <a:gd name="adj2" fmla="val 96820"/>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dirty="0"/>
              <a:t>“Didn’t you hear me the first time? They are </a:t>
            </a:r>
            <a:r>
              <a:rPr lang="en-US" sz="3600" i="1" dirty="0"/>
              <a:t>all</a:t>
            </a:r>
            <a:r>
              <a:rPr lang="en-US" sz="3600" dirty="0"/>
              <a:t> inspired!”</a:t>
            </a:r>
          </a:p>
        </p:txBody>
      </p:sp>
    </p:spTree>
    <p:extLst>
      <p:ext uri="{BB962C8B-B14F-4D97-AF65-F5344CB8AC3E}">
        <p14:creationId xmlns:p14="http://schemas.microsoft.com/office/powerpoint/2010/main" val="2134121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after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46"/>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47"/>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48"/>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4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1"/>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2"/>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53"/>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5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5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57"/>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58"/>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9"/>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60"/>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6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left)">
                                      <p:cBhvr>
                                        <p:cTn id="50" dur="500"/>
                                        <p:tgtEl>
                                          <p:spTgt spid="12"/>
                                        </p:tgtEl>
                                      </p:cBhvr>
                                    </p:animEffect>
                                  </p:childTnLst>
                                </p:cTn>
                              </p:par>
                            </p:childTnLst>
                          </p:cTn>
                        </p:par>
                        <p:par>
                          <p:cTn id="51" fill="hold">
                            <p:stCondLst>
                              <p:cond delay="500"/>
                            </p:stCondLst>
                            <p:childTnLst>
                              <p:par>
                                <p:cTn id="52" presetID="22" presetClass="entr" presetSubtype="4" fill="hold" grpId="0" nodeType="after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down)">
                                      <p:cBhvr>
                                        <p:cTn id="54" dur="50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0" presetClass="path" presetSubtype="0" accel="50000" decel="50000" fill="hold" nodeType="clickEffect">
                                  <p:stCondLst>
                                    <p:cond delay="0"/>
                                  </p:stCondLst>
                                  <p:childTnLst>
                                    <p:animMotion origin="layout" path="M 2.08333E-7 -0.01041 L -0.35495 -0.01041 " pathEditMode="relative" rAng="0" ptsTypes="AA">
                                      <p:cBhvr>
                                        <p:cTn id="58" dur="2000" fill="hold"/>
                                        <p:tgtEl>
                                          <p:spTgt spid="15"/>
                                        </p:tgtEl>
                                        <p:attrNameLst>
                                          <p:attrName>ppt_x</p:attrName>
                                          <p:attrName>ppt_y</p:attrName>
                                        </p:attrNameLst>
                                      </p:cBhvr>
                                      <p:rCtr x="-17747" y="0"/>
                                    </p:animMotion>
                                  </p:childTnLst>
                                </p:cTn>
                              </p:par>
                              <p:par>
                                <p:cTn id="59" presetID="1" presetClass="exit" presetSubtype="0" fill="hold" grpId="1" nodeType="withEffect">
                                  <p:stCondLst>
                                    <p:cond delay="0"/>
                                  </p:stCondLst>
                                  <p:childTnLst>
                                    <p:set>
                                      <p:cBhvr>
                                        <p:cTn id="60" dur="1" fill="hold">
                                          <p:stCondLst>
                                            <p:cond delay="0"/>
                                          </p:stCondLst>
                                        </p:cTn>
                                        <p:tgtEl>
                                          <p:spTgt spid="12"/>
                                        </p:tgtEl>
                                        <p:attrNameLst>
                                          <p:attrName>style.visibility</p:attrName>
                                        </p:attrNameLst>
                                      </p:cBhvr>
                                      <p:to>
                                        <p:strVal val="hidden"/>
                                      </p:to>
                                    </p:set>
                                  </p:childTnLst>
                                </p:cTn>
                              </p:par>
                            </p:childTnLst>
                          </p:cTn>
                        </p:par>
                        <p:par>
                          <p:cTn id="61" fill="hold">
                            <p:stCondLst>
                              <p:cond delay="2000"/>
                            </p:stCondLst>
                            <p:childTnLst>
                              <p:par>
                                <p:cTn id="62" presetID="1" presetClass="exit" presetSubtype="0" fill="hold" nodeType="afterEffect">
                                  <p:stCondLst>
                                    <p:cond delay="0"/>
                                  </p:stCondLst>
                                  <p:childTnLst>
                                    <p:set>
                                      <p:cBhvr>
                                        <p:cTn id="63" dur="1" fill="hold">
                                          <p:stCondLst>
                                            <p:cond delay="0"/>
                                          </p:stCondLst>
                                        </p:cTn>
                                        <p:tgtEl>
                                          <p:spTgt spid="15"/>
                                        </p:tgtEl>
                                        <p:attrNameLst>
                                          <p:attrName>style.visibility</p:attrName>
                                        </p:attrNameLst>
                                      </p:cBhvr>
                                      <p:to>
                                        <p:strVal val="hidden"/>
                                      </p:to>
                                    </p:set>
                                  </p:childTnLst>
                                </p:cTn>
                              </p:par>
                            </p:childTnLst>
                          </p:cTn>
                        </p:par>
                        <p:par>
                          <p:cTn id="64" fill="hold">
                            <p:stCondLst>
                              <p:cond delay="2000"/>
                            </p:stCondLst>
                            <p:childTnLst>
                              <p:par>
                                <p:cTn id="65" presetID="1" presetClass="entr" presetSubtype="0" fill="hold" nodeType="after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childTnLst>
                          </p:cTn>
                        </p:par>
                        <p:par>
                          <p:cTn id="67" fill="hold">
                            <p:stCondLst>
                              <p:cond delay="2000"/>
                            </p:stCondLst>
                            <p:childTnLst>
                              <p:par>
                                <p:cTn id="68" presetID="22" presetClass="entr" presetSubtype="1" fill="hold" grpId="0" nodeType="after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wipe(up)">
                                      <p:cBhvr>
                                        <p:cTn id="70" dur="5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nodeType="clickEffect">
                                  <p:stCondLst>
                                    <p:cond delay="0"/>
                                  </p:stCondLst>
                                  <p:childTnLst>
                                    <p:set>
                                      <p:cBhvr>
                                        <p:cTn id="74" dur="1" fill="hold">
                                          <p:stCondLst>
                                            <p:cond delay="0"/>
                                          </p:stCondLst>
                                        </p:cTn>
                                        <p:tgtEl>
                                          <p:spTgt spid="14"/>
                                        </p:tgtEl>
                                        <p:attrNameLst>
                                          <p:attrName>style.visibility</p:attrName>
                                        </p:attrNameLst>
                                      </p:cBhvr>
                                      <p:to>
                                        <p:strVal val="hidden"/>
                                      </p:to>
                                    </p:set>
                                  </p:childTnLst>
                                </p:cTn>
                              </p:par>
                              <p:par>
                                <p:cTn id="75" presetID="1" presetClass="entr" presetSubtype="0" fill="hold" nodeType="withEffect">
                                  <p:stCondLst>
                                    <p:cond delay="0"/>
                                  </p:stCondLst>
                                  <p:childTnLst>
                                    <p:set>
                                      <p:cBhvr>
                                        <p:cTn id="76" dur="1" fill="hold">
                                          <p:stCondLst>
                                            <p:cond delay="0"/>
                                          </p:stCondLst>
                                        </p:cTn>
                                        <p:tgtEl>
                                          <p:spTgt spid="62"/>
                                        </p:tgtEl>
                                        <p:attrNameLst>
                                          <p:attrName>style.visibility</p:attrName>
                                        </p:attrNameLst>
                                      </p:cBhvr>
                                      <p:to>
                                        <p:strVal val="visible"/>
                                      </p:to>
                                    </p:set>
                                  </p:childTnLst>
                                </p:cTn>
                              </p:par>
                            </p:childTnLst>
                          </p:cTn>
                        </p:par>
                        <p:par>
                          <p:cTn id="77" fill="hold">
                            <p:stCondLst>
                              <p:cond delay="0"/>
                            </p:stCondLst>
                            <p:childTnLst>
                              <p:par>
                                <p:cTn id="78" presetID="22" presetClass="entr" presetSubtype="1" fill="hold" grpId="0" nodeType="after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wipe(up)">
                                      <p:cBhvr>
                                        <p:cTn id="80" dur="500"/>
                                        <p:tgtEl>
                                          <p:spTgt spid="29"/>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63"/>
                                        </p:tgtEl>
                                        <p:attrNameLst>
                                          <p:attrName>style.visibility</p:attrName>
                                        </p:attrNameLst>
                                      </p:cBhvr>
                                      <p:to>
                                        <p:strVal val="visible"/>
                                      </p:to>
                                    </p:set>
                                    <p:animEffect transition="in" filter="wipe(left)">
                                      <p:cBhvr>
                                        <p:cTn id="83" dur="500"/>
                                        <p:tgtEl>
                                          <p:spTgt spid="6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grpId="0" nodeType="click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wipe(down)">
                                      <p:cBhvr>
                                        <p:cTn id="88" dur="500"/>
                                        <p:tgtEl>
                                          <p:spTgt spid="32"/>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nodeType="clickEffect">
                                  <p:stCondLst>
                                    <p:cond delay="0"/>
                                  </p:stCondLst>
                                  <p:childTnLst>
                                    <p:set>
                                      <p:cBhvr>
                                        <p:cTn id="92" dur="1" fill="hold">
                                          <p:stCondLst>
                                            <p:cond delay="0"/>
                                          </p:stCondLst>
                                        </p:cTn>
                                        <p:tgtEl>
                                          <p:spTgt spid="62"/>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63"/>
                                        </p:tgtEl>
                                        <p:attrNameLst>
                                          <p:attrName>style.visibility</p:attrName>
                                        </p:attrNameLst>
                                      </p:cBhvr>
                                      <p:to>
                                        <p:strVal val="hidden"/>
                                      </p:to>
                                    </p:set>
                                  </p:childTnLst>
                                </p:cTn>
                              </p:par>
                              <p:par>
                                <p:cTn id="95" presetID="1" presetClass="entr" presetSubtype="0" fill="hold" nodeType="withEffect">
                                  <p:stCondLst>
                                    <p:cond delay="0"/>
                                  </p:stCondLst>
                                  <p:childTnLst>
                                    <p:set>
                                      <p:cBhvr>
                                        <p:cTn id="96" dur="1" fill="hold">
                                          <p:stCondLst>
                                            <p:cond delay="0"/>
                                          </p:stCondLst>
                                        </p:cTn>
                                        <p:tgtEl>
                                          <p:spTgt spid="64"/>
                                        </p:tgtEl>
                                        <p:attrNameLst>
                                          <p:attrName>style.visibility</p:attrName>
                                        </p:attrNameLst>
                                      </p:cBhvr>
                                      <p:to>
                                        <p:strVal val="visible"/>
                                      </p:to>
                                    </p:set>
                                  </p:childTnLst>
                                </p:cTn>
                              </p:par>
                              <p:par>
                                <p:cTn id="97" presetID="22" presetClass="entr" presetSubtype="8" fill="hold" grpId="0" nodeType="withEffect">
                                  <p:stCondLst>
                                    <p:cond delay="0"/>
                                  </p:stCondLst>
                                  <p:childTnLst>
                                    <p:set>
                                      <p:cBhvr>
                                        <p:cTn id="98" dur="1" fill="hold">
                                          <p:stCondLst>
                                            <p:cond delay="0"/>
                                          </p:stCondLst>
                                        </p:cTn>
                                        <p:tgtEl>
                                          <p:spTgt spid="65"/>
                                        </p:tgtEl>
                                        <p:attrNameLst>
                                          <p:attrName>style.visibility</p:attrName>
                                        </p:attrNameLst>
                                      </p:cBhvr>
                                      <p:to>
                                        <p:strVal val="visible"/>
                                      </p:to>
                                    </p:set>
                                    <p:animEffect transition="in" filter="wipe(left)">
                                      <p:cBhvr>
                                        <p:cTn id="99" dur="500"/>
                                        <p:tgtEl>
                                          <p:spTgt spid="65"/>
                                        </p:tgtEl>
                                      </p:cBhvr>
                                    </p:animEffect>
                                  </p:childTnLst>
                                </p:cTn>
                              </p:par>
                            </p:childTnLst>
                          </p:cTn>
                        </p:par>
                        <p:par>
                          <p:cTn id="100" fill="hold">
                            <p:stCondLst>
                              <p:cond delay="500"/>
                            </p:stCondLst>
                            <p:childTnLst>
                              <p:par>
                                <p:cTn id="101" presetID="22" presetClass="entr" presetSubtype="1" fill="hold" grpId="0" nodeType="after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wipe(up)">
                                      <p:cBhvr>
                                        <p:cTn id="103" dur="500"/>
                                        <p:tgtEl>
                                          <p:spTgt spid="38"/>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grpId="0" nodeType="click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wipe(down)">
                                      <p:cBhvr>
                                        <p:cTn id="108" dur="500"/>
                                        <p:tgtEl>
                                          <p:spTgt spid="41"/>
                                        </p:tgtEl>
                                      </p:cBhvr>
                                    </p:animEffec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nodeType="clickEffect">
                                  <p:stCondLst>
                                    <p:cond delay="0"/>
                                  </p:stCondLst>
                                  <p:childTnLst>
                                    <p:set>
                                      <p:cBhvr>
                                        <p:cTn id="112" dur="1" fill="hold">
                                          <p:stCondLst>
                                            <p:cond delay="0"/>
                                          </p:stCondLst>
                                        </p:cTn>
                                        <p:tgtEl>
                                          <p:spTgt spid="64"/>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65"/>
                                        </p:tgtEl>
                                        <p:attrNameLst>
                                          <p:attrName>style.visibility</p:attrName>
                                        </p:attrNameLst>
                                      </p:cBhvr>
                                      <p:to>
                                        <p:strVal val="hidden"/>
                                      </p:to>
                                    </p:set>
                                  </p:childTnLst>
                                </p:cTn>
                              </p:par>
                              <p:par>
                                <p:cTn id="115" presetID="1" presetClass="entr" presetSubtype="0" fill="hold" nodeType="withEffect">
                                  <p:stCondLst>
                                    <p:cond delay="0"/>
                                  </p:stCondLst>
                                  <p:childTnLst>
                                    <p:set>
                                      <p:cBhvr>
                                        <p:cTn id="116" dur="1" fill="hold">
                                          <p:stCondLst>
                                            <p:cond delay="0"/>
                                          </p:stCondLst>
                                        </p:cTn>
                                        <p:tgtEl>
                                          <p:spTgt spid="66"/>
                                        </p:tgtEl>
                                        <p:attrNameLst>
                                          <p:attrName>style.visibility</p:attrName>
                                        </p:attrNameLst>
                                      </p:cBhvr>
                                      <p:to>
                                        <p:strVal val="visible"/>
                                      </p:to>
                                    </p:set>
                                  </p:childTnLst>
                                </p:cTn>
                              </p:par>
                              <p:par>
                                <p:cTn id="117" presetID="22" presetClass="entr" presetSubtype="8" fill="hold" grpId="0" nodeType="withEffect">
                                  <p:stCondLst>
                                    <p:cond delay="0"/>
                                  </p:stCondLst>
                                  <p:childTnLst>
                                    <p:set>
                                      <p:cBhvr>
                                        <p:cTn id="118" dur="1" fill="hold">
                                          <p:stCondLst>
                                            <p:cond delay="0"/>
                                          </p:stCondLst>
                                        </p:cTn>
                                        <p:tgtEl>
                                          <p:spTgt spid="67"/>
                                        </p:tgtEl>
                                        <p:attrNameLst>
                                          <p:attrName>style.visibility</p:attrName>
                                        </p:attrNameLst>
                                      </p:cBhvr>
                                      <p:to>
                                        <p:strVal val="visible"/>
                                      </p:to>
                                    </p:set>
                                    <p:animEffect transition="in" filter="wipe(left)">
                                      <p:cBhvr>
                                        <p:cTn id="119" dur="500"/>
                                        <p:tgtEl>
                                          <p:spTgt spid="67"/>
                                        </p:tgtEl>
                                      </p:cBhvr>
                                    </p:animEffect>
                                  </p:childTnLst>
                                </p:cTn>
                              </p:par>
                            </p:childTnLst>
                          </p:cTn>
                        </p:par>
                        <p:par>
                          <p:cTn id="120" fill="hold">
                            <p:stCondLst>
                              <p:cond delay="500"/>
                            </p:stCondLst>
                            <p:childTnLst>
                              <p:par>
                                <p:cTn id="121" presetID="22" presetClass="entr" presetSubtype="1" fill="hold" grpId="0" nodeType="afterEffect">
                                  <p:stCondLst>
                                    <p:cond delay="0"/>
                                  </p:stCondLst>
                                  <p:childTnLst>
                                    <p:set>
                                      <p:cBhvr>
                                        <p:cTn id="122" dur="1" fill="hold">
                                          <p:stCondLst>
                                            <p:cond delay="0"/>
                                          </p:stCondLst>
                                        </p:cTn>
                                        <p:tgtEl>
                                          <p:spTgt spid="42"/>
                                        </p:tgtEl>
                                        <p:attrNameLst>
                                          <p:attrName>style.visibility</p:attrName>
                                        </p:attrNameLst>
                                      </p:cBhvr>
                                      <p:to>
                                        <p:strVal val="visible"/>
                                      </p:to>
                                    </p:set>
                                    <p:animEffect transition="in" filter="wipe(up)">
                                      <p:cBhvr>
                                        <p:cTn id="123" dur="500"/>
                                        <p:tgtEl>
                                          <p:spTgt spid="42"/>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grpId="0" nodeType="click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wipe(down)">
                                      <p:cBhvr>
                                        <p:cTn id="128" dur="500"/>
                                        <p:tgtEl>
                                          <p:spTgt spid="43"/>
                                        </p:tgtEl>
                                      </p:cBhvr>
                                    </p:animEffect>
                                  </p:childTnLst>
                                </p:cTn>
                              </p:par>
                            </p:childTnLst>
                          </p:cTn>
                        </p:par>
                      </p:childTnLst>
                    </p:cTn>
                  </p:par>
                  <p:par>
                    <p:cTn id="129" fill="hold">
                      <p:stCondLst>
                        <p:cond delay="indefinite"/>
                      </p:stCondLst>
                      <p:childTnLst>
                        <p:par>
                          <p:cTn id="130" fill="hold">
                            <p:stCondLst>
                              <p:cond delay="0"/>
                            </p:stCondLst>
                            <p:childTnLst>
                              <p:par>
                                <p:cTn id="131" presetID="1" presetClass="exit" presetSubtype="0" fill="hold" nodeType="clickEffect">
                                  <p:stCondLst>
                                    <p:cond delay="0"/>
                                  </p:stCondLst>
                                  <p:childTnLst>
                                    <p:set>
                                      <p:cBhvr>
                                        <p:cTn id="132" dur="1" fill="hold">
                                          <p:stCondLst>
                                            <p:cond delay="0"/>
                                          </p:stCondLst>
                                        </p:cTn>
                                        <p:tgtEl>
                                          <p:spTgt spid="66"/>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0"/>
                                          </p:stCondLst>
                                        </p:cTn>
                                        <p:tgtEl>
                                          <p:spTgt spid="67"/>
                                        </p:tgtEl>
                                        <p:attrNameLst>
                                          <p:attrName>style.visibility</p:attrName>
                                        </p:attrNameLst>
                                      </p:cBhvr>
                                      <p:to>
                                        <p:strVal val="hidden"/>
                                      </p:to>
                                    </p:set>
                                  </p:childTnLst>
                                </p:cTn>
                              </p:par>
                              <p:par>
                                <p:cTn id="135" presetID="1" presetClass="entr" presetSubtype="0" fill="hold" nodeType="withEffect">
                                  <p:stCondLst>
                                    <p:cond delay="0"/>
                                  </p:stCondLst>
                                  <p:childTnLst>
                                    <p:set>
                                      <p:cBhvr>
                                        <p:cTn id="136" dur="1" fill="hold">
                                          <p:stCondLst>
                                            <p:cond delay="0"/>
                                          </p:stCondLst>
                                        </p:cTn>
                                        <p:tgtEl>
                                          <p:spTgt spid="68"/>
                                        </p:tgtEl>
                                        <p:attrNameLst>
                                          <p:attrName>style.visibility</p:attrName>
                                        </p:attrNameLst>
                                      </p:cBhvr>
                                      <p:to>
                                        <p:strVal val="visible"/>
                                      </p:to>
                                    </p:set>
                                  </p:childTnLst>
                                </p:cTn>
                              </p:par>
                              <p:par>
                                <p:cTn id="137" presetID="22" presetClass="entr" presetSubtype="8" fill="hold" grpId="0" nodeType="withEffect">
                                  <p:stCondLst>
                                    <p:cond delay="0"/>
                                  </p:stCondLst>
                                  <p:childTnLst>
                                    <p:set>
                                      <p:cBhvr>
                                        <p:cTn id="138" dur="1" fill="hold">
                                          <p:stCondLst>
                                            <p:cond delay="0"/>
                                          </p:stCondLst>
                                        </p:cTn>
                                        <p:tgtEl>
                                          <p:spTgt spid="69"/>
                                        </p:tgtEl>
                                        <p:attrNameLst>
                                          <p:attrName>style.visibility</p:attrName>
                                        </p:attrNameLst>
                                      </p:cBhvr>
                                      <p:to>
                                        <p:strVal val="visible"/>
                                      </p:to>
                                    </p:set>
                                    <p:animEffect transition="in" filter="wipe(left)">
                                      <p:cBhvr>
                                        <p:cTn id="139" dur="500"/>
                                        <p:tgtEl>
                                          <p:spTgt spid="69"/>
                                        </p:tgtEl>
                                      </p:cBhvr>
                                    </p:animEffect>
                                  </p:childTnLst>
                                </p:cTn>
                              </p:par>
                            </p:childTnLst>
                          </p:cTn>
                        </p:par>
                        <p:par>
                          <p:cTn id="140" fill="hold">
                            <p:stCondLst>
                              <p:cond delay="500"/>
                            </p:stCondLst>
                            <p:childTnLst>
                              <p:par>
                                <p:cTn id="141" presetID="22" presetClass="entr" presetSubtype="1" fill="hold" grpId="0" nodeType="afterEffect">
                                  <p:stCondLst>
                                    <p:cond delay="0"/>
                                  </p:stCondLst>
                                  <p:childTnLst>
                                    <p:set>
                                      <p:cBhvr>
                                        <p:cTn id="142" dur="1" fill="hold">
                                          <p:stCondLst>
                                            <p:cond delay="0"/>
                                          </p:stCondLst>
                                        </p:cTn>
                                        <p:tgtEl>
                                          <p:spTgt spid="70"/>
                                        </p:tgtEl>
                                        <p:attrNameLst>
                                          <p:attrName>style.visibility</p:attrName>
                                        </p:attrNameLst>
                                      </p:cBhvr>
                                      <p:to>
                                        <p:strVal val="visible"/>
                                      </p:to>
                                    </p:set>
                                    <p:animEffect transition="in" filter="wipe(up)">
                                      <p:cBhvr>
                                        <p:cTn id="143" dur="500"/>
                                        <p:tgtEl>
                                          <p:spTgt spid="70"/>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4" fill="hold" grpId="0" nodeType="clickEffect">
                                  <p:stCondLst>
                                    <p:cond delay="0"/>
                                  </p:stCondLst>
                                  <p:childTnLst>
                                    <p:set>
                                      <p:cBhvr>
                                        <p:cTn id="147" dur="1" fill="hold">
                                          <p:stCondLst>
                                            <p:cond delay="0"/>
                                          </p:stCondLst>
                                        </p:cTn>
                                        <p:tgtEl>
                                          <p:spTgt spid="71"/>
                                        </p:tgtEl>
                                        <p:attrNameLst>
                                          <p:attrName>style.visibility</p:attrName>
                                        </p:attrNameLst>
                                      </p:cBhvr>
                                      <p:to>
                                        <p:strVal val="visible"/>
                                      </p:to>
                                    </p:set>
                                    <p:animEffect transition="in" filter="wipe(down)">
                                      <p:cBhvr>
                                        <p:cTn id="148"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P spid="49" grpId="0" animBg="1"/>
      <p:bldP spid="50" grpId="0" animBg="1"/>
      <p:bldP spid="51" grpId="0" animBg="1"/>
      <p:bldP spid="52" grpId="0"/>
      <p:bldP spid="53" grpId="0"/>
      <p:bldP spid="54" grpId="0"/>
      <p:bldP spid="55" grpId="0"/>
      <p:bldP spid="56" grpId="0"/>
      <p:bldP spid="57" grpId="0"/>
      <p:bldP spid="58" grpId="0"/>
      <p:bldP spid="59" grpId="0"/>
      <p:bldP spid="12" grpId="0" animBg="1"/>
      <p:bldP spid="12" grpId="1" animBg="1"/>
      <p:bldP spid="16" grpId="0" animBg="1"/>
      <p:bldP spid="24" grpId="0" animBg="1"/>
      <p:bldP spid="63" grpId="0" animBg="1"/>
      <p:bldP spid="65" grpId="0" animBg="1"/>
      <p:bldP spid="67" grpId="0" animBg="1"/>
      <p:bldP spid="69" grpId="0" animBg="1"/>
      <p:bldP spid="29" grpId="0" animBg="1"/>
      <p:bldP spid="32" grpId="0" animBg="1"/>
      <p:bldP spid="38" grpId="0" animBg="1"/>
      <p:bldP spid="41" grpId="0" animBg="1"/>
      <p:bldP spid="42" grpId="0" animBg="1"/>
      <p:bldP spid="43" grpId="0" animBg="1"/>
      <p:bldP spid="70" grpId="0" animBg="1"/>
      <p:bldP spid="71"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E1431-649E-670A-DA14-560D6F8C504D}"/>
            </a:ext>
          </a:extLst>
        </p:cNvPr>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2A08BA59-228E-653B-ACB0-AAC1C38160F9}"/>
              </a:ext>
            </a:extLst>
          </p:cNvPr>
          <p:cNvSpPr txBox="1">
            <a:spLocks/>
          </p:cNvSpPr>
          <p:nvPr/>
        </p:nvSpPr>
        <p:spPr>
          <a:xfrm>
            <a:off x="906780" y="-103578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 Church Created</a:t>
            </a:r>
          </a:p>
        </p:txBody>
      </p:sp>
      <p:sp>
        <p:nvSpPr>
          <p:cNvPr id="3" name="Content Placeholder 2">
            <a:extLst>
              <a:ext uri="{FF2B5EF4-FFF2-40B4-BE49-F238E27FC236}">
                <a16:creationId xmlns:a16="http://schemas.microsoft.com/office/drawing/2014/main" id="{5A49C10A-684B-A67D-E236-EE73C35CF8EE}"/>
              </a:ext>
            </a:extLst>
          </p:cNvPr>
          <p:cNvSpPr>
            <a:spLocks noGrp="1"/>
          </p:cNvSpPr>
          <p:nvPr>
            <p:ph idx="1"/>
          </p:nvPr>
        </p:nvSpPr>
        <p:spPr>
          <a:xfrm>
            <a:off x="331470" y="-1734636"/>
            <a:ext cx="10746740" cy="695960"/>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1B07736C-C101-E932-EA4A-E2884B2CD76C}"/>
              </a:ext>
            </a:extLst>
          </p:cNvPr>
          <p:cNvSpPr txBox="1">
            <a:spLocks/>
          </p:cNvSpPr>
          <p:nvPr/>
        </p:nvSpPr>
        <p:spPr>
          <a:xfrm>
            <a:off x="902969" y="-103867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4D340288-7329-8D7A-8092-748EFFED6378}"/>
              </a:ext>
            </a:extLst>
          </p:cNvPr>
          <p:cNvSpPr txBox="1">
            <a:spLocks/>
          </p:cNvSpPr>
          <p:nvPr/>
        </p:nvSpPr>
        <p:spPr>
          <a:xfrm>
            <a:off x="331470" y="-1038676"/>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19" name="Content Placeholder 2">
            <a:extLst>
              <a:ext uri="{FF2B5EF4-FFF2-40B4-BE49-F238E27FC236}">
                <a16:creationId xmlns:a16="http://schemas.microsoft.com/office/drawing/2014/main" id="{0966A9A2-EE46-4AC4-28E1-833377F8A317}"/>
              </a:ext>
            </a:extLst>
          </p:cNvPr>
          <p:cNvSpPr txBox="1">
            <a:spLocks/>
          </p:cNvSpPr>
          <p:nvPr/>
        </p:nvSpPr>
        <p:spPr>
          <a:xfrm>
            <a:off x="902969" y="88854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4400" dirty="0"/>
          </a:p>
        </p:txBody>
      </p:sp>
      <p:sp>
        <p:nvSpPr>
          <p:cNvPr id="20" name="Content Placeholder 2">
            <a:extLst>
              <a:ext uri="{FF2B5EF4-FFF2-40B4-BE49-F238E27FC236}">
                <a16:creationId xmlns:a16="http://schemas.microsoft.com/office/drawing/2014/main" id="{EE5B414E-EA61-167F-B062-09D6AD99C395}"/>
              </a:ext>
            </a:extLst>
          </p:cNvPr>
          <p:cNvSpPr txBox="1">
            <a:spLocks/>
          </p:cNvSpPr>
          <p:nvPr/>
        </p:nvSpPr>
        <p:spPr>
          <a:xfrm>
            <a:off x="838200" y="68072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Canonical-Critical Model</a:t>
            </a:r>
          </a:p>
        </p:txBody>
      </p:sp>
      <p:sp>
        <p:nvSpPr>
          <p:cNvPr id="21" name="Content Placeholder 2">
            <a:extLst>
              <a:ext uri="{FF2B5EF4-FFF2-40B4-BE49-F238E27FC236}">
                <a16:creationId xmlns:a16="http://schemas.microsoft.com/office/drawing/2014/main" id="{18712A7C-8895-2DB3-D752-FD484E2D2806}"/>
              </a:ext>
            </a:extLst>
          </p:cNvPr>
          <p:cNvSpPr txBox="1">
            <a:spLocks/>
          </p:cNvSpPr>
          <p:nvPr/>
        </p:nvSpPr>
        <p:spPr>
          <a:xfrm>
            <a:off x="-847090" y="614840"/>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3.</a:t>
            </a:r>
          </a:p>
        </p:txBody>
      </p:sp>
      <p:sp>
        <p:nvSpPr>
          <p:cNvPr id="18" name="Content Placeholder 2">
            <a:extLst>
              <a:ext uri="{FF2B5EF4-FFF2-40B4-BE49-F238E27FC236}">
                <a16:creationId xmlns:a16="http://schemas.microsoft.com/office/drawing/2014/main" id="{A03BEE77-651E-E3E4-BA4F-3309151AA945}"/>
              </a:ext>
            </a:extLst>
          </p:cNvPr>
          <p:cNvSpPr txBox="1">
            <a:spLocks/>
          </p:cNvSpPr>
          <p:nvPr/>
        </p:nvSpPr>
        <p:spPr>
          <a:xfrm>
            <a:off x="838200" y="1825624"/>
            <a:ext cx="11353800" cy="50323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dirty="0"/>
              <a:t>2 Key Points:</a:t>
            </a:r>
          </a:p>
          <a:p>
            <a:pPr marL="1204913" indent="-744538">
              <a:buAutoNum type="arabicPeriod"/>
            </a:pPr>
            <a:r>
              <a:rPr lang="en-US" sz="4000" dirty="0"/>
              <a:t>We want the final form, not the earliest</a:t>
            </a:r>
          </a:p>
          <a:p>
            <a:pPr marL="1204913" indent="-744538">
              <a:buAutoNum type="arabicPeriod"/>
            </a:pPr>
            <a:r>
              <a:rPr lang="en-US" sz="4000" dirty="0"/>
              <a:t>The canon isn’t “formed” in the 4</a:t>
            </a:r>
            <a:r>
              <a:rPr lang="en-US" sz="4000" baseline="30000" dirty="0"/>
              <a:t>th</a:t>
            </a:r>
            <a:r>
              <a:rPr lang="en-US" sz="4000" dirty="0"/>
              <a:t> century; it is just finalized. The canon began the moment books started being used “as Scripture” (“The Functional Canon”)</a:t>
            </a:r>
          </a:p>
        </p:txBody>
      </p:sp>
    </p:spTree>
    <p:extLst>
      <p:ext uri="{BB962C8B-B14F-4D97-AF65-F5344CB8AC3E}">
        <p14:creationId xmlns:p14="http://schemas.microsoft.com/office/powerpoint/2010/main" val="1073302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6101D-D421-3CA1-EA8A-205A64543627}"/>
            </a:ext>
          </a:extLst>
        </p:cNvPr>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ADCB662F-DFFF-C31D-BB07-72533BC4DEB6}"/>
              </a:ext>
            </a:extLst>
          </p:cNvPr>
          <p:cNvSpPr txBox="1">
            <a:spLocks/>
          </p:cNvSpPr>
          <p:nvPr/>
        </p:nvSpPr>
        <p:spPr>
          <a:xfrm>
            <a:off x="906780" y="-103578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solidFill>
                  <a:schemeClr val="bg1"/>
                </a:solidFill>
              </a:rPr>
              <a:t>Roman Catholic Model </a:t>
            </a:r>
            <a:r>
              <a:rPr lang="en-US" sz="4400" dirty="0"/>
              <a:t>= Church Created</a:t>
            </a:r>
          </a:p>
        </p:txBody>
      </p:sp>
      <p:sp>
        <p:nvSpPr>
          <p:cNvPr id="3" name="Content Placeholder 2">
            <a:extLst>
              <a:ext uri="{FF2B5EF4-FFF2-40B4-BE49-F238E27FC236}">
                <a16:creationId xmlns:a16="http://schemas.microsoft.com/office/drawing/2014/main" id="{E0FCE8A3-7BA3-5127-B500-3BBE8DA85FED}"/>
              </a:ext>
            </a:extLst>
          </p:cNvPr>
          <p:cNvSpPr>
            <a:spLocks noGrp="1"/>
          </p:cNvSpPr>
          <p:nvPr>
            <p:ph idx="1"/>
          </p:nvPr>
        </p:nvSpPr>
        <p:spPr>
          <a:xfrm>
            <a:off x="331470" y="-1734636"/>
            <a:ext cx="10746740" cy="695960"/>
          </a:xfrm>
        </p:spPr>
        <p:txBody>
          <a:bodyPr>
            <a:noAutofit/>
          </a:bodyPr>
          <a:lstStyle/>
          <a:p>
            <a:pPr marL="0" indent="0">
              <a:buNone/>
            </a:pPr>
            <a:r>
              <a:rPr lang="en-US" sz="4400" dirty="0"/>
              <a:t>1. Historical-Critical Model = Boxing Match</a:t>
            </a:r>
          </a:p>
        </p:txBody>
      </p:sp>
      <p:sp>
        <p:nvSpPr>
          <p:cNvPr id="6" name="Content Placeholder 2">
            <a:extLst>
              <a:ext uri="{FF2B5EF4-FFF2-40B4-BE49-F238E27FC236}">
                <a16:creationId xmlns:a16="http://schemas.microsoft.com/office/drawing/2014/main" id="{D9E12F60-E620-1248-E34B-8A39E76C6272}"/>
              </a:ext>
            </a:extLst>
          </p:cNvPr>
          <p:cNvSpPr txBox="1">
            <a:spLocks/>
          </p:cNvSpPr>
          <p:nvPr/>
        </p:nvSpPr>
        <p:spPr>
          <a:xfrm>
            <a:off x="902969" y="-1038676"/>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Roman Catholic Model</a:t>
            </a:r>
          </a:p>
        </p:txBody>
      </p:sp>
      <p:sp>
        <p:nvSpPr>
          <p:cNvPr id="7" name="Content Placeholder 2">
            <a:extLst>
              <a:ext uri="{FF2B5EF4-FFF2-40B4-BE49-F238E27FC236}">
                <a16:creationId xmlns:a16="http://schemas.microsoft.com/office/drawing/2014/main" id="{67D41669-E720-AB96-BA06-49073F604464}"/>
              </a:ext>
            </a:extLst>
          </p:cNvPr>
          <p:cNvSpPr txBox="1">
            <a:spLocks/>
          </p:cNvSpPr>
          <p:nvPr/>
        </p:nvSpPr>
        <p:spPr>
          <a:xfrm>
            <a:off x="331470" y="-1038676"/>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2.</a:t>
            </a:r>
          </a:p>
        </p:txBody>
      </p:sp>
      <p:sp>
        <p:nvSpPr>
          <p:cNvPr id="19" name="Content Placeholder 2">
            <a:extLst>
              <a:ext uri="{FF2B5EF4-FFF2-40B4-BE49-F238E27FC236}">
                <a16:creationId xmlns:a16="http://schemas.microsoft.com/office/drawing/2014/main" id="{F25318A8-75BB-6A81-E8F1-784942854CD2}"/>
              </a:ext>
            </a:extLst>
          </p:cNvPr>
          <p:cNvSpPr txBox="1">
            <a:spLocks/>
          </p:cNvSpPr>
          <p:nvPr/>
        </p:nvSpPr>
        <p:spPr>
          <a:xfrm>
            <a:off x="902969" y="88854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4400" dirty="0"/>
          </a:p>
        </p:txBody>
      </p:sp>
      <p:sp>
        <p:nvSpPr>
          <p:cNvPr id="20" name="Content Placeholder 2">
            <a:extLst>
              <a:ext uri="{FF2B5EF4-FFF2-40B4-BE49-F238E27FC236}">
                <a16:creationId xmlns:a16="http://schemas.microsoft.com/office/drawing/2014/main" id="{EACC3241-DE97-2AA6-6E80-B43F1DB737BC}"/>
              </a:ext>
            </a:extLst>
          </p:cNvPr>
          <p:cNvSpPr txBox="1">
            <a:spLocks/>
          </p:cNvSpPr>
          <p:nvPr/>
        </p:nvSpPr>
        <p:spPr>
          <a:xfrm>
            <a:off x="838200" y="680720"/>
            <a:ext cx="1012444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Canonical-Critical Model Evaluation</a:t>
            </a:r>
          </a:p>
        </p:txBody>
      </p:sp>
      <p:sp>
        <p:nvSpPr>
          <p:cNvPr id="21" name="Content Placeholder 2">
            <a:extLst>
              <a:ext uri="{FF2B5EF4-FFF2-40B4-BE49-F238E27FC236}">
                <a16:creationId xmlns:a16="http://schemas.microsoft.com/office/drawing/2014/main" id="{3C9A1D38-C881-5031-1B0D-417B7434E626}"/>
              </a:ext>
            </a:extLst>
          </p:cNvPr>
          <p:cNvSpPr txBox="1">
            <a:spLocks/>
          </p:cNvSpPr>
          <p:nvPr/>
        </p:nvSpPr>
        <p:spPr>
          <a:xfrm>
            <a:off x="-847090" y="614840"/>
            <a:ext cx="847090" cy="6959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dirty="0"/>
              <a:t>3.</a:t>
            </a:r>
          </a:p>
        </p:txBody>
      </p:sp>
      <p:sp>
        <p:nvSpPr>
          <p:cNvPr id="18" name="Content Placeholder 2">
            <a:extLst>
              <a:ext uri="{FF2B5EF4-FFF2-40B4-BE49-F238E27FC236}">
                <a16:creationId xmlns:a16="http://schemas.microsoft.com/office/drawing/2014/main" id="{721F7880-5975-4391-5CEA-5F3A26F953C8}"/>
              </a:ext>
            </a:extLst>
          </p:cNvPr>
          <p:cNvSpPr txBox="1">
            <a:spLocks/>
          </p:cNvSpPr>
          <p:nvPr/>
        </p:nvSpPr>
        <p:spPr>
          <a:xfrm>
            <a:off x="838200" y="1825624"/>
            <a:ext cx="11353800" cy="50323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Content Placeholder 2">
            <a:extLst>
              <a:ext uri="{FF2B5EF4-FFF2-40B4-BE49-F238E27FC236}">
                <a16:creationId xmlns:a16="http://schemas.microsoft.com/office/drawing/2014/main" id="{75DC7748-1877-C4DC-AF63-896F270B941B}"/>
              </a:ext>
            </a:extLst>
          </p:cNvPr>
          <p:cNvSpPr txBox="1">
            <a:spLocks/>
          </p:cNvSpPr>
          <p:nvPr/>
        </p:nvSpPr>
        <p:spPr>
          <a:xfrm>
            <a:off x="990600" y="1978025"/>
            <a:ext cx="11201400" cy="487997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AutoNum type="arabicPeriod"/>
            </a:pPr>
            <a:r>
              <a:rPr lang="en-US" dirty="0"/>
              <a:t>“Childs is hard-pressed to justify a sociological view of inspiration from the Scriptures themselves” (p. 53)</a:t>
            </a:r>
          </a:p>
          <a:p>
            <a:pPr lvl="1"/>
            <a:r>
              <a:rPr lang="en-US" dirty="0"/>
              <a:t>“The variety of biblical texts on the subject (and we cannot engage them here) </a:t>
            </a:r>
            <a:r>
              <a:rPr lang="en-US" dirty="0">
                <a:solidFill>
                  <a:schemeClr val="accent2"/>
                </a:solidFill>
              </a:rPr>
              <a:t>give no indication that inspiration is a community affair</a:t>
            </a:r>
            <a:r>
              <a:rPr lang="en-US" dirty="0"/>
              <a:t>, but rather view it as operative in key individuals and at key junctures in redemptive history. Robert Gnuse observes, ‘The biblical tradition does not seem to give a direct affirmation to the social model of group inspiration; rather the group always seems to be addressed or led by a chosen individual’” (p. 53)</a:t>
            </a:r>
          </a:p>
        </p:txBody>
      </p:sp>
    </p:spTree>
    <p:extLst>
      <p:ext uri="{BB962C8B-B14F-4D97-AF65-F5344CB8AC3E}">
        <p14:creationId xmlns:p14="http://schemas.microsoft.com/office/powerpoint/2010/main" val="1991082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825</TotalTime>
  <Words>18253</Words>
  <Application>Microsoft Macintosh PowerPoint</Application>
  <PresentationFormat>Widescreen</PresentationFormat>
  <Paragraphs>886</Paragraphs>
  <Slides>82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82</vt:i4>
      </vt:variant>
    </vt:vector>
  </HeadingPairs>
  <TitlesOfParts>
    <vt:vector size="87" baseType="lpstr">
      <vt:lpstr>Aptos</vt:lpstr>
      <vt:lpstr>Aptos Display</vt:lpstr>
      <vt:lpstr>Arial</vt:lpstr>
      <vt:lpstr>Calibri</vt:lpstr>
      <vt:lpstr>Office Theme</vt:lpstr>
      <vt:lpstr>Class 1: Introduction to the Canon of the NT</vt:lpstr>
      <vt:lpstr>Sources</vt:lpstr>
      <vt:lpstr>Download Slides</vt:lpstr>
      <vt:lpstr>What is “the Canon”?</vt:lpstr>
      <vt:lpstr>What is “the Canon”?</vt:lpstr>
      <vt:lpstr>Athanasius (367 AD)</vt:lpstr>
      <vt:lpstr>Athanasius (4th century)</vt:lpstr>
      <vt:lpstr>Athanasius (4th century)</vt:lpstr>
      <vt:lpstr>Athanasius (4th century)</vt:lpstr>
      <vt:lpstr>Athanasius (4th century)</vt:lpstr>
      <vt:lpstr>Athanasius (4th century)</vt:lpstr>
      <vt:lpstr>What is “the Canon”?</vt:lpstr>
      <vt:lpstr>What is “the Canon”?</vt:lpstr>
      <vt:lpstr>What is “the Canon”?</vt:lpstr>
      <vt:lpstr>What is “the Canon”?</vt:lpstr>
      <vt:lpstr>Pushback to this Definition (by M. Kruger)</vt:lpstr>
      <vt:lpstr>Pushback to this Definition (by M. Kruger)</vt:lpstr>
      <vt:lpstr>Pushback to this Definition (by M. Kruger)</vt:lpstr>
      <vt:lpstr>Pushback to Kruger</vt:lpstr>
      <vt:lpstr>Misunderstanding “Scripture” in the NT</vt:lpstr>
      <vt:lpstr>Class 2: History of Canon Discussion (19th century)</vt:lpstr>
      <vt:lpstr>Download Slides</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History of Canon Discussion</vt:lpstr>
      <vt:lpstr>Class 3: History of Canon Discussion (20th century)</vt:lpstr>
      <vt:lpstr>Download Slides</vt:lpstr>
      <vt:lpstr>History of Canon Discussion</vt:lpstr>
      <vt:lpstr>History of Canon Discussion</vt:lpstr>
      <vt:lpstr>Class 4: Modern Canonical Models</vt:lpstr>
      <vt:lpstr>Download Slides</vt:lpstr>
      <vt:lpstr>Sources</vt:lpstr>
      <vt:lpstr>Sources</vt:lpstr>
      <vt:lpstr>Historical-Critical Model</vt:lpstr>
      <vt:lpstr>Historical-Critical Model</vt:lpstr>
      <vt:lpstr>Historical-Critical Model Evaluation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 Haub</dc:creator>
  <cp:lastModifiedBy>Josh Haub</cp:lastModifiedBy>
  <cp:revision>2</cp:revision>
  <dcterms:created xsi:type="dcterms:W3CDTF">2026-10-03T17:49:49Z</dcterms:created>
  <dcterms:modified xsi:type="dcterms:W3CDTF">2026-10-13T13:56:42Z</dcterms:modified>
</cp:coreProperties>
</file>